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8"/>
  </p:notesMasterIdLst>
  <p:handoutMasterIdLst>
    <p:handoutMasterId r:id="rId9"/>
  </p:handoutMasterIdLst>
  <p:sldIdLst>
    <p:sldId id="256" r:id="rId2"/>
    <p:sldId id="2141411884" r:id="rId3"/>
    <p:sldId id="2141411885" r:id="rId4"/>
    <p:sldId id="2141411886" r:id="rId5"/>
    <p:sldId id="2141411887" r:id="rId6"/>
    <p:sldId id="21414118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472421-E47D-E891-E5F0-C39FE19C5E1C}" name="Franz Ulrich Ruch" initials="FUR" userId="S::fruch@worldbank.org::ef836dd7-eed9-43bd-94cc-28d462bd2336" providerId="AD"/>
  <p188:author id="{6F66E68B-B951-F083-565F-63EA1B809B48}" name="Julio Velasco" initials="JV" userId="S::jvelasco@worldbank.org::6f1ff5e7-17b2-4024-9717-e56c01bf05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A03"/>
    <a:srgbClr val="416E2A"/>
    <a:srgbClr val="B4C8A8"/>
    <a:srgbClr val="ECF4D6"/>
    <a:srgbClr val="012903"/>
    <a:srgbClr val="F4F9E8"/>
    <a:srgbClr val="8DC4CF"/>
    <a:srgbClr val="4EB3CF"/>
    <a:srgbClr val="31937B"/>
    <a:srgbClr val="206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61C8D16-F91C-40AB-8163-8272BCB3CEB6}"/>
    <pc:docChg chg="mod delSld modMainMaster">
      <pc:chgData name="Stephen John Stretton" userId="da8c780b-1aa2-4e36-94fb-871dc8111504" providerId="ADAL" clId="{461C8D16-F91C-40AB-8163-8272BCB3CEB6}" dt="2026-09-04T20:11:49.257" v="2" actId="33475"/>
      <pc:docMkLst>
        <pc:docMk/>
      </pc:docMkLst>
      <pc:sldChg chg="del">
        <pc:chgData name="Stephen John Stretton" userId="da8c780b-1aa2-4e36-94fb-871dc8111504" providerId="ADAL" clId="{461C8D16-F91C-40AB-8163-8272BCB3CEB6}" dt="2026-09-04T20:11:40.327" v="0" actId="47"/>
        <pc:sldMkLst>
          <pc:docMk/>
          <pc:sldMk cId="2739662570" sldId="2141411889"/>
        </pc:sldMkLst>
      </pc:sldChg>
      <pc:sldMasterChg chg="addSp mod">
        <pc:chgData name="Stephen John Stretton" userId="da8c780b-1aa2-4e36-94fb-871dc8111504" providerId="ADAL" clId="{461C8D16-F91C-40AB-8163-8272BCB3CEB6}" dt="2026-09-04T20:11:49.257" v="1" actId="33475"/>
        <pc:sldMasterMkLst>
          <pc:docMk/>
          <pc:sldMasterMk cId="1113789006" sldId="2147483662"/>
        </pc:sldMasterMkLst>
        <pc:spChg chg="add">
          <ac:chgData name="Stephen John Stretton" userId="da8c780b-1aa2-4e36-94fb-871dc8111504" providerId="ADAL" clId="{461C8D16-F91C-40AB-8163-8272BCB3CEB6}" dt="2026-09-04T20:11:49.257" v="1" actId="33475"/>
          <ac:spMkLst>
            <pc:docMk/>
            <pc:sldMasterMk cId="1113789006" sldId="2147483662"/>
            <ac:spMk id="5" creationId="{11BD0E89-CD74-C587-8EA4-80BD9687A7A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AEE9BA-26E0-9BD1-3263-DEAF490E84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8CF16-7CA3-05AD-6921-7CD14AB9A9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B395E-127E-471D-8229-1A3314E01AA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6C14E-49DA-63A2-44B7-3AFA733A9C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D8EA9-555D-1A98-FB5D-32EA8BAF96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086A6-A573-4E5A-ADCE-3AF15C4FE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082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4436E-5EFD-4F04-AAD4-07ABA7425AB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01472-DBED-4D58-983F-D26D46817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4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a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0"/>
            <a:ext cx="12192000" cy="4479925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lIns="0" tIns="0" rIns="0" bIns="0"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2536694"/>
            <a:ext cx="10955383" cy="1066818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EEF29-1660-B535-28CA-CDB76C2A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08" y="3610452"/>
            <a:ext cx="10955383" cy="49129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DAEFB8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448157"/>
            <a:ext cx="12192000" cy="8309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0" name="Text Placeholder 331">
            <a:extLst>
              <a:ext uri="{FF2B5EF4-FFF2-40B4-BE49-F238E27FC236}">
                <a16:creationId xmlns:a16="http://schemas.microsoft.com/office/drawing/2014/main" id="{07F963C1-B46B-E73C-0D6F-78ACDC43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8062" y="5247968"/>
            <a:ext cx="3885629" cy="109393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Tx/>
              <a:buNone/>
              <a:tabLst/>
              <a:defRPr sz="1600" b="0" i="0" baseline="0">
                <a:solidFill>
                  <a:srgbClr val="022A03"/>
                </a:solidFill>
                <a:latin typeface="Aptos Light" panose="020B0004020202020204" pitchFamily="34" charset="0"/>
                <a:cs typeface="Arial"/>
              </a:defRPr>
            </a:lvl1pPr>
            <a:lvl2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 typeface="Wingdings" charset="0"/>
              <a:buNone/>
              <a:tabLst/>
              <a:defRPr sz="1600" b="0" i="0">
                <a:solidFill>
                  <a:srgbClr val="022A03"/>
                </a:solidFill>
                <a:latin typeface="Aptos Light" panose="020B0004020202020204" pitchFamily="34" charset="0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4114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716"/>
          <a:stretch/>
        </p:blipFill>
        <p:spPr>
          <a:xfrm>
            <a:off x="-1" y="152227"/>
            <a:ext cx="12192001" cy="6705774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012903"/>
                </a:solidFill>
                <a:latin typeface="+mj-lt"/>
                <a:cs typeface="Arial Hebrew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206152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3660" y="5015753"/>
            <a:ext cx="2729566" cy="157554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77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716"/>
          <a:stretch/>
        </p:blipFill>
        <p:spPr>
          <a:xfrm>
            <a:off x="-1" y="0"/>
            <a:ext cx="12468768" cy="6858000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rgbClr val="022A03">
              <a:alpha val="63137"/>
            </a:srgb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  <a:cs typeface="Arial Hebrew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ECF4D6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0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road through a forest&#10;&#10;Description automatically generated">
            <a:extLst>
              <a:ext uri="{FF2B5EF4-FFF2-40B4-BE49-F238E27FC236}">
                <a16:creationId xmlns:a16="http://schemas.microsoft.com/office/drawing/2014/main" id="{968505F6-D10F-F3F2-069D-D9803AFF55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3" b="17096"/>
          <a:stretch/>
        </p:blipFill>
        <p:spPr>
          <a:xfrm>
            <a:off x="-1" y="-1077066"/>
            <a:ext cx="12191999" cy="57081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2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22D15B-9C42-FC2A-D442-00CBAB8DEF28}"/>
              </a:ext>
            </a:extLst>
          </p:cNvPr>
          <p:cNvSpPr/>
          <p:nvPr userDrawn="1"/>
        </p:nvSpPr>
        <p:spPr>
          <a:xfrm>
            <a:off x="0" y="-471715"/>
            <a:ext cx="12192000" cy="7329715"/>
          </a:xfrm>
          <a:prstGeom prst="rect">
            <a:avLst/>
          </a:prstGeom>
          <a:solidFill>
            <a:srgbClr val="022A0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noFill/>
          <a:ln>
            <a:noFill/>
          </a:ln>
        </p:spPr>
        <p:txBody>
          <a:bodyPr lIns="0" tIns="0" rIns="0" bIns="0"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road through a forest&#10;&#10;Description automatically generated">
            <a:extLst>
              <a:ext uri="{FF2B5EF4-FFF2-40B4-BE49-F238E27FC236}">
                <a16:creationId xmlns:a16="http://schemas.microsoft.com/office/drawing/2014/main" id="{968505F6-D10F-F3F2-069D-D9803AFF55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3" b="17096"/>
          <a:stretch/>
        </p:blipFill>
        <p:spPr>
          <a:xfrm>
            <a:off x="-1" y="-1077066"/>
            <a:ext cx="12191999" cy="57081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7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3"/>
            <a:ext cx="4251962" cy="6858001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800103" y="3406141"/>
            <a:ext cx="6857999" cy="45719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5" y="502920"/>
            <a:ext cx="7027086" cy="6069330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6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20B1A34C-0D90-B616-EFBB-FDB8D03F5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t="312" r="23757" b="1"/>
          <a:stretch/>
        </p:blipFill>
        <p:spPr>
          <a:xfrm>
            <a:off x="-1" y="0"/>
            <a:ext cx="6096000" cy="685799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3" y="310551"/>
            <a:ext cx="5479304" cy="6261699"/>
          </a:xfrm>
        </p:spPr>
        <p:txBody>
          <a:bodyPr/>
          <a:lstStyle>
            <a:lvl1pPr marL="514350" indent="-514350">
              <a:buFont typeface="+mj-lt"/>
              <a:buAutoNum type="arabicPeriod"/>
              <a:defRPr b="0" i="0">
                <a:latin typeface="Aptos Light" panose="020B00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2pPr>
            <a:lvl3pPr marL="1371600" indent="-4572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3pPr>
            <a:lvl4pPr marL="1714500" indent="-3429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4pPr>
            <a:lvl5pPr marL="2171700" indent="-3429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8C7B-6E73-F9B6-9528-A4F1B5589ACF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022A0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B02692D-7328-A7C1-FA33-A282CC90C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354" y="2590799"/>
            <a:ext cx="3293290" cy="1676400"/>
          </a:xfrm>
        </p:spPr>
        <p:txBody>
          <a:bodyPr lIns="0" tIns="0" rIns="0" bIns="0" anchor="t">
            <a:noAutofit/>
          </a:bodyPr>
          <a:lstStyle>
            <a:lvl1pPr algn="ctr"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0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oking up at a bamboo forest&#10;&#10;Description automatically generated">
            <a:extLst>
              <a:ext uri="{FF2B5EF4-FFF2-40B4-BE49-F238E27FC236}">
                <a16:creationId xmlns:a16="http://schemas.microsoft.com/office/drawing/2014/main" id="{EE399BBE-7668-68B1-37E3-E79066B6B2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6" r="22675"/>
          <a:stretch/>
        </p:blipFill>
        <p:spPr>
          <a:xfrm>
            <a:off x="0" y="12400"/>
            <a:ext cx="6095999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3" y="310551"/>
            <a:ext cx="5479304" cy="6261699"/>
          </a:xfrm>
        </p:spPr>
        <p:txBody>
          <a:bodyPr/>
          <a:lstStyle>
            <a:lvl1pPr marL="514350" indent="-514350">
              <a:buFont typeface="+mj-lt"/>
              <a:buAutoNum type="arabicPeriod"/>
              <a:defRPr b="0" i="0">
                <a:latin typeface="Aptos Light" panose="020B00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2pPr>
            <a:lvl3pPr marL="1371600" indent="-4572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3pPr>
            <a:lvl4pPr marL="1714500" indent="-3429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4pPr>
            <a:lvl5pPr marL="2171700" indent="-342900">
              <a:buFont typeface="Arial" panose="020B0604020202020204" pitchFamily="34" charset="0"/>
              <a:buChar char="•"/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8C7B-6E73-F9B6-9528-A4F1B5589ACF}"/>
              </a:ext>
            </a:extLst>
          </p:cNvPr>
          <p:cNvSpPr/>
          <p:nvPr userDrawn="1"/>
        </p:nvSpPr>
        <p:spPr>
          <a:xfrm>
            <a:off x="0" y="12400"/>
            <a:ext cx="6095999" cy="6858000"/>
          </a:xfrm>
          <a:prstGeom prst="rect">
            <a:avLst/>
          </a:prstGeom>
          <a:solidFill>
            <a:srgbClr val="022A0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B02692D-7328-A7C1-FA33-A282CC90C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354" y="2590799"/>
            <a:ext cx="3293290" cy="1676400"/>
          </a:xfrm>
        </p:spPr>
        <p:txBody>
          <a:bodyPr lIns="0" tIns="0" rIns="0" bIns="0" anchor="t">
            <a:noAutofit/>
          </a:bodyPr>
          <a:lstStyle>
            <a:lvl1pPr algn="ctr"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1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7150" b="-10177"/>
          <a:stretch/>
        </p:blipFill>
        <p:spPr>
          <a:xfrm>
            <a:off x="0" y="-1"/>
            <a:ext cx="12192000" cy="4243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02997"/>
            <a:ext cx="11430000" cy="782584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6930D3-75B6-6460-3374-82A5C33B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580821"/>
          </a:xfrm>
        </p:spPr>
        <p:txBody>
          <a:bodyPr/>
          <a:lstStyle>
            <a:lvl1pPr marL="514350" indent="-514350">
              <a:buFont typeface="+mj-lt"/>
              <a:buAutoNum type="arabicPeriod"/>
              <a:defRPr b="0" i="0">
                <a:solidFill>
                  <a:srgbClr val="022A03"/>
                </a:solidFill>
                <a:latin typeface="Aptos Light" panose="020B00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2pPr>
            <a:lvl3pPr marL="13716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3pPr>
            <a:lvl4pPr marL="17145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4pPr>
            <a:lvl5pPr marL="21717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83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ooden walkway in a forest&#10;&#10;Description automatically generated">
            <a:extLst>
              <a:ext uri="{FF2B5EF4-FFF2-40B4-BE49-F238E27FC236}">
                <a16:creationId xmlns:a16="http://schemas.microsoft.com/office/drawing/2014/main" id="{445ADA8B-D6F1-C84D-5945-C74A2801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925" t="9471" r="240" b="44702"/>
          <a:stretch/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E61A22-28E3-94F7-6CDD-B92CABA626C4}"/>
              </a:ext>
            </a:extLst>
          </p:cNvPr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rgbClr val="022A03">
              <a:alpha val="3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D2D080-B6EC-55EC-EAE3-28C005DB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02997"/>
            <a:ext cx="11430000" cy="782584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8019B-41AB-6620-70D1-C3E3A70FF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580821"/>
          </a:xfrm>
        </p:spPr>
        <p:txBody>
          <a:bodyPr/>
          <a:lstStyle>
            <a:lvl1pPr marL="514350" indent="-514350">
              <a:buFont typeface="+mj-lt"/>
              <a:buAutoNum type="arabicPeriod"/>
              <a:defRPr b="0" i="0">
                <a:solidFill>
                  <a:srgbClr val="022A03"/>
                </a:solidFill>
                <a:latin typeface="Aptos Light" panose="020B00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2pPr>
            <a:lvl3pPr marL="13716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3pPr>
            <a:lvl4pPr marL="17145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4pPr>
            <a:lvl5pPr marL="21717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8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C46E-C07A-23B4-FD4E-7D2CB47B1BB7}"/>
              </a:ext>
            </a:extLst>
          </p:cNvPr>
          <p:cNvSpPr/>
          <p:nvPr userDrawn="1"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rgbClr val="EB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3F7E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4ECE9-FB3A-2F1D-4F8A-B6156A14D49A}"/>
              </a:ext>
            </a:extLst>
          </p:cNvPr>
          <p:cNvSpPr/>
          <p:nvPr userDrawn="1"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DAF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35EB7-8A85-F1A7-484B-19DF5EDFBCF7}"/>
              </a:ext>
            </a:extLst>
          </p:cNvPr>
          <p:cNvSpPr/>
          <p:nvPr userDrawn="1"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F2199-3789-DB84-6347-50303262C3CB}"/>
              </a:ext>
            </a:extLst>
          </p:cNvPr>
          <p:cNvSpPr txBox="1"/>
          <p:nvPr userDrawn="1"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>
              <a:solidFill>
                <a:srgbClr val="022A03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21D204-B214-EC89-8A00-774DF2A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260" y="2028118"/>
            <a:ext cx="6256020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325F-AC10-1656-7E35-68E4607B64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04259" y="3514283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9C0CB4-338D-ED40-8A54-E72C02A503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04259" y="5000447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3633D-EB5D-A98F-07DA-3BA009619755}"/>
              </a:ext>
            </a:extLst>
          </p:cNvPr>
          <p:cNvSpPr txBox="1"/>
          <p:nvPr userDrawn="1"/>
        </p:nvSpPr>
        <p:spPr>
          <a:xfrm>
            <a:off x="2110740" y="2028118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6B016-9CAC-1A98-A39F-7A2C4634380B}"/>
              </a:ext>
            </a:extLst>
          </p:cNvPr>
          <p:cNvSpPr txBox="1"/>
          <p:nvPr userDrawn="1"/>
        </p:nvSpPr>
        <p:spPr>
          <a:xfrm>
            <a:off x="2110740" y="3508771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BA865-8E0C-574B-6D4E-A940B292CEC2}"/>
              </a:ext>
            </a:extLst>
          </p:cNvPr>
          <p:cNvSpPr txBox="1"/>
          <p:nvPr userDrawn="1"/>
        </p:nvSpPr>
        <p:spPr>
          <a:xfrm>
            <a:off x="2110740" y="4985593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10C3E-C94C-ABFF-8AD4-E5A988B72F6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70" y="248972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AFB70-F0DE-04D2-6E4C-9C0E7BF36D9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9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B62E-E343-2D52-74C0-6A97CF75238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8" y="54294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91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C46E-C07A-23B4-FD4E-7D2CB47B1BB7}"/>
              </a:ext>
            </a:extLst>
          </p:cNvPr>
          <p:cNvSpPr/>
          <p:nvPr userDrawn="1"/>
        </p:nvSpPr>
        <p:spPr>
          <a:xfrm>
            <a:off x="2110740" y="1914038"/>
            <a:ext cx="7970520" cy="100464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rgbClr val="EB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3F7E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4ECE9-FB3A-2F1D-4F8A-B6156A14D49A}"/>
              </a:ext>
            </a:extLst>
          </p:cNvPr>
          <p:cNvSpPr/>
          <p:nvPr userDrawn="1"/>
        </p:nvSpPr>
        <p:spPr>
          <a:xfrm>
            <a:off x="2110740" y="3080163"/>
            <a:ext cx="7970520" cy="1004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DAF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35EB7-8A85-F1A7-484B-19DF5EDFBCF7}"/>
              </a:ext>
            </a:extLst>
          </p:cNvPr>
          <p:cNvSpPr/>
          <p:nvPr userDrawn="1"/>
        </p:nvSpPr>
        <p:spPr>
          <a:xfrm>
            <a:off x="2110740" y="4242693"/>
            <a:ext cx="7970520" cy="1004641"/>
          </a:xfrm>
          <a:prstGeom prst="rect">
            <a:avLst/>
          </a:prstGeom>
          <a:solidFill>
            <a:srgbClr val="EB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F2199-3789-DB84-6347-50303262C3CB}"/>
              </a:ext>
            </a:extLst>
          </p:cNvPr>
          <p:cNvSpPr txBox="1"/>
          <p:nvPr userDrawn="1"/>
        </p:nvSpPr>
        <p:spPr>
          <a:xfrm>
            <a:off x="2331720" y="1914038"/>
            <a:ext cx="752856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>
              <a:solidFill>
                <a:srgbClr val="022A03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21D204-B214-EC89-8A00-774DF2A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260" y="1888160"/>
            <a:ext cx="6256020" cy="1030519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325F-AC10-1656-7E35-68E4607B64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04259" y="3040113"/>
            <a:ext cx="6256019" cy="104469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9C0CB4-338D-ED40-8A54-E72C02A503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04259" y="4202642"/>
            <a:ext cx="6256019" cy="104469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3633D-EB5D-A98F-07DA-3BA009619755}"/>
              </a:ext>
            </a:extLst>
          </p:cNvPr>
          <p:cNvSpPr txBox="1"/>
          <p:nvPr userDrawn="1"/>
        </p:nvSpPr>
        <p:spPr>
          <a:xfrm>
            <a:off x="2110740" y="1914038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6B016-9CAC-1A98-A39F-7A2C4634380B}"/>
              </a:ext>
            </a:extLst>
          </p:cNvPr>
          <p:cNvSpPr txBox="1"/>
          <p:nvPr userDrawn="1"/>
        </p:nvSpPr>
        <p:spPr>
          <a:xfrm>
            <a:off x="2110740" y="3074651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BA865-8E0C-574B-6D4E-A940B292CEC2}"/>
              </a:ext>
            </a:extLst>
          </p:cNvPr>
          <p:cNvSpPr txBox="1"/>
          <p:nvPr userDrawn="1"/>
        </p:nvSpPr>
        <p:spPr>
          <a:xfrm>
            <a:off x="2110740" y="4227838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10C3E-C94C-ABFF-8AD4-E5A988B72F6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70" y="237564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AFB70-F0DE-04D2-6E4C-9C0E7BF36D9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9" y="352883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B62E-E343-2D52-74C0-6A97CF75238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8" y="4671677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F67094-9DBB-1082-DB0C-935DA3C38B25}"/>
              </a:ext>
            </a:extLst>
          </p:cNvPr>
          <p:cNvSpPr/>
          <p:nvPr userDrawn="1"/>
        </p:nvSpPr>
        <p:spPr>
          <a:xfrm>
            <a:off x="2110740" y="5378112"/>
            <a:ext cx="7970520" cy="1004641"/>
          </a:xfrm>
          <a:prstGeom prst="rect">
            <a:avLst/>
          </a:prstGeom>
          <a:solidFill>
            <a:srgbClr val="8DC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5485B-F18F-5278-9C49-7DAFD2D7990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604259" y="5352237"/>
            <a:ext cx="6256019" cy="1030518"/>
          </a:xfrm>
          <a:solidFill>
            <a:srgbClr val="8DC4CF">
              <a:alpha val="32549"/>
            </a:srgbClr>
          </a:solidFill>
          <a:ln>
            <a:noFill/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A4885A-DDC0-F188-E351-2B17179F428C}"/>
              </a:ext>
            </a:extLst>
          </p:cNvPr>
          <p:cNvSpPr txBox="1"/>
          <p:nvPr userDrawn="1"/>
        </p:nvSpPr>
        <p:spPr>
          <a:xfrm>
            <a:off x="2110740" y="5386536"/>
            <a:ext cx="1226820" cy="1015663"/>
          </a:xfrm>
          <a:prstGeom prst="rect">
            <a:avLst/>
          </a:prstGeom>
          <a:solidFill>
            <a:srgbClr val="8DC4CF">
              <a:alpha val="32549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22A03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9BCE01-6D0C-D381-A5B0-FFDD0F680C6B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8" y="583037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10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631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D08487-C89C-1128-0FA5-AF9C834C2007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22A0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5E4A52-819F-AF31-9BA6-027175F97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rgbClr val="F4F9E8"/>
                </a:solidFill>
                <a:latin typeface="Aptos Light" panose="020B0004020202020204" pitchFamily="34" charset="0"/>
              </a:defRPr>
            </a:lvl1pPr>
            <a:lvl2pPr marL="800100" indent="-342900"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buFont typeface="Arial" panose="020B0604020202020204" pitchFamily="34" charset="0"/>
              <a:buChar char="•"/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36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through a forest&#10;&#10;Description automatically generated">
            <a:extLst>
              <a:ext uri="{FF2B5EF4-FFF2-40B4-BE49-F238E27FC236}">
                <a16:creationId xmlns:a16="http://schemas.microsoft.com/office/drawing/2014/main" id="{9832E27F-9C2A-365F-A163-4E3AAD2C87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68" t="14978" b="76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B9213-C480-A688-93C9-43FD6222B9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A0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548F98-E540-44AC-2374-C90D065F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rgbClr val="F4F9E8"/>
                </a:solidFill>
                <a:latin typeface="Aptos Light" panose="020B0004020202020204" pitchFamily="34" charset="0"/>
              </a:defRPr>
            </a:lvl1pPr>
            <a:lvl2pPr marL="800100" indent="-342900"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buFont typeface="Arial" panose="020B0604020202020204" pitchFamily="34" charset="0"/>
              <a:buChar char="•"/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ECF4D6"/>
              </a:buClr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40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7922-DC05-E090-3733-47F38B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rgbClr val="022A03"/>
                </a:solidFill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33BF7-518E-D456-88E0-CC757E244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13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0F49AD-5B6D-16AB-324F-D97561ED0E2E}"/>
              </a:ext>
            </a:extLst>
          </p:cNvPr>
          <p:cNvSpPr/>
          <p:nvPr userDrawn="1"/>
        </p:nvSpPr>
        <p:spPr>
          <a:xfrm>
            <a:off x="0" y="-23558"/>
            <a:ext cx="12192000" cy="6881558"/>
          </a:xfrm>
          <a:prstGeom prst="rect">
            <a:avLst/>
          </a:prstGeom>
          <a:solidFill>
            <a:srgbClr val="022A0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8001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solidFill>
                  <a:srgbClr val="ECF4D6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33BF7-518E-D456-88E0-CC757E244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A7922-DC05-E090-3733-47F38B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52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5A3EFE-D4C6-CD71-FF12-B7BA4700E6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4199953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14FACF-FB05-C1DF-5ED5-B96388F7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0D7F58-F86D-8FFC-DE9C-F1B5AAA933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274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69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572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&amp;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10302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7F982E-7A3C-7545-FD99-AB3C694894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0998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CA293-AF07-B48E-784E-090121C7D0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2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58DB2A-9A7E-122D-D4B9-6C7666CF22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81000" y="6078583"/>
            <a:ext cx="11430000" cy="58782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ptos Light" panose="020B0004020202020204" pitchFamily="34" charset="0"/>
              </a:defRPr>
            </a:lvl1pPr>
            <a:lvl2pPr>
              <a:defRPr>
                <a:latin typeface="Aptos Light" panose="020B0004020202020204" pitchFamily="34" charset="0"/>
              </a:defRPr>
            </a:lvl2pPr>
            <a:lvl3pPr>
              <a:defRPr>
                <a:latin typeface="Aptos Light" panose="020B0004020202020204" pitchFamily="34" charset="0"/>
              </a:defRPr>
            </a:lvl3pPr>
            <a:lvl4pPr>
              <a:defRPr>
                <a:latin typeface="Aptos Light" panose="020B0004020202020204" pitchFamily="34" charset="0"/>
              </a:defRPr>
            </a:lvl4pPr>
            <a:lvl5pPr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FD8D7-CA6B-F920-3AB1-CB8A5A95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D5AFC-0440-485B-86C8-810AC47BC7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680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rgbClr val="022A03"/>
                </a:solidFill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C23E97-5B22-0A3A-F786-3D00A0AE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8C66A-A1B5-E52B-DD72-9B16AED5E2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84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15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ABAE81-F060-D0FD-2B68-9764A8A7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CE43B-C898-AC6A-07F1-7A35FE4092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5407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DD5961-ADE9-2181-33D2-EC5BE44F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4F587-94FB-7D0A-7054-897BD1844F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06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2E47B4-724D-A743-4C32-A99CFAC5C79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91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A7E6D-E8D4-E6DA-B873-7DD55BBEA6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1606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857C3D-DFAF-2C05-2FA1-0AE2EE70D8A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248912" y="4240679"/>
            <a:ext cx="3694176" cy="2414644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311C06-D0D0-F28C-7A0E-2E1DBAFCEC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16062" y="424067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158A48-4088-8821-E336-55D08AAF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4887F-C1C1-1B12-7812-77CC727B0D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4946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33F1A7-9B69-663A-6FCC-445F8A3067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8100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B16FC6-E5D0-5E3C-FD29-0F9A5CDE76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4815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E00A60-14E6-D079-B651-45272189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0C8F2-C127-AF53-70B7-4952579458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24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29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C4B1BB-C5E2-974C-81F3-2FF06120B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998" y="4201485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849F3D-31FF-F086-E4A6-F57D3C5BDB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97600" y="4201484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DDA1A4-E243-0BD0-0643-3DEA660D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7B879-CC67-E7A8-1C3D-AD59065A8C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99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EFF805-7526-8017-723C-9DC622A24BC4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22A0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193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78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83212-0AE2-29C1-9A4B-0250F40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85800"/>
            <a:ext cx="11439526" cy="100488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208F-AA04-F314-4451-C85FCF1D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4"/>
            <a:ext cx="11439525" cy="48296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D0E89-CD74-C587-8EA4-80BD9687A7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1113789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709" r:id="rId2"/>
    <p:sldLayoutId id="2147483719" r:id="rId3"/>
    <p:sldLayoutId id="2147483685" r:id="rId4"/>
    <p:sldLayoutId id="2147483721" r:id="rId5"/>
    <p:sldLayoutId id="2147483677" r:id="rId6"/>
    <p:sldLayoutId id="2147483715" r:id="rId7"/>
    <p:sldLayoutId id="2147483723" r:id="rId8"/>
    <p:sldLayoutId id="2147483716" r:id="rId9"/>
    <p:sldLayoutId id="2147483705" r:id="rId10"/>
    <p:sldLayoutId id="2147483701" r:id="rId11"/>
    <p:sldLayoutId id="2147483717" r:id="rId12"/>
    <p:sldLayoutId id="2147483703" r:id="rId13"/>
    <p:sldLayoutId id="2147483707" r:id="rId14"/>
    <p:sldLayoutId id="2147483706" r:id="rId15"/>
    <p:sldLayoutId id="2147483664" r:id="rId16"/>
    <p:sldLayoutId id="2147483722" r:id="rId17"/>
    <p:sldLayoutId id="2147483699" r:id="rId18"/>
    <p:sldLayoutId id="2147483678" r:id="rId19"/>
    <p:sldLayoutId id="2147483704" r:id="rId20"/>
    <p:sldLayoutId id="2147483694" r:id="rId21"/>
    <p:sldLayoutId id="2147483680" r:id="rId22"/>
    <p:sldLayoutId id="2147483697" r:id="rId23"/>
    <p:sldLayoutId id="2147483683" r:id="rId24"/>
    <p:sldLayoutId id="2147483687" r:id="rId25"/>
    <p:sldLayoutId id="2147483688" r:id="rId26"/>
    <p:sldLayoutId id="2147483686" r:id="rId27"/>
    <p:sldLayoutId id="2147483669" r:id="rId28"/>
    <p:sldLayoutId id="2147483718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22A03"/>
          </a:solidFill>
          <a:latin typeface="Aptos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903"/>
          </a:solidFill>
          <a:latin typeface="Aptos Light" panose="020B0004020202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FFCE-B337-EEA7-9655-60337F8D1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ptos ExtraBold"/>
                <a:cs typeface="Arial Hebrew"/>
              </a:rPr>
              <a:t>Climate Course: </a:t>
            </a:r>
            <a:r>
              <a:rPr lang="en-AU" dirty="0"/>
              <a:t>Pitch Deck</a:t>
            </a:r>
            <a:endParaRPr lang="en-US" sz="6000" dirty="0">
              <a:latin typeface="Aptos ExtraBold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6794E92-329C-32DB-A46D-C5C04E844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US" b="0" dirty="0"/>
              <a:t>September 2024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A24CF-A858-A298-99FA-4C678E57C5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Light"/>
              </a:rPr>
              <a:t>Stephen Stretton</a:t>
            </a:r>
          </a:p>
          <a:p>
            <a:r>
              <a:rPr lang="en-US" dirty="0">
                <a:latin typeface="Aptos Light"/>
              </a:rPr>
              <a:t>Evie Davey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5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6751-C168-7C01-C6C9-1F769192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Urgency of Climate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9C9D-1B79-6E5D-9A25-0A21FFE4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791356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Climate Impact is Already Global</a:t>
            </a:r>
            <a:r>
              <a:rPr lang="en-US" dirty="0"/>
              <a:t>: Climate change is affecting ecosystems, economies, and people worldwide. Limiting warming to not much above 1.5°C is (just about) technically possible but requires rapid, unprecedented societal transitions.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Every Choice Matters</a:t>
            </a:r>
            <a:r>
              <a:rPr lang="en-US" dirty="0"/>
              <a:t>: The difference between 1.5°C and 2°C of warming has profound impacts, with more severe outcomes for higher warming levels. Immediate and consistent action is essential to avoid catastrophic tipping points. 		</a:t>
            </a:r>
          </a:p>
        </p:txBody>
      </p:sp>
    </p:spTree>
    <p:extLst>
      <p:ext uri="{BB962C8B-B14F-4D97-AF65-F5344CB8AC3E}">
        <p14:creationId xmlns:p14="http://schemas.microsoft.com/office/powerpoint/2010/main" val="34151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9C9D-1B79-6E5D-9A25-0A21FFE4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315" y="228892"/>
            <a:ext cx="5732619" cy="64002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Physical Risks: </a:t>
            </a:r>
            <a:r>
              <a:rPr lang="en-US" dirty="0"/>
              <a:t>These include extreme weather events and long-term climate shifts, which can lead to destruction, displacement, and economic instability</a:t>
            </a:r>
          </a:p>
          <a:p>
            <a:pPr marL="0" indent="0">
              <a:buNone/>
            </a:pPr>
            <a:r>
              <a:rPr lang="en-US" b="1" dirty="0"/>
              <a:t>Transition Risks: </a:t>
            </a:r>
            <a:r>
              <a:rPr lang="en-US" dirty="0"/>
              <a:t>Abrupt or uncoordinated climate policies, technological changes, and shifts in consumption can disrupt industries and lead to stranded assets, amplifying macroeconomic risks and threatening financial stability.</a:t>
            </a:r>
          </a:p>
          <a:p>
            <a:pPr marL="0" indent="0">
              <a:buNone/>
            </a:pPr>
            <a:r>
              <a:rPr lang="en-US" b="1" dirty="0"/>
              <a:t>Energy Risks</a:t>
            </a:r>
            <a:r>
              <a:rPr lang="en-US" dirty="0"/>
              <a:t>: As economies shift to carbon-neutral systems, new energy models must balance risk, innovation, and stability to avoid economic shocks.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16751-C168-7C01-C6C9-1F7691926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925" y="1784372"/>
            <a:ext cx="4586156" cy="3314055"/>
          </a:xfrm>
        </p:spPr>
        <p:txBody>
          <a:bodyPr/>
          <a:lstStyle/>
          <a:p>
            <a:r>
              <a:rPr lang="en-US" dirty="0"/>
              <a:t>Physical, Transition, and Energy Risks</a:t>
            </a:r>
          </a:p>
        </p:txBody>
      </p:sp>
    </p:spTree>
    <p:extLst>
      <p:ext uri="{BB962C8B-B14F-4D97-AF65-F5344CB8AC3E}">
        <p14:creationId xmlns:p14="http://schemas.microsoft.com/office/powerpoint/2010/main" val="382521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8227-20AB-5DA5-D259-8C53D1FE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Climate Policy Frameworks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8A84-EE82-63C4-77BB-825E88BB1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91534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Global, National, and Local Action: </a:t>
            </a:r>
            <a:r>
              <a:rPr lang="en-US" dirty="0"/>
              <a:t>Climate change requires coordinated action across multiple governance levels—from international treaties to local policy interventions.</a:t>
            </a:r>
          </a:p>
          <a:p>
            <a:r>
              <a:rPr lang="en-US" b="1" dirty="0"/>
              <a:t>Political Challenges</a:t>
            </a:r>
            <a:r>
              <a:rPr lang="en-US" dirty="0"/>
              <a:t>: Climate policy is complex, involving trade-offs between current generations and future needs, global coordination versus national sovereignty, and public resistance to unpopular measures.</a:t>
            </a:r>
          </a:p>
          <a:p>
            <a:r>
              <a:rPr lang="en-US" b="1" dirty="0"/>
              <a:t>Systemic Robustness and Political Economy: </a:t>
            </a:r>
            <a:r>
              <a:rPr lang="en-US" dirty="0"/>
              <a:t>Addressing these challenges requires resilient policy systems that integrate technical solutions with political realities. Avoiding tipping points and catastrophic consequences requires immediate action and strong international cooperation.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556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AE1C-3D84-640F-75E3-6EFC294A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92" y="502920"/>
            <a:ext cx="3293290" cy="1676400"/>
          </a:xfrm>
        </p:spPr>
        <p:txBody>
          <a:bodyPr>
            <a:noAutofit/>
          </a:bodyPr>
          <a:lstStyle/>
          <a:p>
            <a:r>
              <a:rPr lang="en-US" sz="4900" dirty="0">
                <a:latin typeface="Aptos"/>
              </a:rPr>
              <a:t>Net Zero Investment Roadmap</a:t>
            </a:r>
            <a:endParaRPr lang="en-AU" sz="49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3573-3BFB-D1AC-0982-908F6C121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2257" y="502920"/>
            <a:ext cx="7027086" cy="606933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Clean Energy Growth: </a:t>
            </a:r>
            <a:r>
              <a:rPr lang="en-US" dirty="0"/>
              <a:t>Investments are urgently needed in renewable energy infrastructure, transmission, and technologies like carbon capture, hydrogen, and sustainable bioenergy.</a:t>
            </a:r>
          </a:p>
          <a:p>
            <a:r>
              <a:rPr lang="en-US" b="1" dirty="0"/>
              <a:t>Scale of Investment: </a:t>
            </a:r>
            <a:r>
              <a:rPr lang="en-US" dirty="0"/>
              <a:t>Current global clean energy investment is USD 1.8 trillion (2023), but this must rise to USD 4.5 trillion annually by 2030 to achieve net zero targets.</a:t>
            </a:r>
          </a:p>
          <a:p>
            <a:r>
              <a:rPr lang="en-US" b="1" dirty="0"/>
              <a:t>Investment in Developing Countries: </a:t>
            </a:r>
            <a:r>
              <a:rPr lang="en-US" dirty="0"/>
              <a:t>Developing countries must be prioritized in clean energy investments to ensure global climate goals are met, especially with debt relief strategies.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613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851-B13B-7D02-50E0-926888C8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Carbon Pricing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D8A1-345B-3E3C-0EDE-9B999BBBB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93084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Carbon Pricing as a Key Tool</a:t>
            </a:r>
            <a:r>
              <a:rPr lang="en-US" dirty="0"/>
              <a:t>: Carbon pricing has grown from covering 7% of global emissions a decade ago to nearly 25% today (at a </a:t>
            </a:r>
            <a:r>
              <a:rPr lang="en-US"/>
              <a:t>low price level). </a:t>
            </a:r>
            <a:r>
              <a:rPr lang="en-US" dirty="0"/>
              <a:t>It’s a crucial instrument for incentivizing emission reductions but needs expansion in both coverage and pricing levels.</a:t>
            </a:r>
          </a:p>
          <a:p>
            <a:r>
              <a:rPr lang="en-US" b="1" dirty="0"/>
              <a:t>Policy Integration: </a:t>
            </a:r>
            <a:r>
              <a:rPr lang="en-US" dirty="0"/>
              <a:t>For carbon pricing to reach its full potential, it must be part of a broader policy mix, backed by political commitment, stronger frameworks, and international collaboration to share best practices.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45967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C8EB5CB9-2408-D042-9BA1-C53DF4DF6EB9}" vid="{04C7EDA2-0055-124E-A909-60A8F0D348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Non WB Green Template</Template>
  <TotalTime>54</TotalTime>
  <Words>473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Andes ExtraLight</vt:lpstr>
      <vt:lpstr>Aptos</vt:lpstr>
      <vt:lpstr>Aptos ExtraBold</vt:lpstr>
      <vt:lpstr>Aptos Light</vt:lpstr>
      <vt:lpstr>Arial</vt:lpstr>
      <vt:lpstr>Calibri</vt:lpstr>
      <vt:lpstr>Wingdings</vt:lpstr>
      <vt:lpstr>Theme1</vt:lpstr>
      <vt:lpstr>Climate Course: Pitch Deck</vt:lpstr>
      <vt:lpstr>The Urgency of Climate Action</vt:lpstr>
      <vt:lpstr>Physical, Transition, and Energy Risks</vt:lpstr>
      <vt:lpstr>Climate Policy Frameworks</vt:lpstr>
      <vt:lpstr>Net Zero Investment Roadmap</vt:lpstr>
      <vt:lpstr>The Role of Carbon Pricing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Course: Pitch Deck</dc:title>
  <dc:creator>Oliver Hart</dc:creator>
  <cp:lastModifiedBy>Stephen John Stretton</cp:lastModifiedBy>
  <cp:revision>14</cp:revision>
  <dcterms:created xsi:type="dcterms:W3CDTF">2024-09-12T09:58:45Z</dcterms:created>
  <dcterms:modified xsi:type="dcterms:W3CDTF">2026-09-04T20:11:49Z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2026-09-04T20:11:49Z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8de4f183-275c-4e49-ae32-6e97baa9e3dd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Theme1:5</vt:lpwstr>
  </property>
  <property fmtid="{D5CDD505-2E9C-101B-9397-08002B2CF9AE}" pid="11" name="ClassificationContentMarkingFooterText">
    <vt:lpwstr>Official Use Only</vt:lpwstr>
  </property>
</Properties>
</file>