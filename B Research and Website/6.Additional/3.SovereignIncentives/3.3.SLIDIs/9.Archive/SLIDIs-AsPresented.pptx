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553" r:id="rId4"/>
  </p:sldMasterIdLst>
  <p:notesMasterIdLst>
    <p:notesMasterId r:id="rId26"/>
  </p:notesMasterIdLst>
  <p:sldIdLst>
    <p:sldId id="350" r:id="rId5"/>
    <p:sldId id="332" r:id="rId6"/>
    <p:sldId id="256" r:id="rId7"/>
    <p:sldId id="257" r:id="rId8"/>
    <p:sldId id="295" r:id="rId9"/>
    <p:sldId id="302" r:id="rId10"/>
    <p:sldId id="259" r:id="rId11"/>
    <p:sldId id="260" r:id="rId12"/>
    <p:sldId id="263" r:id="rId13"/>
    <p:sldId id="264" r:id="rId14"/>
    <p:sldId id="352" r:id="rId15"/>
    <p:sldId id="351" r:id="rId16"/>
    <p:sldId id="267" r:id="rId17"/>
    <p:sldId id="353" r:id="rId18"/>
    <p:sldId id="270" r:id="rId19"/>
    <p:sldId id="338" r:id="rId20"/>
    <p:sldId id="326" r:id="rId21"/>
    <p:sldId id="337" r:id="rId22"/>
    <p:sldId id="354" r:id="rId23"/>
    <p:sldId id="319" r:id="rId24"/>
    <p:sldId id="355" r:id="rId25"/>
  </p:sldIdLst>
  <p:sldSz cx="9144000" cy="5143500" type="screen16x9"/>
  <p:notesSz cx="6858000" cy="9144000"/>
  <p:embeddedFontLst>
    <p:embeddedFont>
      <p:font typeface="Merriweather" panose="000005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42F4A"/>
    <a:srgbClr val="B85641"/>
    <a:srgbClr val="99CCFF"/>
    <a:srgbClr val="039384"/>
    <a:srgbClr val="203617"/>
    <a:srgbClr val="5FAD01"/>
    <a:srgbClr val="B85741"/>
    <a:srgbClr val="A72A1E"/>
    <a:srgbClr val="002F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5E43A-8D90-BC41-3F7A-539059A59DEA}" v="10" dt="2024-10-04T07:33:50.0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56"/>
    <p:restoredTop sz="94692"/>
  </p:normalViewPr>
  <p:slideViewPr>
    <p:cSldViewPr snapToGrid="0">
      <p:cViewPr varScale="1">
        <p:scale>
          <a:sx n="32" d="100"/>
          <a:sy n="32" d="100"/>
        </p:scale>
        <p:origin x="1204" y="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8.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e Lauren Davey" userId="S::eviedavey6_outlook.com#ext#@worldbankgroup.onmicrosoft.com::ae14ba05-11d6-4041-82d8-f2ed7e05eba3" providerId="AD" clId="Web-{4FB5E43A-8D90-BC41-3F7A-539059A59DEA}"/>
    <pc:docChg chg="modSld sldOrd">
      <pc:chgData name="Eve Lauren Davey" userId="S::eviedavey6_outlook.com#ext#@worldbankgroup.onmicrosoft.com::ae14ba05-11d6-4041-82d8-f2ed7e05eba3" providerId="AD" clId="Web-{4FB5E43A-8D90-BC41-3F7A-539059A59DEA}" dt="2024-10-04T07:33:50.080" v="8" actId="1076"/>
      <pc:docMkLst>
        <pc:docMk/>
      </pc:docMkLst>
      <pc:sldChg chg="modSp ord">
        <pc:chgData name="Eve Lauren Davey" userId="S::eviedavey6_outlook.com#ext#@worldbankgroup.onmicrosoft.com::ae14ba05-11d6-4041-82d8-f2ed7e05eba3" providerId="AD" clId="Web-{4FB5E43A-8D90-BC41-3F7A-539059A59DEA}" dt="2024-10-04T07:33:50.080" v="8" actId="1076"/>
        <pc:sldMkLst>
          <pc:docMk/>
          <pc:sldMk cId="1961683587" sldId="352"/>
        </pc:sldMkLst>
        <pc:spChg chg="mod">
          <ac:chgData name="Eve Lauren Davey" userId="S::eviedavey6_outlook.com#ext#@worldbankgroup.onmicrosoft.com::ae14ba05-11d6-4041-82d8-f2ed7e05eba3" providerId="AD" clId="Web-{4FB5E43A-8D90-BC41-3F7A-539059A59DEA}" dt="2024-10-04T07:33:50.080" v="8" actId="1076"/>
          <ac:spMkLst>
            <pc:docMk/>
            <pc:sldMk cId="1961683587" sldId="352"/>
            <ac:spMk id="2" creationId="{F03736D0-5754-62BF-9544-09C6DFBCC5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venture a paraphrase of what President Kennedy said in 1962, when he announced the US would go to the moon, updated for today. He might now say:</a:t>
            </a:r>
          </a:p>
          <a:p>
            <a:r>
              <a:rPr lang="en-US" dirty="0"/>
              <a:t>We choose to go to net zero emissions in every country on Earth, in the coming quarter century, by 2050 or sooner, and do the other things that have to be done to protect the stability of our climate and biosphere even as we deliver clean energy in abundance to everyone on Earth, leaving no-one behind, not because these things are easy, but because they are necessary, and because we know that we can.</a:t>
            </a:r>
            <a:br>
              <a:rPr lang="en-US" dirty="0"/>
            </a:br>
            <a:r>
              <a:rPr lang="en-US" dirty="0"/>
              <a:t>Let’s look at how this might be financed. We already have the technologies we need in hand. What about the financial engineering?</a:t>
            </a:r>
          </a:p>
        </p:txBody>
      </p:sp>
    </p:spTree>
    <p:extLst>
      <p:ext uri="{BB962C8B-B14F-4D97-AF65-F5344CB8AC3E}">
        <p14:creationId xmlns:p14="http://schemas.microsoft.com/office/powerpoint/2010/main" val="398082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core question of our time is how we can increase private investment flows to developing countries to fully finance sustainable development, leaving no-one behind, and making sure as we do so that we return within the global envelope of safety, within the crucial planetary boundaries that define sustainability. We have to redirect vast flows of financial savings in the direction of sustainability. How can we do that? Here’s a hypothesis: We can do it by de-risking sustainability-linked bonds and loans in ways that allow us to scale them up to trillions of dollars a year. Let’s look at how that could perhaps be done. </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GB" sz="1100" dirty="0">
                <a:solidFill>
                  <a:srgbClr val="002F4A"/>
                </a:solidFill>
              </a:rPr>
              <a:t>To achieve global net zero by 2050, annual investments from</a:t>
            </a:r>
            <a:r>
              <a:rPr lang="en-GB" sz="1100" dirty="0">
                <a:solidFill>
                  <a:srgbClr val="B85741"/>
                </a:solidFill>
              </a:rPr>
              <a:t> </a:t>
            </a:r>
            <a:r>
              <a:rPr lang="en-GB" sz="1100" b="1" dirty="0">
                <a:solidFill>
                  <a:srgbClr val="B85741"/>
                </a:solidFill>
              </a:rPr>
              <a:t>US$3.4 trillion to $8.1 trillion </a:t>
            </a:r>
            <a:r>
              <a:rPr lang="en-GB" sz="1100" dirty="0">
                <a:solidFill>
                  <a:srgbClr val="002F4A"/>
                </a:solidFill>
              </a:rPr>
              <a:t>are needed globally (Yilmaz et al. 2022)</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en-GB" sz="1100" dirty="0">
                <a:solidFill>
                  <a:srgbClr val="002F4A"/>
                </a:solidFill>
                <a:latin typeface="Merriweather" pitchFamily="2" charset="77"/>
              </a:rPr>
              <a:t>Flow of climate finance from developed to developing countries in 2020 was estimated at $21 to $83.3 billion (UNFCCC), </a:t>
            </a:r>
            <a:r>
              <a:rPr lang="en-GB" sz="1100" b="1" dirty="0">
                <a:solidFill>
                  <a:srgbClr val="B85741"/>
                </a:solidFill>
                <a:latin typeface="Merriweather" pitchFamily="2" charset="77"/>
              </a:rPr>
              <a:t>far below </a:t>
            </a:r>
            <a:r>
              <a:rPr lang="en-GB" sz="1100" dirty="0">
                <a:solidFill>
                  <a:srgbClr val="002F4A"/>
                </a:solidFill>
                <a:latin typeface="Merriweather" pitchFamily="2" charset="77"/>
              </a:rPr>
              <a:t>required level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latin typeface="Roboto"/>
                <a:ea typeface="Roboto"/>
                <a:cs typeface="Roboto"/>
                <a:sym typeface="Roboto"/>
              </a:rPr>
              <a:t>1. Countries with low financial development and less developed financial institutions are less able to attract private capital. 2. High cost of capital makes the initial investment requirements for many projects, like renewable energy, infeasible. 3. In many developing countries, dramatic reductions in the cost of capital and access to low-cost financing will be necessary to enable a boom in clean infrastructure projects</a:t>
            </a:r>
            <a:r>
              <a:rPr lang="en-GB" sz="1600" dirty="0">
                <a:solidFill>
                  <a:srgbClr val="002F4A"/>
                </a:solidFill>
                <a:latin typeface="Roboto"/>
                <a:ea typeface="Roboto"/>
                <a:cs typeface="Roboto"/>
                <a:sym typeface="Roboto"/>
              </a:rPr>
              <a: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60000"/>
              </a:lnSpc>
              <a:spcBef>
                <a:spcPts val="0"/>
              </a:spcBef>
              <a:spcAft>
                <a:spcPts val="0"/>
              </a:spcAft>
              <a:buClr>
                <a:srgbClr val="666666"/>
              </a:buClr>
              <a:buSzPts val="1100"/>
              <a:buFont typeface="Arial"/>
              <a:buChar char="●"/>
              <a:tabLst/>
              <a:defRPr/>
            </a:pPr>
            <a:r>
              <a:rPr lang="en-GB" sz="1100" dirty="0">
                <a:solidFill>
                  <a:schemeClr val="bg1"/>
                </a:solidFill>
                <a:latin typeface="Roboto"/>
                <a:ea typeface="Roboto"/>
                <a:cs typeface="Roboto"/>
                <a:sym typeface="Roboto"/>
              </a:rPr>
              <a:t> Enel are </a:t>
            </a:r>
            <a:r>
              <a:rPr lang="en-GB" sz="1100" b="1" dirty="0">
                <a:solidFill>
                  <a:schemeClr val="bg1"/>
                </a:solidFill>
                <a:latin typeface="Roboto"/>
                <a:ea typeface="Roboto"/>
                <a:cs typeface="Roboto"/>
                <a:sym typeface="Roboto"/>
              </a:rPr>
              <a:t>off-track</a:t>
            </a:r>
            <a:r>
              <a:rPr lang="en-GB" sz="1100" dirty="0">
                <a:solidFill>
                  <a:schemeClr val="bg1"/>
                </a:solidFill>
                <a:latin typeface="Roboto"/>
                <a:ea typeface="Roboto"/>
                <a:cs typeface="Roboto"/>
                <a:sym typeface="Roboto"/>
              </a:rPr>
              <a:t> to achieve their KPI targets (AFII, 2023), but the subsequent step-up penalty is likely to have little impact on the company’s overall financial health (Ritchie, 2023).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4922670-BD7A-1422-4C74-4A949B8AED8F}"/>
            </a:ext>
          </a:extLst>
        </p:cNvPr>
        <p:cNvGrpSpPr/>
        <p:nvPr/>
      </p:nvGrpSpPr>
      <p:grpSpPr>
        <a:xfrm>
          <a:off x="0" y="0"/>
          <a:ext cx="0" cy="0"/>
          <a:chOff x="0" y="0"/>
          <a:chExt cx="0" cy="0"/>
        </a:xfrm>
      </p:grpSpPr>
      <p:sp>
        <p:nvSpPr>
          <p:cNvPr id="156" name="Google Shape;156;g2a07d1cf71e_0_10:notes">
            <a:extLst>
              <a:ext uri="{FF2B5EF4-FFF2-40B4-BE49-F238E27FC236}">
                <a16:creationId xmlns:a16="http://schemas.microsoft.com/office/drawing/2014/main" id="{555C794F-054C-E5C7-557A-EB591AB89B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a:extLst>
              <a:ext uri="{FF2B5EF4-FFF2-40B4-BE49-F238E27FC236}">
                <a16:creationId xmlns:a16="http://schemas.microsoft.com/office/drawing/2014/main" id="{39E118FF-640D-3700-07BE-AF090389FF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It’s worth noting that the overwhelming majority of SLBs that have been issued to date, since SLBs first were introduced in 2019, have been corporate SLBs, not sovereign SLBs; there have only been a couple of sovereign SLBs. And the volume of corporate SLBs has been declining since a peak two or three years ago. We think that might have to do with some design flaws in the current generation of SLBs. </a:t>
            </a:r>
            <a:endParaRPr dirty="0"/>
          </a:p>
        </p:txBody>
      </p:sp>
    </p:spTree>
    <p:extLst>
      <p:ext uri="{BB962C8B-B14F-4D97-AF65-F5344CB8AC3E}">
        <p14:creationId xmlns:p14="http://schemas.microsoft.com/office/powerpoint/2010/main" val="547236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Investors:</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Activist investors are uncomfortable with </a:t>
            </a:r>
            <a:r>
              <a:rPr lang="en-GB" sz="1100" b="1" dirty="0">
                <a:solidFill>
                  <a:srgbClr val="002F4A"/>
                </a:solidFill>
                <a:latin typeface="Roboto"/>
                <a:ea typeface="Roboto"/>
                <a:cs typeface="Roboto"/>
                <a:sym typeface="Roboto"/>
              </a:rPr>
              <a:t>higher</a:t>
            </a:r>
            <a:r>
              <a:rPr lang="en-GB" sz="1100" dirty="0">
                <a:solidFill>
                  <a:srgbClr val="002F4A"/>
                </a:solidFill>
                <a:latin typeface="Roboto"/>
                <a:ea typeface="Roboto"/>
                <a:cs typeface="Roboto"/>
                <a:sym typeface="Roboto"/>
              </a:rPr>
              <a:t> coupon payments linked to </a:t>
            </a:r>
            <a:r>
              <a:rPr lang="en-GB" sz="1100" b="1" dirty="0">
                <a:solidFill>
                  <a:srgbClr val="002F4A"/>
                </a:solidFill>
                <a:latin typeface="Roboto"/>
                <a:ea typeface="Roboto"/>
                <a:cs typeface="Roboto"/>
                <a:sym typeface="Roboto"/>
              </a:rPr>
              <a:t>failure</a:t>
            </a:r>
            <a:r>
              <a:rPr lang="en-GB" sz="1100" dirty="0">
                <a:solidFill>
                  <a:srgbClr val="002F4A"/>
                </a:solidFill>
                <a:latin typeface="Roboto"/>
                <a:ea typeface="Roboto"/>
                <a:cs typeface="Roboto"/>
                <a:sym typeface="Roboto"/>
              </a:rPr>
              <a:t> to achieve climate objectives</a:t>
            </a:r>
          </a:p>
          <a:p>
            <a:pPr marL="457200" lvl="0"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Investors are exposed to </a:t>
            </a:r>
            <a:r>
              <a:rPr lang="en-GB" sz="1100" b="1" dirty="0">
                <a:solidFill>
                  <a:srgbClr val="002F4A"/>
                </a:solidFill>
                <a:latin typeface="Roboto"/>
                <a:ea typeface="Roboto"/>
                <a:cs typeface="Roboto"/>
                <a:sym typeface="Roboto"/>
              </a:rPr>
              <a:t>risks</a:t>
            </a:r>
            <a:r>
              <a:rPr lang="en-GB" sz="1100" dirty="0">
                <a:solidFill>
                  <a:srgbClr val="002F4A"/>
                </a:solidFill>
                <a:latin typeface="Roboto"/>
                <a:ea typeface="Roboto"/>
                <a:cs typeface="Roboto"/>
                <a:sym typeface="Roboto"/>
              </a:rPr>
              <a:t> related to non-payments</a:t>
            </a:r>
          </a:p>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Sovereign:</a:t>
            </a:r>
          </a:p>
          <a:p>
            <a:pPr marL="457200" lvl="0" indent="-298450" algn="l" rtl="0">
              <a:lnSpc>
                <a:spcPct val="115000"/>
              </a:lnSpc>
              <a:spcBef>
                <a:spcPts val="120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Nearly 95% of SLBs employ a step-up coupon structure (</a:t>
            </a:r>
            <a:r>
              <a:rPr lang="en-GB" sz="1100" dirty="0" err="1">
                <a:solidFill>
                  <a:srgbClr val="002F4A"/>
                </a:solidFill>
                <a:latin typeface="Roboto"/>
                <a:ea typeface="Roboto"/>
                <a:cs typeface="Roboto"/>
                <a:sym typeface="Roboto"/>
              </a:rPr>
              <a:t>Berrada</a:t>
            </a:r>
            <a:r>
              <a:rPr lang="en-GB" sz="1100" dirty="0">
                <a:solidFill>
                  <a:srgbClr val="002F4A"/>
                </a:solidFill>
                <a:latin typeface="Roboto"/>
                <a:ea typeface="Roboto"/>
                <a:cs typeface="Roboto"/>
                <a:sym typeface="Roboto"/>
              </a:rPr>
              <a:t> et al., 2022)</a:t>
            </a:r>
          </a:p>
          <a:p>
            <a:pPr marL="914400" lvl="1" indent="-298450" algn="l" rtl="0">
              <a:lnSpc>
                <a:spcPct val="115000"/>
              </a:lnSpc>
              <a:spcBef>
                <a:spcPts val="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Sovereigns are financially </a:t>
            </a:r>
            <a:r>
              <a:rPr lang="en-GB" sz="1100" b="1" dirty="0">
                <a:solidFill>
                  <a:srgbClr val="002F4A"/>
                </a:solidFill>
                <a:latin typeface="Roboto"/>
                <a:ea typeface="Roboto"/>
                <a:cs typeface="Roboto"/>
                <a:sym typeface="Roboto"/>
              </a:rPr>
              <a:t>penalized</a:t>
            </a:r>
            <a:r>
              <a:rPr lang="en-GB" sz="1100" dirty="0">
                <a:solidFill>
                  <a:srgbClr val="002F4A"/>
                </a:solidFill>
                <a:latin typeface="Roboto"/>
                <a:ea typeface="Roboto"/>
                <a:cs typeface="Roboto"/>
                <a:sym typeface="Roboto"/>
              </a:rPr>
              <a:t> for not achieving KPI targets, rather than being </a:t>
            </a:r>
            <a:r>
              <a:rPr lang="en-GB" sz="1100" b="1" dirty="0">
                <a:solidFill>
                  <a:srgbClr val="002F4A"/>
                </a:solidFill>
                <a:latin typeface="Roboto"/>
                <a:ea typeface="Roboto"/>
                <a:cs typeface="Roboto"/>
                <a:sym typeface="Roboto"/>
              </a:rPr>
              <a:t>rewarded</a:t>
            </a:r>
            <a:r>
              <a:rPr lang="en-GB" sz="1100" dirty="0">
                <a:solidFill>
                  <a:srgbClr val="002F4A"/>
                </a:solidFill>
                <a:latin typeface="Roboto"/>
                <a:ea typeface="Roboto"/>
                <a:cs typeface="Roboto"/>
                <a:sym typeface="Roboto"/>
              </a:rPr>
              <a:t> for outperforming</a:t>
            </a:r>
          </a:p>
          <a:p>
            <a:pPr marL="0" lvl="0" indent="0" algn="l" rtl="0">
              <a:lnSpc>
                <a:spcPct val="115000"/>
              </a:lnSpc>
              <a:spcBef>
                <a:spcPts val="0"/>
              </a:spcBef>
              <a:spcAft>
                <a:spcPts val="0"/>
              </a:spcAft>
              <a:buNone/>
            </a:pPr>
            <a:r>
              <a:rPr lang="en-GB" sz="1200" b="1" dirty="0">
                <a:latin typeface="Roboto"/>
                <a:ea typeface="Roboto"/>
                <a:cs typeface="Roboto"/>
                <a:sym typeface="Roboto"/>
              </a:rPr>
              <a:t>Complexity:</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While SLBs hold great potential, they have not seen widespread adoption from sovereigns or financial institutions </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Perceived </a:t>
            </a:r>
            <a:r>
              <a:rPr lang="en-GB" sz="1100" b="1" dirty="0">
                <a:solidFill>
                  <a:srgbClr val="002F4A"/>
                </a:solidFill>
                <a:latin typeface="Roboto"/>
                <a:ea typeface="Roboto"/>
                <a:cs typeface="Roboto"/>
                <a:sym typeface="Roboto"/>
              </a:rPr>
              <a:t>complexity</a:t>
            </a:r>
            <a:r>
              <a:rPr lang="en-GB" sz="1100" dirty="0">
                <a:solidFill>
                  <a:srgbClr val="002F4A"/>
                </a:solidFill>
                <a:latin typeface="Roboto"/>
                <a:ea typeface="Roboto"/>
                <a:cs typeface="Roboto"/>
                <a:sym typeface="Roboto"/>
              </a:rPr>
              <a:t> is a key deterrent</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a:p>
            <a:pPr marL="914400" lvl="1" indent="-298450" algn="l" rtl="0">
              <a:lnSpc>
                <a:spcPct val="115000"/>
              </a:lnSpc>
              <a:spcBef>
                <a:spcPts val="0"/>
              </a:spcBef>
              <a:spcAft>
                <a:spcPts val="0"/>
              </a:spcAft>
              <a:buClr>
                <a:schemeClr val="dk1"/>
              </a:buClr>
              <a:buSzPts val="1100"/>
              <a:buFont typeface="Roboto"/>
              <a:buChar char="○"/>
            </a:pPr>
            <a:endParaRPr lang="en-GB" sz="1100" dirty="0">
              <a:solidFill>
                <a:srgbClr val="002F4A"/>
              </a:solidFill>
              <a:latin typeface="Roboto"/>
              <a:ea typeface="Roboto"/>
              <a:cs typeface="Roboto"/>
              <a:sym typeface="Roboto"/>
            </a:endParaRP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159A03EE-8F80-32AD-132C-2DB279837AC0}"/>
            </a:ext>
          </a:extLst>
        </p:cNvPr>
        <p:cNvGrpSpPr/>
        <p:nvPr/>
      </p:nvGrpSpPr>
      <p:grpSpPr>
        <a:xfrm>
          <a:off x="0" y="0"/>
          <a:ext cx="0" cy="0"/>
          <a:chOff x="0" y="0"/>
          <a:chExt cx="0" cy="0"/>
        </a:xfrm>
      </p:grpSpPr>
      <p:sp>
        <p:nvSpPr>
          <p:cNvPr id="150" name="Google Shape;150;g2a23badba93_1_106:notes">
            <a:extLst>
              <a:ext uri="{FF2B5EF4-FFF2-40B4-BE49-F238E27FC236}">
                <a16:creationId xmlns:a16="http://schemas.microsoft.com/office/drawing/2014/main" id="{A96546F0-58B3-E2A2-7DEB-8FB0F09C78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a:extLst>
              <a:ext uri="{FF2B5EF4-FFF2-40B4-BE49-F238E27FC236}">
                <a16:creationId xmlns:a16="http://schemas.microsoft.com/office/drawing/2014/main" id="{C0291CCD-85BB-4BC3-5601-67D36CABCC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latin typeface="Roboto" panose="02000000000000000000" pitchFamily="2" charset="0"/>
                <a:ea typeface="Roboto" panose="02000000000000000000" pitchFamily="2" charset="0"/>
              </a:rPr>
              <a:t>We offer two very different possible SLIDI designs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22657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donor might be a coalition including several oil-rich nations and the European Union, for example </a:t>
            </a:r>
            <a:endParaRPr dirty="0"/>
          </a:p>
        </p:txBody>
      </p:sp>
    </p:spTree>
    <p:extLst>
      <p:ext uri="{BB962C8B-B14F-4D97-AF65-F5344CB8AC3E}">
        <p14:creationId xmlns:p14="http://schemas.microsoft.com/office/powerpoint/2010/main" val="3959228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key points here are that we know development banks are a proven model, and that the reason we might need a separate vehicle with its own balance sheet for this purpose is that it’s unlikely that all shareholders of the World Bank or other existing development banks will agree to increase the size of the existing banks’ balance sheets to the extent required, so instead, it might be possible to create a separate balance sheet backed by a coalition of willing wealthy sovereigns, yet managed by an existing development bank. I’ll emphasize again that my co-authors and I are floating ideas here in a purely personal capacity, this is not a policy under development in the World Bank or any other development bank, and we’re not speaking for any existing institution!</a:t>
            </a:r>
            <a:endParaRPr dirty="0"/>
          </a:p>
        </p:txBody>
      </p:sp>
    </p:spTree>
    <p:extLst>
      <p:ext uri="{BB962C8B-B14F-4D97-AF65-F5344CB8AC3E}">
        <p14:creationId xmlns:p14="http://schemas.microsoft.com/office/powerpoint/2010/main" val="535424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25F62519-CE46-1685-1273-682E9116A7A4}"/>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5D60D3F8-BFF2-5F4E-E162-69A51A7DB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D00B91D6-7DDA-3998-65CB-F281DF758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69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294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875D3C9-DAB3-BD49-6F81-A39238B9DA79}"/>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1DA32A00-E202-8C6E-49DA-2B35D4F83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629E94F8-6437-7B9C-D095-B685422A5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dirty="0">
                <a:ea typeface="Roboto" panose="02000000000000000000" pitchFamily="2" charset="0"/>
                <a:cs typeface="Roboto" panose="02000000000000000000" pitchFamily="2" charset="0"/>
              </a:rPr>
              <a:t>Problems</a:t>
            </a:r>
            <a:r>
              <a:rPr lang="en-US" sz="1100" dirty="0">
                <a:ea typeface="Roboto" panose="02000000000000000000" pitchFamily="2" charset="0"/>
                <a:cs typeface="Roboto" panose="02000000000000000000" pitchFamily="2" charset="0"/>
              </a:rPr>
              <a:t> observed in existing </a:t>
            </a:r>
            <a:r>
              <a:rPr lang="en-US" sz="1100" b="1" dirty="0">
                <a:ea typeface="Roboto" panose="02000000000000000000" pitchFamily="2" charset="0"/>
                <a:cs typeface="Roboto" panose="02000000000000000000" pitchFamily="2" charset="0"/>
              </a:rPr>
              <a:t>SLBs</a:t>
            </a:r>
            <a:r>
              <a:rPr lang="en-US" sz="1100" dirty="0">
                <a:ea typeface="Roboto" panose="02000000000000000000" pitchFamily="2" charset="0"/>
                <a:cs typeface="Roboto" panose="02000000000000000000" pitchFamily="2" charset="0"/>
              </a:rPr>
              <a:t>: complexity, variable coupon payments, and market resistance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rgbClr val="002F4A"/>
                </a:solidFill>
                <a:ea typeface="Roboto" panose="02000000000000000000" pitchFamily="2" charset="0"/>
                <a:cs typeface="Roboto" panose="02000000000000000000" pitchFamily="2" charset="0"/>
              </a:rPr>
              <a:t>Choice of ‘Prior Action’ or ‘Results Based Climate Finance’ system, with former choice reducing financial risk to WB and latter offering stronger performance incentives to client country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a typeface="Roboto" panose="02000000000000000000" pitchFamily="2" charset="0"/>
              <a:cs typeface="Roboto" panose="02000000000000000000"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21022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24596304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rgbClr val="002F4A"/>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Contents</a:t>
            </a:r>
            <a:endParaRPr lang="en-US" dirty="0"/>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Merriweather" pitchFamily="2" charset="77"/>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Merriweather" pitchFamily="2" charset="77"/>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0"/>
            <a:r>
              <a:rPr lang="en-GB" dirty="0"/>
              <a:t>Click to edit </a:t>
            </a:r>
          </a:p>
          <a:p>
            <a:pPr lvl="1"/>
            <a:r>
              <a:rPr lang="en-GB" dirty="0"/>
              <a:t>c</a:t>
            </a:r>
          </a:p>
          <a:p>
            <a:pPr lvl="0"/>
            <a:endParaRPr lang="en-US" dirty="0"/>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88761807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4"/>
            <a:ext cx="3684662" cy="4416815"/>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pic>
        <p:nvPicPr>
          <p:cNvPr id="4" name="Picture 3">
            <a:extLst>
              <a:ext uri="{FF2B5EF4-FFF2-40B4-BE49-F238E27FC236}">
                <a16:creationId xmlns:a16="http://schemas.microsoft.com/office/drawing/2014/main" id="{9D0D0BCD-F44D-1706-7F89-A5A6E788B453}"/>
              </a:ext>
            </a:extLst>
          </p:cNvPr>
          <p:cNvPicPr>
            <a:picLocks noChangeAspect="1"/>
          </p:cNvPicPr>
          <p:nvPr userDrawn="1"/>
        </p:nvPicPr>
        <p:blipFill rotWithShape="1">
          <a:blip r:embed="rId2"/>
          <a:srcRect l="-48841" t="-25532" r="-9973" b="-9433"/>
          <a:stretch/>
        </p:blipFill>
        <p:spPr>
          <a:xfrm>
            <a:off x="-4479010" y="-1657282"/>
            <a:ext cx="14521911" cy="8524066"/>
          </a:xfrm>
          <a:prstGeom prst="diagStripe">
            <a:avLst/>
          </a:prstGeom>
        </p:spPr>
      </p:pic>
    </p:spTree>
    <p:extLst>
      <p:ext uri="{BB962C8B-B14F-4D97-AF65-F5344CB8AC3E}">
        <p14:creationId xmlns:p14="http://schemas.microsoft.com/office/powerpoint/2010/main" val="41470215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25137504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8532472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34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3067492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4921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335223321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cean slide">
    <p:spTree>
      <p:nvGrpSpPr>
        <p:cNvPr id="1" name=""/>
        <p:cNvGrpSpPr/>
        <p:nvPr/>
      </p:nvGrpSpPr>
      <p:grpSpPr>
        <a:xfrm>
          <a:off x="0" y="0"/>
          <a:ext cx="0" cy="0"/>
          <a:chOff x="0" y="0"/>
          <a:chExt cx="0" cy="0"/>
        </a:xfrm>
      </p:grpSpPr>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298" y="351215"/>
            <a:ext cx="2678501" cy="3441851"/>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pic>
        <p:nvPicPr>
          <p:cNvPr id="19" name="Picture 18" descr="A close-up of a body of water&#10;&#10;Description automatically generated">
            <a:extLst>
              <a:ext uri="{FF2B5EF4-FFF2-40B4-BE49-F238E27FC236}">
                <a16:creationId xmlns:a16="http://schemas.microsoft.com/office/drawing/2014/main" id="{96E07C89-F09E-C692-7568-CBB3DEDBD5EC}"/>
              </a:ext>
            </a:extLst>
          </p:cNvPr>
          <p:cNvPicPr>
            <a:picLocks noChangeAspect="1"/>
          </p:cNvPicPr>
          <p:nvPr userDrawn="1"/>
        </p:nvPicPr>
        <p:blipFill>
          <a:blip r:embed="rId2"/>
          <a:srcRect r="22703"/>
          <a:stretch/>
        </p:blipFill>
        <p:spPr>
          <a:xfrm>
            <a:off x="3136129" y="6615"/>
            <a:ext cx="6007871" cy="5136885"/>
          </a:xfrm>
          <a:prstGeom prst="rect">
            <a:avLst/>
          </a:prstGeom>
        </p:spPr>
      </p:pic>
    </p:spTree>
    <p:extLst>
      <p:ext uri="{BB962C8B-B14F-4D97-AF65-F5344CB8AC3E}">
        <p14:creationId xmlns:p14="http://schemas.microsoft.com/office/powerpoint/2010/main" val="15551719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lit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36321" b="9757"/>
          <a:stretch/>
        </p:blipFill>
        <p:spPr>
          <a:xfrm>
            <a:off x="0" y="0"/>
            <a:ext cx="9144000" cy="3236232"/>
          </a:xfrm>
          <a:prstGeom prst="rect">
            <a:avLst/>
          </a:prstGeom>
        </p:spPr>
      </p:pic>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299" y="47821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a:t>
            </a:r>
            <a:endParaRPr lang="en-US" dirty="0"/>
          </a:p>
        </p:txBody>
      </p:sp>
    </p:spTree>
    <p:extLst>
      <p:ext uri="{BB962C8B-B14F-4D97-AF65-F5344CB8AC3E}">
        <p14:creationId xmlns:p14="http://schemas.microsoft.com/office/powerpoint/2010/main" val="32506351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F4A"/>
              </a:solidFil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934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33241784"/>
      </p:ext>
    </p:extLst>
  </p:cSld>
  <p:clrMap bg1="lt1" tx1="dk1" bg2="dk2" tx2="lt2" accent1="accent1" accent2="accent2" accent3="accent3" accent4="accent4" accent5="accent5" accent6="accent6" hlink="hlink" folHlink="folHlink"/>
  <p:sldLayoutIdLst>
    <p:sldLayoutId id="2147484554" r:id="rId1"/>
    <p:sldLayoutId id="2147484556" r:id="rId2"/>
    <p:sldLayoutId id="2147484567" r:id="rId3"/>
    <p:sldLayoutId id="2147484557" r:id="rId4"/>
    <p:sldLayoutId id="2147484558" r:id="rId5"/>
    <p:sldLayoutId id="2147484559" r:id="rId6"/>
    <p:sldLayoutId id="2147484560" r:id="rId7"/>
    <p:sldLayoutId id="2147484561" r:id="rId8"/>
    <p:sldLayoutId id="2147484562" r:id="rId9"/>
    <p:sldLayoutId id="2147484564" r:id="rId10"/>
    <p:sldLayoutId id="2147484565" r:id="rId11"/>
    <p:sldLayoutId id="2147484566" r:id="rId12"/>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rriweather" pitchFamily="2" charset="77"/>
          <a:ea typeface="Merriweather"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4.png"/><Relationship Id="rId18" Type="http://schemas.openxmlformats.org/officeDocument/2006/relationships/image" Target="../media/image17.sv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notesSlide" Target="../notesSlides/notesSlide2.xml"/><Relationship Id="rId16" Type="http://schemas.microsoft.com/office/2007/relationships/hdphoto" Target="../media/hdphoto6.wdp"/><Relationship Id="rId1" Type="http://schemas.openxmlformats.org/officeDocument/2006/relationships/slideLayout" Target="../slideLayouts/slideLayout9.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 Id="rId14" Type="http://schemas.microsoft.com/office/2007/relationships/hdphoto" Target="../media/hdphoto5.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hyperlink" Target="https://unfccc.int/sites/default/files/resource/202208101704---KAPSARC_GST%20submission_4%20August%202022.pdf"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hyperlink" Target="https://www.enel.com/investors/investing/sustainable-finance/sustainability-linked-finance/sustainability-linked-bonds"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worldbank.org/en/news/press-release/2023/11/17/banco-mundial-uruguay-recibe-un-prestamo-pionero-que-premia-el-cumplimiento-de-ambiciosas-metas-ambientales" TargetMode="Externa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sslburuguay.mef.gub.uy/innovaportal/file/30690/20/uruguay-sslb_non-deal-roadshow_october_2022.pdf"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CB928B-050B-2534-B9B3-48BCEC522DD5}"/>
              </a:ext>
            </a:extLst>
          </p:cNvPr>
          <p:cNvSpPr>
            <a:spLocks noGrp="1"/>
          </p:cNvSpPr>
          <p:nvPr>
            <p:ph type="subTitle" idx="4294967295"/>
          </p:nvPr>
        </p:nvSpPr>
        <p:spPr>
          <a:xfrm>
            <a:off x="5510587" y="425450"/>
            <a:ext cx="3525837" cy="4416425"/>
          </a:xfrm>
        </p:spPr>
        <p:txBody>
          <a:bodyPr>
            <a:normAutofit fontScale="70000" lnSpcReduction="20000"/>
          </a:bodyPr>
          <a:lstStyle/>
          <a:p>
            <a:pPr marL="146050" indent="0" algn="ctr">
              <a:buNone/>
            </a:pPr>
            <a:r>
              <a:rPr lang="en-US" sz="2800" i="1" dirty="0">
                <a:solidFill>
                  <a:srgbClr val="002F4A"/>
                </a:solidFill>
              </a:rPr>
              <a:t>“We choose to go to the moon in this decade and do the other things not because they are easy, but because they are hard. Because that goal will serve to organize and measure the best of our energies and skills, because that challenge is one that we’re willing to accept. One we are unwilling to postpone.”</a:t>
            </a:r>
          </a:p>
          <a:p>
            <a:endParaRPr lang="en-US" sz="2000" dirty="0">
              <a:solidFill>
                <a:srgbClr val="002F4A"/>
              </a:solidFill>
            </a:endParaRPr>
          </a:p>
          <a:p>
            <a:pPr marL="146050" indent="0" algn="ctr">
              <a:buNone/>
            </a:pPr>
            <a:br>
              <a:rPr lang="en-US" sz="2000" dirty="0">
                <a:solidFill>
                  <a:srgbClr val="B85741"/>
                </a:solidFill>
              </a:rPr>
            </a:br>
            <a:r>
              <a:rPr lang="en-US" sz="2300" dirty="0">
                <a:solidFill>
                  <a:srgbClr val="B85741"/>
                </a:solidFill>
              </a:rPr>
              <a:t>What would JFK say today? </a:t>
            </a:r>
            <a:endParaRPr lang="en-US" sz="2000" dirty="0">
              <a:solidFill>
                <a:srgbClr val="B85741"/>
              </a:solidFill>
            </a:endParaRPr>
          </a:p>
        </p:txBody>
      </p:sp>
      <p:pic>
        <p:nvPicPr>
          <p:cNvPr id="4098" name="Picture 2" descr="60 Years Ago, JFK Delivered His 'We Choose to Go to the Moon' Speech -  Business Insider">
            <a:extLst>
              <a:ext uri="{FF2B5EF4-FFF2-40B4-BE49-F238E27FC236}">
                <a16:creationId xmlns:a16="http://schemas.microsoft.com/office/drawing/2014/main" id="{020F9294-8EBE-F1D9-36E3-726E85B2F0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11" t="-31" r="37381" b="31"/>
          <a:stretch/>
        </p:blipFill>
        <p:spPr bwMode="auto">
          <a:xfrm>
            <a:off x="-3344" y="1"/>
            <a:ext cx="541731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1321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19598" y="417012"/>
            <a:ext cx="4629150" cy="298381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solidFill>
                  <a:srgbClr val="B85641"/>
                </a:solidFill>
                <a:latin typeface="Merriweather" pitchFamily="2" charset="77"/>
                <a:sym typeface="Merriweather"/>
              </a:rPr>
              <a:t>Climate and clean energy finance</a:t>
            </a:r>
            <a:endParaRPr lang="en" sz="2400" dirty="0">
              <a:solidFill>
                <a:srgbClr val="B85641"/>
              </a:solidFill>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5" name="Title 4">
            <a:extLst>
              <a:ext uri="{FF2B5EF4-FFF2-40B4-BE49-F238E27FC236}">
                <a16:creationId xmlns:a16="http://schemas.microsoft.com/office/drawing/2014/main" id="{B862295B-9C7E-2DFA-0EE5-255DC8AD3A3A}"/>
              </a:ext>
            </a:extLst>
          </p:cNvPr>
          <p:cNvSpPr>
            <a:spLocks noGrp="1"/>
          </p:cNvSpPr>
          <p:nvPr>
            <p:ph type="ctrTitle"/>
          </p:nvPr>
        </p:nvSpPr>
        <p:spPr>
          <a:xfrm>
            <a:off x="348260" y="978953"/>
            <a:ext cx="7202330" cy="1790700"/>
          </a:xfrm>
        </p:spPr>
        <p:txBody>
          <a:bodyPr>
            <a:normAutofit fontScale="90000"/>
          </a:bodyPr>
          <a:lstStyle/>
          <a:p>
            <a:br>
              <a:rPr lang="en" dirty="0"/>
            </a:br>
            <a:r>
              <a:rPr lang="en" dirty="0"/>
              <a:t>Design Options For Sustainability-Linked </a:t>
            </a:r>
            <a:br>
              <a:rPr lang="en" dirty="0"/>
            </a:br>
            <a:r>
              <a:rPr lang="en" dirty="0"/>
              <a:t>Intermediated Debt Instruments </a:t>
            </a:r>
            <a:br>
              <a:rPr lang="en" dirty="0"/>
            </a:br>
            <a:r>
              <a:rPr lang="en" dirty="0"/>
              <a:t>(SLIDIs)</a:t>
            </a:r>
            <a:endParaRPr lang="en-US" dirty="0"/>
          </a:p>
        </p:txBody>
      </p:sp>
      <p:sp>
        <p:nvSpPr>
          <p:cNvPr id="3" name="Subtitle 2">
            <a:extLst>
              <a:ext uri="{FF2B5EF4-FFF2-40B4-BE49-F238E27FC236}">
                <a16:creationId xmlns:a16="http://schemas.microsoft.com/office/drawing/2014/main" id="{EC282D93-2641-DAEF-43FD-3C2EBA6ED868}"/>
              </a:ext>
            </a:extLst>
          </p:cNvPr>
          <p:cNvSpPr>
            <a:spLocks noGrp="1"/>
          </p:cNvSpPr>
          <p:nvPr>
            <p:ph type="subTitle" idx="1"/>
          </p:nvPr>
        </p:nvSpPr>
        <p:spPr>
          <a:xfrm>
            <a:off x="420688" y="2871788"/>
            <a:ext cx="3698639" cy="740545"/>
          </a:xfrm>
        </p:spPr>
        <p:txBody>
          <a:bodyPr>
            <a:normAutofit fontScale="62500" lnSpcReduction="20000"/>
          </a:bodyPr>
          <a:lstStyle/>
          <a:p>
            <a:r>
              <a:rPr lang="en-US" dirty="0">
                <a:sym typeface="Roboto"/>
              </a:rPr>
              <a:t>*Please note: these remarks are made in a personal capacity and do not represent the views of any institutions we are affiliated to</a:t>
            </a:r>
          </a:p>
          <a:p>
            <a:endParaRPr lang="en-US" dirty="0"/>
          </a:p>
        </p:txBody>
      </p:sp>
      <p:sp>
        <p:nvSpPr>
          <p:cNvPr id="66" name="Google Shape;66;p13"/>
          <p:cNvSpPr txBox="1">
            <a:spLocks noGrp="1"/>
          </p:cNvSpPr>
          <p:nvPr>
            <p:ph type="body" sz="quarter" idx="10"/>
          </p:nvPr>
        </p:nvSpPr>
        <p:spPr>
          <a:xfrm>
            <a:off x="5434643" y="3269411"/>
            <a:ext cx="3440278" cy="1674064"/>
          </a:xfrm>
        </p:spPr>
        <p:txBody>
          <a:bodyPr spcFirstLastPara="1" wrap="square" lIns="91425" tIns="91425" rIns="91425" bIns="91425" anchor="t" anchorCtr="0">
            <a:noAutofit/>
          </a:bodyPr>
          <a:lstStyle/>
          <a:p>
            <a:pPr lvl="0"/>
            <a:r>
              <a:rPr lang="en-GB" dirty="0">
                <a:sym typeface="Merriweather"/>
              </a:rPr>
              <a:t>Marcello </a:t>
            </a:r>
            <a:r>
              <a:rPr lang="en-GB" dirty="0" err="1">
                <a:sym typeface="Merriweather"/>
              </a:rPr>
              <a:t>Estevão</a:t>
            </a:r>
            <a:endParaRPr lang="en-GB" dirty="0">
              <a:sym typeface="Merriweather"/>
            </a:endParaRPr>
          </a:p>
          <a:p>
            <a:pPr lvl="0"/>
            <a:r>
              <a:rPr lang="en-GB" dirty="0">
                <a:sym typeface="Merriweather"/>
              </a:rPr>
              <a:t>Nils (Jasper) Zimmermann</a:t>
            </a:r>
          </a:p>
          <a:p>
            <a:pPr lvl="0"/>
            <a:r>
              <a:rPr lang="en-GB" dirty="0">
                <a:sym typeface="Merriweather"/>
              </a:rPr>
              <a:t>Stephen Stretton</a:t>
            </a:r>
          </a:p>
          <a:p>
            <a:pPr lvl="0"/>
            <a:r>
              <a:rPr lang="en-GB" i="1" dirty="0">
                <a:sym typeface="Merriweather"/>
              </a:rPr>
              <a:t>With thanks to Evie Davey for slide assistance</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Subtitle 2">
            <a:extLst>
              <a:ext uri="{FF2B5EF4-FFF2-40B4-BE49-F238E27FC236}">
                <a16:creationId xmlns:a16="http://schemas.microsoft.com/office/drawing/2014/main" id="{05240FCA-0859-01A2-00C6-B59F955E3804}"/>
              </a:ext>
            </a:extLst>
          </p:cNvPr>
          <p:cNvSpPr>
            <a:spLocks noGrp="1"/>
          </p:cNvSpPr>
          <p:nvPr>
            <p:ph type="subTitle" idx="1"/>
          </p:nvPr>
        </p:nvSpPr>
        <p:spPr>
          <a:xfrm>
            <a:off x="5012393" y="253497"/>
            <a:ext cx="3684662" cy="623924"/>
          </a:xfrm>
        </p:spPr>
        <p:txBody>
          <a:bodyPr>
            <a:normAutofit/>
          </a:bodyPr>
          <a:lstStyle/>
          <a:p>
            <a:pPr algn="ctr"/>
            <a:r>
              <a:rPr lang="en-US" sz="2200" dirty="0"/>
              <a:t>Contents</a:t>
            </a:r>
            <a:endParaRPr lang="en-US" sz="2000" dirty="0"/>
          </a:p>
        </p:txBody>
      </p:sp>
      <p:sp>
        <p:nvSpPr>
          <p:cNvPr id="72" name="Google Shape;72;p14"/>
          <p:cNvSpPr txBox="1">
            <a:spLocks noGrp="1"/>
          </p:cNvSpPr>
          <p:nvPr>
            <p:ph type="body" sz="quarter" idx="11"/>
          </p:nvPr>
        </p:nvSpPr>
        <p:spPr>
          <a:xfrm>
            <a:off x="5141313" y="905659"/>
            <a:ext cx="3684663" cy="3984344"/>
          </a:xfrm>
        </p:spPr>
        <p:txBody>
          <a:bodyPr spcFirstLastPara="1" wrap="square" lIns="91425" tIns="91425" rIns="91425" bIns="91425" anchor="t" anchorCtr="0">
            <a:noAutofit/>
          </a:bodyPr>
          <a:lstStyle/>
          <a:p>
            <a:pPr marL="401638" indent="-401638">
              <a:spcAft>
                <a:spcPts val="600"/>
              </a:spcAft>
            </a:pPr>
            <a:r>
              <a:rPr lang="en-GB" b="1" dirty="0">
                <a:latin typeface="Merriweather" pitchFamily="2" charset="77"/>
                <a:sym typeface="Merriweather"/>
              </a:rPr>
              <a:t>Why SLIDIs?</a:t>
            </a:r>
          </a:p>
          <a:p>
            <a:pPr marL="401638" indent="-401638">
              <a:spcAft>
                <a:spcPts val="600"/>
              </a:spcAft>
            </a:pPr>
            <a:r>
              <a:rPr lang="en-GB" b="1" dirty="0">
                <a:latin typeface="Merriweather" pitchFamily="2" charset="77"/>
                <a:sym typeface="Merriweather"/>
              </a:rPr>
              <a:t>Sustainability-Linked-Bonds:</a:t>
            </a:r>
            <a:r>
              <a:rPr lang="en-GB" dirty="0">
                <a:latin typeface="Merriweather" pitchFamily="2" charset="77"/>
                <a:sym typeface="Merriweather"/>
              </a:rPr>
              <a:t> Current Concept &amp; Shortcomings</a:t>
            </a:r>
          </a:p>
          <a:p>
            <a:pPr marL="401638" indent="-401638">
              <a:spcAft>
                <a:spcPts val="600"/>
              </a:spcAft>
            </a:pPr>
            <a:r>
              <a:rPr lang="en-GB" b="1" noProof="0" dirty="0">
                <a:latin typeface="Merriweather" pitchFamily="2" charset="77"/>
                <a:sym typeface="Merriweather"/>
              </a:rPr>
              <a:t>How Do SLIDIs Differ From SLBs?</a:t>
            </a:r>
          </a:p>
          <a:p>
            <a:pPr marL="744538" lvl="1" indent="-401638">
              <a:spcAft>
                <a:spcPts val="600"/>
              </a:spcAft>
            </a:pPr>
            <a:r>
              <a:rPr lang="en-GB" b="1" dirty="0">
                <a:latin typeface="Merriweather" pitchFamily="2" charset="77"/>
                <a:sym typeface="Merriweather"/>
              </a:rPr>
              <a:t>Option One: </a:t>
            </a:r>
            <a:r>
              <a:rPr lang="en-GB" dirty="0">
                <a:latin typeface="Merriweather" pitchFamily="2" charset="77"/>
                <a:sym typeface="Merriweather"/>
              </a:rPr>
              <a:t>Subsidy</a:t>
            </a:r>
          </a:p>
          <a:p>
            <a:pPr marL="744538" lvl="1" indent="-401638">
              <a:spcAft>
                <a:spcPts val="600"/>
              </a:spcAft>
            </a:pPr>
            <a:r>
              <a:rPr lang="en-GB" b="1" dirty="0">
                <a:latin typeface="Merriweather" pitchFamily="2" charset="77"/>
                <a:sym typeface="Merriweather"/>
              </a:rPr>
              <a:t>Option Two: </a:t>
            </a:r>
            <a:r>
              <a:rPr lang="en-GB" dirty="0">
                <a:latin typeface="Merriweather" pitchFamily="2" charset="77"/>
                <a:sym typeface="Merriweather"/>
              </a:rPr>
              <a:t>Credit</a:t>
            </a:r>
            <a:r>
              <a:rPr lang="en-GB" b="1" dirty="0">
                <a:latin typeface="Merriweather" pitchFamily="2" charset="77"/>
                <a:sym typeface="Merriweather"/>
              </a:rPr>
              <a:t>	</a:t>
            </a:r>
          </a:p>
          <a:p>
            <a:pPr marL="401638" indent="-401638">
              <a:spcAft>
                <a:spcPts val="600"/>
              </a:spcAft>
            </a:pPr>
            <a:r>
              <a:rPr lang="en-GB" b="1" noProof="0" dirty="0">
                <a:latin typeface="Merriweather" pitchFamily="2" charset="77"/>
                <a:sym typeface="Merriweather"/>
              </a:rPr>
              <a:t>Development Partner Role</a:t>
            </a:r>
          </a:p>
          <a:p>
            <a:pPr marL="401638" indent="-401638">
              <a:spcAft>
                <a:spcPts val="600"/>
              </a:spcAft>
            </a:pPr>
            <a:r>
              <a:rPr lang="en-GB" b="1" noProof="0" dirty="0">
                <a:latin typeface="Merriweather" pitchFamily="2" charset="77"/>
                <a:sym typeface="Merriweather"/>
              </a:rPr>
              <a:t>Conclusions &amp; Next Steps</a:t>
            </a:r>
            <a:endParaRPr lang="en-US" dirty="0">
              <a:latin typeface="Merriweather" pitchFamily="2" charset="77"/>
            </a:endParaRPr>
          </a:p>
          <a:p>
            <a:pPr lvl="0"/>
            <a:endParaRPr lang="en-US" dirty="0"/>
          </a:p>
          <a:p>
            <a:endParaRPr lang="en-US" dirty="0"/>
          </a:p>
          <a:p>
            <a:pPr lvl="0"/>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5" name="Subtitle 4">
            <a:extLst>
              <a:ext uri="{FF2B5EF4-FFF2-40B4-BE49-F238E27FC236}">
                <a16:creationId xmlns:a16="http://schemas.microsoft.com/office/drawing/2014/main" id="{6ACBF3F9-6AC9-F556-6E76-DFECC4C3B86B}"/>
              </a:ext>
            </a:extLst>
          </p:cNvPr>
          <p:cNvSpPr>
            <a:spLocks noGrp="1"/>
          </p:cNvSpPr>
          <p:nvPr>
            <p:ph type="subTitle" idx="1"/>
          </p:nvPr>
        </p:nvSpPr>
        <p:spPr>
          <a:xfrm>
            <a:off x="5130089" y="1946495"/>
            <a:ext cx="3684662" cy="625255"/>
          </a:xfrm>
        </p:spPr>
        <p:txBody>
          <a:bodyPr>
            <a:normAutofit fontScale="92500" lnSpcReduction="20000"/>
          </a:bodyPr>
          <a:lstStyle/>
          <a:p>
            <a:pPr algn="ctr"/>
            <a:r>
              <a:rPr lang="en-US" sz="3200" dirty="0">
                <a:latin typeface="Merriweather" pitchFamily="2" charset="77"/>
              </a:rPr>
              <a:t>Why SLIDIs? </a:t>
            </a:r>
          </a:p>
          <a:p>
            <a:endParaRPr lang="en-US" dirty="0"/>
          </a:p>
        </p:txBody>
      </p:sp>
    </p:spTree>
    <p:extLst>
      <p:ext uri="{BB962C8B-B14F-4D97-AF65-F5344CB8AC3E}">
        <p14:creationId xmlns:p14="http://schemas.microsoft.com/office/powerpoint/2010/main" val="70190844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6" name="Google Shape;106;p17"/>
          <p:cNvGrpSpPr/>
          <p:nvPr/>
        </p:nvGrpSpPr>
        <p:grpSpPr>
          <a:xfrm>
            <a:off x="3303553" y="981942"/>
            <a:ext cx="2674737" cy="2788108"/>
            <a:chOff x="3071454" y="2013875"/>
            <a:chExt cx="2154300" cy="1569600"/>
          </a:xfrm>
          <a:solidFill>
            <a:srgbClr val="FFFFFF">
              <a:alpha val="83137"/>
            </a:srgbClr>
          </a:solidFill>
        </p:grpSpPr>
        <p:sp>
          <p:nvSpPr>
            <p:cNvPr id="107" name="Google Shape;107;p17"/>
            <p:cNvSpPr/>
            <p:nvPr/>
          </p:nvSpPr>
          <p:spPr>
            <a:xfrm rot="10800000" flipH="1">
              <a:off x="3071454" y="2013875"/>
              <a:ext cx="21543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326130" y="2344391"/>
              <a:ext cx="1647300" cy="84851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200" b="1" dirty="0">
                  <a:solidFill>
                    <a:srgbClr val="A72A1E"/>
                  </a:solidFill>
                  <a:latin typeface="Merriweather" pitchFamily="2" charset="77"/>
                  <a:ea typeface="Roboto"/>
                  <a:cs typeface="Roboto"/>
                  <a:sym typeface="Roboto"/>
                </a:rPr>
                <a:t>Sustainability Linked Bonds (SLBs) and Sustainability-Linked Loans (SLLs) are useful innovations to achieve these goals, but have not achieved necessary </a:t>
              </a:r>
              <a:r>
                <a:rPr lang="en" sz="1400" b="1" dirty="0">
                  <a:solidFill>
                    <a:srgbClr val="A72A1E"/>
                  </a:solidFill>
                  <a:latin typeface="Merriweather" pitchFamily="2" charset="77"/>
                  <a:ea typeface="Roboto"/>
                  <a:cs typeface="Roboto"/>
                  <a:sym typeface="Roboto"/>
                </a:rPr>
                <a:t>scale</a:t>
              </a:r>
              <a:endParaRPr lang="en" sz="1200" b="1" dirty="0">
                <a:solidFill>
                  <a:srgbClr val="A72A1E"/>
                </a:solidFill>
                <a:latin typeface="Merriweather" pitchFamily="2" charset="77"/>
                <a:ea typeface="Roboto"/>
                <a:cs typeface="Roboto"/>
              </a:endParaRPr>
            </a:p>
          </p:txBody>
        </p:sp>
      </p:grpSp>
      <p:grpSp>
        <p:nvGrpSpPr>
          <p:cNvPr id="110" name="Google Shape;110;p17"/>
          <p:cNvGrpSpPr/>
          <p:nvPr/>
        </p:nvGrpSpPr>
        <p:grpSpPr>
          <a:xfrm>
            <a:off x="413057" y="488886"/>
            <a:ext cx="2890495" cy="2717973"/>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22866" y="2176136"/>
              <a:ext cx="1573478"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200" b="1" dirty="0">
                  <a:solidFill>
                    <a:schemeClr val="bg1"/>
                  </a:solidFill>
                  <a:latin typeface="Merriweather" pitchFamily="2" charset="77"/>
                  <a:ea typeface="Roboto"/>
                  <a:cs typeface="Roboto"/>
                </a:rPr>
                <a:t>The world needs stronger policy action to achieve global </a:t>
              </a:r>
              <a:r>
                <a:rPr lang="en" sz="1400" b="1" dirty="0">
                  <a:solidFill>
                    <a:schemeClr val="bg1"/>
                  </a:solidFill>
                  <a:latin typeface="Merriweather" pitchFamily="2" charset="77"/>
                  <a:ea typeface="Roboto"/>
                  <a:cs typeface="Roboto"/>
                </a:rPr>
                <a:t>GHG</a:t>
              </a:r>
              <a:r>
                <a:rPr lang="en" sz="1200" b="1" dirty="0">
                  <a:solidFill>
                    <a:schemeClr val="bg1"/>
                  </a:solidFill>
                  <a:latin typeface="Merriweather" pitchFamily="2" charset="77"/>
                  <a:ea typeface="Roboto"/>
                  <a:cs typeface="Roboto"/>
                </a:rPr>
                <a:t> emissions </a:t>
              </a:r>
              <a:r>
                <a:rPr lang="en" sz="1400" b="1" dirty="0">
                  <a:solidFill>
                    <a:schemeClr val="bg1"/>
                  </a:solidFill>
                  <a:latin typeface="Merriweather" pitchFamily="2" charset="77"/>
                  <a:ea typeface="Roboto"/>
                  <a:cs typeface="Roboto"/>
                </a:rPr>
                <a:t>mitigation</a:t>
              </a:r>
              <a:endParaRPr lang="en" sz="2000" dirty="0">
                <a:solidFill>
                  <a:schemeClr val="bg1"/>
                </a:solidFill>
                <a:latin typeface="Merriweather" pitchFamily="2" charset="77"/>
                <a:ea typeface="Roboto"/>
              </a:endParaRPr>
            </a:p>
          </p:txBody>
        </p:sp>
        <p:sp>
          <p:nvSpPr>
            <p:cNvPr id="113" name="Google Shape;113;p17"/>
            <p:cNvSpPr txBox="1"/>
            <p:nvPr/>
          </p:nvSpPr>
          <p:spPr>
            <a:xfrm>
              <a:off x="1306705" y="2895849"/>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200" b="1" dirty="0">
                  <a:solidFill>
                    <a:schemeClr val="bg1"/>
                  </a:solidFill>
                  <a:latin typeface="Merriweather" pitchFamily="2" charset="77"/>
                  <a:ea typeface="Roboto"/>
                  <a:cs typeface="Roboto"/>
                  <a:sym typeface="Roboto"/>
                </a:rPr>
                <a:t>Developing countries are in critical need of </a:t>
              </a:r>
              <a:r>
                <a:rPr lang="en" sz="1400" b="1" dirty="0">
                  <a:solidFill>
                    <a:schemeClr val="bg1"/>
                  </a:solidFill>
                  <a:latin typeface="Merriweather" pitchFamily="2" charset="77"/>
                  <a:ea typeface="Roboto"/>
                  <a:cs typeface="Roboto"/>
                  <a:sym typeface="Roboto"/>
                </a:rPr>
                <a:t>cheap finance </a:t>
              </a:r>
              <a:r>
                <a:rPr lang="en" sz="1200" b="1" dirty="0">
                  <a:solidFill>
                    <a:schemeClr val="bg1"/>
                  </a:solidFill>
                  <a:latin typeface="Merriweather" pitchFamily="2" charset="77"/>
                  <a:ea typeface="Roboto"/>
                  <a:cs typeface="Roboto"/>
                  <a:sym typeface="Roboto"/>
                </a:rPr>
                <a:t>to build a clean energy future</a:t>
              </a:r>
              <a:endParaRPr lang="en-US" sz="2000" dirty="0">
                <a:solidFill>
                  <a:schemeClr val="bg1"/>
                </a:solidFill>
                <a:latin typeface="Merriweather" pitchFamily="2" charset="77"/>
              </a:endParaRPr>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978291" y="1963483"/>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79285" y="2423121"/>
              <a:ext cx="2417100" cy="803869"/>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FFFFFF"/>
                  </a:solidFill>
                  <a:latin typeface="Merriweather" pitchFamily="2" charset="77"/>
                  <a:ea typeface="Roboto"/>
                  <a:cs typeface="Roboto"/>
                  <a:sym typeface="Roboto"/>
                </a:rPr>
                <a:t>Sustainability-Linked Intermediated Debt Instruments (</a:t>
              </a:r>
              <a:r>
                <a:rPr lang="en-US" sz="1400" b="1" dirty="0">
                  <a:solidFill>
                    <a:srgbClr val="FFFFFF"/>
                  </a:solidFill>
                  <a:latin typeface="Merriweather" pitchFamily="2" charset="77"/>
                  <a:ea typeface="Roboto"/>
                  <a:cs typeface="Roboto"/>
                  <a:sym typeface="Roboto"/>
                </a:rPr>
                <a:t>SLIDIs</a:t>
              </a:r>
              <a:r>
                <a:rPr lang="en-US" sz="1200" b="1" dirty="0">
                  <a:solidFill>
                    <a:srgbClr val="FFFFFF"/>
                  </a:solidFill>
                  <a:latin typeface="Merriweather" pitchFamily="2" charset="77"/>
                  <a:ea typeface="Roboto"/>
                  <a:cs typeface="Roboto"/>
                  <a:sym typeface="Roboto"/>
                </a:rPr>
                <a:t>) </a:t>
              </a:r>
              <a:r>
                <a:rPr lang="en" sz="1200" b="1" dirty="0">
                  <a:solidFill>
                    <a:srgbClr val="FFFFFF"/>
                  </a:solidFill>
                  <a:latin typeface="Merriweather" pitchFamily="2" charset="77"/>
                  <a:ea typeface="Roboto"/>
                  <a:cs typeface="Roboto"/>
                  <a:sym typeface="Roboto"/>
                </a:rPr>
                <a:t>build on SLBs and SLLs to </a:t>
              </a:r>
              <a:r>
                <a:rPr lang="en-AU" sz="1400" b="1" dirty="0">
                  <a:solidFill>
                    <a:srgbClr val="FFFFFF"/>
                  </a:solidFill>
                  <a:latin typeface="Merriweather" pitchFamily="2" charset="77"/>
                  <a:ea typeface="Roboto"/>
                  <a:cs typeface="Roboto"/>
                  <a:sym typeface="Roboto"/>
                </a:rPr>
                <a:t>unlock</a:t>
              </a:r>
              <a:r>
                <a:rPr lang="en-AU" sz="1200" b="1" dirty="0">
                  <a:solidFill>
                    <a:srgbClr val="FFFFFF"/>
                  </a:solidFill>
                  <a:latin typeface="Merriweather" pitchFamily="2" charset="77"/>
                  <a:ea typeface="Roboto"/>
                  <a:cs typeface="Roboto"/>
                  <a:sym typeface="Roboto"/>
                </a:rPr>
                <a:t> </a:t>
              </a:r>
              <a:r>
                <a:rPr lang="en" sz="1200" b="1" dirty="0">
                  <a:solidFill>
                    <a:srgbClr val="FFFFFF"/>
                  </a:solidFill>
                  <a:latin typeface="Merriweather" pitchFamily="2" charset="77"/>
                  <a:ea typeface="Roboto"/>
                  <a:cs typeface="Roboto"/>
                  <a:sym typeface="Roboto"/>
                </a:rPr>
                <a:t>climate and clean energy finance flows</a:t>
              </a:r>
              <a:endParaRPr sz="1200" dirty="0">
                <a:solidFill>
                  <a:srgbClr val="FFFFFF"/>
                </a:solidFill>
                <a:latin typeface="Merriweather" pitchFamily="2" charset="77"/>
                <a:ea typeface="Roboto"/>
                <a:cs typeface="Roboto"/>
                <a:sym typeface="Roboto"/>
              </a:endParaRPr>
            </a:p>
          </p:txBody>
        </p:sp>
      </p:grpSp>
      <p:grpSp>
        <p:nvGrpSpPr>
          <p:cNvPr id="118" name="Google Shape;118;p17"/>
          <p:cNvGrpSpPr/>
          <p:nvPr/>
        </p:nvGrpSpPr>
        <p:grpSpPr>
          <a:xfrm>
            <a:off x="5847505" y="2704050"/>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3172766" y="1369372"/>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TextBox 2">
            <a:extLst>
              <a:ext uri="{FF2B5EF4-FFF2-40B4-BE49-F238E27FC236}">
                <a16:creationId xmlns:a16="http://schemas.microsoft.com/office/drawing/2014/main" id="{559D59A1-924E-E3F9-6A67-5B361A008533}"/>
              </a:ext>
            </a:extLst>
          </p:cNvPr>
          <p:cNvSpPr txBox="1"/>
          <p:nvPr/>
        </p:nvSpPr>
        <p:spPr>
          <a:xfrm>
            <a:off x="1590813" y="1695663"/>
            <a:ext cx="769545" cy="400110"/>
          </a:xfrm>
          <a:prstGeom prst="rect">
            <a:avLst/>
          </a:prstGeom>
          <a:noFill/>
        </p:spPr>
        <p:txBody>
          <a:bodyPr wrap="square" rtlCol="0">
            <a:spAutoFit/>
          </a:bodyPr>
          <a:lstStyle/>
          <a:p>
            <a:r>
              <a:rPr lang="en-US" sz="2000" dirty="0">
                <a:solidFill>
                  <a:schemeClr val="bg1"/>
                </a:solidFill>
                <a:latin typeface="Merriweather" pitchFamily="2" charset="77"/>
              </a:rPr>
              <a:t>&amp;</a:t>
            </a:r>
            <a:endParaRPr lang="en-US" dirty="0">
              <a:solidFill>
                <a:schemeClr val="bg1"/>
              </a:solidFill>
              <a:latin typeface="Merriweather" pitchFamily="2" charset="77"/>
            </a:endParaRPr>
          </a:p>
        </p:txBody>
      </p:sp>
      <p:pic>
        <p:nvPicPr>
          <p:cNvPr id="4" name="Graphic 3" descr="Unlock with solid fill">
            <a:extLst>
              <a:ext uri="{FF2B5EF4-FFF2-40B4-BE49-F238E27FC236}">
                <a16:creationId xmlns:a16="http://schemas.microsoft.com/office/drawing/2014/main" id="{A20DEB00-9260-1A2D-1896-71B7950FAE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42455" y="515560"/>
            <a:ext cx="1334611" cy="1334611"/>
          </a:xfrm>
          <a:prstGeom prst="rect">
            <a:avLst/>
          </a:prstGeom>
        </p:spPr>
      </p:pic>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3" name="Title 2">
            <a:extLst>
              <a:ext uri="{FF2B5EF4-FFF2-40B4-BE49-F238E27FC236}">
                <a16:creationId xmlns:a16="http://schemas.microsoft.com/office/drawing/2014/main" id="{AF02E355-60EE-B764-D182-77EF3EB079CB}"/>
              </a:ext>
            </a:extLst>
          </p:cNvPr>
          <p:cNvSpPr>
            <a:spLocks noGrp="1"/>
          </p:cNvSpPr>
          <p:nvPr>
            <p:ph type="title"/>
          </p:nvPr>
        </p:nvSpPr>
        <p:spPr>
          <a:xfrm>
            <a:off x="311300" y="500924"/>
            <a:ext cx="3547267" cy="3465513"/>
          </a:xfrm>
        </p:spPr>
        <p:txBody>
          <a:bodyPr>
            <a:normAutofit fontScale="90000"/>
          </a:bodyPr>
          <a:lstStyle/>
          <a:p>
            <a:pPr lvl="0"/>
            <a:r>
              <a:rPr lang="en-GB" dirty="0">
                <a:solidFill>
                  <a:schemeClr val="bg1"/>
                </a:solidFill>
                <a:latin typeface="Merriweather" pitchFamily="2" charset="77"/>
              </a:rPr>
              <a:t>Global net zero by 2050 requires annual investment of </a:t>
            </a:r>
            <a:r>
              <a:rPr lang="en-GB" b="1" dirty="0">
                <a:solidFill>
                  <a:schemeClr val="bg1"/>
                </a:solidFill>
                <a:latin typeface="Merriweather" pitchFamily="2" charset="77"/>
              </a:rPr>
              <a:t>US$3.4 trillion to $8.1 trillion </a:t>
            </a:r>
            <a:r>
              <a:rPr lang="en-GB" dirty="0">
                <a:solidFill>
                  <a:schemeClr val="bg1"/>
                </a:solidFill>
                <a:latin typeface="Merriweather" pitchFamily="2" charset="77"/>
              </a:rPr>
              <a:t>globally</a:t>
            </a:r>
            <a:br>
              <a:rPr lang="en-GB" sz="2800" dirty="0">
                <a:solidFill>
                  <a:schemeClr val="bg1"/>
                </a:solidFill>
                <a:latin typeface="Merriweather" pitchFamily="2" charset="77"/>
              </a:rPr>
            </a:br>
            <a:br>
              <a:rPr lang="en-GB" sz="2800" dirty="0">
                <a:solidFill>
                  <a:schemeClr val="bg1"/>
                </a:solidFill>
                <a:latin typeface="Merriweather" pitchFamily="2" charset="77"/>
              </a:rPr>
            </a:br>
            <a:r>
              <a:rPr lang="en-GB" sz="2200" dirty="0">
                <a:solidFill>
                  <a:schemeClr val="bg1"/>
                </a:solidFill>
                <a:latin typeface="Merriweather" pitchFamily="2" charset="77"/>
              </a:rPr>
              <a:t>(</a:t>
            </a:r>
            <a:r>
              <a:rPr lang="en-GB" sz="2200" dirty="0">
                <a:solidFill>
                  <a:schemeClr val="bg1"/>
                </a:solidFill>
                <a:latin typeface="Merriweather" pitchFamily="2" charset="77"/>
                <a:hlinkClick r:id="rId3">
                  <a:extLst>
                    <a:ext uri="{A12FA001-AC4F-418D-AE19-62706E023703}">
                      <ahyp:hlinkClr xmlns:ahyp="http://schemas.microsoft.com/office/drawing/2018/hyperlinkcolor" val="tx"/>
                    </a:ext>
                  </a:extLst>
                </a:hlinkClick>
              </a:rPr>
              <a:t>Yilmaz et al. 2022</a:t>
            </a:r>
            <a:r>
              <a:rPr lang="en-GB" sz="2200" dirty="0">
                <a:solidFill>
                  <a:schemeClr val="bg1"/>
                </a:solidFill>
                <a:latin typeface="Merriweather" pitchFamily="2" charset="77"/>
              </a:rPr>
              <a:t>)</a:t>
            </a:r>
            <a:endParaRPr lang="en-GB" sz="2800" dirty="0">
              <a:solidFill>
                <a:schemeClr val="bg1"/>
              </a:solidFill>
              <a:latin typeface="Merriweather" pitchFamily="2" charset="77"/>
            </a:endParaRPr>
          </a:p>
        </p:txBody>
      </p:sp>
      <p:sp>
        <p:nvSpPr>
          <p:cNvPr id="99" name="Google Shape;99;p16"/>
          <p:cNvSpPr txBox="1">
            <a:spLocks noGrp="1"/>
          </p:cNvSpPr>
          <p:nvPr>
            <p:ph type="subTitle" idx="1"/>
          </p:nvPr>
        </p:nvSpPr>
        <p:spPr>
          <a:xfrm>
            <a:off x="4384622" y="4323585"/>
            <a:ext cx="4607719" cy="638867"/>
          </a:xfrm>
        </p:spPr>
        <p:txBody>
          <a:bodyPr spcFirstLastPara="1" wrap="square" lIns="91425" tIns="91425" rIns="91425" bIns="91425" anchor="t" anchorCtr="0">
            <a:noAutofit/>
          </a:bodyPr>
          <a:lstStyle/>
          <a:p>
            <a:pPr lvl="0" indent="0" algn="ctr">
              <a:buNone/>
            </a:pPr>
            <a:r>
              <a:rPr lang="en-GB" sz="1050" b="1" dirty="0">
                <a:solidFill>
                  <a:srgbClr val="B85641"/>
                </a:solidFill>
                <a:latin typeface="Merriweather" pitchFamily="2" charset="77"/>
              </a:rPr>
              <a:t>Current Annual Flow of Private Sector Investments to Developing Countries (</a:t>
            </a:r>
            <a:r>
              <a:rPr lang="en-GB" sz="1050" b="1" dirty="0" err="1">
                <a:solidFill>
                  <a:srgbClr val="B85641"/>
                </a:solidFill>
                <a:latin typeface="Merriweather" pitchFamily="2" charset="77"/>
              </a:rPr>
              <a:t>US$bn</a:t>
            </a:r>
            <a:r>
              <a:rPr lang="en-GB" sz="1050" b="1" dirty="0">
                <a:solidFill>
                  <a:srgbClr val="B85641"/>
                </a:solidFill>
                <a:latin typeface="Merriweather" pitchFamily="2" charset="77"/>
              </a:rPr>
              <a:t>)</a:t>
            </a:r>
          </a:p>
          <a:p>
            <a:pPr lvl="0" indent="0" algn="ctr">
              <a:buNone/>
            </a:pPr>
            <a:endParaRPr lang="en-GB" sz="1050" b="1" dirty="0">
              <a:solidFill>
                <a:srgbClr val="B85641"/>
              </a:solidFill>
              <a:latin typeface="Merriweather" pitchFamily="2" charset="77"/>
            </a:endParaRPr>
          </a:p>
          <a:p>
            <a:pPr lvl="0" indent="0" algn="ctr">
              <a:buNone/>
            </a:pPr>
            <a:r>
              <a:rPr lang="en-GB" sz="1000" i="1" dirty="0">
                <a:solidFill>
                  <a:srgbClr val="002F4A"/>
                </a:solidFill>
                <a:latin typeface="Merriweather" pitchFamily="2" charset="77"/>
              </a:rPr>
              <a:t>Sources: IMF (2023); OECD (2021)</a:t>
            </a:r>
          </a:p>
        </p:txBody>
      </p:sp>
      <p:sp>
        <p:nvSpPr>
          <p:cNvPr id="96" name="Google Shape;96;p16"/>
          <p:cNvSpPr txBox="1">
            <a:spLocks noGrp="1"/>
          </p:cNvSpPr>
          <p:nvPr>
            <p:ph type="body" idx="2"/>
          </p:nvPr>
        </p:nvSpPr>
        <p:spPr>
          <a:xfrm>
            <a:off x="4797543" y="253303"/>
            <a:ext cx="3954000" cy="1737989"/>
          </a:xfrm>
        </p:spPr>
        <p:txBody>
          <a:bodyPr spcFirstLastPara="1" wrap="square" lIns="91425" tIns="91425" rIns="91425" bIns="91425" anchor="t" anchorCtr="0">
            <a:noAutofit/>
          </a:bodyPr>
          <a:lstStyle/>
          <a:p>
            <a:pPr marL="146050" lvl="0" indent="0" algn="ctr">
              <a:buNone/>
            </a:pPr>
            <a:r>
              <a:rPr lang="en-GB" sz="1400" dirty="0">
                <a:solidFill>
                  <a:srgbClr val="002F4A"/>
                </a:solidFill>
                <a:latin typeface="Merriweather" pitchFamily="2" charset="77"/>
              </a:rPr>
              <a:t>Developing countries alone need </a:t>
            </a:r>
            <a:r>
              <a:rPr lang="en-GB" sz="1600" b="1" dirty="0">
                <a:solidFill>
                  <a:srgbClr val="B85741"/>
                </a:solidFill>
                <a:latin typeface="Merriweather" pitchFamily="2" charset="77"/>
              </a:rPr>
              <a:t>$2 trillion annually</a:t>
            </a:r>
            <a:r>
              <a:rPr lang="en-GB" sz="1600" dirty="0">
                <a:solidFill>
                  <a:srgbClr val="002F4A"/>
                </a:solidFill>
                <a:latin typeface="Merriweather" pitchFamily="2" charset="77"/>
              </a:rPr>
              <a:t> </a:t>
            </a:r>
            <a:r>
              <a:rPr lang="en-GB" sz="1400" dirty="0">
                <a:solidFill>
                  <a:srgbClr val="002F4A"/>
                </a:solidFill>
                <a:latin typeface="Merriweather" pitchFamily="2" charset="77"/>
              </a:rPr>
              <a:t>(IMF, 2023)</a:t>
            </a:r>
          </a:p>
          <a:p>
            <a:pPr marL="146050" lvl="0" indent="0" algn="ctr">
              <a:buNone/>
            </a:pPr>
            <a:endParaRPr lang="en-GB" sz="1400" dirty="0">
              <a:solidFill>
                <a:srgbClr val="002F4A"/>
              </a:solidFill>
              <a:latin typeface="Merriweather" pitchFamily="2" charset="77"/>
            </a:endParaRPr>
          </a:p>
          <a:p>
            <a:pPr marL="146050" lvl="0" indent="0" algn="ctr">
              <a:buNone/>
            </a:pPr>
            <a:r>
              <a:rPr lang="en-GB" sz="1400" dirty="0">
                <a:solidFill>
                  <a:srgbClr val="002F4A"/>
                </a:solidFill>
                <a:latin typeface="Merriweather" pitchFamily="2" charset="77"/>
              </a:rPr>
              <a:t>IMF (2023) estimates </a:t>
            </a:r>
            <a:r>
              <a:rPr lang="en-GB" sz="1600" b="1" dirty="0">
                <a:solidFill>
                  <a:srgbClr val="B85741"/>
                </a:solidFill>
                <a:latin typeface="Merriweather" pitchFamily="2" charset="77"/>
              </a:rPr>
              <a:t>80%</a:t>
            </a:r>
            <a:r>
              <a:rPr lang="en-GB" sz="1400" b="1" dirty="0">
                <a:solidFill>
                  <a:srgbClr val="002F4A"/>
                </a:solidFill>
                <a:latin typeface="Merriweather" pitchFamily="2" charset="77"/>
              </a:rPr>
              <a:t> </a:t>
            </a:r>
            <a:r>
              <a:rPr lang="en-GB" sz="1400" dirty="0">
                <a:solidFill>
                  <a:srgbClr val="002F4A"/>
                </a:solidFill>
                <a:latin typeface="Merriweather" pitchFamily="2" charset="77"/>
              </a:rPr>
              <a:t>of necessary investment must come from the </a:t>
            </a:r>
            <a:r>
              <a:rPr lang="en-GB" sz="1600" b="1" dirty="0">
                <a:solidFill>
                  <a:srgbClr val="B85741"/>
                </a:solidFill>
                <a:latin typeface="Merriweather" pitchFamily="2" charset="77"/>
              </a:rPr>
              <a:t>private sector</a:t>
            </a:r>
            <a:endParaRPr lang="en-GB" sz="1400" b="1" dirty="0">
              <a:solidFill>
                <a:srgbClr val="B85741"/>
              </a:solidFill>
              <a:latin typeface="Merriweather" pitchFamily="2" charset="77"/>
            </a:endParaRPr>
          </a:p>
        </p:txBody>
      </p:sp>
      <p:pic>
        <p:nvPicPr>
          <p:cNvPr id="98" name="Google Shape;98;p16" title="Points scored"/>
          <p:cNvPicPr preferRelativeResize="0"/>
          <p:nvPr/>
        </p:nvPicPr>
        <p:blipFill rotWithShape="1">
          <a:blip r:embed="rId4">
            <a:alphaModFix/>
          </a:blip>
          <a:srcRect t="19707"/>
          <a:stretch/>
        </p:blipFill>
        <p:spPr>
          <a:xfrm>
            <a:off x="4979901" y="2324215"/>
            <a:ext cx="3852799" cy="2061856"/>
          </a:xfrm>
          <a:prstGeom prst="rect">
            <a:avLst/>
          </a:prstGeom>
          <a:noFill/>
          <a:ln>
            <a:noFill/>
          </a:ln>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 name="Title 9">
            <a:extLst>
              <a:ext uri="{FF2B5EF4-FFF2-40B4-BE49-F238E27FC236}">
                <a16:creationId xmlns:a16="http://schemas.microsoft.com/office/drawing/2014/main" id="{2E9A4454-9C96-FA09-C9E2-86234AA8F843}"/>
              </a:ext>
            </a:extLst>
          </p:cNvPr>
          <p:cNvSpPr>
            <a:spLocks noGrp="1"/>
          </p:cNvSpPr>
          <p:nvPr>
            <p:ph type="title"/>
          </p:nvPr>
        </p:nvSpPr>
        <p:spPr>
          <a:xfrm>
            <a:off x="311150" y="501650"/>
            <a:ext cx="3487127" cy="3183110"/>
          </a:xfrm>
        </p:spPr>
        <p:txBody>
          <a:bodyPr>
            <a:normAutofit fontScale="90000"/>
          </a:bodyPr>
          <a:lstStyle/>
          <a:p>
            <a:r>
              <a:rPr lang="en-GB" dirty="0">
                <a:sym typeface="Roboto"/>
              </a:rPr>
              <a:t>Developing countries have difficulty accessing financing for renewable energy infrastructure, and their cost of capital is often very high</a:t>
            </a:r>
            <a:endParaRPr lang="en-US" dirty="0"/>
          </a:p>
        </p:txBody>
      </p:sp>
      <p:sp>
        <p:nvSpPr>
          <p:cNvPr id="16" name="Text Placeholder 15">
            <a:extLst>
              <a:ext uri="{FF2B5EF4-FFF2-40B4-BE49-F238E27FC236}">
                <a16:creationId xmlns:a16="http://schemas.microsoft.com/office/drawing/2014/main" id="{26F39FCF-13BF-24A8-76D4-DE942A53552A}"/>
              </a:ext>
            </a:extLst>
          </p:cNvPr>
          <p:cNvSpPr>
            <a:spLocks noGrp="1"/>
          </p:cNvSpPr>
          <p:nvPr>
            <p:ph type="body" idx="2"/>
          </p:nvPr>
        </p:nvSpPr>
        <p:spPr>
          <a:xfrm>
            <a:off x="4703193" y="310675"/>
            <a:ext cx="4324958" cy="1782530"/>
          </a:xfrm>
        </p:spPr>
        <p:txBody>
          <a:bodyPr/>
          <a:lstStyle/>
          <a:p>
            <a:pPr marL="146050" indent="0" algn="ctr">
              <a:buNone/>
            </a:pPr>
            <a:r>
              <a:rPr lang="en-GB" sz="1400" b="0" i="0" dirty="0">
                <a:solidFill>
                  <a:srgbClr val="1F1F1F"/>
                </a:solidFill>
                <a:effectLst/>
                <a:latin typeface="Merriweather" pitchFamily="2" charset="77"/>
              </a:rPr>
              <a:t>For utility-scale solar PV projects in 2021, financing costs constituted about </a:t>
            </a:r>
            <a:r>
              <a:rPr lang="en-GB" sz="1600" b="1" i="0" dirty="0">
                <a:solidFill>
                  <a:srgbClr val="B85641"/>
                </a:solidFill>
                <a:effectLst/>
                <a:latin typeface="Merriweather" pitchFamily="2" charset="77"/>
              </a:rPr>
              <a:t>50%</a:t>
            </a:r>
            <a:r>
              <a:rPr lang="en-GB" sz="1600" b="0" i="0" dirty="0">
                <a:solidFill>
                  <a:srgbClr val="B85641"/>
                </a:solidFill>
                <a:effectLst/>
                <a:latin typeface="Merriweather" pitchFamily="2" charset="77"/>
              </a:rPr>
              <a:t> </a:t>
            </a:r>
            <a:r>
              <a:rPr lang="en-GB" sz="1400" b="0" i="0" dirty="0">
                <a:solidFill>
                  <a:srgbClr val="1F1F1F"/>
                </a:solidFill>
                <a:effectLst/>
                <a:latin typeface="Merriweather" pitchFamily="2" charset="77"/>
              </a:rPr>
              <a:t>of the LCOE in emerging markets versus </a:t>
            </a:r>
            <a:r>
              <a:rPr lang="en-GB" sz="1600" b="1" i="0" dirty="0">
                <a:solidFill>
                  <a:srgbClr val="B85641"/>
                </a:solidFill>
                <a:effectLst/>
                <a:latin typeface="Merriweather" pitchFamily="2" charset="77"/>
              </a:rPr>
              <a:t>less than 30% </a:t>
            </a:r>
            <a:r>
              <a:rPr lang="en-GB" sz="1400" b="0" i="0" dirty="0">
                <a:solidFill>
                  <a:srgbClr val="1F1F1F"/>
                </a:solidFill>
                <a:effectLst/>
                <a:latin typeface="Merriweather" pitchFamily="2" charset="77"/>
              </a:rPr>
              <a:t>for developed economies (IEA and IFC, 2023).</a:t>
            </a:r>
            <a:endParaRPr lang="en-US" sz="1400" dirty="0">
              <a:latin typeface="Merriweather" pitchFamily="2" charset="77"/>
            </a:endParaRPr>
          </a:p>
          <a:p>
            <a:endParaRPr lang="en-US" dirty="0"/>
          </a:p>
        </p:txBody>
      </p:sp>
      <p:pic>
        <p:nvPicPr>
          <p:cNvPr id="1026" name="Picture 2">
            <a:extLst>
              <a:ext uri="{FF2B5EF4-FFF2-40B4-BE49-F238E27FC236}">
                <a16:creationId xmlns:a16="http://schemas.microsoft.com/office/drawing/2014/main" id="{4AA4111B-6977-7641-882C-A410CB0BD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90" t="5765" r="32178" b="19760"/>
          <a:stretch/>
        </p:blipFill>
        <p:spPr bwMode="auto">
          <a:xfrm>
            <a:off x="4903983" y="1894035"/>
            <a:ext cx="3923377" cy="2420101"/>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9;p16">
            <a:extLst>
              <a:ext uri="{FF2B5EF4-FFF2-40B4-BE49-F238E27FC236}">
                <a16:creationId xmlns:a16="http://schemas.microsoft.com/office/drawing/2014/main" id="{F98121F2-F554-918F-BBFC-D90BB75184A5}"/>
              </a:ext>
            </a:extLst>
          </p:cNvPr>
          <p:cNvSpPr txBox="1">
            <a:spLocks/>
          </p:cNvSpPr>
          <p:nvPr/>
        </p:nvSpPr>
        <p:spPr>
          <a:xfrm>
            <a:off x="4745663" y="4260346"/>
            <a:ext cx="4240015" cy="6263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lgn="ctr">
              <a:lnSpc>
                <a:spcPct val="100000"/>
              </a:lnSpc>
              <a:buFont typeface="Roboto"/>
              <a:buNone/>
            </a:pPr>
            <a:r>
              <a:rPr lang="en-GB" sz="1050" b="1" dirty="0">
                <a:latin typeface="Merriweather" pitchFamily="2" charset="77"/>
              </a:rPr>
              <a:t>Electricity Generation From Renewable Sources </a:t>
            </a:r>
          </a:p>
          <a:p>
            <a:pPr indent="0" algn="ctr">
              <a:lnSpc>
                <a:spcPct val="100000"/>
              </a:lnSpc>
              <a:buFont typeface="Roboto"/>
              <a:buNone/>
            </a:pPr>
            <a:r>
              <a:rPr lang="en-GB" sz="1050" b="1" dirty="0">
                <a:latin typeface="Merriweather" pitchFamily="2" charset="77"/>
              </a:rPr>
              <a:t>(per capita, per year)</a:t>
            </a:r>
          </a:p>
          <a:p>
            <a:pPr indent="0" algn="ctr">
              <a:lnSpc>
                <a:spcPct val="100000"/>
              </a:lnSpc>
              <a:buFont typeface="Roboto"/>
              <a:buNone/>
            </a:pPr>
            <a:endParaRPr lang="en-GB" sz="1050" b="1" dirty="0">
              <a:solidFill>
                <a:srgbClr val="002F4A"/>
              </a:solidFill>
              <a:latin typeface="Merriweather" pitchFamily="2" charset="77"/>
            </a:endParaRPr>
          </a:p>
          <a:p>
            <a:pPr indent="0" algn="ctr">
              <a:lnSpc>
                <a:spcPct val="100000"/>
              </a:lnSpc>
              <a:buNone/>
            </a:pPr>
            <a:r>
              <a:rPr lang="en-GB" sz="900" i="1" dirty="0">
                <a:solidFill>
                  <a:srgbClr val="002F4A"/>
                </a:solidFill>
                <a:latin typeface="Merriweather" pitchFamily="2" charset="77"/>
              </a:rPr>
              <a:t>Source: </a:t>
            </a:r>
            <a:r>
              <a:rPr lang="en-GB" sz="900" i="1" dirty="0" err="1">
                <a:solidFill>
                  <a:srgbClr val="002F4A"/>
                </a:solidFill>
                <a:latin typeface="Merriweather" pitchFamily="2" charset="77"/>
              </a:rPr>
              <a:t>Babayomi</a:t>
            </a:r>
            <a:r>
              <a:rPr lang="en-GB" sz="900" i="1" dirty="0">
                <a:solidFill>
                  <a:srgbClr val="002F4A"/>
                </a:solidFill>
                <a:latin typeface="Merriweather" pitchFamily="2" charset="77"/>
              </a:rPr>
              <a:t>, O., </a:t>
            </a:r>
            <a:r>
              <a:rPr lang="en-GB" sz="900" i="1" dirty="0" err="1">
                <a:solidFill>
                  <a:srgbClr val="002F4A"/>
                </a:solidFill>
                <a:latin typeface="Merriweather" pitchFamily="2" charset="77"/>
              </a:rPr>
              <a:t>Dahoro</a:t>
            </a:r>
            <a:r>
              <a:rPr lang="en-GB" sz="900" i="1" dirty="0">
                <a:solidFill>
                  <a:srgbClr val="002F4A"/>
                </a:solidFill>
                <a:latin typeface="Merriweather" pitchFamily="2" charset="77"/>
              </a:rPr>
              <a:t>, D. &amp; Zhang, Z. (2022).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3" name="Subtitle 2">
            <a:extLst>
              <a:ext uri="{FF2B5EF4-FFF2-40B4-BE49-F238E27FC236}">
                <a16:creationId xmlns:a16="http://schemas.microsoft.com/office/drawing/2014/main" id="{EEF8EC68-4424-C4F8-CEBF-7671BE0EC886}"/>
              </a:ext>
            </a:extLst>
          </p:cNvPr>
          <p:cNvSpPr>
            <a:spLocks noGrp="1"/>
          </p:cNvSpPr>
          <p:nvPr>
            <p:ph type="subTitle" idx="1"/>
          </p:nvPr>
        </p:nvSpPr>
        <p:spPr>
          <a:xfrm>
            <a:off x="5148195" y="1484047"/>
            <a:ext cx="3684662" cy="2175406"/>
          </a:xfrm>
        </p:spPr>
        <p:txBody>
          <a:bodyPr>
            <a:normAutofit/>
          </a:bodyPr>
          <a:lstStyle/>
          <a:p>
            <a:pPr algn="ctr"/>
            <a:r>
              <a:rPr lang="en-GB" sz="2400" dirty="0"/>
              <a:t>Existing </a:t>
            </a:r>
          </a:p>
          <a:p>
            <a:pPr algn="ctr"/>
            <a:r>
              <a:rPr lang="en-GB" sz="2400" dirty="0"/>
              <a:t>Sustainability-Linked Bonds Frameworks &amp; Possible Limitations</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 name="Rectangle 14">
            <a:extLst>
              <a:ext uri="{FF2B5EF4-FFF2-40B4-BE49-F238E27FC236}">
                <a16:creationId xmlns:a16="http://schemas.microsoft.com/office/drawing/2014/main" id="{D29A5F7D-1326-95DC-9D69-AA07B18D96DD}"/>
              </a:ext>
            </a:extLst>
          </p:cNvPr>
          <p:cNvSpPr/>
          <p:nvPr/>
        </p:nvSpPr>
        <p:spPr>
          <a:xfrm>
            <a:off x="909607" y="1168513"/>
            <a:ext cx="7352266" cy="1710743"/>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nel electrifies sustainability market with inaugural green-linked bond and  swap - Wholesale Banking">
            <a:extLst>
              <a:ext uri="{FF2B5EF4-FFF2-40B4-BE49-F238E27FC236}">
                <a16:creationId xmlns:a16="http://schemas.microsoft.com/office/drawing/2014/main" id="{F914183A-A964-6280-18F6-94BCB099F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940" b="3464"/>
          <a:stretch/>
        </p:blipFill>
        <p:spPr bwMode="auto">
          <a:xfrm>
            <a:off x="1058124" y="3342222"/>
            <a:ext cx="7027752" cy="1714609"/>
          </a:xfrm>
          <a:prstGeom prst="rect">
            <a:avLst/>
          </a:prstGeom>
          <a:noFill/>
          <a:extLst>
            <a:ext uri="{909E8E84-426E-40DD-AFC4-6F175D3DCCD1}">
              <a14:hiddenFill xmlns:a14="http://schemas.microsoft.com/office/drawing/2010/main">
                <a:solidFill>
                  <a:srgbClr val="FFFFFF"/>
                </a:solidFill>
              </a14:hiddenFill>
            </a:ext>
          </a:extLst>
        </p:spPr>
      </p:pic>
      <p:sp>
        <p:nvSpPr>
          <p:cNvPr id="11" name="Subtitle 10">
            <a:extLst>
              <a:ext uri="{FF2B5EF4-FFF2-40B4-BE49-F238E27FC236}">
                <a16:creationId xmlns:a16="http://schemas.microsoft.com/office/drawing/2014/main" id="{3CEA3E7C-FF2C-9822-EDCC-ED4FEDD74707}"/>
              </a:ext>
            </a:extLst>
          </p:cNvPr>
          <p:cNvSpPr>
            <a:spLocks noGrp="1"/>
          </p:cNvSpPr>
          <p:nvPr>
            <p:ph type="subTitle" idx="1"/>
          </p:nvPr>
        </p:nvSpPr>
        <p:spPr>
          <a:xfrm>
            <a:off x="293688" y="1258793"/>
            <a:ext cx="8556625" cy="1710743"/>
          </a:xfrm>
        </p:spPr>
        <p:txBody>
          <a:bodyPr>
            <a:normAutofit/>
          </a:bodyPr>
          <a:lstStyle/>
          <a:p>
            <a:pPr algn="ctr"/>
            <a:r>
              <a:rPr lang="en" sz="2400" dirty="0">
                <a:solidFill>
                  <a:srgbClr val="B85641"/>
                </a:solidFill>
              </a:rPr>
              <a:t>Existing Mechanism:</a:t>
            </a:r>
          </a:p>
          <a:p>
            <a:pPr algn="ctr"/>
            <a:endParaRPr lang="en" dirty="0">
              <a:solidFill>
                <a:srgbClr val="042F4A"/>
              </a:solidFill>
            </a:endParaRPr>
          </a:p>
          <a:p>
            <a:pPr algn="ctr"/>
            <a:r>
              <a:rPr lang="en-AU" dirty="0">
                <a:solidFill>
                  <a:srgbClr val="042F4A"/>
                </a:solidFill>
              </a:rPr>
              <a:t>In 2019, </a:t>
            </a:r>
            <a:r>
              <a:rPr lang="en-AU" dirty="0">
                <a:solidFill>
                  <a:srgbClr val="042F4A"/>
                </a:solidFill>
                <a:hlinkClick r:id="rId4">
                  <a:extLst>
                    <a:ext uri="{A12FA001-AC4F-418D-AE19-62706E023703}">
                      <ahyp:hlinkClr xmlns:ahyp="http://schemas.microsoft.com/office/drawing/2018/hyperlinkcolor" val="tx"/>
                    </a:ext>
                  </a:extLst>
                </a:hlinkClick>
              </a:rPr>
              <a:t>Enel</a:t>
            </a:r>
            <a:r>
              <a:rPr lang="en-AU" dirty="0">
                <a:solidFill>
                  <a:srgbClr val="042F4A"/>
                </a:solidFill>
              </a:rPr>
              <a:t> raised US$1.5 billion from a 5-year SLB </a:t>
            </a:r>
            <a:endParaRPr lang="en-US" dirty="0">
              <a:solidFill>
                <a:srgbClr val="042F4A"/>
              </a:solidFill>
            </a:endParaRPr>
          </a:p>
          <a:p>
            <a:endParaRPr lang="en" dirty="0"/>
          </a:p>
          <a:p>
            <a:endParaRPr lang="en-US"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03736D0-5754-62BF-9544-09C6DFBCC553}"/>
              </a:ext>
            </a:extLst>
          </p:cNvPr>
          <p:cNvSpPr>
            <a:spLocks noGrp="1"/>
          </p:cNvSpPr>
          <p:nvPr>
            <p:ph type="subTitle" idx="1"/>
          </p:nvPr>
        </p:nvSpPr>
        <p:spPr>
          <a:xfrm>
            <a:off x="29059" y="1196824"/>
            <a:ext cx="3051018" cy="2749852"/>
          </a:xfrm>
        </p:spPr>
        <p:txBody>
          <a:bodyPr>
            <a:normAutofit fontScale="92500"/>
          </a:bodyPr>
          <a:lstStyle/>
          <a:p>
            <a:pPr algn="ctr"/>
            <a:r>
              <a:rPr lang="en-US" sz="2200" dirty="0">
                <a:solidFill>
                  <a:srgbClr val="B85641"/>
                </a:solidFill>
              </a:rPr>
              <a:t>Existing Mechanism:</a:t>
            </a:r>
          </a:p>
          <a:p>
            <a:pPr algn="ctr"/>
            <a:endParaRPr lang="en-US" sz="2200" dirty="0">
              <a:solidFill>
                <a:srgbClr val="B85641"/>
              </a:solidFill>
            </a:endParaRPr>
          </a:p>
          <a:p>
            <a:pPr algn="ctr"/>
            <a:r>
              <a:rPr lang="en-US" sz="2000" dirty="0">
                <a:solidFill>
                  <a:srgbClr val="042F4A"/>
                </a:solidFill>
                <a:latin typeface="Merriweather"/>
              </a:rPr>
              <a:t>In 2023, the </a:t>
            </a:r>
            <a:r>
              <a:rPr lang="en-US" sz="2000" dirty="0">
                <a:solidFill>
                  <a:srgbClr val="042F4A"/>
                </a:solidFill>
                <a:latin typeface="Merriweather"/>
                <a:hlinkClick r:id="rId2"/>
              </a:rPr>
              <a:t>World Bank</a:t>
            </a:r>
            <a:r>
              <a:rPr lang="en-US" sz="2000" dirty="0">
                <a:solidFill>
                  <a:srgbClr val="042F4A"/>
                </a:solidFill>
                <a:latin typeface="Merriweather"/>
              </a:rPr>
              <a:t>  directly issued a US$350 million Sustainability-Linked Loan to Uruguay</a:t>
            </a:r>
            <a:endParaRPr lang="en-US" dirty="0">
              <a:solidFill>
                <a:srgbClr val="042F4A"/>
              </a:solidFill>
              <a:latin typeface="Merriweather"/>
            </a:endParaRPr>
          </a:p>
        </p:txBody>
      </p:sp>
      <p:sp>
        <p:nvSpPr>
          <p:cNvPr id="6" name="Rectangle 5">
            <a:extLst>
              <a:ext uri="{FF2B5EF4-FFF2-40B4-BE49-F238E27FC236}">
                <a16:creationId xmlns:a16="http://schemas.microsoft.com/office/drawing/2014/main" id="{86AE39E9-98CA-6B55-FFED-C5C8A0993D48}"/>
              </a:ext>
            </a:extLst>
          </p:cNvPr>
          <p:cNvSpPr/>
          <p:nvPr/>
        </p:nvSpPr>
        <p:spPr>
          <a:xfrm>
            <a:off x="4083114" y="928546"/>
            <a:ext cx="4409037" cy="3286408"/>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7478F09-ED8F-E9D9-0D4B-7D295ED7C974}"/>
              </a:ext>
            </a:extLst>
          </p:cNvPr>
          <p:cNvSpPr txBox="1"/>
          <p:nvPr/>
        </p:nvSpPr>
        <p:spPr>
          <a:xfrm>
            <a:off x="4214388" y="1363267"/>
            <a:ext cx="4146487" cy="2585323"/>
          </a:xfrm>
          <a:prstGeom prst="rect">
            <a:avLst/>
          </a:prstGeom>
          <a:noFill/>
        </p:spPr>
        <p:txBody>
          <a:bodyPr wrap="square">
            <a:spAutoFit/>
          </a:bodyPr>
          <a:lstStyle/>
          <a:p>
            <a:pPr marL="285750" indent="-285750" algn="l">
              <a:buFont typeface="Arial" panose="020B0604020202020204" pitchFamily="34" charset="0"/>
              <a:buChar char="•"/>
            </a:pPr>
            <a:r>
              <a:rPr lang="en-GB" dirty="0">
                <a:latin typeface="Merriweather" pitchFamily="2" charset="77"/>
              </a:rPr>
              <a:t>Beginning in </a:t>
            </a:r>
            <a:r>
              <a:rPr lang="en-GB" b="0" i="0" dirty="0">
                <a:effectLst/>
                <a:latin typeface="Merriweather" pitchFamily="2" charset="77"/>
              </a:rPr>
              <a:t>2028</a:t>
            </a:r>
          </a:p>
          <a:p>
            <a:pPr marL="285750" indent="-285750">
              <a:buFont typeface="Arial" panose="020B0604020202020204" pitchFamily="34" charset="0"/>
              <a:buChar char="•"/>
            </a:pPr>
            <a:r>
              <a:rPr lang="en-GB" dirty="0">
                <a:latin typeface="Merriweather" pitchFamily="2" charset="77"/>
              </a:rPr>
              <a:t>Linked to </a:t>
            </a:r>
            <a:r>
              <a:rPr lang="en-GB" b="0" i="0" dirty="0">
                <a:effectLst/>
                <a:latin typeface="Merriweather" pitchFamily="2" charset="77"/>
              </a:rPr>
              <a:t>a reduction in methane emissions per unit of cattle </a:t>
            </a:r>
          </a:p>
          <a:p>
            <a:pPr marL="285750" indent="-285750">
              <a:buFont typeface="Arial" panose="020B0604020202020204" pitchFamily="34" charset="0"/>
              <a:buChar char="•"/>
            </a:pPr>
            <a:r>
              <a:rPr lang="en-GB" dirty="0">
                <a:latin typeface="Merriweather" pitchFamily="2" charset="77"/>
              </a:rPr>
              <a:t>T</a:t>
            </a:r>
            <a:r>
              <a:rPr lang="en-GB" b="0" i="0" dirty="0">
                <a:effectLst/>
                <a:latin typeface="Merriweather" pitchFamily="2" charset="77"/>
              </a:rPr>
              <a:t>argets are 1% more ambitious than Uruguay’s</a:t>
            </a:r>
            <a:r>
              <a:rPr lang="en-GB" dirty="0">
                <a:latin typeface="Merriweather" pitchFamily="2" charset="77"/>
              </a:rPr>
              <a:t> </a:t>
            </a:r>
            <a:r>
              <a:rPr lang="en-GB" b="0" i="0" dirty="0">
                <a:effectLst/>
                <a:latin typeface="Merriweather" pitchFamily="2" charset="77"/>
              </a:rPr>
              <a:t>NDC</a:t>
            </a:r>
          </a:p>
          <a:p>
            <a:pPr marL="285750" indent="-285750">
              <a:buFont typeface="Arial" panose="020B0604020202020204" pitchFamily="34" charset="0"/>
              <a:buChar char="•"/>
            </a:pPr>
            <a:r>
              <a:rPr lang="en-GB" b="0" i="0" dirty="0">
                <a:effectLst/>
                <a:latin typeface="Merriweather" pitchFamily="2" charset="77"/>
              </a:rPr>
              <a:t>If this target is met, WB will reduce the interest rate for each year</a:t>
            </a:r>
          </a:p>
        </p:txBody>
      </p:sp>
    </p:spTree>
    <p:extLst>
      <p:ext uri="{BB962C8B-B14F-4D97-AF65-F5344CB8AC3E}">
        <p14:creationId xmlns:p14="http://schemas.microsoft.com/office/powerpoint/2010/main" val="19616835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E785C8F-7172-15C2-D74C-E5C43989B3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685CAC-3D4F-55F2-EEA1-23B35CB0F8FF}"/>
              </a:ext>
            </a:extLst>
          </p:cNvPr>
          <p:cNvPicPr>
            <a:picLocks noChangeAspect="1"/>
          </p:cNvPicPr>
          <p:nvPr/>
        </p:nvPicPr>
        <p:blipFill>
          <a:blip r:embed="rId3"/>
          <a:stretch>
            <a:fillRect/>
          </a:stretch>
        </p:blipFill>
        <p:spPr>
          <a:xfrm>
            <a:off x="2976327" y="1420973"/>
            <a:ext cx="6167673" cy="3785901"/>
          </a:xfrm>
          <a:prstGeom prst="rect">
            <a:avLst/>
          </a:prstGeom>
        </p:spPr>
      </p:pic>
      <p:sp>
        <p:nvSpPr>
          <p:cNvPr id="165" name="Google Shape;165;p21">
            <a:extLst>
              <a:ext uri="{FF2B5EF4-FFF2-40B4-BE49-F238E27FC236}">
                <a16:creationId xmlns:a16="http://schemas.microsoft.com/office/drawing/2014/main" id="{20E71E44-CF11-23E3-9608-21EFC2E7782C}"/>
              </a:ext>
            </a:extLst>
          </p:cNvPr>
          <p:cNvSpPr txBox="1">
            <a:spLocks noGrp="1"/>
          </p:cNvSpPr>
          <p:nvPr>
            <p:ph type="subTitle" idx="1"/>
          </p:nvPr>
        </p:nvSpPr>
        <p:spPr/>
        <p:txBody>
          <a:bodyPr spcFirstLastPara="1" wrap="square" lIns="91425" tIns="91425" rIns="91425" bIns="91425" anchor="t" anchorCtr="0">
            <a:normAutofit fontScale="40000" lnSpcReduction="20000"/>
          </a:bodyPr>
          <a:lstStyle/>
          <a:p>
            <a:pPr marL="146050" indent="0" algn="ctr">
              <a:buNone/>
            </a:pPr>
            <a:r>
              <a:rPr lang="en" sz="2000" dirty="0">
                <a:solidFill>
                  <a:schemeClr val="bg1"/>
                </a:solidFill>
                <a:latin typeface="Merriweather" pitchFamily="2" charset="77"/>
              </a:rPr>
              <a:t>Existing Sustainability-Linked Sovereign Bonds:</a:t>
            </a:r>
          </a:p>
          <a:p>
            <a:pPr marL="146050" indent="0" algn="ctr">
              <a:buNone/>
            </a:pPr>
            <a:r>
              <a:rPr lang="en" sz="2400" dirty="0">
                <a:solidFill>
                  <a:schemeClr val="bg1"/>
                </a:solidFill>
                <a:latin typeface="Merriweather" pitchFamily="2" charset="77"/>
              </a:rPr>
              <a:t>Uruguay</a:t>
            </a:r>
            <a:endParaRPr lang="en-GB" sz="2400" dirty="0">
              <a:solidFill>
                <a:schemeClr val="bg1"/>
              </a:solidFill>
              <a:latin typeface="Merriweather" pitchFamily="2" charset="77"/>
            </a:endParaRPr>
          </a:p>
        </p:txBody>
      </p:sp>
      <p:sp>
        <p:nvSpPr>
          <p:cNvPr id="5" name="Text Placeholder 3">
            <a:extLst>
              <a:ext uri="{FF2B5EF4-FFF2-40B4-BE49-F238E27FC236}">
                <a16:creationId xmlns:a16="http://schemas.microsoft.com/office/drawing/2014/main" id="{9F25A854-6A75-0296-D8B1-03F35EDD5701}"/>
              </a:ext>
            </a:extLst>
          </p:cNvPr>
          <p:cNvSpPr txBox="1">
            <a:spLocks/>
          </p:cNvSpPr>
          <p:nvPr/>
        </p:nvSpPr>
        <p:spPr>
          <a:xfrm>
            <a:off x="2976326" y="0"/>
            <a:ext cx="6167674" cy="1430026"/>
          </a:xfrm>
          <a:prstGeom prst="rect">
            <a:avLst/>
          </a:prstGeom>
          <a:solidFill>
            <a:schemeClr val="bg1"/>
          </a:solid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214313" marR="0" lvl="0" indent="-385763" algn="l" rtl="0">
              <a:lnSpc>
                <a:spcPct val="150000"/>
              </a:lnSpc>
              <a:spcBef>
                <a:spcPts val="0"/>
              </a:spcBef>
              <a:spcAft>
                <a:spcPts val="0"/>
              </a:spcAft>
              <a:buClr>
                <a:schemeClr val="dk2"/>
              </a:buClr>
              <a:buSzPts val="1300"/>
              <a:buFont typeface="+mj-lt"/>
              <a:buAutoNum type="romanUcPeriod"/>
              <a:defRPr sz="1500" b="0" i="0" u="none" strike="noStrike" cap="none">
                <a:solidFill>
                  <a:srgbClr val="B85641"/>
                </a:solidFill>
                <a:latin typeface="Merriweather" pitchFamily="2" charset="77"/>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defTabSz="914400">
              <a:buFont typeface="+mj-lt"/>
              <a:buNone/>
            </a:pPr>
            <a:endParaRPr lang="en-US" kern="0" dirty="0"/>
          </a:p>
        </p:txBody>
      </p:sp>
      <p:sp>
        <p:nvSpPr>
          <p:cNvPr id="4" name="Text Placeholder 3">
            <a:extLst>
              <a:ext uri="{FF2B5EF4-FFF2-40B4-BE49-F238E27FC236}">
                <a16:creationId xmlns:a16="http://schemas.microsoft.com/office/drawing/2014/main" id="{4C9E68B7-4464-916B-24AA-85D4BF418119}"/>
              </a:ext>
            </a:extLst>
          </p:cNvPr>
          <p:cNvSpPr>
            <a:spLocks noGrp="1"/>
          </p:cNvSpPr>
          <p:nvPr>
            <p:ph type="body" sz="quarter" idx="11"/>
          </p:nvPr>
        </p:nvSpPr>
        <p:spPr>
          <a:xfrm>
            <a:off x="3325450" y="162408"/>
            <a:ext cx="5469426" cy="1603018"/>
          </a:xfrm>
          <a:solidFill>
            <a:schemeClr val="bg1"/>
          </a:solidFill>
        </p:spPr>
        <p:txBody>
          <a:bodyPr>
            <a:normAutofit/>
          </a:bodyPr>
          <a:lstStyle/>
          <a:p>
            <a:pPr marL="0" indent="0" algn="ctr">
              <a:buNone/>
            </a:pPr>
            <a:r>
              <a:rPr lang="en" sz="2000" dirty="0"/>
              <a:t>Existing Mechanism:</a:t>
            </a:r>
          </a:p>
          <a:p>
            <a:pPr marL="0" indent="0" algn="ctr">
              <a:buNone/>
            </a:pPr>
            <a:r>
              <a:rPr lang="en" sz="1800" dirty="0">
                <a:solidFill>
                  <a:srgbClr val="042F4A"/>
                </a:solidFill>
              </a:rPr>
              <a:t>In 2022, </a:t>
            </a:r>
            <a:r>
              <a:rPr lang="en" sz="1800" dirty="0">
                <a:solidFill>
                  <a:srgbClr val="042F4A"/>
                </a:solidFill>
                <a:hlinkClick r:id="rId4">
                  <a:extLst>
                    <a:ext uri="{A12FA001-AC4F-418D-AE19-62706E023703}">
                      <ahyp:hlinkClr xmlns:ahyp="http://schemas.microsoft.com/office/drawing/2018/hyperlinkcolor" val="tx"/>
                    </a:ext>
                  </a:extLst>
                </a:hlinkClick>
              </a:rPr>
              <a:t>Uruguay</a:t>
            </a:r>
            <a:r>
              <a:rPr lang="en" sz="1800" dirty="0">
                <a:solidFill>
                  <a:srgbClr val="042F4A"/>
                </a:solidFill>
              </a:rPr>
              <a:t> issued a 3-year US$1.5 billion Sovereign SLB </a:t>
            </a:r>
            <a:endParaRPr lang="en-US" sz="1600" dirty="0">
              <a:solidFill>
                <a:srgbClr val="042F4A"/>
              </a:solidFill>
            </a:endParaRPr>
          </a:p>
        </p:txBody>
      </p:sp>
    </p:spTree>
    <p:extLst>
      <p:ext uri="{BB962C8B-B14F-4D97-AF65-F5344CB8AC3E}">
        <p14:creationId xmlns:p14="http://schemas.microsoft.com/office/powerpoint/2010/main" val="1863781097"/>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4"/>
          <p:cNvSpPr txBox="1">
            <a:spLocks noGrp="1"/>
          </p:cNvSpPr>
          <p:nvPr>
            <p:ph type="title" idx="4294967295"/>
          </p:nvPr>
        </p:nvSpPr>
        <p:spPr>
          <a:xfrm>
            <a:off x="437226" y="437143"/>
            <a:ext cx="3705225" cy="204946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rgbClr val="042F4A"/>
                </a:solidFill>
                <a:latin typeface="Merriweather" pitchFamily="2" charset="77"/>
                <a:ea typeface="Roboto" panose="02000000000000000000" pitchFamily="2" charset="0"/>
              </a:rPr>
              <a:t>Existing SLBs’</a:t>
            </a:r>
            <a:endParaRPr sz="2500" dirty="0">
              <a:solidFill>
                <a:srgbClr val="042F4A"/>
              </a:solidFill>
              <a:latin typeface="Merriweather" pitchFamily="2" charset="77"/>
              <a:ea typeface="Roboto" panose="02000000000000000000" pitchFamily="2" charset="0"/>
            </a:endParaRPr>
          </a:p>
          <a:p>
            <a:pPr marL="0" lvl="0" indent="0" algn="l" rtl="0">
              <a:spcBef>
                <a:spcPts val="0"/>
              </a:spcBef>
              <a:spcAft>
                <a:spcPts val="0"/>
              </a:spcAft>
              <a:buNone/>
            </a:pPr>
            <a:r>
              <a:rPr lang="en-AU" sz="2500" dirty="0">
                <a:solidFill>
                  <a:srgbClr val="042F4A"/>
                </a:solidFill>
                <a:latin typeface="Merriweather" pitchFamily="2" charset="77"/>
                <a:ea typeface="Roboto" panose="02000000000000000000" pitchFamily="2" charset="0"/>
              </a:rPr>
              <a:t>Limitations</a:t>
            </a:r>
            <a:endParaRPr sz="2500" dirty="0">
              <a:solidFill>
                <a:srgbClr val="042F4A"/>
              </a:solidFill>
              <a:latin typeface="Merriweather" pitchFamily="2" charset="77"/>
              <a:ea typeface="Roboto" panose="02000000000000000000" pitchFamily="2" charset="0"/>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sp>
        <p:nvSpPr>
          <p:cNvPr id="212" name="Google Shape;212;p24"/>
          <p:cNvSpPr/>
          <p:nvPr/>
        </p:nvSpPr>
        <p:spPr>
          <a:xfrm>
            <a:off x="3150604" y="597659"/>
            <a:ext cx="1698313" cy="462147"/>
          </a:xfrm>
          <a:prstGeom prst="rightArrow">
            <a:avLst>
              <a:gd name="adj1" fmla="val 42312"/>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7" name="Rectangle 6">
            <a:extLst>
              <a:ext uri="{FF2B5EF4-FFF2-40B4-BE49-F238E27FC236}">
                <a16:creationId xmlns:a16="http://schemas.microsoft.com/office/drawing/2014/main" id="{8ECB144B-9D03-6B48-2904-EC8BFF2D9B92}"/>
              </a:ext>
            </a:extLst>
          </p:cNvPr>
          <p:cNvSpPr/>
          <p:nvPr/>
        </p:nvSpPr>
        <p:spPr>
          <a:xfrm>
            <a:off x="5001550" y="351353"/>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Investors (Risks)</a:t>
            </a:r>
          </a:p>
        </p:txBody>
      </p:sp>
      <p:sp>
        <p:nvSpPr>
          <p:cNvPr id="8" name="Google Shape;212;p24">
            <a:extLst>
              <a:ext uri="{FF2B5EF4-FFF2-40B4-BE49-F238E27FC236}">
                <a16:creationId xmlns:a16="http://schemas.microsoft.com/office/drawing/2014/main" id="{EFE7CFA3-C869-CFC3-AC73-2602FA86639C}"/>
              </a:ext>
            </a:extLst>
          </p:cNvPr>
          <p:cNvSpPr/>
          <p:nvPr/>
        </p:nvSpPr>
        <p:spPr>
          <a:xfrm>
            <a:off x="3150604" y="2255532"/>
            <a:ext cx="1698313" cy="462147"/>
          </a:xfrm>
          <a:prstGeom prst="rightArrow">
            <a:avLst>
              <a:gd name="adj1" fmla="val 42312"/>
              <a:gd name="adj2" fmla="val 50000"/>
            </a:avLst>
          </a:prstGeom>
          <a:solidFill>
            <a:srgbClr val="042F4A"/>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 name="Rectangle 8">
            <a:extLst>
              <a:ext uri="{FF2B5EF4-FFF2-40B4-BE49-F238E27FC236}">
                <a16:creationId xmlns:a16="http://schemas.microsoft.com/office/drawing/2014/main" id="{FB1623D5-D4AA-E83E-1422-ACE96418045A}"/>
              </a:ext>
            </a:extLst>
          </p:cNvPr>
          <p:cNvSpPr/>
          <p:nvPr/>
        </p:nvSpPr>
        <p:spPr>
          <a:xfrm>
            <a:off x="5001550" y="2009225"/>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Sovereign (Step-Up Mechanism)</a:t>
            </a:r>
          </a:p>
        </p:txBody>
      </p:sp>
      <p:sp>
        <p:nvSpPr>
          <p:cNvPr id="10" name="Rectangle 9">
            <a:extLst>
              <a:ext uri="{FF2B5EF4-FFF2-40B4-BE49-F238E27FC236}">
                <a16:creationId xmlns:a16="http://schemas.microsoft.com/office/drawing/2014/main" id="{98376A1D-7D5E-7CF8-80F0-4833D4603103}"/>
              </a:ext>
            </a:extLst>
          </p:cNvPr>
          <p:cNvSpPr/>
          <p:nvPr/>
        </p:nvSpPr>
        <p:spPr>
          <a:xfrm>
            <a:off x="5001550" y="3667097"/>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Market Resistance</a:t>
            </a:r>
          </a:p>
        </p:txBody>
      </p:sp>
      <p:sp>
        <p:nvSpPr>
          <p:cNvPr id="11" name="Google Shape;212;p24">
            <a:extLst>
              <a:ext uri="{FF2B5EF4-FFF2-40B4-BE49-F238E27FC236}">
                <a16:creationId xmlns:a16="http://schemas.microsoft.com/office/drawing/2014/main" id="{1C6ED594-E7E5-6982-EC0B-ECC6212941E1}"/>
              </a:ext>
            </a:extLst>
          </p:cNvPr>
          <p:cNvSpPr/>
          <p:nvPr/>
        </p:nvSpPr>
        <p:spPr>
          <a:xfrm>
            <a:off x="3146568" y="3913405"/>
            <a:ext cx="1698313" cy="462147"/>
          </a:xfrm>
          <a:prstGeom prst="rightArrow">
            <a:avLst>
              <a:gd name="adj1" fmla="val 42312"/>
              <a:gd name="adj2" fmla="val 50000"/>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FD45D260-2FB1-EA07-D427-C6262DEF8E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6342A48-E69E-92E6-2683-C25DC412591F}"/>
              </a:ext>
            </a:extLst>
          </p:cNvPr>
          <p:cNvSpPr>
            <a:spLocks noGrp="1"/>
          </p:cNvSpPr>
          <p:nvPr>
            <p:ph type="subTitle" idx="1"/>
          </p:nvPr>
        </p:nvSpPr>
        <p:spPr>
          <a:xfrm>
            <a:off x="5148195" y="1886907"/>
            <a:ext cx="3684662" cy="1369685"/>
          </a:xfrm>
        </p:spPr>
        <p:txBody>
          <a:bodyPr>
            <a:normAutofit lnSpcReduction="10000"/>
          </a:bodyPr>
          <a:lstStyle/>
          <a:p>
            <a:pPr algn="ctr"/>
            <a:r>
              <a:rPr lang="en-GB" sz="2400" dirty="0"/>
              <a:t>How do SLIDIs differ from existing SLBs and SLLs? </a:t>
            </a:r>
          </a:p>
        </p:txBody>
      </p:sp>
    </p:spTree>
    <p:extLst>
      <p:ext uri="{BB962C8B-B14F-4D97-AF65-F5344CB8AC3E}">
        <p14:creationId xmlns:p14="http://schemas.microsoft.com/office/powerpoint/2010/main" val="325772660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157555" y="4401019"/>
            <a:ext cx="8557402" cy="481076"/>
          </a:xfrm>
        </p:spPr>
        <p:txBody>
          <a:bodyPr spcFirstLastPara="1" wrap="square" lIns="91425" tIns="91425" rIns="91425" bIns="91425" anchor="t" anchorCtr="0">
            <a:normAutofit fontScale="92500" lnSpcReduction="20000"/>
          </a:bodyPr>
          <a:lstStyle/>
          <a:p>
            <a:pPr lvl="0" algn="ctr"/>
            <a:r>
              <a:rPr lang="en-GB" dirty="0">
                <a:solidFill>
                  <a:srgbClr val="042F4A"/>
                </a:solidFill>
              </a:rPr>
              <a:t>SLIDI Model 1: Subsidy-Providing Intermediary</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dirty="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726626" y="1926621"/>
            <a:ext cx="1261084"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85482" y="3167575"/>
            <a:ext cx="5047205" cy="245719"/>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1403660" y="951573"/>
            <a:ext cx="1564042" cy="1335773"/>
            <a:chOff x="986523" y="2181585"/>
            <a:chExt cx="1944600" cy="1569600"/>
          </a:xfrm>
          <a:solidFill>
            <a:srgbClr val="FFFFFF">
              <a:alpha val="89020"/>
            </a:srgbClr>
          </a:solidFill>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81585"/>
              <a:ext cx="19446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2973" y="2342017"/>
              <a:ext cx="1451699" cy="553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rgbClr val="042F4A"/>
                  </a:solidFill>
                  <a:latin typeface="Merriweather"/>
                  <a:ea typeface="Merriweather"/>
                  <a:cs typeface="Merriweather"/>
                  <a:sym typeface="Merriweather"/>
                </a:rPr>
                <a:t>Donor</a:t>
              </a:r>
              <a:endParaRPr sz="1500" b="1" dirty="0">
                <a:solidFill>
                  <a:srgbClr val="042F4A"/>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689859" y="653143"/>
            <a:ext cx="2309007" cy="1939543"/>
            <a:chOff x="3071454" y="1829661"/>
            <a:chExt cx="2154300" cy="1753814"/>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1829661"/>
              <a:ext cx="2154300" cy="1753814"/>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1454" y="1971805"/>
              <a:ext cx="2149987" cy="453441"/>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4197" y="2435940"/>
              <a:ext cx="1864500" cy="103091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pPr>
              <a:r>
                <a:rPr lang="en" sz="1000" dirty="0">
                  <a:solidFill>
                    <a:schemeClr val="bg1"/>
                  </a:solidFill>
                  <a:latin typeface="Merriweather" pitchFamily="2" charset="77"/>
                  <a:ea typeface="Roboto"/>
                  <a:cs typeface="Roboto"/>
                  <a:sym typeface="Roboto"/>
                </a:rPr>
                <a:t>Pays out subsidy (RBP, results-based payments), e.g., 2%, from WB-managed trust fund </a:t>
              </a:r>
              <a:r>
                <a:rPr lang="en-GB" sz="1000" b="1" i="1" dirty="0">
                  <a:solidFill>
                    <a:srgbClr val="FFFFFF"/>
                  </a:solidFill>
                  <a:latin typeface="Merriweather" pitchFamily="2" charset="77"/>
                  <a:ea typeface="Roboto"/>
                  <a:cs typeface="Roboto"/>
                  <a:sym typeface="Roboto"/>
                </a:rPr>
                <a:t>if sustainability KPI targets are met</a:t>
              </a:r>
              <a:endParaRPr lang="en" sz="1000" dirty="0">
                <a:solidFill>
                  <a:schemeClr val="bg1"/>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082135" y="26009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507804"/>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Investor</a:t>
              </a:r>
              <a:endParaRPr sz="1500" dirty="0">
                <a:solidFill>
                  <a:srgbClr val="FFFFFF"/>
                </a:solidFill>
                <a:latin typeface="Merriweather"/>
                <a:ea typeface="Merriweather"/>
                <a:cs typeface="Merriweather"/>
                <a:sym typeface="Merriweather"/>
              </a:endParaRPr>
            </a:p>
          </p:txBody>
        </p:sp>
      </p:grpSp>
      <p:grpSp>
        <p:nvGrpSpPr>
          <p:cNvPr id="6" name="Google Shape;257;p27">
            <a:extLst>
              <a:ext uri="{FF2B5EF4-FFF2-40B4-BE49-F238E27FC236}">
                <a16:creationId xmlns:a16="http://schemas.microsoft.com/office/drawing/2014/main" id="{F8F0B23A-7E15-17C4-9770-CB6958162A60}"/>
              </a:ext>
            </a:extLst>
          </p:cNvPr>
          <p:cNvGrpSpPr/>
          <p:nvPr/>
        </p:nvGrpSpPr>
        <p:grpSpPr>
          <a:xfrm>
            <a:off x="424770" y="2562137"/>
            <a:ext cx="1564042" cy="1501636"/>
            <a:chOff x="986523" y="2110718"/>
            <a:chExt cx="1944600" cy="1569600"/>
          </a:xfrm>
        </p:grpSpPr>
        <p:sp>
          <p:nvSpPr>
            <p:cNvPr id="7" name="Google Shape;258;p27">
              <a:extLst>
                <a:ext uri="{FF2B5EF4-FFF2-40B4-BE49-F238E27FC236}">
                  <a16:creationId xmlns:a16="http://schemas.microsoft.com/office/drawing/2014/main" id="{6DE0AC99-4FFC-467E-49E7-2F8D0919F606}"/>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9;p27">
              <a:extLst>
                <a:ext uri="{FF2B5EF4-FFF2-40B4-BE49-F238E27FC236}">
                  <a16:creationId xmlns:a16="http://schemas.microsoft.com/office/drawing/2014/main" id="{F24C5235-C0E2-9D3C-C3D1-0C3E683302DE}"/>
                </a:ext>
              </a:extLst>
            </p:cNvPr>
            <p:cNvSpPr txBox="1"/>
            <p:nvPr/>
          </p:nvSpPr>
          <p:spPr>
            <a:xfrm>
              <a:off x="1230917" y="230095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Sovereign</a:t>
              </a:r>
              <a:endParaRPr sz="1500" b="1" dirty="0">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sp>
        <p:nvSpPr>
          <p:cNvPr id="12" name="TextBox 11">
            <a:extLst>
              <a:ext uri="{FF2B5EF4-FFF2-40B4-BE49-F238E27FC236}">
                <a16:creationId xmlns:a16="http://schemas.microsoft.com/office/drawing/2014/main" id="{160D60F1-71D3-C6E2-2411-B19864E001C3}"/>
              </a:ext>
            </a:extLst>
          </p:cNvPr>
          <p:cNvSpPr txBox="1"/>
          <p:nvPr/>
        </p:nvSpPr>
        <p:spPr>
          <a:xfrm>
            <a:off x="1543727" y="1434710"/>
            <a:ext cx="1303273" cy="707886"/>
          </a:xfrm>
          <a:prstGeom prst="rect">
            <a:avLst/>
          </a:prstGeom>
          <a:noFill/>
        </p:spPr>
        <p:txBody>
          <a:bodyPr wrap="square" rtlCol="0">
            <a:spAutoFit/>
          </a:bodyPr>
          <a:lstStyle/>
          <a:p>
            <a:r>
              <a:rPr lang="en-US" sz="1000" dirty="0">
                <a:solidFill>
                  <a:srgbClr val="042F4A"/>
                </a:solidFill>
                <a:latin typeface="Merriweather" pitchFamily="2" charset="77"/>
                <a:ea typeface="Roboto" panose="02000000000000000000" pitchFamily="2" charset="0"/>
              </a:rPr>
              <a:t>Raises money for trust fund for RBPs, e.g., via carbon tax</a:t>
            </a:r>
          </a:p>
        </p:txBody>
      </p:sp>
      <p:sp>
        <p:nvSpPr>
          <p:cNvPr id="13" name="Arrow: Right 12">
            <a:extLst>
              <a:ext uri="{FF2B5EF4-FFF2-40B4-BE49-F238E27FC236}">
                <a16:creationId xmlns:a16="http://schemas.microsoft.com/office/drawing/2014/main" id="{3E6CA0CD-2BCF-AFD3-7026-515BD9ED8BFF}"/>
              </a:ext>
            </a:extLst>
          </p:cNvPr>
          <p:cNvSpPr/>
          <p:nvPr/>
        </p:nvSpPr>
        <p:spPr>
          <a:xfrm>
            <a:off x="2967702" y="1633642"/>
            <a:ext cx="641896" cy="2454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D3CAAB-EC43-152C-B65A-93995A064109}"/>
              </a:ext>
            </a:extLst>
          </p:cNvPr>
          <p:cNvSpPr txBox="1"/>
          <p:nvPr/>
        </p:nvSpPr>
        <p:spPr>
          <a:xfrm>
            <a:off x="523246" y="3167113"/>
            <a:ext cx="1348608" cy="707886"/>
          </a:xfrm>
          <a:prstGeom prst="rect">
            <a:avLst/>
          </a:prstGeom>
          <a:noFill/>
        </p:spPr>
        <p:txBody>
          <a:bodyPr wrap="square" rtlCol="0">
            <a:spAutoFit/>
          </a:bodyPr>
          <a:lstStyle/>
          <a:p>
            <a:r>
              <a:rPr lang="en-US" sz="1000" dirty="0">
                <a:solidFill>
                  <a:schemeClr val="bg1"/>
                </a:solidFill>
                <a:latin typeface="Merriweather" pitchFamily="2" charset="77"/>
                <a:ea typeface="Roboto" panose="02000000000000000000" pitchFamily="2" charset="0"/>
              </a:rPr>
              <a:t>Issues bonds to financial markets at fixed interest rate, e.g., 7%</a:t>
            </a:r>
          </a:p>
        </p:txBody>
      </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9AFE57C-1AF0-3D4D-4924-4A94F41442D4}"/>
              </a:ext>
            </a:extLst>
          </p:cNvPr>
          <p:cNvSpPr/>
          <p:nvPr/>
        </p:nvSpPr>
        <p:spPr>
          <a:xfrm>
            <a:off x="0" y="2000816"/>
            <a:ext cx="9144000" cy="31426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0" y="249895"/>
            <a:ext cx="3064299" cy="1611449"/>
          </a:xfrm>
        </p:spPr>
        <p:txBody>
          <a:bodyPr spcFirstLastPara="1" wrap="square" lIns="91425" tIns="91425" rIns="91425" bIns="91425" anchor="t" anchorCtr="0">
            <a:normAutofit/>
          </a:bodyPr>
          <a:lstStyle/>
          <a:p>
            <a:pPr marL="146050" lvl="0" indent="0" algn="ctr">
              <a:buNone/>
            </a:pPr>
            <a:r>
              <a:rPr lang="en-GB" sz="1900" dirty="0">
                <a:solidFill>
                  <a:srgbClr val="042F4A"/>
                </a:solidFill>
                <a:latin typeface="Merriweather" pitchFamily="2" charset="77"/>
              </a:rPr>
              <a:t>SLIDI Model 2: Credit Intermediary (Specialized Development Bank) </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96724" y="4087364"/>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58319" y="3435675"/>
            <a:ext cx="1729500" cy="1238192"/>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dirty="0">
              <a:solidFill>
                <a:schemeClr val="dk1"/>
              </a:solidFill>
              <a:latin typeface="Roboto"/>
              <a:ea typeface="Roboto"/>
              <a:cs typeface="Roboto"/>
              <a:sym typeface="Roboto"/>
            </a:endParaRPr>
          </a:p>
          <a:p>
            <a:pPr algn="ctr">
              <a:lnSpc>
                <a:spcPct val="115000"/>
              </a:lnSpc>
            </a:pPr>
            <a:r>
              <a:rPr lang="en" sz="1000" dirty="0">
                <a:solidFill>
                  <a:schemeClr val="dk1"/>
                </a:solidFill>
                <a:latin typeface="Merriweather" pitchFamily="2" charset="77"/>
                <a:ea typeface="Roboto"/>
                <a:cs typeface="Roboto"/>
                <a:sym typeface="Roboto"/>
              </a:rPr>
              <a:t>e.g. pays 5% until bond maturity if KPI targets are met and 4% or 3% if targets are subsequently exceeded</a:t>
            </a:r>
            <a:endParaRPr sz="1000" dirty="0">
              <a:solidFill>
                <a:schemeClr val="dk1"/>
              </a:solidFill>
              <a:latin typeface="Merriweather" pitchFamily="2" charset="77"/>
              <a:ea typeface="Roboto"/>
              <a:cs typeface="Roboto"/>
              <a:sym typeface="Roboto"/>
            </a:endParaRPr>
          </a:p>
          <a:p>
            <a:pPr marL="0" lvl="0" indent="0" algn="l" rtl="0">
              <a:lnSpc>
                <a:spcPct val="115000"/>
              </a:lnSpc>
              <a:spcBef>
                <a:spcPts val="120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296072" y="2674788"/>
            <a:ext cx="2358024" cy="338631"/>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Merriweather" pitchFamily="2" charset="77"/>
                <a:ea typeface="Roboto"/>
                <a:cs typeface="Roboto"/>
                <a:sym typeface="Roboto"/>
              </a:rPr>
              <a:t>e.g. pays constant 4% p.a. </a:t>
            </a:r>
            <a:endParaRPr sz="1000" dirty="0">
              <a:solidFill>
                <a:schemeClr val="dk1"/>
              </a:solidFill>
              <a:latin typeface="Merriweather" pitchFamily="2" charset="77"/>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497896" y="2923243"/>
            <a:ext cx="1882093" cy="181904"/>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59335" y="2602127"/>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e.g. pays 7% p.a. until KPI performance assessment deadline.</a:t>
            </a:r>
            <a:endParaRPr sz="1000" dirty="0">
              <a:solidFill>
                <a:schemeClr val="dk1"/>
              </a:solidFill>
              <a:latin typeface="Merriweather" pitchFamily="2" charset="77"/>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164231" y="3088121"/>
            <a:ext cx="2513654" cy="198435"/>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15774" y="3103689"/>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710491" y="3881074"/>
            <a:ext cx="1426200" cy="110796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Verifies KPI targets are ambitious and relevant and tracks progress; on-lends money to EMDE sovereign via SLL</a:t>
            </a:r>
            <a:endParaRPr sz="1000" dirty="0">
              <a:solidFill>
                <a:schemeClr val="dk1"/>
              </a:solidFill>
              <a:latin typeface="Merriweather" pitchFamily="2" charset="77"/>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344068" y="3502855"/>
            <a:ext cx="2283351" cy="154381"/>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11926" y="3537213"/>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30047" y="2000815"/>
            <a:ext cx="1876395" cy="1826773"/>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FFFFFF"/>
                  </a:solidFill>
                  <a:latin typeface="Merriweather" pitchFamily="2" charset="77"/>
                  <a:ea typeface="Roboto"/>
                  <a:cs typeface="Roboto"/>
                  <a:sym typeface="Roboto"/>
                </a:rPr>
                <a:t>Issues bonds in the market e.g. at 4% (if investment threshold is met) and then on-lends to the sovereign</a:t>
              </a:r>
              <a:endParaRPr sz="1000" dirty="0">
                <a:solidFill>
                  <a:srgbClr val="FFFFFF"/>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41957" y="35416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
        <p:nvSpPr>
          <p:cNvPr id="2" name="TextBox 1">
            <a:extLst>
              <a:ext uri="{FF2B5EF4-FFF2-40B4-BE49-F238E27FC236}">
                <a16:creationId xmlns:a16="http://schemas.microsoft.com/office/drawing/2014/main" id="{8D9D2E7C-D1E0-E23C-5E23-678656C6148E}"/>
              </a:ext>
            </a:extLst>
          </p:cNvPr>
          <p:cNvSpPr txBox="1"/>
          <p:nvPr/>
        </p:nvSpPr>
        <p:spPr>
          <a:xfrm>
            <a:off x="2964581" y="120315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598568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77BACC38-4E75-6929-DF5C-6F9DD7B7629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0CB4FE-F1AC-C087-9826-A030411E38DC}"/>
              </a:ext>
            </a:extLst>
          </p:cNvPr>
          <p:cNvSpPr>
            <a:spLocks noGrp="1"/>
          </p:cNvSpPr>
          <p:nvPr>
            <p:ph type="subTitle" idx="1"/>
          </p:nvPr>
        </p:nvSpPr>
        <p:spPr>
          <a:xfrm>
            <a:off x="5157915" y="2064190"/>
            <a:ext cx="3684662" cy="1644391"/>
          </a:xfrm>
        </p:spPr>
        <p:txBody>
          <a:bodyPr>
            <a:normAutofit/>
          </a:bodyPr>
          <a:lstStyle/>
          <a:p>
            <a:pPr algn="ctr"/>
            <a:r>
              <a:rPr lang="en" sz="2400" dirty="0"/>
              <a:t>Development Partner Roles</a:t>
            </a:r>
            <a:endParaRPr lang="en-US" sz="2400" dirty="0"/>
          </a:p>
        </p:txBody>
      </p:sp>
    </p:spTree>
    <p:extLst>
      <p:ext uri="{BB962C8B-B14F-4D97-AF65-F5344CB8AC3E}">
        <p14:creationId xmlns:p14="http://schemas.microsoft.com/office/powerpoint/2010/main" val="280730493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5428604" y="580977"/>
            <a:ext cx="3684662" cy="4416815"/>
          </a:xfrm>
        </p:spPr>
        <p:txBody>
          <a:bodyPr spcFirstLastPara="1" wrap="square" lIns="91425" tIns="91425" rIns="91425" bIns="91425" anchor="t" anchorCtr="0">
            <a:normAutofit/>
          </a:bodyPr>
          <a:lstStyle/>
          <a:p>
            <a:pPr marL="146050" lvl="0" indent="0" algn="r">
              <a:buNone/>
            </a:pPr>
            <a:r>
              <a:rPr lang="en-GB" dirty="0">
                <a:solidFill>
                  <a:srgbClr val="042F4A"/>
                </a:solidFill>
                <a:latin typeface="Merriweather" pitchFamily="2" charset="77"/>
              </a:rPr>
              <a:t>Roles of Development Agency Partner in Enhancing SLIDI Success</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4116579"/>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2602">
            <a:off x="5469122" y="2451830"/>
            <a:ext cx="2182201" cy="646300"/>
          </a:xfrm>
          <a:prstGeom prst="rect">
            <a:avLst/>
          </a:prstGeom>
          <a:noFill/>
          <a:ln>
            <a:noFill/>
          </a:ln>
        </p:spPr>
        <p:txBody>
          <a:bodyPr spcFirstLastPara="1" wrap="square" lIns="91425" tIns="91425" rIns="91425" bIns="91425" anchor="t" anchorCtr="0">
            <a:spAutoFit/>
          </a:bodyPr>
          <a:lstStyle/>
          <a:p>
            <a:pPr algn="ctr"/>
            <a:r>
              <a:rPr lang="en" sz="1000" dirty="0">
                <a:solidFill>
                  <a:srgbClr val="042F4A"/>
                </a:solidFill>
                <a:latin typeface="Merriweather" pitchFamily="2" charset="77"/>
                <a:ea typeface="Roboto"/>
                <a:cs typeface="Roboto"/>
                <a:sym typeface="Roboto"/>
              </a:rPr>
              <a:t>Agency reports client country progress on KPI targets to lender </a:t>
            </a:r>
            <a:endParaRPr sz="1000" dirty="0">
              <a:solidFill>
                <a:srgbClr val="042F4A"/>
              </a:solidFill>
              <a:latin typeface="Merriweather" pitchFamily="2" charset="77"/>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461024" y="2971624"/>
            <a:ext cx="1903864" cy="163802"/>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9701446">
            <a:off x="1674491" y="2730374"/>
            <a:ext cx="2121864"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rgbClr val="042F4A"/>
                </a:solidFill>
                <a:latin typeface="Merriweather" pitchFamily="2" charset="77"/>
                <a:ea typeface="Roboto"/>
                <a:cs typeface="Roboto"/>
                <a:sym typeface="Roboto"/>
              </a:rPr>
              <a:t>Agency gives technical support and advice to EMDE institutions</a:t>
            </a:r>
            <a:endParaRPr sz="1000" dirty="0">
              <a:solidFill>
                <a:srgbClr val="042F4A"/>
              </a:solidFill>
              <a:latin typeface="Merriweather" pitchFamily="2" charset="77"/>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9698210" flipH="1">
            <a:off x="1256594" y="2627421"/>
            <a:ext cx="2667449" cy="224866"/>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526196" y="2530227"/>
            <a:ext cx="1501634" cy="2589974"/>
          </a:xfrm>
          <a:prstGeom prst="bentUpArrow">
            <a:avLst>
              <a:gd name="adj1" fmla="val 5188"/>
              <a:gd name="adj2" fmla="val 5888"/>
              <a:gd name="adj3" fmla="val 8860"/>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2772152" y="3682800"/>
            <a:ext cx="171105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rgbClr val="042F4A"/>
                </a:solidFill>
                <a:latin typeface="Merriweather" pitchFamily="2" charset="77"/>
                <a:ea typeface="Roboto"/>
                <a:cs typeface="Roboto"/>
                <a:sym typeface="Roboto"/>
              </a:rPr>
              <a:t>Agency verifies KPI targets are ambitious and relevant and tracks progress</a:t>
            </a:r>
            <a:endParaRPr sz="1000" dirty="0">
              <a:solidFill>
                <a:srgbClr val="042F4A"/>
              </a:solidFill>
              <a:latin typeface="Merriweather" pitchFamily="2" charset="77"/>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33515" y="3570844"/>
            <a:ext cx="1590859"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670876" y="1513016"/>
            <a:ext cx="1876395" cy="1978729"/>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111973" y="2427084"/>
              <a:ext cx="2067111" cy="894306"/>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rgbClr val="FFFFFF"/>
                  </a:solidFill>
                  <a:latin typeface="Merriweather"/>
                  <a:ea typeface="Merriweather"/>
                  <a:cs typeface="Merriweather"/>
                  <a:sym typeface="Merriweather"/>
                </a:rPr>
                <a:t>Development Agency Partner </a:t>
              </a:r>
              <a:r>
                <a:rPr lang="en" sz="1400" b="1" dirty="0">
                  <a:solidFill>
                    <a:srgbClr val="FFFFFF"/>
                  </a:solidFill>
                  <a:latin typeface="Merriweather"/>
                  <a:ea typeface="Merriweather"/>
                  <a:cs typeface="Merriweather"/>
                  <a:sym typeface="Merriweather"/>
                </a:rPr>
                <a:t>(e.g. GiZ or AFD)</a:t>
              </a:r>
              <a:endParaRPr sz="1400" dirty="0">
                <a:solidFill>
                  <a:srgbClr val="FFFFFF"/>
                </a:solidFill>
                <a:latin typeface="Merriweather"/>
                <a:ea typeface="Merriweather"/>
                <a:cs typeface="Merriweather"/>
                <a:sym typeface="Merriweather"/>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570844"/>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Lender</a:t>
              </a:r>
              <a:endParaRPr sz="1500" dirty="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24198702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CC05522-3048-972A-BF47-BB2BA6DB5655}"/>
              </a:ext>
            </a:extLst>
          </p:cNvPr>
          <p:cNvSpPr>
            <a:spLocks noGrp="1"/>
          </p:cNvSpPr>
          <p:nvPr>
            <p:ph type="subTitle" idx="1"/>
          </p:nvPr>
        </p:nvSpPr>
        <p:spPr>
          <a:xfrm>
            <a:off x="5130088" y="1971647"/>
            <a:ext cx="3684662" cy="1839861"/>
          </a:xfrm>
        </p:spPr>
        <p:txBody>
          <a:bodyPr>
            <a:normAutofit/>
          </a:bodyPr>
          <a:lstStyle/>
          <a:p>
            <a:pPr algn="ctr"/>
            <a:r>
              <a:rPr lang="en-US" sz="2400" dirty="0"/>
              <a:t>Conclusions &amp; Next Steps</a:t>
            </a:r>
          </a:p>
        </p:txBody>
      </p:sp>
    </p:spTree>
    <p:extLst>
      <p:ext uri="{BB962C8B-B14F-4D97-AF65-F5344CB8AC3E}">
        <p14:creationId xmlns:p14="http://schemas.microsoft.com/office/powerpoint/2010/main" val="40819911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0520196E-3FFF-7B7C-9E83-E0E46A1DAF8C}"/>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F3F78F55-5738-C13F-40AF-98A180D8D93E}"/>
              </a:ext>
            </a:extLst>
          </p:cNvPr>
          <p:cNvSpPr/>
          <p:nvPr/>
        </p:nvSpPr>
        <p:spPr>
          <a:xfrm>
            <a:off x="226910" y="1527586"/>
            <a:ext cx="8518009" cy="1494962"/>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Google Shape;317;p33">
            <a:extLst>
              <a:ext uri="{FF2B5EF4-FFF2-40B4-BE49-F238E27FC236}">
                <a16:creationId xmlns:a16="http://schemas.microsoft.com/office/drawing/2014/main" id="{C38283E4-4DBB-613B-F662-625C3D75F975}"/>
              </a:ext>
            </a:extLst>
          </p:cNvPr>
          <p:cNvSpPr txBox="1">
            <a:spLocks noGrp="1"/>
          </p:cNvSpPr>
          <p:nvPr>
            <p:ph type="subTitle" idx="1"/>
          </p:nvPr>
        </p:nvSpPr>
        <p:spPr>
          <a:xfrm>
            <a:off x="293299" y="379287"/>
            <a:ext cx="8557402" cy="481076"/>
          </a:xfrm>
          <a:prstGeom prst="rect">
            <a:avLst/>
          </a:prstGeom>
        </p:spPr>
        <p:txBody>
          <a:bodyPr spcFirstLastPara="1" wrap="square" lIns="91425" tIns="91425" rIns="91425" bIns="91425" anchor="t" anchorCtr="0">
            <a:noAutofit/>
          </a:bodyPr>
          <a:lstStyle/>
          <a:p>
            <a:pPr marL="0" indent="0" algn="ctr">
              <a:lnSpc>
                <a:spcPct val="110000"/>
              </a:lnSpc>
              <a:buNone/>
            </a:pPr>
            <a:r>
              <a:rPr lang="en" sz="2400" dirty="0"/>
              <a:t>Conclusions</a:t>
            </a:r>
          </a:p>
        </p:txBody>
      </p:sp>
      <p:sp>
        <p:nvSpPr>
          <p:cNvPr id="3" name="Google Shape;317;p33">
            <a:extLst>
              <a:ext uri="{FF2B5EF4-FFF2-40B4-BE49-F238E27FC236}">
                <a16:creationId xmlns:a16="http://schemas.microsoft.com/office/drawing/2014/main" id="{DE15D7C1-76F1-CE4F-1FBE-D812132649B2}"/>
              </a:ext>
            </a:extLst>
          </p:cNvPr>
          <p:cNvSpPr txBox="1">
            <a:spLocks/>
          </p:cNvSpPr>
          <p:nvPr/>
        </p:nvSpPr>
        <p:spPr>
          <a:xfrm>
            <a:off x="226911" y="1452283"/>
            <a:ext cx="8690178" cy="37987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nSpc>
                <a:spcPct val="150000"/>
              </a:lnSpc>
            </a:pPr>
            <a:endParaRPr lang="en-US" sz="1200" dirty="0">
              <a:solidFill>
                <a:srgbClr val="B85641"/>
              </a:solidFill>
              <a:ea typeface="Roboto" panose="02000000000000000000" pitchFamily="2" charset="0"/>
              <a:cs typeface="Roboto" panose="02000000000000000000" pitchFamily="2" charset="0"/>
            </a:endParaRPr>
          </a:p>
          <a:p>
            <a:pPr>
              <a:lnSpc>
                <a:spcPct val="150000"/>
              </a:lnSpc>
            </a:pPr>
            <a:r>
              <a:rPr lang="en-US" sz="1200" dirty="0">
                <a:solidFill>
                  <a:srgbClr val="B85641"/>
                </a:solidFill>
                <a:ea typeface="Roboto" panose="02000000000000000000" pitchFamily="2" charset="0"/>
                <a:cs typeface="Roboto" panose="02000000000000000000" pitchFamily="2" charset="0"/>
              </a:rPr>
              <a:t>		</a:t>
            </a:r>
            <a:r>
              <a:rPr lang="en-US" sz="1400" dirty="0">
                <a:solidFill>
                  <a:srgbClr val="B85641"/>
                </a:solidFill>
                <a:ea typeface="Roboto" panose="02000000000000000000" pitchFamily="2" charset="0"/>
                <a:cs typeface="Roboto" panose="02000000000000000000" pitchFamily="2" charset="0"/>
              </a:rPr>
              <a:t>Urgent need for </a:t>
            </a:r>
            <a:r>
              <a:rPr lang="en-US" sz="1400" b="1" dirty="0">
                <a:solidFill>
                  <a:srgbClr val="B85641"/>
                </a:solidFill>
                <a:ea typeface="Roboto" panose="02000000000000000000" pitchFamily="2" charset="0"/>
                <a:cs typeface="Roboto" panose="02000000000000000000" pitchFamily="2" charset="0"/>
              </a:rPr>
              <a:t>innovative solutions </a:t>
            </a:r>
            <a:r>
              <a:rPr lang="en-US" sz="1400" dirty="0">
                <a:solidFill>
                  <a:srgbClr val="B85641"/>
                </a:solidFill>
                <a:ea typeface="Roboto" panose="02000000000000000000" pitchFamily="2" charset="0"/>
                <a:cs typeface="Roboto" panose="02000000000000000000" pitchFamily="2" charset="0"/>
              </a:rPr>
              <a:t>to </a:t>
            </a:r>
            <a:r>
              <a:rPr lang="en-US" sz="1400" b="1" dirty="0">
                <a:solidFill>
                  <a:srgbClr val="B85641"/>
                </a:solidFill>
                <a:ea typeface="Roboto" panose="02000000000000000000" pitchFamily="2" charset="0"/>
                <a:cs typeface="Roboto" panose="02000000000000000000" pitchFamily="2" charset="0"/>
              </a:rPr>
              <a:t>mobilize private capital </a:t>
            </a:r>
            <a:r>
              <a:rPr lang="en-US" sz="1400" dirty="0">
                <a:solidFill>
                  <a:srgbClr val="B85641"/>
                </a:solidFill>
                <a:ea typeface="Roboto" panose="02000000000000000000" pitchFamily="2" charset="0"/>
                <a:cs typeface="Roboto" panose="02000000000000000000" pitchFamily="2" charset="0"/>
              </a:rPr>
              <a:t>for sustainable 			infrastructure development objectives.</a:t>
            </a:r>
          </a:p>
          <a:p>
            <a:pPr>
              <a:lnSpc>
                <a:spcPct val="150000"/>
              </a:lnSpc>
            </a:pPr>
            <a:r>
              <a:rPr lang="en-US" sz="1400" dirty="0">
                <a:solidFill>
                  <a:srgbClr val="B85641"/>
                </a:solidFill>
                <a:ea typeface="Roboto" panose="02000000000000000000" pitchFamily="2" charset="0"/>
                <a:cs typeface="Roboto" panose="02000000000000000000" pitchFamily="2" charset="0"/>
              </a:rPr>
              <a:t>		Room for Improvement with SLBs.</a:t>
            </a:r>
            <a:endParaRPr lang="en-US" sz="1200" dirty="0">
              <a:solidFill>
                <a:srgbClr val="B85641"/>
              </a:solidFill>
              <a:ea typeface="Roboto" panose="02000000000000000000" pitchFamily="2" charset="0"/>
              <a:cs typeface="Roboto" panose="02000000000000000000" pitchFamily="2" charset="0"/>
            </a:endParaRPr>
          </a:p>
          <a:p>
            <a:pPr>
              <a:lnSpc>
                <a:spcPct val="150000"/>
              </a:lnSpc>
            </a:pPr>
            <a:endParaRPr lang="en-US" sz="1200" dirty="0">
              <a:ea typeface="Roboto" panose="02000000000000000000" pitchFamily="2" charset="0"/>
              <a:cs typeface="Roboto" panose="02000000000000000000" pitchFamily="2" charset="0"/>
            </a:endParaRPr>
          </a:p>
          <a:p>
            <a:pPr>
              <a:lnSpc>
                <a:spcPct val="150000"/>
              </a:lnSpc>
            </a:pPr>
            <a:endParaRPr lang="en-US" sz="1400" b="1" dirty="0">
              <a:solidFill>
                <a:schemeClr val="accent4"/>
              </a:solidFill>
              <a:ea typeface="Roboto" panose="02000000000000000000" pitchFamily="2" charset="0"/>
              <a:cs typeface="Roboto" panose="02000000000000000000" pitchFamily="2" charset="0"/>
            </a:endParaRPr>
          </a:p>
          <a:p>
            <a:pPr>
              <a:lnSpc>
                <a:spcPct val="150000"/>
              </a:lnSpc>
            </a:pPr>
            <a:r>
              <a:rPr lang="en-US" sz="1600" b="1" dirty="0">
                <a:solidFill>
                  <a:schemeClr val="accent4"/>
                </a:solidFill>
                <a:ea typeface="Roboto" panose="02000000000000000000" pitchFamily="2" charset="0"/>
                <a:cs typeface="Roboto" panose="02000000000000000000" pitchFamily="2" charset="0"/>
              </a:rPr>
              <a:t>Enhanced Approach - SLIDIs with WB/MLDB Operationalization:</a:t>
            </a:r>
          </a:p>
          <a:p>
            <a:pPr>
              <a:lnSpc>
                <a:spcPct val="150000"/>
              </a:lnSpc>
            </a:pPr>
            <a:r>
              <a:rPr lang="en-US" sz="1200" dirty="0">
                <a:solidFill>
                  <a:srgbClr val="002F4A"/>
                </a:solidFill>
                <a:ea typeface="Roboto" panose="02000000000000000000" pitchFamily="2" charset="0"/>
                <a:cs typeface="Roboto" panose="02000000000000000000" pitchFamily="2" charset="0"/>
              </a:rPr>
              <a:t>	A more </a:t>
            </a:r>
            <a:r>
              <a:rPr lang="en-US" sz="1200" b="1" dirty="0">
                <a:solidFill>
                  <a:srgbClr val="002F4A"/>
                </a:solidFill>
                <a:ea typeface="Roboto" panose="02000000000000000000" pitchFamily="2" charset="0"/>
                <a:cs typeface="Roboto" panose="02000000000000000000" pitchFamily="2" charset="0"/>
              </a:rPr>
              <a:t>attractive and effective </a:t>
            </a:r>
            <a:r>
              <a:rPr lang="en-US" sz="1200" dirty="0">
                <a:solidFill>
                  <a:srgbClr val="002F4A"/>
                </a:solidFill>
                <a:ea typeface="Roboto" panose="02000000000000000000" pitchFamily="2" charset="0"/>
                <a:cs typeface="Roboto" panose="02000000000000000000" pitchFamily="2" charset="0"/>
              </a:rPr>
              <a:t>financial instrument for investors and sovereigns.</a:t>
            </a:r>
          </a:p>
          <a:p>
            <a:pPr>
              <a:lnSpc>
                <a:spcPct val="150000"/>
              </a:lnSpc>
            </a:pPr>
            <a:r>
              <a:rPr lang="en-US" sz="1200" dirty="0">
                <a:solidFill>
                  <a:srgbClr val="002F4A"/>
                </a:solidFill>
                <a:ea typeface="Roboto" panose="02000000000000000000" pitchFamily="2" charset="0"/>
                <a:cs typeface="Roboto" panose="02000000000000000000" pitchFamily="2" charset="0"/>
              </a:rPr>
              <a:t>	Choice of ‘Prior Action’ or ‘Results Based Climate Finance’ system.</a:t>
            </a:r>
          </a:p>
          <a:p>
            <a:pPr>
              <a:lnSpc>
                <a:spcPct val="150000"/>
              </a:lnSpc>
            </a:pPr>
            <a:r>
              <a:rPr lang="en-US" sz="1200" dirty="0">
                <a:solidFill>
                  <a:srgbClr val="002F4A"/>
                </a:solidFill>
                <a:ea typeface="Roboto" panose="02000000000000000000" pitchFamily="2" charset="0"/>
                <a:cs typeface="Roboto" panose="02000000000000000000" pitchFamily="2" charset="0"/>
              </a:rPr>
              <a:t>	Development agency partner participation to enhance private sector confidence and achieve sustainability 	objectives.</a:t>
            </a:r>
          </a:p>
          <a:p>
            <a:pPr>
              <a:lnSpc>
                <a:spcPct val="110000"/>
              </a:lnSpc>
            </a:pPr>
            <a:endParaRPr lang="en" dirty="0"/>
          </a:p>
        </p:txBody>
      </p:sp>
      <p:grpSp>
        <p:nvGrpSpPr>
          <p:cNvPr id="2" name="Google Shape;121;p17">
            <a:extLst>
              <a:ext uri="{FF2B5EF4-FFF2-40B4-BE49-F238E27FC236}">
                <a16:creationId xmlns:a16="http://schemas.microsoft.com/office/drawing/2014/main" id="{3ED012DE-AC99-545A-5A8D-2F6BE377C572}"/>
              </a:ext>
            </a:extLst>
          </p:cNvPr>
          <p:cNvGrpSpPr/>
          <p:nvPr/>
        </p:nvGrpSpPr>
        <p:grpSpPr>
          <a:xfrm>
            <a:off x="658864" y="1860572"/>
            <a:ext cx="261571" cy="260379"/>
            <a:chOff x="4858109" y="2631368"/>
            <a:chExt cx="316442" cy="315000"/>
          </a:xfrm>
        </p:grpSpPr>
        <p:sp>
          <p:nvSpPr>
            <p:cNvPr id="8" name="Google Shape;122;p17">
              <a:extLst>
                <a:ext uri="{FF2B5EF4-FFF2-40B4-BE49-F238E27FC236}">
                  <a16:creationId xmlns:a16="http://schemas.microsoft.com/office/drawing/2014/main" id="{AF07D0D3-D356-5069-05AF-6864A9805EE6}"/>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3;p17">
              <a:extLst>
                <a:ext uri="{FF2B5EF4-FFF2-40B4-BE49-F238E27FC236}">
                  <a16:creationId xmlns:a16="http://schemas.microsoft.com/office/drawing/2014/main" id="{280A4207-7172-DF9B-B011-529DD524159C}"/>
                </a:ext>
              </a:extLst>
            </p:cNvPr>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0" name="Google Shape;121;p17">
            <a:extLst>
              <a:ext uri="{FF2B5EF4-FFF2-40B4-BE49-F238E27FC236}">
                <a16:creationId xmlns:a16="http://schemas.microsoft.com/office/drawing/2014/main" id="{5A285FB7-8847-0B20-5B7A-AD101971ACDE}"/>
              </a:ext>
            </a:extLst>
          </p:cNvPr>
          <p:cNvGrpSpPr/>
          <p:nvPr/>
        </p:nvGrpSpPr>
        <p:grpSpPr>
          <a:xfrm>
            <a:off x="658864" y="2459131"/>
            <a:ext cx="261571" cy="260379"/>
            <a:chOff x="4858109" y="2631368"/>
            <a:chExt cx="316442" cy="315000"/>
          </a:xfrm>
        </p:grpSpPr>
        <p:sp>
          <p:nvSpPr>
            <p:cNvPr id="11" name="Google Shape;122;p17">
              <a:extLst>
                <a:ext uri="{FF2B5EF4-FFF2-40B4-BE49-F238E27FC236}">
                  <a16:creationId xmlns:a16="http://schemas.microsoft.com/office/drawing/2014/main" id="{481DBD0E-222D-31C5-BFC7-BF07F44A8323}"/>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3;p17">
              <a:extLst>
                <a:ext uri="{FF2B5EF4-FFF2-40B4-BE49-F238E27FC236}">
                  <a16:creationId xmlns:a16="http://schemas.microsoft.com/office/drawing/2014/main" id="{326479A5-B511-0BF3-6310-112C27F911FE}"/>
                </a:ext>
              </a:extLst>
            </p:cNvPr>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3" name="Google Shape;118;p17">
            <a:extLst>
              <a:ext uri="{FF2B5EF4-FFF2-40B4-BE49-F238E27FC236}">
                <a16:creationId xmlns:a16="http://schemas.microsoft.com/office/drawing/2014/main" id="{1AE5965A-3467-F051-D596-526F1436717B}"/>
              </a:ext>
            </a:extLst>
          </p:cNvPr>
          <p:cNvGrpSpPr/>
          <p:nvPr/>
        </p:nvGrpSpPr>
        <p:grpSpPr>
          <a:xfrm>
            <a:off x="397888" y="3762787"/>
            <a:ext cx="261571" cy="260379"/>
            <a:chOff x="4858109" y="2631368"/>
            <a:chExt cx="316442" cy="315000"/>
          </a:xfrm>
        </p:grpSpPr>
        <p:sp>
          <p:nvSpPr>
            <p:cNvPr id="14" name="Google Shape;119;p17">
              <a:extLst>
                <a:ext uri="{FF2B5EF4-FFF2-40B4-BE49-F238E27FC236}">
                  <a16:creationId xmlns:a16="http://schemas.microsoft.com/office/drawing/2014/main" id="{A5C5A266-C98D-2AB0-02BA-96A92C9A49F9}"/>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0;p17">
              <a:extLst>
                <a:ext uri="{FF2B5EF4-FFF2-40B4-BE49-F238E27FC236}">
                  <a16:creationId xmlns:a16="http://schemas.microsoft.com/office/drawing/2014/main" id="{BFC55A8E-2961-EA23-4603-159D8516F225}"/>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6" name="Google Shape;118;p17">
            <a:extLst>
              <a:ext uri="{FF2B5EF4-FFF2-40B4-BE49-F238E27FC236}">
                <a16:creationId xmlns:a16="http://schemas.microsoft.com/office/drawing/2014/main" id="{DCE91DD3-9A91-49D0-5B4A-A36DF3434CB4}"/>
              </a:ext>
            </a:extLst>
          </p:cNvPr>
          <p:cNvGrpSpPr/>
          <p:nvPr/>
        </p:nvGrpSpPr>
        <p:grpSpPr>
          <a:xfrm>
            <a:off x="397888" y="4034136"/>
            <a:ext cx="261571" cy="260379"/>
            <a:chOff x="4858109" y="2631368"/>
            <a:chExt cx="316442" cy="315000"/>
          </a:xfrm>
        </p:grpSpPr>
        <p:sp>
          <p:nvSpPr>
            <p:cNvPr id="17" name="Google Shape;119;p17">
              <a:extLst>
                <a:ext uri="{FF2B5EF4-FFF2-40B4-BE49-F238E27FC236}">
                  <a16:creationId xmlns:a16="http://schemas.microsoft.com/office/drawing/2014/main" id="{9FF8D642-FF0D-9AD8-884E-64A4EE6CCA91}"/>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20;p17">
              <a:extLst>
                <a:ext uri="{FF2B5EF4-FFF2-40B4-BE49-F238E27FC236}">
                  <a16:creationId xmlns:a16="http://schemas.microsoft.com/office/drawing/2014/main" id="{AF838C5B-F523-C49B-06CF-6B77AE3174C9}"/>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20" name="Google Shape;119;p17">
            <a:extLst>
              <a:ext uri="{FF2B5EF4-FFF2-40B4-BE49-F238E27FC236}">
                <a16:creationId xmlns:a16="http://schemas.microsoft.com/office/drawing/2014/main" id="{89BE9576-018C-6598-C020-9D1D2BC34925}"/>
              </a:ext>
            </a:extLst>
          </p:cNvPr>
          <p:cNvSpPr/>
          <p:nvPr/>
        </p:nvSpPr>
        <p:spPr>
          <a:xfrm>
            <a:off x="399080" y="4305373"/>
            <a:ext cx="260379" cy="39068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118;p17">
            <a:extLst>
              <a:ext uri="{FF2B5EF4-FFF2-40B4-BE49-F238E27FC236}">
                <a16:creationId xmlns:a16="http://schemas.microsoft.com/office/drawing/2014/main" id="{D6E60B92-81EE-601E-D4B3-AF0443AE4E4D}"/>
              </a:ext>
            </a:extLst>
          </p:cNvPr>
          <p:cNvGrpSpPr/>
          <p:nvPr/>
        </p:nvGrpSpPr>
        <p:grpSpPr>
          <a:xfrm>
            <a:off x="397888" y="4294403"/>
            <a:ext cx="261571" cy="260379"/>
            <a:chOff x="4858109" y="2631368"/>
            <a:chExt cx="316442" cy="315000"/>
          </a:xfrm>
        </p:grpSpPr>
        <p:sp>
          <p:nvSpPr>
            <p:cNvPr id="23" name="Google Shape;119;p17">
              <a:extLst>
                <a:ext uri="{FF2B5EF4-FFF2-40B4-BE49-F238E27FC236}">
                  <a16:creationId xmlns:a16="http://schemas.microsoft.com/office/drawing/2014/main" id="{9F49B659-B988-56BB-47B3-C22509E5EF81}"/>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20;p17">
              <a:extLst>
                <a:ext uri="{FF2B5EF4-FFF2-40B4-BE49-F238E27FC236}">
                  <a16:creationId xmlns:a16="http://schemas.microsoft.com/office/drawing/2014/main" id="{3FF76F44-4FDA-9D0C-F2D4-02DCEF9C26E8}"/>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11578027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086C78A-FBA3-64A1-E79B-C57B6C305373}"/>
              </a:ext>
            </a:extLst>
          </p:cNvPr>
          <p:cNvSpPr>
            <a:spLocks noGrp="1"/>
          </p:cNvSpPr>
          <p:nvPr>
            <p:ph type="subTitle" idx="1"/>
          </p:nvPr>
        </p:nvSpPr>
        <p:spPr>
          <a:xfrm>
            <a:off x="207627" y="850900"/>
            <a:ext cx="2678112" cy="3441700"/>
          </a:xfrm>
        </p:spPr>
        <p:txBody>
          <a:bodyPr>
            <a:normAutofit/>
          </a:bodyPr>
          <a:lstStyle/>
          <a:p>
            <a:r>
              <a:rPr lang="en" dirty="0">
                <a:solidFill>
                  <a:srgbClr val="B85641"/>
                </a:solidFill>
              </a:rPr>
              <a:t>Next Steps:</a:t>
            </a:r>
          </a:p>
          <a:p>
            <a:endParaRPr lang="en" dirty="0">
              <a:solidFill>
                <a:srgbClr val="042F4A"/>
              </a:solidFill>
            </a:endParaRPr>
          </a:p>
          <a:p>
            <a:pPr marL="457200" indent="-457200">
              <a:buAutoNum type="arabicPeriod"/>
            </a:pPr>
            <a:r>
              <a:rPr lang="en" dirty="0">
                <a:solidFill>
                  <a:srgbClr val="042F4A"/>
                </a:solidFill>
                <a:sym typeface="Roboto"/>
              </a:rPr>
              <a:t>Refinement &amp; Exploration </a:t>
            </a:r>
          </a:p>
          <a:p>
            <a:pPr marL="457200" indent="-457200">
              <a:buAutoNum type="arabicPeriod"/>
            </a:pPr>
            <a:r>
              <a:rPr lang="en" dirty="0">
                <a:solidFill>
                  <a:srgbClr val="042F4A"/>
                </a:solidFill>
                <a:sym typeface="Roboto"/>
              </a:rPr>
              <a:t>Feedback &amp; Collaboration</a:t>
            </a:r>
          </a:p>
          <a:p>
            <a:pPr marL="457200" indent="-457200">
              <a:buAutoNum type="arabicPeriod"/>
            </a:pPr>
            <a:r>
              <a:rPr lang="en" dirty="0">
                <a:solidFill>
                  <a:srgbClr val="042F4A"/>
                </a:solidFill>
                <a:sym typeface="Roboto"/>
              </a:rPr>
              <a:t>Scaling Impact</a:t>
            </a:r>
            <a:endParaRPr lang="en" dirty="0">
              <a:solidFill>
                <a:srgbClr val="042F4A"/>
              </a:solidFill>
            </a:endParaRPr>
          </a:p>
          <a:p>
            <a:endParaRPr lang="en-US" dirty="0"/>
          </a:p>
        </p:txBody>
      </p:sp>
    </p:spTree>
    <p:extLst>
      <p:ext uri="{BB962C8B-B14F-4D97-AF65-F5344CB8AC3E}">
        <p14:creationId xmlns:p14="http://schemas.microsoft.com/office/powerpoint/2010/main" val="28505055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1_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F9D67E-8A72-4093-BAEB-50D662CD2AC4}">
  <ds:schemaRefs>
    <ds:schemaRef ds:uri="http://schemas.microsoft.com/sharepoint/v3/contenttype/forms"/>
  </ds:schemaRefs>
</ds:datastoreItem>
</file>

<file path=customXml/itemProps2.xml><?xml version="1.0" encoding="utf-8"?>
<ds:datastoreItem xmlns:ds="http://schemas.openxmlformats.org/officeDocument/2006/customXml" ds:itemID="{4C7D7837-F8D7-4813-A753-AD88A8236BF1}">
  <ds:schemaRefs>
    <ds:schemaRef ds:uri="http://purl.org/dc/dcmitype/"/>
    <ds:schemaRef ds:uri="http://www.w3.org/XML/1998/namespace"/>
    <ds:schemaRef ds:uri="http://purl.org/dc/elements/1.1/"/>
    <ds:schemaRef ds:uri="a2575f19-ccfc-4947-a811-9b717af3c709"/>
    <ds:schemaRef ds:uri="404e9e9c-15d8-4aca-92ae-5f86d37582cd"/>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896</TotalTime>
  <Words>1985</Words>
  <Application>Microsoft Office PowerPoint</Application>
  <PresentationFormat>On-screen Show (16:9)</PresentationFormat>
  <Paragraphs>146</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Courier New</vt:lpstr>
      <vt:lpstr>Merriweather</vt:lpstr>
      <vt:lpstr>Arial</vt:lpstr>
      <vt:lpstr>Roboto</vt:lpstr>
      <vt:lpstr>1_Paradigm</vt:lpstr>
      <vt:lpstr>PowerPoint Presentation</vt:lpstr>
      <vt:lpstr>PowerPoint Presentation</vt:lpstr>
      <vt:lpstr> Design Options For Sustainability-Linked  Intermediated Debt Instruments  (SLIDIs)</vt:lpstr>
      <vt:lpstr>PowerPoint Presentation</vt:lpstr>
      <vt:lpstr>PowerPoint Presentation</vt:lpstr>
      <vt:lpstr>PowerPoint Presentation</vt:lpstr>
      <vt:lpstr>Global net zero by 2050 requires annual investment of US$3.4 trillion to $8.1 trillion globally  (Yilmaz et al. 2022)</vt:lpstr>
      <vt:lpstr>Developing countries have difficulty accessing financing for renewable energy infrastructure, and their cost of capital is often very high</vt:lpstr>
      <vt:lpstr>PowerPoint Presentation</vt:lpstr>
      <vt:lpstr>PowerPoint Presentation</vt:lpstr>
      <vt:lpstr>PowerPoint Presentation</vt:lpstr>
      <vt:lpstr>PowerPoint Presentation</vt:lpstr>
      <vt:lpstr>Existing SLBs’ Limitations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Stephen John Stretton</cp:lastModifiedBy>
  <cp:revision>55</cp:revision>
  <dcterms:modified xsi:type="dcterms:W3CDTF">2024-10-08T12:27:18Z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