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2" r:id="rId4"/>
    <p:sldId id="258" r:id="rId5"/>
    <p:sldId id="268" r:id="rId6"/>
    <p:sldId id="267" r:id="rId7"/>
    <p:sldId id="263" r:id="rId8"/>
    <p:sldId id="260" r:id="rId9"/>
    <p:sldId id="259" r:id="rId10"/>
    <p:sldId id="270" r:id="rId11"/>
    <p:sldId id="271" r:id="rId12"/>
    <p:sldId id="265" r:id="rId13"/>
    <p:sldId id="274" r:id="rId14"/>
    <p:sldId id="273" r:id="rId15"/>
    <p:sldId id="272" r:id="rId16"/>
    <p:sldId id="261" r:id="rId17"/>
    <p:sldId id="266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11"/>
    <p:restoredTop sz="95807"/>
  </p:normalViewPr>
  <p:slideViewPr>
    <p:cSldViewPr snapToGrid="0">
      <p:cViewPr varScale="1">
        <p:scale>
          <a:sx n="94" d="100"/>
          <a:sy n="94" d="100"/>
        </p:scale>
        <p:origin x="20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9B7C8A-17C0-F849-B179-5C8402841E1D}" type="datetimeFigureOut">
              <a:rPr lang="en-US" smtClean="0"/>
              <a:t>1/9/24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DD737-EC79-A046-8D43-41F52C824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816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05786-1119-2B6D-8AE3-B6F9A1FFC8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4BFC47-4257-D6B8-F10C-82DAE8AF2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A8B6A-433C-D594-8E46-9ECE26571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2EBA3-15F0-46E4-329B-C8AB441C2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0BCDC-9B4A-81FA-CF08-EE44B770A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2AC5E-ECC6-5142-8E43-7FB33FF8E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4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21D3C5-7A21-4755-A045-634374135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934" y="301626"/>
            <a:ext cx="11418506" cy="756707"/>
          </a:xfrm>
        </p:spPr>
        <p:txBody>
          <a:bodyPr/>
          <a:lstStyle>
            <a:lvl1pPr>
              <a:defRPr sz="3200" b="1" i="0">
                <a:solidFill>
                  <a:srgbClr val="002244"/>
                </a:solidFill>
                <a:latin typeface="Andes" panose="020000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74A97FF-78D7-4374-8CBF-42BAF8B6A1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734" y="1341121"/>
            <a:ext cx="11367706" cy="483065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2400"/>
              </a:spcBef>
              <a:buClr>
                <a:srgbClr val="009FDA"/>
              </a:buClr>
              <a:buNone/>
              <a:tabLst>
                <a:tab pos="8402638" algn="r"/>
              </a:tabLst>
              <a:defRPr lang="en-US" sz="2400" smtClean="0">
                <a:solidFill>
                  <a:schemeClr val="tx1"/>
                </a:solidFill>
                <a:latin typeface="Andes" panose="02000000000000000000" pitchFamily="50" charset="0"/>
                <a:cs typeface="Arial" panose="020B0604020202020204" pitchFamily="34" charset="0"/>
              </a:defRPr>
            </a:lvl1pPr>
            <a:lvl2pPr marL="287338" indent="-223838">
              <a:lnSpc>
                <a:spcPct val="150000"/>
              </a:lnSpc>
              <a:defRPr>
                <a:latin typeface="Andes" panose="02000000000000000000" pitchFamily="50" charset="0"/>
              </a:defRPr>
            </a:lvl2pPr>
            <a:lvl3pPr marL="801688" indent="-228600">
              <a:lnSpc>
                <a:spcPct val="150000"/>
              </a:lnSpc>
              <a:tabLst/>
              <a:defRPr>
                <a:latin typeface="Andes" panose="02000000000000000000" pitchFamily="50" charset="0"/>
              </a:defRPr>
            </a:lvl3pPr>
            <a:lvl4pPr marL="1314450" indent="-230188">
              <a:lnSpc>
                <a:spcPct val="150000"/>
              </a:lnSpc>
              <a:defRPr>
                <a:latin typeface="Andes" panose="02000000000000000000" pitchFamily="50" charset="0"/>
              </a:defRPr>
            </a:lvl4pPr>
            <a:lvl5pPr marL="1889125" indent="-227013">
              <a:lnSpc>
                <a:spcPct val="150000"/>
              </a:lnSpc>
              <a:defRPr>
                <a:latin typeface="Andes" panose="020000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76A9B5-DE2D-4B7C-8095-84322ACD11B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917258"/>
            <a:ext cx="12192000" cy="169862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bg1"/>
              </a:solidFill>
            </a:endParaRPr>
          </a:p>
        </p:txBody>
      </p:sp>
      <p:sp>
        <p:nvSpPr>
          <p:cNvPr id="18" name="Slide Number Placeholder 7">
            <a:extLst>
              <a:ext uri="{FF2B5EF4-FFF2-40B4-BE49-F238E27FC236}">
                <a16:creationId xmlns:a16="http://schemas.microsoft.com/office/drawing/2014/main" id="{D0B8BCCB-076E-49AF-BF1F-CDA9D8F422E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140122" y="6322060"/>
            <a:ext cx="726757" cy="278130"/>
          </a:xfrm>
          <a:prstGeom prst="rect">
            <a:avLst/>
          </a:prstGeom>
        </p:spPr>
        <p:txBody>
          <a:bodyPr/>
          <a:lstStyle>
            <a:lvl1pPr>
              <a:defRPr sz="1200" smtClean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655DD83-5484-411F-A20D-583A924D6F2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2672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21D3C5-7A21-4755-A045-634374135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934" y="301626"/>
            <a:ext cx="11418506" cy="756707"/>
          </a:xfrm>
        </p:spPr>
        <p:txBody>
          <a:bodyPr/>
          <a:lstStyle>
            <a:lvl1pPr>
              <a:defRPr sz="3200" b="1" i="0">
                <a:solidFill>
                  <a:srgbClr val="002244"/>
                </a:solidFill>
                <a:latin typeface="Andes" panose="020000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74A97FF-78D7-4374-8CBF-42BAF8B6A1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734" y="3289721"/>
            <a:ext cx="5535866" cy="2882055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2400"/>
              </a:spcBef>
              <a:buClr>
                <a:srgbClr val="009FDA"/>
              </a:buClr>
              <a:tabLst>
                <a:tab pos="8402638" algn="r"/>
              </a:tabLst>
              <a:defRPr lang="en-US" sz="1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76A9B5-DE2D-4B7C-8095-84322ACD11B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917258"/>
            <a:ext cx="12192000" cy="169862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bg1"/>
              </a:solidFill>
            </a:endParaRPr>
          </a:p>
        </p:txBody>
      </p:sp>
      <p:sp>
        <p:nvSpPr>
          <p:cNvPr id="18" name="Slide Number Placeholder 7">
            <a:extLst>
              <a:ext uri="{FF2B5EF4-FFF2-40B4-BE49-F238E27FC236}">
                <a16:creationId xmlns:a16="http://schemas.microsoft.com/office/drawing/2014/main" id="{D0B8BCCB-076E-49AF-BF1F-CDA9D8F422E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140122" y="6322060"/>
            <a:ext cx="726757" cy="278130"/>
          </a:xfrm>
          <a:prstGeom prst="rect">
            <a:avLst/>
          </a:prstGeom>
        </p:spPr>
        <p:txBody>
          <a:bodyPr/>
          <a:lstStyle>
            <a:lvl1pPr>
              <a:defRPr sz="1200" smtClean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655DD83-5484-411F-A20D-583A924D6F2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4D52C9-556F-481E-9740-4283572A7E3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7733" y="1381759"/>
            <a:ext cx="11367707" cy="132291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2400"/>
              </a:spcBef>
              <a:buClr>
                <a:srgbClr val="009FDA"/>
              </a:buClr>
              <a:tabLst>
                <a:tab pos="8402638" algn="r"/>
              </a:tabLst>
              <a:defRPr lang="en-US" sz="1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080F3466-2F3B-43E7-8C98-9DBC041224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6560" y="2790197"/>
            <a:ext cx="5527040" cy="414003"/>
          </a:xfrm>
        </p:spPr>
        <p:txBody>
          <a:bodyPr/>
          <a:lstStyle>
            <a:lvl1pPr marL="0" indent="0" algn="ctr">
              <a:buNone/>
              <a:defRPr sz="1600" b="0" cap="all">
                <a:solidFill>
                  <a:schemeClr val="tx1"/>
                </a:solidFill>
                <a:latin typeface="Andes" panose="02000000000000000000" pitchFamily="50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3DD743B-128C-4A3F-8C7F-57FE9298661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39574" y="3289721"/>
            <a:ext cx="5535866" cy="2882055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2400"/>
              </a:spcBef>
              <a:buClr>
                <a:srgbClr val="009FDA"/>
              </a:buClr>
              <a:tabLst>
                <a:tab pos="8402638" algn="r"/>
              </a:tabLst>
              <a:defRPr lang="en-US" sz="1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B3D54B6-FC47-4374-BCEA-F250D1741B0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8400" y="2790197"/>
            <a:ext cx="5527040" cy="414003"/>
          </a:xfrm>
        </p:spPr>
        <p:txBody>
          <a:bodyPr/>
          <a:lstStyle>
            <a:lvl1pPr marL="0" indent="0" algn="ctr">
              <a:buNone/>
              <a:defRPr sz="1600" b="0" cap="all">
                <a:solidFill>
                  <a:schemeClr val="tx1"/>
                </a:solidFill>
                <a:latin typeface="Andes" panose="02000000000000000000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8652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21D3C5-7A21-4755-A045-634374135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934" y="301626"/>
            <a:ext cx="11418506" cy="756707"/>
          </a:xfrm>
        </p:spPr>
        <p:txBody>
          <a:bodyPr/>
          <a:lstStyle>
            <a:lvl1pPr>
              <a:defRPr sz="3200" b="1" i="0">
                <a:solidFill>
                  <a:srgbClr val="002244"/>
                </a:solidFill>
                <a:latin typeface="Andes" panose="020000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74A97FF-78D7-4374-8CBF-42BAF8B6A1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734" y="3289721"/>
            <a:ext cx="3566160" cy="2882055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2400"/>
              </a:spcBef>
              <a:buClr>
                <a:srgbClr val="009FDA"/>
              </a:buClr>
              <a:tabLst>
                <a:tab pos="8402638" algn="r"/>
              </a:tabLst>
              <a:defRPr lang="en-US" sz="1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76A9B5-DE2D-4B7C-8095-84322ACD11B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917258"/>
            <a:ext cx="12192000" cy="169862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bg1"/>
              </a:solidFill>
            </a:endParaRPr>
          </a:p>
        </p:txBody>
      </p:sp>
      <p:sp>
        <p:nvSpPr>
          <p:cNvPr id="18" name="Slide Number Placeholder 7">
            <a:extLst>
              <a:ext uri="{FF2B5EF4-FFF2-40B4-BE49-F238E27FC236}">
                <a16:creationId xmlns:a16="http://schemas.microsoft.com/office/drawing/2014/main" id="{D0B8BCCB-076E-49AF-BF1F-CDA9D8F422E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140122" y="6322060"/>
            <a:ext cx="726757" cy="278130"/>
          </a:xfrm>
          <a:prstGeom prst="rect">
            <a:avLst/>
          </a:prstGeom>
        </p:spPr>
        <p:txBody>
          <a:bodyPr/>
          <a:lstStyle>
            <a:lvl1pPr>
              <a:defRPr sz="1200" smtClean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655DD83-5484-411F-A20D-583A924D6F2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4D52C9-556F-481E-9740-4283572A7E3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7733" y="1381759"/>
            <a:ext cx="11367707" cy="132291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2400"/>
              </a:spcBef>
              <a:buClr>
                <a:srgbClr val="009FDA"/>
              </a:buClr>
              <a:tabLst>
                <a:tab pos="8402638" algn="r"/>
              </a:tabLst>
              <a:defRPr lang="en-US" sz="1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080F3466-2F3B-43E7-8C98-9DBC041224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6560" y="2790197"/>
            <a:ext cx="3566160" cy="414003"/>
          </a:xfrm>
        </p:spPr>
        <p:txBody>
          <a:bodyPr/>
          <a:lstStyle>
            <a:lvl1pPr marL="0" indent="0" algn="ctr">
              <a:buNone/>
              <a:defRPr sz="1600" b="0" cap="all">
                <a:solidFill>
                  <a:schemeClr val="tx1"/>
                </a:solidFill>
                <a:latin typeface="Andes" panose="02000000000000000000" pitchFamily="50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59453D3-5EB1-4239-A4D3-3CFF3CAE99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78694" y="3289721"/>
            <a:ext cx="3566160" cy="2882055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2400"/>
              </a:spcBef>
              <a:buClr>
                <a:srgbClr val="009FDA"/>
              </a:buClr>
              <a:tabLst>
                <a:tab pos="8402638" algn="r"/>
              </a:tabLst>
              <a:defRPr lang="en-US" sz="1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E2248C67-39CE-4F4D-A718-695B9C9040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87520" y="2790197"/>
            <a:ext cx="3566160" cy="414003"/>
          </a:xfrm>
        </p:spPr>
        <p:txBody>
          <a:bodyPr/>
          <a:lstStyle>
            <a:lvl1pPr marL="0" indent="0" algn="ctr">
              <a:buNone/>
              <a:defRPr sz="1600" b="0" cap="all">
                <a:solidFill>
                  <a:schemeClr val="tx1"/>
                </a:solidFill>
                <a:latin typeface="Andes" panose="02000000000000000000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7AE58F7A-7562-4832-8BA5-CF4182A2457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1308" y="3289721"/>
            <a:ext cx="3566160" cy="2882055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2400"/>
              </a:spcBef>
              <a:buClr>
                <a:srgbClr val="009FDA"/>
              </a:buClr>
              <a:tabLst>
                <a:tab pos="8402638" algn="r"/>
              </a:tabLst>
              <a:defRPr lang="en-US" sz="1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EE5C5021-F1A6-4C98-9247-B7684975085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80134" y="2790197"/>
            <a:ext cx="3566160" cy="414003"/>
          </a:xfrm>
        </p:spPr>
        <p:txBody>
          <a:bodyPr/>
          <a:lstStyle>
            <a:lvl1pPr marL="0" indent="0" algn="ctr">
              <a:buNone/>
              <a:defRPr sz="1600" b="0" cap="all">
                <a:solidFill>
                  <a:schemeClr val="tx1"/>
                </a:solidFill>
                <a:latin typeface="Andes" panose="02000000000000000000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3714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tyle 1.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F732E6-D56D-4F0E-977A-5C3BA1363FE6}"/>
              </a:ext>
            </a:extLst>
          </p:cNvPr>
          <p:cNvSpPr>
            <a:spLocks noChangeArrowheads="1"/>
          </p:cNvSpPr>
          <p:nvPr userDrawn="1"/>
        </p:nvSpPr>
        <p:spPr bwMode="auto">
          <a:xfrm flipV="1">
            <a:off x="0" y="-1"/>
            <a:ext cx="12192000" cy="4479925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D81B7E-AF5D-4BE3-B5CB-A3B90E1EA87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236720"/>
            <a:ext cx="12192000" cy="251143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81E50B8-963A-4B17-89E5-4EE62CD723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91920" y="507987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  <a:latin typeface="Andes" panose="02000000000000000000" pitchFamily="50" charset="0"/>
              </a:defRPr>
            </a:lvl1pPr>
          </a:lstStyle>
          <a:p>
            <a:r>
              <a:rPr lang="en-US" dirty="0"/>
              <a:t>Click to edit event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02C3C4-B6A5-4592-9366-31A397018D2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91920" y="3100682"/>
            <a:ext cx="9144000" cy="99949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1">
                <a:solidFill>
                  <a:srgbClr val="009FDA"/>
                </a:solidFill>
                <a:latin typeface="Andes ExtraLight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event subtitle or date</a:t>
            </a:r>
          </a:p>
        </p:txBody>
      </p:sp>
      <p:sp>
        <p:nvSpPr>
          <p:cNvPr id="9" name="Text Placeholder 331">
            <a:extLst>
              <a:ext uri="{FF2B5EF4-FFF2-40B4-BE49-F238E27FC236}">
                <a16:creationId xmlns:a16="http://schemas.microsoft.com/office/drawing/2014/main" id="{B30B5737-E864-4162-BD3D-8B191E0CBA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3643" y="4733902"/>
            <a:ext cx="4853847" cy="1393637"/>
          </a:xfrm>
          <a:prstGeom prst="rect">
            <a:avLst/>
          </a:prstGeom>
        </p:spPr>
        <p:txBody>
          <a:bodyPr anchor="b"/>
          <a:lstStyle>
            <a:lvl1pPr marL="0" marR="0" indent="0" algn="r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rgbClr val="00783C"/>
              </a:buClr>
              <a:buSzTx/>
              <a:buFontTx/>
              <a:buNone/>
              <a:tabLst/>
              <a:defRPr sz="1400" b="0" i="0" baseline="0">
                <a:solidFill>
                  <a:schemeClr val="tx1"/>
                </a:solidFill>
                <a:latin typeface="Andes" panose="02000000000000000000" pitchFamily="50" charset="0"/>
                <a:cs typeface="Arial"/>
              </a:defRPr>
            </a:lvl1pPr>
            <a:lvl2pPr marL="0" marR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783C"/>
              </a:buClr>
              <a:buSzTx/>
              <a:buFont typeface="Wingdings" charset="0"/>
              <a:buNone/>
              <a:tabLst/>
              <a:defRPr sz="1400" b="0" i="0">
                <a:latin typeface="Andes" panose="02000000000000000000" pitchFamily="50" charset="0"/>
                <a:cs typeface="Andes ExtraLight"/>
              </a:defRPr>
            </a:lvl2pPr>
            <a:lvl3pPr>
              <a:defRPr b="0" i="0">
                <a:latin typeface="Andes ExtraLight"/>
                <a:cs typeface="Andes ExtraLight"/>
              </a:defRPr>
            </a:lvl3pPr>
            <a:lvl4pPr>
              <a:defRPr b="0" i="0">
                <a:latin typeface="Andes ExtraLight"/>
                <a:cs typeface="Andes ExtraLight"/>
              </a:defRPr>
            </a:lvl4pPr>
            <a:lvl5pPr>
              <a:defRPr b="0" i="0">
                <a:latin typeface="Andes ExtraLight"/>
                <a:cs typeface="Andes ExtraLigh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Rectangle 1028">
            <a:extLst>
              <a:ext uri="{FF2B5EF4-FFF2-40B4-BE49-F238E27FC236}">
                <a16:creationId xmlns:a16="http://schemas.microsoft.com/office/drawing/2014/main" id="{B9929931-8F59-47D8-A03E-F5D0ECC4BCC5}"/>
              </a:ext>
            </a:extLst>
          </p:cNvPr>
          <p:cNvSpPr>
            <a:spLocks noGrp="1" noChangeArrowheads="1"/>
          </p:cNvSpPr>
          <p:nvPr>
            <p:ph type="dt" sz="half" idx="15"/>
          </p:nvPr>
        </p:nvSpPr>
        <p:spPr>
          <a:xfrm>
            <a:off x="6733584" y="6131344"/>
            <a:ext cx="4593906" cy="310646"/>
          </a:xfrm>
          <a:prstGeom prst="rect">
            <a:avLst/>
          </a:prstGeom>
        </p:spPr>
        <p:txBody>
          <a:bodyPr rIns="0" anchor="ctr"/>
          <a:lstStyle>
            <a:lvl1pPr algn="r">
              <a:defRPr b="0" i="0">
                <a:solidFill>
                  <a:schemeClr val="tx1"/>
                </a:solidFill>
                <a:latin typeface="Andes" panose="02000000000000000000" pitchFamily="50" charset="0"/>
                <a:cs typeface="Arial"/>
              </a:defRPr>
            </a:lvl1pPr>
          </a:lstStyle>
          <a:p>
            <a:pPr>
              <a:defRPr/>
            </a:pPr>
            <a:endParaRPr lang="en-US" dirty="0"/>
          </a:p>
        </p:txBody>
      </p:sp>
      <p:pic>
        <p:nvPicPr>
          <p:cNvPr id="2" name="Picture 1" descr="A close up of a logo&#10;&#10;Description automatically generated">
            <a:extLst>
              <a:ext uri="{FF2B5EF4-FFF2-40B4-BE49-F238E27FC236}">
                <a16:creationId xmlns:a16="http://schemas.microsoft.com/office/drawing/2014/main" id="{C0328E10-8197-34BC-1CDD-8C4DC0967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716" y="5430721"/>
            <a:ext cx="5009840" cy="98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400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AD22CF8-977B-4689-996B-7E8CBAA20B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30480" y="3178763"/>
            <a:ext cx="12252960" cy="176213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bg1"/>
              </a:solidFill>
            </a:endParaRPr>
          </a:p>
        </p:txBody>
      </p:sp>
      <p:sp>
        <p:nvSpPr>
          <p:cNvPr id="4" name="Title 329">
            <a:extLst>
              <a:ext uri="{FF2B5EF4-FFF2-40B4-BE49-F238E27FC236}">
                <a16:creationId xmlns:a16="http://schemas.microsoft.com/office/drawing/2014/main" id="{2FE733C6-BC7D-4131-8AB5-E68E54C33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606" y="4040549"/>
            <a:ext cx="10549279" cy="1450437"/>
          </a:xfrm>
        </p:spPr>
        <p:txBody>
          <a:bodyPr/>
          <a:lstStyle>
            <a:lvl1pPr algn="ctr">
              <a:defRPr sz="3800" b="1" cap="none" baseline="0">
                <a:solidFill>
                  <a:srgbClr val="002060"/>
                </a:solidFill>
                <a:latin typeface="Andes" panose="020000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D65570D0-A3D4-48E1-B3F4-20B47D8B9E9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140122" y="6322060"/>
            <a:ext cx="726757" cy="278130"/>
          </a:xfrm>
          <a:prstGeom prst="rect">
            <a:avLst/>
          </a:prstGeom>
        </p:spPr>
        <p:txBody>
          <a:bodyPr/>
          <a:lstStyle>
            <a:lvl1pPr>
              <a:defRPr sz="1200" smtClean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655DD83-5484-411F-A20D-583A924D6F2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2" name="Picture 1" descr="Looking up at the sky through the trees&#10;&#10;Description automatically generated">
            <a:extLst>
              <a:ext uri="{FF2B5EF4-FFF2-40B4-BE49-F238E27FC236}">
                <a16:creationId xmlns:a16="http://schemas.microsoft.com/office/drawing/2014/main" id="{17264E34-827E-4277-CC6B-089109E0F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50334"/>
          <a:stretch/>
        </p:blipFill>
        <p:spPr>
          <a:xfrm>
            <a:off x="-7404" y="-17991"/>
            <a:ext cx="12252959" cy="319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401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Text Slide" preserve="1" userDrawn="1">
  <p:cSld name="1_Two Column Text Slid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9"/>
          <p:cNvSpPr/>
          <p:nvPr/>
        </p:nvSpPr>
        <p:spPr>
          <a:xfrm>
            <a:off x="0" y="917258"/>
            <a:ext cx="12192000" cy="169862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5888" marR="0" lvl="0" indent="-3333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rebuchet MS"/>
              <a:buNone/>
            </a:pPr>
            <a:endParaRPr sz="13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" name="Google Shape;63;p59"/>
          <p:cNvSpPr txBox="1">
            <a:spLocks noGrp="1"/>
          </p:cNvSpPr>
          <p:nvPr>
            <p:ph type="sldNum" idx="12"/>
          </p:nvPr>
        </p:nvSpPr>
        <p:spPr>
          <a:xfrm>
            <a:off x="11140122" y="6322060"/>
            <a:ext cx="726757" cy="278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8A8B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8A8B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8A8B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8A8B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8A8B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8A8B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8A8B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8A8B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8A8B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" name="Google Shape;53;p60">
            <a:extLst>
              <a:ext uri="{FF2B5EF4-FFF2-40B4-BE49-F238E27FC236}">
                <a16:creationId xmlns:a16="http://schemas.microsoft.com/office/drawing/2014/main" id="{1807EA0F-4116-3BE9-C2FC-2E83C052AB54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356934" y="1381757"/>
            <a:ext cx="4886185" cy="418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Arial" panose="020B0604020202020204" pitchFamily="34" charset="0"/>
              <a:buNone/>
              <a:defRPr sz="2400">
                <a:solidFill>
                  <a:schemeClr val="dk1"/>
                </a:solidFill>
                <a:latin typeface="Andes" panose="02000000000000000000" pitchFamily="50" charset="0"/>
                <a:ea typeface="Andes" panose="02000000000000000000" pitchFamily="50" charset="0"/>
                <a:cs typeface="Arial"/>
                <a:sym typeface="Arial"/>
              </a:defRPr>
            </a:lvl1pPr>
            <a:lvl2pPr marL="461963" lvl="1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Arial" panose="020B0604020202020204" pitchFamily="34" charset="0"/>
              <a:buChar char="•"/>
              <a:defRPr sz="2400">
                <a:latin typeface="Andes" panose="02000000000000000000" pitchFamily="50" charset="0"/>
                <a:cs typeface="Arial" panose="020B0604020202020204" pitchFamily="34" charset="0"/>
              </a:defRPr>
            </a:lvl2pPr>
            <a:lvl3pPr marL="9144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ts val="1800"/>
              <a:buChar char="•"/>
              <a:defRPr sz="1900">
                <a:latin typeface="Andes" panose="02000000000000000000" pitchFamily="50" charset="0"/>
              </a:defRPr>
            </a:lvl3pPr>
            <a:lvl4pPr marL="1376363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ts val="1800"/>
              <a:buChar char="•"/>
              <a:defRPr sz="1900">
                <a:latin typeface="Andes" panose="02000000000000000000" pitchFamily="50" charset="0"/>
              </a:defRPr>
            </a:lvl4pPr>
            <a:lvl5pPr marL="18288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ts val="1800"/>
              <a:buChar char="•"/>
              <a:defRPr sz="1900">
                <a:latin typeface="Andes" panose="02000000000000000000" pitchFamily="50" charset="0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Google Shape;53;p60">
            <a:extLst>
              <a:ext uri="{FF2B5EF4-FFF2-40B4-BE49-F238E27FC236}">
                <a16:creationId xmlns:a16="http://schemas.microsoft.com/office/drawing/2014/main" id="{6DA925A4-2E34-CD03-1ACA-A49F3FD9F845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6617315" y="1427591"/>
            <a:ext cx="4886185" cy="418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Arial" panose="020B0604020202020204" pitchFamily="34" charset="0"/>
              <a:buNone/>
              <a:defRPr sz="2400">
                <a:solidFill>
                  <a:schemeClr val="dk1"/>
                </a:solidFill>
                <a:latin typeface="Andes" panose="02000000000000000000" pitchFamily="50" charset="0"/>
                <a:ea typeface="Andes" panose="02000000000000000000" pitchFamily="50" charset="0"/>
                <a:cs typeface="Arial"/>
                <a:sym typeface="Arial"/>
              </a:defRPr>
            </a:lvl1pPr>
            <a:lvl2pPr marL="461963" lvl="1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Arial" panose="020B0604020202020204" pitchFamily="34" charset="0"/>
              <a:buChar char="•"/>
              <a:defRPr sz="2400">
                <a:latin typeface="Andes" panose="02000000000000000000" pitchFamily="50" charset="0"/>
                <a:cs typeface="Arial" panose="020B0604020202020204" pitchFamily="34" charset="0"/>
              </a:defRPr>
            </a:lvl2pPr>
            <a:lvl3pPr marL="9144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ts val="1800"/>
              <a:buChar char="•"/>
              <a:defRPr sz="1900">
                <a:latin typeface="Andes" panose="02000000000000000000" pitchFamily="50" charset="0"/>
              </a:defRPr>
            </a:lvl3pPr>
            <a:lvl4pPr marL="1376363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ts val="1800"/>
              <a:buChar char="•"/>
              <a:tabLst/>
              <a:defRPr sz="1900">
                <a:latin typeface="Andes" panose="02000000000000000000" pitchFamily="50" charset="0"/>
              </a:defRPr>
            </a:lvl4pPr>
            <a:lvl5pPr marL="18288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ts val="1800"/>
              <a:buChar char="•"/>
              <a:defRPr sz="1900">
                <a:latin typeface="Andes" panose="02000000000000000000" pitchFamily="50" charset="0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391D7AB-A6BB-6FF0-ACF5-68FC7EED9EE9}"/>
              </a:ext>
            </a:extLst>
          </p:cNvPr>
          <p:cNvSpPr txBox="1">
            <a:spLocks/>
          </p:cNvSpPr>
          <p:nvPr userDrawn="1"/>
        </p:nvSpPr>
        <p:spPr>
          <a:xfrm>
            <a:off x="356934" y="339719"/>
            <a:ext cx="11418506" cy="7567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rgbClr val="002244"/>
                </a:solidFill>
                <a:latin typeface="Andes" panose="02000000000000000000" pitchFamily="50" charset="0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46745D-7677-E406-E44F-89523C567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934" y="301626"/>
            <a:ext cx="11418506" cy="756707"/>
          </a:xfrm>
        </p:spPr>
        <p:txBody>
          <a:bodyPr/>
          <a:lstStyle>
            <a:lvl1pPr>
              <a:defRPr sz="3200" b="1" i="0">
                <a:solidFill>
                  <a:srgbClr val="002244"/>
                </a:solidFill>
                <a:latin typeface="Andes" panose="020000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711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 preserve="1" userDrawn="1">
  <p:cSld name="Sub Section 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6"/>
          <p:cNvSpPr/>
          <p:nvPr/>
        </p:nvSpPr>
        <p:spPr>
          <a:xfrm>
            <a:off x="0" y="2828925"/>
            <a:ext cx="12252960" cy="176213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5888" marR="0" lvl="0" indent="-3333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rebuchet MS"/>
              <a:buNone/>
            </a:pPr>
            <a:endParaRPr sz="13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" name="Google Shape;47;p46"/>
          <p:cNvSpPr txBox="1">
            <a:spLocks noGrp="1"/>
          </p:cNvSpPr>
          <p:nvPr>
            <p:ph type="sldNum" idx="12"/>
          </p:nvPr>
        </p:nvSpPr>
        <p:spPr>
          <a:xfrm>
            <a:off x="11140122" y="6322060"/>
            <a:ext cx="726757" cy="278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8A8B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8A8B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8A8B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8A8B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8A8B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8A8B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8A8B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8A8B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8A8B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" name="Google Shape;94;p6">
            <a:extLst>
              <a:ext uri="{FF2B5EF4-FFF2-40B4-BE49-F238E27FC236}">
                <a16:creationId xmlns:a16="http://schemas.microsoft.com/office/drawing/2014/main" id="{A1A49A04-C487-6106-F1F5-E99FF5E9EC3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4543" t="50757"/>
          <a:stretch/>
        </p:blipFill>
        <p:spPr>
          <a:xfrm>
            <a:off x="0" y="3005138"/>
            <a:ext cx="12192000" cy="38912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29">
            <a:extLst>
              <a:ext uri="{FF2B5EF4-FFF2-40B4-BE49-F238E27FC236}">
                <a16:creationId xmlns:a16="http://schemas.microsoft.com/office/drawing/2014/main" id="{8DD7638B-370F-6446-D48C-8940F6F3D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360" y="1344013"/>
            <a:ext cx="10549279" cy="1450437"/>
          </a:xfrm>
        </p:spPr>
        <p:txBody>
          <a:bodyPr/>
          <a:lstStyle>
            <a:lvl1pPr algn="ctr">
              <a:defRPr sz="3800" b="1" cap="none" baseline="0">
                <a:solidFill>
                  <a:srgbClr val="00B0F0"/>
                </a:solidFill>
                <a:latin typeface="Andes" panose="020000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625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FE9DEF-9AF8-CF00-43B2-141DD65FB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DB6F3-F5F3-80B9-610F-6D42C3EA3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43D8C-4F8D-6326-FCC1-AB53ED2031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94AF1-C474-15CD-B95A-CCCE172E82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88210-60B3-40E9-F9FF-60592922E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2AC5E-ECC6-5142-8E43-7FB33FF8E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8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CD8A4B-1082-149A-F9E3-E028E0E5D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920" y="507987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The Climate Incentives Trust (CIT)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8E4D5F5-95A5-F5EE-DA16-FC54D5CEAE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1920" y="3100682"/>
            <a:ext cx="9144000" cy="999490"/>
          </a:xfrm>
        </p:spPr>
        <p:txBody>
          <a:bodyPr/>
          <a:lstStyle/>
          <a:p>
            <a:r>
              <a:rPr lang="en-US" dirty="0"/>
              <a:t>An Introduction and Overview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F3A8C4-793E-E61D-93F5-283C4B6281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3643" y="4733902"/>
            <a:ext cx="4853847" cy="1393637"/>
          </a:xfrm>
        </p:spPr>
        <p:txBody>
          <a:bodyPr/>
          <a:lstStyle/>
          <a:p>
            <a:r>
              <a:rPr lang="en-US" b="1" dirty="0"/>
              <a:t>Stephen Stretton &amp; Others</a:t>
            </a:r>
          </a:p>
        </p:txBody>
      </p:sp>
    </p:spTree>
    <p:extLst>
      <p:ext uri="{BB962C8B-B14F-4D97-AF65-F5344CB8AC3E}">
        <p14:creationId xmlns:p14="http://schemas.microsoft.com/office/powerpoint/2010/main" val="83639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9CD668-DF07-DBF9-7C2F-42A34E5A9F7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56934" y="1381757"/>
            <a:ext cx="4886185" cy="471810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I: Objectives</a:t>
            </a:r>
          </a:p>
          <a:p>
            <a:pPr marL="804863" lvl="1"/>
            <a:r>
              <a:rPr lang="en-US" sz="2200" b="1" dirty="0">
                <a:solidFill>
                  <a:srgbClr val="00B0F0"/>
                </a:solidFill>
              </a:rPr>
              <a:t>Problem Statement</a:t>
            </a:r>
          </a:p>
          <a:p>
            <a:pPr marL="804863" lvl="1"/>
            <a:r>
              <a:rPr lang="en-US" sz="2200" b="1" dirty="0">
                <a:solidFill>
                  <a:srgbClr val="00B0F0"/>
                </a:solidFill>
              </a:rPr>
              <a:t>Big Picture</a:t>
            </a:r>
          </a:p>
          <a:p>
            <a:r>
              <a:rPr lang="en-US" b="1" dirty="0"/>
              <a:t>II: Overview of CIT Mechanism</a:t>
            </a:r>
          </a:p>
          <a:p>
            <a:pPr marL="630238" lvl="1" indent="-342900">
              <a:buClr>
                <a:srgbClr val="00B0F0"/>
              </a:buClr>
            </a:pPr>
            <a:r>
              <a:rPr lang="en-US" sz="2200" b="1" dirty="0">
                <a:solidFill>
                  <a:srgbClr val="00B0F0"/>
                </a:solidFill>
              </a:rPr>
              <a:t>Overall Structure</a:t>
            </a:r>
          </a:p>
          <a:p>
            <a:pPr marL="630238" lvl="1" indent="-342900">
              <a:buClr>
                <a:srgbClr val="00B0F0"/>
              </a:buClr>
            </a:pPr>
            <a:r>
              <a:rPr lang="en-US" sz="2200" b="1" dirty="0">
                <a:solidFill>
                  <a:srgbClr val="00B0F0"/>
                </a:solidFill>
              </a:rPr>
              <a:t>Incentives Mechanism</a:t>
            </a:r>
          </a:p>
          <a:p>
            <a:pPr marL="630238" lvl="1" indent="-342900">
              <a:buClr>
                <a:srgbClr val="00B0F0"/>
              </a:buClr>
            </a:pPr>
            <a:r>
              <a:rPr lang="en-US" sz="2200" b="1" dirty="0">
                <a:solidFill>
                  <a:srgbClr val="00B0F0"/>
                </a:solidFill>
              </a:rPr>
              <a:t>Investment Mechanism</a:t>
            </a:r>
          </a:p>
          <a:p>
            <a:pPr marL="630238" lvl="1" indent="-342900">
              <a:buClr>
                <a:srgbClr val="00B0F0"/>
              </a:buClr>
            </a:pPr>
            <a:r>
              <a:rPr lang="en-US" sz="2200" b="1" dirty="0">
                <a:solidFill>
                  <a:srgbClr val="00B0F0"/>
                </a:solidFill>
              </a:rPr>
              <a:t>Insurance Mechanism</a:t>
            </a:r>
          </a:p>
          <a:p>
            <a:r>
              <a:rPr lang="en-US" b="1" dirty="0"/>
              <a:t>III: Scaling Up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D5A605-BB61-FF14-D090-09E1C6A10033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b="1" dirty="0"/>
              <a:t>IV: Limitations</a:t>
            </a:r>
          </a:p>
          <a:p>
            <a:pPr marL="804863" lvl="1"/>
            <a:endParaRPr lang="en-US" b="1" dirty="0"/>
          </a:p>
          <a:p>
            <a:r>
              <a:rPr lang="en-US" b="1" dirty="0"/>
              <a:t>V: Conclusion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B9F69D-1694-2875-2B32-6DED3FD20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301C74E-2EA9-0DB3-EAD4-EFA721C185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304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88895-8EFA-9522-6EE5-7F1E4A9A7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4979A9-D169-0761-02FA-84C6588B432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8655DD83-5484-411F-A20D-583A924D6F27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7980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CF45F-F7F6-1279-B1C7-8B823625C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934" y="301626"/>
            <a:ext cx="11418506" cy="756707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FD113-E640-0394-5820-7267F0F131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734" y="1341121"/>
            <a:ext cx="11367706" cy="483065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Meeting the Paris Agreement temperature targets demands a yearly investment exceeding </a:t>
            </a:r>
            <a:r>
              <a:rPr lang="en-GB" b="1" dirty="0"/>
              <a:t>$1 trillion </a:t>
            </a:r>
            <a:r>
              <a:rPr lang="en-GB" dirty="0"/>
              <a:t>in emerging markets and developing economies (IEA 2021), significantly surpassing the present levels.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Realizing these investments necessitates </a:t>
            </a:r>
            <a:r>
              <a:rPr lang="en-US" b="1" dirty="0"/>
              <a:t>decisive policy actions </a:t>
            </a:r>
            <a:r>
              <a:rPr lang="en-US" dirty="0"/>
              <a:t>from all governments, with a focus on enabling large-scale green investment.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Existing international institutions fall short in providing the requisite support to </a:t>
            </a:r>
            <a:r>
              <a:rPr lang="en-US" b="1" dirty="0"/>
              <a:t>catalyze </a:t>
            </a:r>
            <a:r>
              <a:rPr lang="en-US" dirty="0"/>
              <a:t>and </a:t>
            </a:r>
            <a:r>
              <a:rPr lang="en-US" b="1" dirty="0"/>
              <a:t>incentivize</a:t>
            </a:r>
            <a:r>
              <a:rPr lang="en-US" dirty="0"/>
              <a:t> long-term green investment in developing economies.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733ED4D-A6DF-6F48-2AA0-D076B08A4B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8655DD83-5484-411F-A20D-583A924D6F27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2742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B95D3-5C09-0179-4651-B3D90E630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Picture: The Climate Incentives Trust (CIT)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46B20-08BC-3440-5472-37D4D833E2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CIT stands as a transformative force, spearheaded by the WB, with a vision to revolutionize climate finance. This innovative trust structure is not merely about mobilizing substantial capital; it's about aligning financial interests with impactful climate action, aiming to create a paradigm shift in global efforts against climate change.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Key Features:</a:t>
            </a:r>
          </a:p>
          <a:p>
            <a:pPr marL="630238" lvl="1" indent="-342900"/>
            <a:r>
              <a:rPr lang="en-US" b="1" dirty="0"/>
              <a:t>Innovative Structure: </a:t>
            </a:r>
            <a:r>
              <a:rPr lang="en-US" dirty="0"/>
              <a:t>The CIT is designed with a pioneering trust structure.</a:t>
            </a:r>
          </a:p>
          <a:p>
            <a:pPr marL="630238" lvl="1" indent="-342900"/>
            <a:r>
              <a:rPr lang="en-US" b="1" dirty="0"/>
              <a:t>Capital Mobilization</a:t>
            </a:r>
            <a:r>
              <a:rPr lang="en-US" dirty="0"/>
              <a:t>: Aims to mobilize significant capital for climate-related initiatives.</a:t>
            </a:r>
          </a:p>
          <a:p>
            <a:pPr marL="630238" lvl="1" indent="-342900"/>
            <a:r>
              <a:rPr lang="en-US" b="1" dirty="0"/>
              <a:t>Alignment of Interests: </a:t>
            </a:r>
            <a:r>
              <a:rPr lang="en-US" dirty="0"/>
              <a:t>Seeks to align financial interests with impactful climate action.</a:t>
            </a:r>
          </a:p>
          <a:p>
            <a:pPr marL="630238" lvl="1" indent="-342900"/>
            <a:r>
              <a:rPr lang="en-US" b="1" dirty="0"/>
              <a:t>Global Paradigm Shift: </a:t>
            </a:r>
            <a:r>
              <a:rPr lang="en-US" dirty="0"/>
              <a:t>Striving to bring about a transformative change in global climate change mitigation efforts.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4A534-AEC7-910C-BF11-6E121546F12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8655DD83-5484-411F-A20D-583A924D6F27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5269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C1055-7149-01BD-A512-274DE61B8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Picture: Three Pillars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4B255-BAF7-EE46-8C56-00D611A57D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16962" y="1702627"/>
            <a:ext cx="2886663" cy="1210690"/>
          </a:xfrm>
          <a:solidFill>
            <a:srgbClr val="00B0F0"/>
          </a:solidFill>
        </p:spPr>
        <p:txBody>
          <a:bodyPr>
            <a:normAutofit/>
          </a:bodyPr>
          <a:lstStyle/>
          <a:p>
            <a:pPr algn="ctr">
              <a:lnSpc>
                <a:spcPct val="200000"/>
              </a:lnSpc>
              <a:spcBef>
                <a:spcPts val="3000"/>
              </a:spcBef>
            </a:pPr>
            <a:r>
              <a:rPr lang="en-US" sz="3200" b="1" dirty="0">
                <a:solidFill>
                  <a:schemeClr val="bg1"/>
                </a:solidFill>
              </a:rPr>
              <a:t>Incentives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1B24911-F6AC-9222-18C1-141931E9199F}"/>
              </a:ext>
            </a:extLst>
          </p:cNvPr>
          <p:cNvSpPr txBox="1">
            <a:spLocks/>
          </p:cNvSpPr>
          <p:nvPr/>
        </p:nvSpPr>
        <p:spPr>
          <a:xfrm>
            <a:off x="2216963" y="3154715"/>
            <a:ext cx="2886663" cy="1210692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2400"/>
              </a:spcBef>
              <a:buClr>
                <a:srgbClr val="009FDA"/>
              </a:buClr>
              <a:buFont typeface="Arial" panose="020B0604020202020204" pitchFamily="34" charset="0"/>
              <a:buNone/>
              <a:tabLst>
                <a:tab pos="8402638" algn="r"/>
              </a:tabLst>
              <a:defRPr lang="en-US" sz="2400" kern="1200" smtClean="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Arial" panose="020B0604020202020204" pitchFamily="34" charset="0"/>
              </a:defRPr>
            </a:lvl1pPr>
            <a:lvl2pPr marL="287338" indent="-223838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2pPr>
            <a:lvl3pPr marL="801688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3pPr>
            <a:lvl4pPr marL="1314450" indent="-230188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4pPr>
            <a:lvl5pPr marL="1889125" indent="-22701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200000"/>
              </a:lnSpc>
            </a:pPr>
            <a:r>
              <a:rPr lang="en-GB" sz="3200" b="1" dirty="0">
                <a:solidFill>
                  <a:schemeClr val="bg1"/>
                </a:solidFill>
              </a:rPr>
              <a:t>Investment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ED69D5D-78E7-ECE6-BEDA-8D4D9FCA003B}"/>
              </a:ext>
            </a:extLst>
          </p:cNvPr>
          <p:cNvSpPr txBox="1">
            <a:spLocks/>
          </p:cNvSpPr>
          <p:nvPr/>
        </p:nvSpPr>
        <p:spPr>
          <a:xfrm>
            <a:off x="2216964" y="4606803"/>
            <a:ext cx="2886663" cy="121069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2400"/>
              </a:spcBef>
              <a:buClr>
                <a:srgbClr val="009FDA"/>
              </a:buClr>
              <a:buFont typeface="Arial" panose="020B0604020202020204" pitchFamily="34" charset="0"/>
              <a:buNone/>
              <a:tabLst>
                <a:tab pos="8402638" algn="r"/>
              </a:tabLst>
              <a:defRPr lang="en-US" sz="2400" kern="1200" smtClean="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Arial" panose="020B0604020202020204" pitchFamily="34" charset="0"/>
              </a:defRPr>
            </a:lvl1pPr>
            <a:lvl2pPr marL="287338" indent="-223838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2pPr>
            <a:lvl3pPr marL="801688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3pPr>
            <a:lvl4pPr marL="1314450" indent="-230188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4pPr>
            <a:lvl5pPr marL="1889125" indent="-22701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200000"/>
              </a:lnSpc>
            </a:pPr>
            <a:r>
              <a:rPr lang="en-GB" sz="3200" b="1" dirty="0">
                <a:solidFill>
                  <a:schemeClr val="bg1"/>
                </a:solidFill>
              </a:rPr>
              <a:t>Insurance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162F32E-D110-2423-93CB-3981F1A1C7FD}"/>
              </a:ext>
            </a:extLst>
          </p:cNvPr>
          <p:cNvSpPr txBox="1">
            <a:spLocks/>
          </p:cNvSpPr>
          <p:nvPr/>
        </p:nvSpPr>
        <p:spPr>
          <a:xfrm>
            <a:off x="5103627" y="1702628"/>
            <a:ext cx="5486401" cy="1210693"/>
          </a:xfrm>
          <a:prstGeom prst="rect">
            <a:avLst/>
          </a:prstGeom>
          <a:ln w="12700">
            <a:solidFill>
              <a:srgbClr val="00B0F0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2400"/>
              </a:spcBef>
              <a:buClr>
                <a:srgbClr val="009FDA"/>
              </a:buClr>
              <a:buFont typeface="Arial" panose="020B0604020202020204" pitchFamily="34" charset="0"/>
              <a:buNone/>
              <a:tabLst>
                <a:tab pos="8402638" algn="r"/>
              </a:tabLst>
              <a:defRPr lang="en-US" sz="2400" kern="1200" smtClean="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Arial" panose="020B0604020202020204" pitchFamily="34" charset="0"/>
              </a:defRPr>
            </a:lvl1pPr>
            <a:lvl2pPr marL="287338" indent="-223838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2pPr>
            <a:lvl3pPr marL="801688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3pPr>
            <a:lvl4pPr marL="1314450" indent="-230188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4pPr>
            <a:lvl5pPr marL="1889125" indent="-22701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7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GB" sz="6400" b="1" dirty="0">
                <a:solidFill>
                  <a:srgbClr val="00B0F0"/>
                </a:solidFill>
              </a:rPr>
              <a:t>Creating dynamic incentives for countries to take early and impactful climate actions, focusing initially on global coal phase-out and rainforest protection.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0255600-1181-BCDB-1EB3-91497A498E65}"/>
              </a:ext>
            </a:extLst>
          </p:cNvPr>
          <p:cNvSpPr txBox="1">
            <a:spLocks/>
          </p:cNvSpPr>
          <p:nvPr/>
        </p:nvSpPr>
        <p:spPr>
          <a:xfrm>
            <a:off x="5103628" y="3154717"/>
            <a:ext cx="5486400" cy="1210692"/>
          </a:xfrm>
          <a:prstGeom prst="rect">
            <a:avLst/>
          </a:prstGeom>
          <a:ln w="1270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2400"/>
              </a:spcBef>
              <a:buClr>
                <a:srgbClr val="009FDA"/>
              </a:buClr>
              <a:buFont typeface="Arial" panose="020B0604020202020204" pitchFamily="34" charset="0"/>
              <a:buNone/>
              <a:tabLst>
                <a:tab pos="8402638" algn="r"/>
              </a:tabLst>
              <a:defRPr lang="en-US" sz="2400" kern="1200" smtClean="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Arial" panose="020B0604020202020204" pitchFamily="34" charset="0"/>
              </a:defRPr>
            </a:lvl1pPr>
            <a:lvl2pPr marL="287338" indent="-223838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2pPr>
            <a:lvl3pPr marL="801688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3pPr>
            <a:lvl4pPr marL="1314450" indent="-230188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4pPr>
            <a:lvl5pPr marL="1889125" indent="-22701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600" b="1" dirty="0">
                <a:solidFill>
                  <a:srgbClr val="0070C0"/>
                </a:solidFill>
              </a:rPr>
              <a:t>Focusing on investing in the early stages of renewable energy (RE) projects, multiplying private sources, and fostering a 'halo' effect. 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E7CA37B-FE8E-5289-E831-A638925F97D5}"/>
              </a:ext>
            </a:extLst>
          </p:cNvPr>
          <p:cNvSpPr txBox="1">
            <a:spLocks/>
          </p:cNvSpPr>
          <p:nvPr/>
        </p:nvSpPr>
        <p:spPr>
          <a:xfrm>
            <a:off x="5103628" y="4606805"/>
            <a:ext cx="5486400" cy="1210692"/>
          </a:xfrm>
          <a:prstGeom prst="rect">
            <a:avLst/>
          </a:prstGeom>
          <a:ln w="12700">
            <a:solidFill>
              <a:srgbClr val="00206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2400"/>
              </a:spcBef>
              <a:buClr>
                <a:srgbClr val="009FDA"/>
              </a:buClr>
              <a:buFont typeface="Arial" panose="020B0604020202020204" pitchFamily="34" charset="0"/>
              <a:buNone/>
              <a:tabLst>
                <a:tab pos="8402638" algn="r"/>
              </a:tabLst>
              <a:defRPr lang="en-US" sz="2400" kern="1200" smtClean="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Arial" panose="020B0604020202020204" pitchFamily="34" charset="0"/>
              </a:defRPr>
            </a:lvl1pPr>
            <a:lvl2pPr marL="287338" indent="-223838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2pPr>
            <a:lvl3pPr marL="801688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3pPr>
            <a:lvl4pPr marL="1314450" indent="-230188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4pPr>
            <a:lvl5pPr marL="1889125" indent="-22701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600" b="1" dirty="0">
                <a:solidFill>
                  <a:srgbClr val="002060"/>
                </a:solidFill>
              </a:rPr>
              <a:t>Absorbing risks associated with climate action, protecting against policy reversals, currency fluctuations, and other challenges.</a:t>
            </a:r>
          </a:p>
          <a:p>
            <a:endParaRPr lang="en-GB" sz="3200" b="1" dirty="0">
              <a:solidFill>
                <a:srgbClr val="002060"/>
              </a:solidFill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8CCC334-223F-0A95-7879-B4702D4B9C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8655DD83-5484-411F-A20D-583A924D6F27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8451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ACB3E2-4E8F-8BFB-5385-674C4A33F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CIT Mechanism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6AB4E0-6969-5029-D123-FEF8CF422BE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8655DD83-5484-411F-A20D-583A924D6F27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0003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BA937-7ABB-2120-E7EF-6E7265D74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7C9E6-BE19-EE9E-F2BC-984E905D637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8655DD83-5484-411F-A20D-583A924D6F27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4E3E58C-656A-4C3B-3F66-898D80DB7F76}"/>
              </a:ext>
            </a:extLst>
          </p:cNvPr>
          <p:cNvSpPr txBox="1">
            <a:spLocks/>
          </p:cNvSpPr>
          <p:nvPr/>
        </p:nvSpPr>
        <p:spPr>
          <a:xfrm>
            <a:off x="1201002" y="1648816"/>
            <a:ext cx="2770495" cy="1815300"/>
          </a:xfrm>
          <a:prstGeom prst="rect">
            <a:avLst/>
          </a:prstGeom>
          <a:ln w="12700">
            <a:solidFill>
              <a:srgbClr val="00B0F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2400"/>
              </a:spcBef>
              <a:buClr>
                <a:srgbClr val="009FDA"/>
              </a:buClr>
              <a:buFont typeface="Arial" panose="020B0604020202020204" pitchFamily="34" charset="0"/>
              <a:buNone/>
              <a:tabLst>
                <a:tab pos="8402638" algn="r"/>
              </a:tabLst>
              <a:defRPr lang="en-US" sz="2400" kern="1200" smtClean="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Arial" panose="020B0604020202020204" pitchFamily="34" charset="0"/>
              </a:defRPr>
            </a:lvl1pPr>
            <a:lvl2pPr marL="287338" indent="-223838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2pPr>
            <a:lvl3pPr marL="801688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3pPr>
            <a:lvl4pPr marL="1314450" indent="-230188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4pPr>
            <a:lvl5pPr marL="1889125" indent="-22701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70000"/>
              </a:lnSpc>
              <a:spcBef>
                <a:spcPts val="0"/>
              </a:spcBef>
              <a:buSzPts val="1000"/>
              <a:tabLst>
                <a:tab pos="457200" algn="l"/>
              </a:tabLst>
            </a:pPr>
            <a:r>
              <a:rPr lang="en-GB" sz="1600" b="1" dirty="0">
                <a:solidFill>
                  <a:srgbClr val="00B0F0"/>
                </a:solidFill>
              </a:rPr>
              <a:t>Funded by donor countries and managed by WB in partnership with implementing agencies.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0E896DA-2985-9E95-A977-FC7E637B9060}"/>
              </a:ext>
            </a:extLst>
          </p:cNvPr>
          <p:cNvSpPr txBox="1">
            <a:spLocks/>
          </p:cNvSpPr>
          <p:nvPr/>
        </p:nvSpPr>
        <p:spPr>
          <a:xfrm>
            <a:off x="4510024" y="2879678"/>
            <a:ext cx="3112325" cy="1815300"/>
          </a:xfrm>
          <a:prstGeom prst="rect">
            <a:avLst/>
          </a:prstGeom>
          <a:ln w="1270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2400"/>
              </a:spcBef>
              <a:buClr>
                <a:srgbClr val="009FDA"/>
              </a:buClr>
              <a:buFont typeface="Arial" panose="020B0604020202020204" pitchFamily="34" charset="0"/>
              <a:buNone/>
              <a:tabLst>
                <a:tab pos="8402638" algn="r"/>
              </a:tabLst>
              <a:defRPr lang="en-US" sz="2400" kern="1200" smtClean="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Arial" panose="020B0604020202020204" pitchFamily="34" charset="0"/>
              </a:defRPr>
            </a:lvl1pPr>
            <a:lvl2pPr marL="287338" indent="-223838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2pPr>
            <a:lvl3pPr marL="801688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3pPr>
            <a:lvl4pPr marL="1314450" indent="-230188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4pPr>
            <a:lvl5pPr marL="1889125" indent="-22701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7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GB" sz="1600" b="1" dirty="0">
                <a:solidFill>
                  <a:srgbClr val="0070C0"/>
                </a:solidFill>
              </a:rPr>
              <a:t>Funds are allocated according to climate actions with specific proportions of net assets assigned to the beneficiaries. </a:t>
            </a:r>
            <a:endParaRPr lang="en-GB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CAFE1C6-9E9E-A4AE-02E9-0B3EE8E92893}"/>
              </a:ext>
            </a:extLst>
          </p:cNvPr>
          <p:cNvSpPr txBox="1">
            <a:spLocks/>
          </p:cNvSpPr>
          <p:nvPr/>
        </p:nvSpPr>
        <p:spPr>
          <a:xfrm>
            <a:off x="8160875" y="4015784"/>
            <a:ext cx="2784629" cy="1815300"/>
          </a:xfrm>
          <a:prstGeom prst="rect">
            <a:avLst/>
          </a:prstGeom>
          <a:ln w="12700">
            <a:solidFill>
              <a:srgbClr val="00206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2400"/>
              </a:spcBef>
              <a:buClr>
                <a:srgbClr val="009FDA"/>
              </a:buClr>
              <a:buFont typeface="Arial" panose="020B0604020202020204" pitchFamily="34" charset="0"/>
              <a:buNone/>
              <a:tabLst>
                <a:tab pos="8402638" algn="r"/>
              </a:tabLst>
              <a:defRPr lang="en-US" sz="2400" kern="1200" smtClean="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Arial" panose="020B0604020202020204" pitchFamily="34" charset="0"/>
              </a:defRPr>
            </a:lvl1pPr>
            <a:lvl2pPr marL="287338" indent="-223838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2pPr>
            <a:lvl3pPr marL="801688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3pPr>
            <a:lvl4pPr marL="1314450" indent="-230188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4pPr>
            <a:lvl5pPr marL="1889125" indent="-22701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7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GB" sz="1600" b="1" dirty="0">
                <a:solidFill>
                  <a:srgbClr val="002060"/>
                </a:solidFill>
              </a:rPr>
              <a:t>The beneficiaries are the post-2050 population of the participating recipient countries. </a:t>
            </a:r>
            <a:endParaRPr lang="en-GB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Bent Up Arrow 13">
            <a:extLst>
              <a:ext uri="{FF2B5EF4-FFF2-40B4-BE49-F238E27FC236}">
                <a16:creationId xmlns:a16="http://schemas.microsoft.com/office/drawing/2014/main" id="{8E8171D9-CE62-33E3-DD9E-C437EFBABBDE}"/>
              </a:ext>
            </a:extLst>
          </p:cNvPr>
          <p:cNvSpPr/>
          <p:nvPr/>
        </p:nvSpPr>
        <p:spPr>
          <a:xfrm rot="5400000">
            <a:off x="2797790" y="2934269"/>
            <a:ext cx="907577" cy="2217760"/>
          </a:xfrm>
          <a:prstGeom prst="bentUpArrow">
            <a:avLst>
              <a:gd name="adj1" fmla="val 10111"/>
              <a:gd name="adj2" fmla="val 21474"/>
              <a:gd name="adj3" fmla="val 25000"/>
            </a:avLst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Bent Up Arrow 15">
            <a:extLst>
              <a:ext uri="{FF2B5EF4-FFF2-40B4-BE49-F238E27FC236}">
                <a16:creationId xmlns:a16="http://schemas.microsoft.com/office/drawing/2014/main" id="{00B2C498-CA5D-5F47-C90E-3BCD56779BC9}"/>
              </a:ext>
            </a:extLst>
          </p:cNvPr>
          <p:cNvSpPr/>
          <p:nvPr/>
        </p:nvSpPr>
        <p:spPr>
          <a:xfrm rot="5400000">
            <a:off x="6471313" y="4171212"/>
            <a:ext cx="907577" cy="2217760"/>
          </a:xfrm>
          <a:prstGeom prst="bentUpArrow">
            <a:avLst>
              <a:gd name="adj1" fmla="val 10111"/>
              <a:gd name="adj2" fmla="val 21474"/>
              <a:gd name="adj3" fmla="val 25000"/>
            </a:avLst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626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ACCC7-A5AD-57B1-38D6-225BBCE29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Incentives Mechanism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5269B-9D3B-8CB8-25B6-DEA42FC484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5121" y="1384936"/>
            <a:ext cx="8655105" cy="517143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1800" b="1" dirty="0">
                <a:solidFill>
                  <a:srgbClr val="0070C0"/>
                </a:solidFill>
              </a:rPr>
              <a:t>Operational Framework: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Profit-sharing provisions are linked to predefined baselines or through Development Policy Frameworks (DPFs) with Key Performance Indicator (KPI)-oriented repayment amounts.</a:t>
            </a:r>
          </a:p>
          <a:p>
            <a:pPr>
              <a:spcBef>
                <a:spcPts val="0"/>
              </a:spcBef>
            </a:pPr>
            <a:r>
              <a:rPr lang="en-US" sz="1800" b="1" dirty="0">
                <a:solidFill>
                  <a:srgbClr val="0070C0"/>
                </a:solidFill>
              </a:rPr>
              <a:t>Beneficiary Accounts: 	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Countries are rewarded for positive actions with allocations to their beneficiary accounts.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A performance-based approach encourages ongoing commitment.</a:t>
            </a:r>
          </a:p>
          <a:p>
            <a:pPr>
              <a:spcBef>
                <a:spcPts val="0"/>
              </a:spcBef>
            </a:pPr>
            <a:r>
              <a:rPr lang="en-US" sz="1800" b="1" dirty="0">
                <a:solidFill>
                  <a:srgbClr val="0070C0"/>
                </a:solidFill>
              </a:rPr>
              <a:t>Sectoral Focus: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Incentives are sector-specific, beginning with coal replacement through renewables.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Targets emissions reduction by 10% per year, with a $100/tCO2 incentive.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Reflects a commitment to meaningful and measurable environmental goals.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AA840-3924-DA45-D5D6-595B2423E1E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8655DD83-5484-411F-A20D-583A924D6F27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6E13B40-DE61-67AA-194D-010719095012}"/>
              </a:ext>
            </a:extLst>
          </p:cNvPr>
          <p:cNvSpPr txBox="1">
            <a:spLocks/>
          </p:cNvSpPr>
          <p:nvPr/>
        </p:nvSpPr>
        <p:spPr>
          <a:xfrm>
            <a:off x="9062114" y="1662596"/>
            <a:ext cx="2804765" cy="1766404"/>
          </a:xfrm>
          <a:prstGeom prst="rect">
            <a:avLst/>
          </a:prstGeom>
          <a:ln w="12700">
            <a:solidFill>
              <a:srgbClr val="00206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2400"/>
              </a:spcBef>
              <a:buClr>
                <a:srgbClr val="009FDA"/>
              </a:buClr>
              <a:buFont typeface="Arial" panose="020B0604020202020204" pitchFamily="34" charset="0"/>
              <a:buNone/>
              <a:tabLst>
                <a:tab pos="8402638" algn="r"/>
              </a:tabLst>
              <a:defRPr lang="en-US" sz="2400" kern="1200" smtClean="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Arial" panose="020B0604020202020204" pitchFamily="34" charset="0"/>
              </a:defRPr>
            </a:lvl1pPr>
            <a:lvl2pPr marL="287338" indent="-223838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2pPr>
            <a:lvl3pPr marL="801688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3pPr>
            <a:lvl4pPr marL="1314450" indent="-230188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4pPr>
            <a:lvl5pPr marL="1889125" indent="-22701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GB" sz="1700" b="1" dirty="0">
                <a:solidFill>
                  <a:srgbClr val="002060"/>
                </a:solidFill>
              </a:rPr>
              <a:t>Key Highlights: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700" dirty="0">
                <a:solidFill>
                  <a:srgbClr val="002060"/>
                </a:solidFill>
              </a:rPr>
              <a:t>Performance-Based Rewards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700" dirty="0">
                <a:solidFill>
                  <a:srgbClr val="002060"/>
                </a:solidFill>
              </a:rPr>
              <a:t>Sector-Specific Initiatives 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GB" sz="1600" b="1" dirty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</a:pPr>
            <a:endParaRPr lang="en-GB" sz="1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262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4FB17-A456-820B-058E-A8F8F86F17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8655DD83-5484-411F-A20D-583A924D6F27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A0BFA-5CC0-F15A-A8FF-21249FA7C9D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56933" y="1381757"/>
            <a:ext cx="8213860" cy="4940303"/>
          </a:xfrm>
        </p:spPr>
        <p:txBody>
          <a:bodyPr>
            <a:noAutofit/>
          </a:bodyPr>
          <a:lstStyle/>
          <a:p>
            <a:r>
              <a:rPr lang="en-US" sz="1800" b="1" dirty="0">
                <a:solidFill>
                  <a:srgbClr val="0070C0"/>
                </a:solidFill>
              </a:rPr>
              <a:t>Operational Framework: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Acts as an investment partner, injecting capital into the construction stage of projects.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Mobilizes blended private partner capital for comprehensive project support.</a:t>
            </a:r>
          </a:p>
          <a:p>
            <a:r>
              <a:rPr lang="en-US" sz="1800" b="1" dirty="0">
                <a:solidFill>
                  <a:srgbClr val="0070C0"/>
                </a:solidFill>
              </a:rPr>
              <a:t>Beneficiary Accounts: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Profits from investments are shared in beneficiary trust accounts, creating a financial reservoir for the future populations of participating countries post-2050.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Ensures a sustainable and lasting impact beyond the project completion.</a:t>
            </a:r>
          </a:p>
          <a:p>
            <a:r>
              <a:rPr lang="en-US" sz="1800" b="1" dirty="0">
                <a:solidFill>
                  <a:srgbClr val="0070C0"/>
                </a:solidFill>
              </a:rPr>
              <a:t>Financial Leverage: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As projects mature, equity stakes can be strategically sold.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Recycles funds and generates returns, crucial for mobilizing and sustaining private investment.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FA577CD-51B8-CD54-AD66-E547C7231BC5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8737024" y="1728899"/>
            <a:ext cx="3098043" cy="2107178"/>
          </a:xfrm>
          <a:ln w="12700">
            <a:solidFill>
              <a:srgbClr val="002060"/>
            </a:solidFill>
          </a:ln>
        </p:spPr>
        <p:txBody>
          <a:bodyPr>
            <a:normAutofit fontScale="92500" lnSpcReduction="20000"/>
          </a:bodyPr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002060"/>
                </a:solidFill>
              </a:rPr>
              <a:t>Key Highlights:</a:t>
            </a: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</a:rPr>
              <a:t>Strategic Investment Support</a:t>
            </a: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</a:rPr>
              <a:t>Long-Term Impact</a:t>
            </a: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</a:rPr>
              <a:t>Financial Leverage for Sustainability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3D1963-2C84-B9F5-38CA-9DD753FAA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Investment Mechanism</a:t>
            </a:r>
          </a:p>
        </p:txBody>
      </p:sp>
    </p:spTree>
    <p:extLst>
      <p:ext uri="{BB962C8B-B14F-4D97-AF65-F5344CB8AC3E}">
        <p14:creationId xmlns:p14="http://schemas.microsoft.com/office/powerpoint/2010/main" val="2220659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0637A-EAE9-9D97-7033-38B5204DB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Insurance Mechanism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9D687-C2E5-77D2-C6FC-691ED912CF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6934" y="1390385"/>
            <a:ext cx="8258593" cy="5278045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sz="3800" b="1" dirty="0">
                <a:solidFill>
                  <a:srgbClr val="0070C0"/>
                </a:solidFill>
              </a:rPr>
              <a:t>Operational Framework:</a:t>
            </a: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800" dirty="0"/>
              <a:t>CIT serves as a buffer, providing insurance for contractual policy guarantees made by governments.</a:t>
            </a: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800" dirty="0"/>
              <a:t>Acts as a second loss buffer, where governments absorb the initial loss, reinforcing commitment and responsibility.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sz="3800" b="1" dirty="0">
                <a:solidFill>
                  <a:srgbClr val="0070C0"/>
                </a:solidFill>
              </a:rPr>
              <a:t>Beneficiary Accounts:</a:t>
            </a: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800" dirty="0"/>
              <a:t>Beneficiary accounts function as collateral, strategically employed to de-risk lending and other financial products.</a:t>
            </a: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800" dirty="0"/>
              <a:t>Enhances overall project stability and attracts private sector participation.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sz="3800" b="1" dirty="0">
                <a:solidFill>
                  <a:srgbClr val="0070C0"/>
                </a:solidFill>
              </a:rPr>
              <a:t>Risk Reduction:</a:t>
            </a: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800" dirty="0"/>
              <a:t>Insurance contracts and guarantees diminish risks for investors, amplifying the attractiveness of climate-related projects.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C9595-E442-6BA3-B05D-D34F22E5225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8655DD83-5484-411F-A20D-583A924D6F27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D38D2D3-D09F-843C-9833-9CF1CB16C6ED}"/>
              </a:ext>
            </a:extLst>
          </p:cNvPr>
          <p:cNvSpPr txBox="1">
            <a:spLocks/>
          </p:cNvSpPr>
          <p:nvPr/>
        </p:nvSpPr>
        <p:spPr>
          <a:xfrm>
            <a:off x="8843750" y="1651837"/>
            <a:ext cx="2940516" cy="2038359"/>
          </a:xfrm>
          <a:prstGeom prst="rect">
            <a:avLst/>
          </a:prstGeom>
          <a:ln w="12700">
            <a:solidFill>
              <a:srgbClr val="00206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2400"/>
              </a:spcBef>
              <a:buClr>
                <a:srgbClr val="009FDA"/>
              </a:buClr>
              <a:buFont typeface="Arial" panose="020B0604020202020204" pitchFamily="34" charset="0"/>
              <a:buNone/>
              <a:tabLst>
                <a:tab pos="8402638" algn="r"/>
              </a:tabLst>
              <a:defRPr lang="en-US" sz="2400" kern="1200" smtClean="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Arial" panose="020B0604020202020204" pitchFamily="34" charset="0"/>
              </a:defRPr>
            </a:lvl1pPr>
            <a:lvl2pPr marL="287338" indent="-223838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2pPr>
            <a:lvl3pPr marL="801688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3pPr>
            <a:lvl4pPr marL="1314450" indent="-230188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4pPr>
            <a:lvl5pPr marL="1889125" indent="-22701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ndes" panose="020000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GB" sz="2700" b="1" dirty="0">
                <a:solidFill>
                  <a:srgbClr val="002060"/>
                </a:solidFill>
              </a:rPr>
              <a:t>Key Highlights:</a:t>
            </a:r>
          </a:p>
          <a:p>
            <a:pPr marL="571500" indent="-571500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700" dirty="0">
                <a:solidFill>
                  <a:srgbClr val="002060"/>
                </a:solidFill>
              </a:rPr>
              <a:t>Buffer for Stability</a:t>
            </a:r>
          </a:p>
          <a:p>
            <a:pPr marL="571500" indent="-571500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700" dirty="0">
                <a:solidFill>
                  <a:srgbClr val="002060"/>
                </a:solidFill>
              </a:rPr>
              <a:t>Collateral for De-risking</a:t>
            </a:r>
          </a:p>
          <a:p>
            <a:pPr marL="571500" indent="-571500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700" dirty="0">
                <a:solidFill>
                  <a:srgbClr val="002060"/>
                </a:solidFill>
              </a:rPr>
              <a:t>Enhanced Investor Appeal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en-GB" sz="3800" dirty="0"/>
          </a:p>
        </p:txBody>
      </p:sp>
    </p:spTree>
    <p:extLst>
      <p:ext uri="{BB962C8B-B14F-4D97-AF65-F5344CB8AC3E}">
        <p14:creationId xmlns:p14="http://schemas.microsoft.com/office/powerpoint/2010/main" val="798703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705B6-36BB-8B46-783A-83A9B43F1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Up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3EFCC2-44FA-5E29-BAF1-C4C1EBDE504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8655DD83-5484-411F-A20D-583A924D6F27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880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BC111F-6E7F-DF5E-B244-24FA57FB9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Leveraging Finance and Effectiveness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8379F-5BF5-4BAB-8792-3974885429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23B53F-7E44-10FE-751C-60B0F2A5CE4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8655DD83-5484-411F-A20D-583A924D6F27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1595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2E5DE-9445-5593-4D89-44301FCC9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Expanding to Regional Funds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137AE-1E82-A9DA-13F4-C08F6609CC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Extending the model, seven regional child funds (China, SAR, ECA, EAP, Africa, North America, South America) with identical structures can be initiated.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Combining the central trust and the proposed seven regional funds, the collective global system boasts an annual investment potential of $2 trillion.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D8262-E16B-C13E-E60F-5C9F6E9F343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8655DD83-5484-411F-A20D-583A924D6F27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0522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705B6-36BB-8B46-783A-83A9B43F1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3EFCC2-44FA-5E29-BAF1-C4C1EBDE504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8655DD83-5484-411F-A20D-583A924D6F27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732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7B5B2-AA13-26EA-2C43-C37274172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EF045-F49F-B13A-C494-1FFD84F9B5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5FEEA-11C5-847D-49C1-732820A7BD2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8655DD83-5484-411F-A20D-583A924D6F27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5907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2959C-324F-E2BF-AEC5-EFD898EC8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D81991-191D-772A-D647-46F9BC39265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8655DD83-5484-411F-A20D-583A924D6F27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6949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FAF53A-2E11-3FA2-78E7-0F6CAE185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8A0129-5007-81CE-60C9-38F979A9B4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267835-DA2A-7577-9FF1-CE94976E0D1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8655DD83-5484-411F-A20D-583A924D6F27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8434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1581</TotalTime>
  <Words>770</Words>
  <Application>Microsoft Macintosh PowerPoint</Application>
  <PresentationFormat>Widescreen</PresentationFormat>
  <Paragraphs>105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Andes</vt:lpstr>
      <vt:lpstr>Andes ExtraLight</vt:lpstr>
      <vt:lpstr>Arial</vt:lpstr>
      <vt:lpstr>Calibri</vt:lpstr>
      <vt:lpstr>Calibri Light</vt:lpstr>
      <vt:lpstr>Trebuchet MS</vt:lpstr>
      <vt:lpstr>Wingdings</vt:lpstr>
      <vt:lpstr>Office Theme</vt:lpstr>
      <vt:lpstr>The Climate Incentives Trust (CIT) </vt:lpstr>
      <vt:lpstr>Contents</vt:lpstr>
      <vt:lpstr>Objectives</vt:lpstr>
      <vt:lpstr>Problem Statement</vt:lpstr>
      <vt:lpstr>Big Picture: The Climate Incentives Trust (CIT)</vt:lpstr>
      <vt:lpstr>Big Picture: Three Pillars</vt:lpstr>
      <vt:lpstr>Overview of CIT Mechanism</vt:lpstr>
      <vt:lpstr>Overall Structure</vt:lpstr>
      <vt:lpstr>Incentives Mechanism</vt:lpstr>
      <vt:lpstr>Investment Mechanism</vt:lpstr>
      <vt:lpstr>Insurance Mechanism</vt:lpstr>
      <vt:lpstr>Scaling Up</vt:lpstr>
      <vt:lpstr>Leveraging Finance and Effectiveness</vt:lpstr>
      <vt:lpstr>Expanding to Regional Funds</vt:lpstr>
      <vt:lpstr>Limitations</vt:lpstr>
      <vt:lpstr>Limitations</vt:lpstr>
      <vt:lpstr>Conclusions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Climate Incentives Trust </dc:title>
  <dc:creator>Evie Davey</dc:creator>
  <cp:lastModifiedBy>Evie Davey</cp:lastModifiedBy>
  <cp:revision>9</cp:revision>
  <dcterms:created xsi:type="dcterms:W3CDTF">2024-01-08T10:39:16Z</dcterms:created>
  <dcterms:modified xsi:type="dcterms:W3CDTF">2024-01-09T13:01:06Z</dcterms:modified>
</cp:coreProperties>
</file>