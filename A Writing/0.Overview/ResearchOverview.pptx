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Maturity</c:v>
                </c:pt>
              </c:strCache>
            </c:strRef>
          </c:tx>
          <c:spPr>
            <a:solidFill>
              <a:srgbClr val="2E6B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E6B65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5.1  Automated Excise-Fiscal Reports</c:v>
                  </c:pt>
                  <c:pt idx="1">
                    <c:v>4.2  The Climate Policy Assessment Tool</c:v>
                  </c:pt>
                  <c:pt idx="2">
                    <c:v>4.1  Policy-Equivalent Carbon Price</c:v>
                  </c:pt>
                  <c:pt idx="3">
                    <c:v>3.2  Sustainability-Linked Lending</c:v>
                  </c:pt>
                  <c:pt idx="4">
                    <c:v>3.1  Notional Capitalised Value</c:v>
                  </c:pt>
                  <c:pt idx="5">
                    <c:v>2.2  The Climate Investment Trust</c:v>
                  </c:pt>
                  <c:pt idx="6">
                    <c:v>2.1  Climate Finance Intermediation</c:v>
                  </c:pt>
                  <c:pt idx="7">
                    <c:v>1.3  Iron, Steel and CBAM</c:v>
                  </c:pt>
                  <c:pt idx="8">
                    <c:v>1.2  Feebates and OBR</c:v>
                  </c:pt>
                  <c:pt idx="9">
                    <c:v>1.1  Open Economy Carbon Pricing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2</c:v>
                </c:pt>
                <c:pt idx="2">
                  <c:v>4</c:v>
                </c:pt>
                <c:pt idx="3">
                  <c:v>4</c:v>
                </c:pt>
                <c:pt idx="4">
                  <c:v>1</c:v>
                </c:pt>
                <c:pt idx="5">
                  <c:v>3</c:v>
                </c:pt>
                <c:pt idx="6">
                  <c:v>3</c:v>
                </c:pt>
                <c:pt idx="7">
                  <c:v>2</c:v>
                </c:pt>
                <c:pt idx="8">
                  <c:v>2</c:v>
                </c:pt>
                <c:pt idx="9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E6B65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D252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</c:scaling>
        <c:delete val="0"/>
        <c:axPos val="b"/>
        <c:majorGridlines>
          <c:spPr>
            <a:ln w="12700" cap="flat">
              <a:solidFill>
                <a:srgbClr val="E4E9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B6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working papers across five themes. Eight have a document online; two are in preparation.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of framing, then the shape of the portfolio.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theme is a question about how climate policy is actually delivered, not a topic heading.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Maturity here is a drafting judgement, not a review score. The two unwritten papers are the priorities.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1.1 Open Economy Carbon Pricing. Split the instrument in two and the competitiveness objection largely goes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1.2 Feebates and Output-Based Rebating. A government that cannot sustain a headline carbon tax can often sustain a revenue-neutral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1.3 Iron, Steel, CBAM and the Limits of Point-Source Carbon Pricing. A border charge that rewards scrap can cut reported emissions without cutting real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2.1 Climate Finance Intermediation for Clean Power. The cost of capital is set by the distributor’s creditworthiness, not by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2.2 The Climate Investment Trust. Every instrument for cheapening clean power debt assumes equity the poorest countries do not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3.1 Notional Capitalised Value and Guarantees. Make the reward a balance rather than a transfer and the politics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3.2 Sustainability-Linked Lending and Related Structures at the World Bank. From bespoke transactions to a repeatable sovereign instrument.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4.1 Policy-Equivalent Carbon Price and CES Energy Consumption. Compare policies by what they do to emissions, not by their headline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4.2 The Climate Policy Assessment Tool. Detailed enough for sectoral policy interaction, transparent enough for a finance ministry to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5.1 Automated Excise-Fiscal Reports. Read the excise schedule as a system, not line by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 and full portfolio.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Overview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8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Stephen Stretton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118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9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policy  ·  climate finance  ·  applied modelling  ·  sovereign incentives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06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9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climatefiscalfinance.org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287000" y="1325880"/>
            <a:ext cx="603504" cy="603504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287000" y="13258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287000" y="2194560"/>
            <a:ext cx="603504" cy="603504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287000" y="21945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287000" y="3063240"/>
            <a:ext cx="603504" cy="603504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287000" y="30632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287000" y="3931920"/>
            <a:ext cx="603504" cy="603504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287000" y="39319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287000" y="4800600"/>
            <a:ext cx="603504" cy="603504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287000" y="48006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25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common thread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41732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2E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Practical climate statecraft.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57400"/>
            <a:ext cx="6583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research portfolio focuses on climate policy, climate finance, applied modelling, taxation and sovereign incentives. The common thread is practical climate statecraft: making climate strategy operational for finance ministries, multilateral development banks and country teams through better models, diagnostics, policy instruments and financing structures.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51206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is aimed at the people who have to act on it: finance ministries, multilateral development banks and country teams.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0" y="1417320"/>
            <a:ext cx="3703320" cy="1280160"/>
          </a:xfrm>
          <a:prstGeom prst="roundRect">
            <a:avLst>
              <a:gd name="adj" fmla="val 7143"/>
            </a:avLst>
          </a:prstGeom>
          <a:solidFill>
            <a:srgbClr val="EEF2F0"/>
          </a:solidFill>
          <a:ln/>
          <a:effectLst>
            <a:outerShdw sx="100000" sy="100000" kx="0" ky="0" algn="bl" rotWithShape="0" blurRad="101600" dist="25400" dir="5400000">
              <a:srgbClr val="9AA8A2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001000" y="1581912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9098280" y="158191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on the research page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0" y="2926080"/>
            <a:ext cx="3703320" cy="1280160"/>
          </a:xfrm>
          <a:prstGeom prst="roundRect">
            <a:avLst>
              <a:gd name="adj" fmla="val 7143"/>
            </a:avLst>
          </a:prstGeom>
          <a:solidFill>
            <a:srgbClr val="EEF2F0"/>
          </a:solidFill>
          <a:ln/>
          <a:effectLst>
            <a:outerShdw sx="100000" sy="100000" kx="0" ky="0" algn="bl" rotWithShape="0" blurRad="101600" dist="25400" dir="5400000">
              <a:srgbClr val="9AA8A2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001000" y="3090672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098280" y="309067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themes across the portfolio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0" y="4434840"/>
            <a:ext cx="3703320" cy="1280160"/>
          </a:xfrm>
          <a:prstGeom prst="roundRect">
            <a:avLst>
              <a:gd name="adj" fmla="val 7143"/>
            </a:avLst>
          </a:prstGeom>
          <a:solidFill>
            <a:srgbClr val="EEF2F0"/>
          </a:solidFill>
          <a:ln/>
          <a:effectLst>
            <a:outerShdw sx="100000" sy="100000" kx="0" ky="0" algn="bl" rotWithShape="0" blurRad="101600" dist="25400" dir="5400000">
              <a:srgbClr val="9AA8A2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001000" y="4599432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098280" y="4599432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already online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25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themes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10817352" cy="914400"/>
          </a:xfrm>
          <a:prstGeom prst="roundRect">
            <a:avLst>
              <a:gd name="adj" fmla="val 8000"/>
            </a:avLst>
          </a:prstGeom>
          <a:solidFill>
            <a:srgbClr val="EEF2F0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444752"/>
            <a:ext cx="502920" cy="502920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444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307592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5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Climate and Fiscal Policy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618488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pricing as a finance ministry can actually use it: where the charge lands, what stands in for it when a headline price is unavailable, and where the point of measurement misfires.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2295144"/>
            <a:ext cx="1081735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2505456"/>
            <a:ext cx="502920" cy="502920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5054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36829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5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 and Risk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67919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capital rather than the cost of technology is what holds back clean power in developing countries, and it is five risks rather than one.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3355848"/>
            <a:ext cx="10817352" cy="914400"/>
          </a:xfrm>
          <a:prstGeom prst="roundRect">
            <a:avLst>
              <a:gd name="adj" fmla="val 8000"/>
            </a:avLst>
          </a:prstGeom>
          <a:solidFill>
            <a:srgbClr val="EEF2F0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3566160"/>
            <a:ext cx="502920" cy="502920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429000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5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Sovereign Incentives and MDBs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39896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make a government choose differently: what performance is rewarded, how the reward reaches the country, where the money behind it comes from, and which institution can deliver 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416552"/>
            <a:ext cx="1081735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4626864"/>
            <a:ext cx="502920" cy="502920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6268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489704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5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Modelling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80060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requirements for modelling that changes policy: instruments compared by what they do to emissions rather than by their headline rates, and a model a finance ministry can audit.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5477256"/>
            <a:ext cx="10817352" cy="914400"/>
          </a:xfrm>
          <a:prstGeom prst="roundRect">
            <a:avLst>
              <a:gd name="adj" fmla="val 8000"/>
            </a:avLst>
          </a:prstGeom>
          <a:solidFill>
            <a:srgbClr val="EEF2F0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400" y="5687568"/>
            <a:ext cx="502920" cy="502920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5687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600200" y="555040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5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Analytics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5861304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Diagnostics built to be run by the people who hold the budget, on data they already hold.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1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25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Priorities and status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972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 of each paper, on a four-point scale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463040"/>
          <a:ext cx="69494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463040"/>
            <a:ext cx="3703320" cy="1371600"/>
          </a:xfrm>
          <a:prstGeom prst="roundRect">
            <a:avLst>
              <a:gd name="adj" fmla="val 6667"/>
            </a:avLst>
          </a:prstGeom>
          <a:solidFill>
            <a:srgbClr val="EEF2F0"/>
          </a:solidFill>
          <a:ln/>
          <a:effectLst>
            <a:outerShdw sx="100000" sy="100000" kx="0" ky="0" algn="bl" rotWithShape="0" blurRad="101600" dist="25400" dir="5400000">
              <a:srgbClr val="9AA8A2">
                <a:alpha val="2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001000" y="16002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GAP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1901952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Notional Capitalised Value and Guarantees — top of the sovereign-incentive cluster and entirely unwritten.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772400" y="3063240"/>
            <a:ext cx="3703320" cy="1371600"/>
          </a:xfrm>
          <a:prstGeom prst="roundRect">
            <a:avLst>
              <a:gd name="adj" fmla="val 6667"/>
            </a:avLst>
          </a:prstGeom>
          <a:solidFill>
            <a:srgbClr val="EEF2F0"/>
          </a:solidFill>
          <a:ln/>
          <a:effectLst>
            <a:outerShdw sx="100000" sy="100000" kx="0" ky="0" algn="bl" rotWithShape="0" blurRad="101600" dist="25400" dir="5400000">
              <a:srgbClr val="9AA8A2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01000" y="32004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GAP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3502152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 The Climate Policy Assessment Tool — the architecture is settled; the paper is not yet drafted.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772400" y="4663440"/>
            <a:ext cx="3703320" cy="1371600"/>
          </a:xfrm>
          <a:prstGeom prst="roundRect">
            <a:avLst>
              <a:gd name="adj" fmla="val 6667"/>
            </a:avLst>
          </a:prstGeom>
          <a:solidFill>
            <a:srgbClr val="EEF2F0"/>
          </a:solidFill>
          <a:ln/>
          <a:effectLst>
            <a:outerShdw sx="100000" sy="100000" kx="0" ky="0" algn="bl" rotWithShape="0" blurRad="101600" dist="25400" dir="5400000">
              <a:srgbClr val="9AA8A2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001000" y="48006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E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ADVANCED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5102352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Sustainability-Linked Lending and 4.1  Policy-Equivalent Carbon Price are closest to submission.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626364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of the ten have a document online. Two are in preparation.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1  ·  CLIMATE AND FISCAL POLICY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0927080" y="384048"/>
            <a:ext cx="603504" cy="603504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2708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713232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25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Economy Carbon Pricing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9456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E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 the instrument in two and the competitiveness objection largely goes away.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2608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Separates production-side green incentives from consumption-side carbon pricing, so an open economy need not trade strong incentives against competitiveness. Production incentives run through feebates or benchmarked emissions trading; consumption pricing runs on a destination basis, implemented pragmatically on VAT machinery with border rebates. A substantial appendix develops the carbon consumption tax in full.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06640" y="2852928"/>
            <a:ext cx="4114800" cy="2468880"/>
          </a:xfrm>
          <a:prstGeom prst="roundRect">
            <a:avLst>
              <a:gd name="adj" fmla="val 3704"/>
            </a:avLst>
          </a:prstGeom>
          <a:solidFill>
            <a:srgbClr val="EEF2F0"/>
          </a:solidFill>
          <a:ln/>
          <a:effectLst>
            <a:outerShdw sx="100000" sy="100000" kx="0" ky="0" algn="bl" rotWithShape="0" blurRad="101600" dist="25400" dir="5400000">
              <a:srgbClr val="9AA8A2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680960" y="30358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34290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26880" y="3483864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2" name="Shape 10"/>
          <p:cNvSpPr/>
          <p:nvPr/>
        </p:nvSpPr>
        <p:spPr>
          <a:xfrm>
            <a:off x="9564624" y="3483864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3" name="Shape 11"/>
          <p:cNvSpPr/>
          <p:nvPr/>
        </p:nvSpPr>
        <p:spPr>
          <a:xfrm>
            <a:off x="9802368" y="3483864"/>
            <a:ext cx="155448" cy="155448"/>
          </a:xfrm>
          <a:prstGeom prst="ellipse">
            <a:avLst/>
          </a:prstGeom>
          <a:solidFill>
            <a:srgbClr val="C9D3C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40112" y="3483864"/>
            <a:ext cx="155448" cy="155448"/>
          </a:xfrm>
          <a:prstGeom prst="ellipse">
            <a:avLst/>
          </a:prstGeom>
          <a:solidFill>
            <a:srgbClr val="C9D3C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0" y="38221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35440" y="3822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online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42702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454456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climatefiscalfinance.org/papers/OpenEconomyCarbonPricing.docx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1  ·  CLIMATE AND FISCAL POLICY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0927080" y="384048"/>
            <a:ext cx="603504" cy="603504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2708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713232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25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Feebates and Output-Based Rebating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2194560"/>
            <a:ext cx="4297680" cy="3383280"/>
          </a:xfrm>
          <a:prstGeom prst="roundRect">
            <a:avLst>
              <a:gd name="adj" fmla="val 2703"/>
            </a:avLst>
          </a:prstGeom>
          <a:solidFill>
            <a:srgbClr val="EEF2F0"/>
          </a:solidFill>
          <a:ln/>
          <a:effectLst>
            <a:outerShdw sx="100000" sy="100000" kx="0" ky="0" algn="bl" rotWithShape="0" blurRad="101600" dist="25400" dir="5400000">
              <a:srgbClr val="9AA8A2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46888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2E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government that cannot sustain a headline carbon tax can often sustain a revenue-neutral benchmark.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3708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60120" y="4663440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0" name="Shape 8"/>
          <p:cNvSpPr/>
          <p:nvPr/>
        </p:nvSpPr>
        <p:spPr>
          <a:xfrm>
            <a:off x="1197864" y="4663440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1" name="Shape 9"/>
          <p:cNvSpPr/>
          <p:nvPr/>
        </p:nvSpPr>
        <p:spPr>
          <a:xfrm>
            <a:off x="1435608" y="4663440"/>
            <a:ext cx="155448" cy="155448"/>
          </a:xfrm>
          <a:prstGeom prst="ellipse">
            <a:avLst/>
          </a:prstGeom>
          <a:solidFill>
            <a:srgbClr val="C9D3CE"/>
          </a:solidFill>
          <a:ln/>
        </p:spPr>
      </p:sp>
      <p:sp>
        <p:nvSpPr>
          <p:cNvPr id="12" name="Shape 10"/>
          <p:cNvSpPr/>
          <p:nvPr/>
        </p:nvSpPr>
        <p:spPr>
          <a:xfrm>
            <a:off x="1673352" y="4663440"/>
            <a:ext cx="155448" cy="155448"/>
          </a:xfrm>
          <a:prstGeom prst="ellipse">
            <a:avLst/>
          </a:prstGeom>
          <a:solidFill>
            <a:srgbClr val="C9D3C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49560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online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2240280"/>
            <a:ext cx="6080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feebates and output-based rebating as one instrument: a sectoral emissions-intensity benchmark plus a price on deviation from it. Sets out its design, revenue properties and competitiveness advantages relative to a uniform carbon price. The power sector is the worked case, with a parallel treatment of energy-intensive industry.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080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climatefiscalfinance.org/papers/FeebatesAndOutputBasedRebating.docx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1  ·  CLIMATE AND FISCAL POLICY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0927080" y="384048"/>
            <a:ext cx="603504" cy="603504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2708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713232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25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Iron, Steel, CBAM and the Limits of Point-Source Carbon Pricing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9456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E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border charge that rewards scrap can cut reported emissions without cutting real ones.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2608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Examines how CBAM-style border carbon charges favour scrap-based production in iron and steel, with possible relevance to aluminium, and proposes an opportunity-cost adjustment for scrap-based output. The contribution is to identify a potentially material flaw in point-source carbon pricing and its treatment of primary versus secondary production.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06640" y="2852928"/>
            <a:ext cx="4114800" cy="2468880"/>
          </a:xfrm>
          <a:prstGeom prst="roundRect">
            <a:avLst>
              <a:gd name="adj" fmla="val 3704"/>
            </a:avLst>
          </a:prstGeom>
          <a:solidFill>
            <a:srgbClr val="EEF2F0"/>
          </a:solidFill>
          <a:ln/>
          <a:effectLst>
            <a:outerShdw sx="100000" sy="100000" kx="0" ky="0" algn="bl" rotWithShape="0" blurRad="101600" dist="25400" dir="5400000">
              <a:srgbClr val="9AA8A2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680960" y="30358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34290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26880" y="3483864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2" name="Shape 10"/>
          <p:cNvSpPr/>
          <p:nvPr/>
        </p:nvSpPr>
        <p:spPr>
          <a:xfrm>
            <a:off x="9564624" y="3483864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3" name="Shape 11"/>
          <p:cNvSpPr/>
          <p:nvPr/>
        </p:nvSpPr>
        <p:spPr>
          <a:xfrm>
            <a:off x="9802368" y="3483864"/>
            <a:ext cx="155448" cy="155448"/>
          </a:xfrm>
          <a:prstGeom prst="ellipse">
            <a:avLst/>
          </a:prstGeom>
          <a:solidFill>
            <a:srgbClr val="C9D3C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40112" y="3483864"/>
            <a:ext cx="155448" cy="155448"/>
          </a:xfrm>
          <a:prstGeom prst="ellipse">
            <a:avLst/>
          </a:prstGeom>
          <a:solidFill>
            <a:srgbClr val="C9D3C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0" y="38221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35440" y="3822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online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42702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454456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climatefiscalfinance.org/papers/IronSteelCBAM.docx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2  ·  FINANCE AND RISK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0927080" y="384048"/>
            <a:ext cx="603504" cy="603504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2708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713232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25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Climate Finance Intermediation for Clean Power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2194560"/>
            <a:ext cx="4297680" cy="3383280"/>
          </a:xfrm>
          <a:prstGeom prst="roundRect">
            <a:avLst>
              <a:gd name="adj" fmla="val 2703"/>
            </a:avLst>
          </a:prstGeom>
          <a:solidFill>
            <a:srgbClr val="EEF2F0"/>
          </a:solidFill>
          <a:ln/>
          <a:effectLst>
            <a:outerShdw sx="100000" sy="100000" kx="0" ky="0" algn="bl" rotWithShape="0" blurRad="101600" dist="25400" dir="5400000">
              <a:srgbClr val="9AA8A2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46888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2E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capital is set by the distributor’s creditworthiness, not by the project.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3708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60120" y="4663440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0" name="Shape 8"/>
          <p:cNvSpPr/>
          <p:nvPr/>
        </p:nvSpPr>
        <p:spPr>
          <a:xfrm>
            <a:off x="1197864" y="4663440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1" name="Shape 9"/>
          <p:cNvSpPr/>
          <p:nvPr/>
        </p:nvSpPr>
        <p:spPr>
          <a:xfrm>
            <a:off x="1435608" y="4663440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73352" y="4663440"/>
            <a:ext cx="155448" cy="155448"/>
          </a:xfrm>
          <a:prstGeom prst="ellipse">
            <a:avLst/>
          </a:prstGeom>
          <a:solidFill>
            <a:srgbClr val="C9D3C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49560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online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2240280"/>
            <a:ext cx="6080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 a Renewable Energy Payment Intermediary Facility — national in large markets, regional in small ones — that buys power under a standardised agreement and pays generators in full and on time behind a contracted guarantee waterfall. Contracts underwritten this way support synthetic sovereign bonds that reach institutional investors without consuming host-country fiscal space; in debt distress the same intermediary sells energy as a service rather than financing assets with debt.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080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climatefiscalfinance.org/papers/ClimateFinanceIntermediationForCleanPower.docx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2  ·  FINANCE AND RISK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0927080" y="384048"/>
            <a:ext cx="603504" cy="603504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2708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713232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25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Climate Investment Trust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91056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funds as climate and sovereign lending collateral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7744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E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instrument for cheapening clean power debt assumes equity the poorest countries do not have.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10896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 leveraged regional equity funds that do two jobs with one pool of capital: they invest in projects, and they stand as collateral for risk reduction and credit enhancement elsewhere. Such a fund co-invests at development stage, holds first loss in portfolios of operating assets, and cross-guarantees bonds it does not own. The result is a recyclable public balance-sheet instrument rather than a one-off subsidy.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3035808"/>
            <a:ext cx="4114800" cy="2468880"/>
          </a:xfrm>
          <a:prstGeom prst="roundRect">
            <a:avLst>
              <a:gd name="adj" fmla="val 3704"/>
            </a:avLst>
          </a:prstGeom>
          <a:solidFill>
            <a:srgbClr val="EEF2F0"/>
          </a:solidFill>
          <a:ln/>
          <a:effectLst>
            <a:outerShdw sx="100000" sy="100000" kx="0" ky="0" algn="bl" rotWithShape="0" blurRad="101600" dist="25400" dir="5400000">
              <a:srgbClr val="9AA8A2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680960" y="32186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3611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326880" y="3666744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3" name="Shape 11"/>
          <p:cNvSpPr/>
          <p:nvPr/>
        </p:nvSpPr>
        <p:spPr>
          <a:xfrm>
            <a:off x="9564624" y="3666744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4" name="Shape 12"/>
          <p:cNvSpPr/>
          <p:nvPr/>
        </p:nvSpPr>
        <p:spPr>
          <a:xfrm>
            <a:off x="9802368" y="3666744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40112" y="3666744"/>
            <a:ext cx="155448" cy="155448"/>
          </a:xfrm>
          <a:prstGeom prst="ellipse">
            <a:avLst/>
          </a:prstGeom>
          <a:solidFill>
            <a:srgbClr val="C9D3C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40050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4005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online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44531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472744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climatefiscalfinance.org/papers/ClimateInvestmentTrust.docx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3  ·  SOVEREIGN INCENTIVES AND MDBS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0927080" y="384048"/>
            <a:ext cx="603504" cy="603504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2708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713232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25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Notional Capitalised Value and Guarantees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2194560"/>
            <a:ext cx="4297680" cy="3383280"/>
          </a:xfrm>
          <a:prstGeom prst="roundRect">
            <a:avLst>
              <a:gd name="adj" fmla="val 2703"/>
            </a:avLst>
          </a:prstGeom>
          <a:solidFill>
            <a:srgbClr val="EEF2F0"/>
          </a:solidFill>
          <a:ln/>
          <a:effectLst>
            <a:outerShdw sx="100000" sy="100000" kx="0" ky="0" algn="bl" rotWithShape="0" blurRad="101600" dist="25400" dir="5400000">
              <a:srgbClr val="9AA8A2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46888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2E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reward a balance rather than a transfer and the politics change.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3708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60120" y="4663440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0" name="Shape 8"/>
          <p:cNvSpPr/>
          <p:nvPr/>
        </p:nvSpPr>
        <p:spPr>
          <a:xfrm>
            <a:off x="1197864" y="4663440"/>
            <a:ext cx="155448" cy="155448"/>
          </a:xfrm>
          <a:prstGeom prst="ellipse">
            <a:avLst/>
          </a:prstGeom>
          <a:solidFill>
            <a:srgbClr val="C9D3CE"/>
          </a:solidFill>
          <a:ln/>
        </p:spPr>
      </p:sp>
      <p:sp>
        <p:nvSpPr>
          <p:cNvPr id="11" name="Shape 9"/>
          <p:cNvSpPr/>
          <p:nvPr/>
        </p:nvSpPr>
        <p:spPr>
          <a:xfrm>
            <a:off x="1435608" y="4663440"/>
            <a:ext cx="155448" cy="155448"/>
          </a:xfrm>
          <a:prstGeom prst="ellipse">
            <a:avLst/>
          </a:prstGeom>
          <a:solidFill>
            <a:srgbClr val="C9D3CE"/>
          </a:solidFill>
          <a:ln/>
        </p:spPr>
      </p:sp>
      <p:sp>
        <p:nvSpPr>
          <p:cNvPr id="12" name="Shape 10"/>
          <p:cNvSpPr/>
          <p:nvPr/>
        </p:nvSpPr>
        <p:spPr>
          <a:xfrm>
            <a:off x="1673352" y="4663440"/>
            <a:ext cx="155448" cy="155448"/>
          </a:xfrm>
          <a:prstGeom prst="ellipse">
            <a:avLst/>
          </a:prstGeom>
          <a:solidFill>
            <a:srgbClr val="C9D3C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49560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preparation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2240280"/>
            <a:ext cx="6080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finance rewards marginal reductions against a counterfactual nobody can observe, and says little about absolute emissions or the value of carbon stocks never cut. Proposes a notional climate balance linked to stocks and long-run performance, delivered as guarantee capacity rather than cash and eroded by business-as-usual emissions. Because the balance degrades if nothing is done, the incentive bites from year one.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080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drafted — in preparation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3  ·  SOVEREIGN INCENTIVES AND MDBS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0927080" y="384048"/>
            <a:ext cx="603504" cy="603504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2708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713232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25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Sustainability-Linked Lending and Related Structures at the World Bank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9456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E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bespoke transactions to a repeatable sovereign instrument.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2608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Bank has built several sustainability-linked loans and related structures, but they remain bespoke and hard to replicate. Proposes a codified approach with standard key performance indicator menus, simpler verification and workable pricing — a path from one-off transactions to a scalable sovereign incentive instrument.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06640" y="2852928"/>
            <a:ext cx="4114800" cy="2468880"/>
          </a:xfrm>
          <a:prstGeom prst="roundRect">
            <a:avLst>
              <a:gd name="adj" fmla="val 3704"/>
            </a:avLst>
          </a:prstGeom>
          <a:solidFill>
            <a:srgbClr val="EEF2F0"/>
          </a:solidFill>
          <a:ln/>
          <a:effectLst>
            <a:outerShdw sx="100000" sy="100000" kx="0" ky="0" algn="bl" rotWithShape="0" blurRad="101600" dist="25400" dir="5400000">
              <a:srgbClr val="9AA8A2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680960" y="30358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680960" y="34290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26880" y="3483864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2" name="Shape 10"/>
          <p:cNvSpPr/>
          <p:nvPr/>
        </p:nvSpPr>
        <p:spPr>
          <a:xfrm>
            <a:off x="9564624" y="3483864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3" name="Shape 11"/>
          <p:cNvSpPr/>
          <p:nvPr/>
        </p:nvSpPr>
        <p:spPr>
          <a:xfrm>
            <a:off x="9802368" y="3483864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40112" y="3483864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0" y="382219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35440" y="38221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online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427024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AT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454456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climatefiscalfinance.org/papers/SustainabilityLinkedLending.pdf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4  ·  MODELLING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0927080" y="384048"/>
            <a:ext cx="603504" cy="603504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2708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713232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25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Policy-Equivalent Carbon Price and CES Energy Consumption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2194560"/>
            <a:ext cx="4297680" cy="3383280"/>
          </a:xfrm>
          <a:prstGeom prst="roundRect">
            <a:avLst>
              <a:gd name="adj" fmla="val 2703"/>
            </a:avLst>
          </a:prstGeom>
          <a:solidFill>
            <a:srgbClr val="EEF2F0"/>
          </a:solidFill>
          <a:ln/>
          <a:effectLst>
            <a:outerShdw sx="100000" sy="100000" kx="0" ky="0" algn="bl" rotWithShape="0" blurRad="101600" dist="25400" dir="5400000">
              <a:srgbClr val="9AA8A2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46888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2E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policies by what they do to emissions, not by their headline rate.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3708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60120" y="4663440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0" name="Shape 8"/>
          <p:cNvSpPr/>
          <p:nvPr/>
        </p:nvSpPr>
        <p:spPr>
          <a:xfrm>
            <a:off x="1197864" y="4663440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1" name="Shape 9"/>
          <p:cNvSpPr/>
          <p:nvPr/>
        </p:nvSpPr>
        <p:spPr>
          <a:xfrm>
            <a:off x="1435608" y="4663440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73352" y="4663440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0120" y="49560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online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2240280"/>
            <a:ext cx="6080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Develops a common carbon-price-equivalent metric for comparing carbon taxes, feebates, subsidies and other policies on their emissions effects. It is supported by a nested constant elasticity of substitution demand framework separating conservation, fuel switching and heterogeneity within fuels or technologies — a low-parameter structure for static comparison and dynamic simulation alike.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080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climatefiscalfinance.org/papers/PolicyEquivalentCarbonPriceAndCES.docx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4  ·  MODELLING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0927080" y="384048"/>
            <a:ext cx="603504" cy="603504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2708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713232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25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Climate Policy Assessment Tool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91056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recoding and fiscal application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7744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E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enough for sectoral policy interaction, transparent enough for a finance ministry to audit.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10896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out CPAT’s core mitigation architecture, with particular attention to the power sector, policy interaction and country applications. Three strands run through it: replacing the hard renewable investment-flow constraint with system-adjusted marginal costs and shadow prices; rebuilding the price and demand logic as a transparent, testable kernel using AI assistance for translation and verification; and carrying the output into fiscal strategy through a SiSePuede–CCDR–CPAT framing.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406640" y="3035808"/>
            <a:ext cx="4114800" cy="2468880"/>
          </a:xfrm>
          <a:prstGeom prst="roundRect">
            <a:avLst>
              <a:gd name="adj" fmla="val 3704"/>
            </a:avLst>
          </a:prstGeom>
          <a:solidFill>
            <a:srgbClr val="EEF2F0"/>
          </a:solidFill>
          <a:ln/>
          <a:effectLst>
            <a:outerShdw sx="100000" sy="100000" kx="0" ky="0" algn="bl" rotWithShape="0" blurRad="101600" dist="25400" dir="5400000">
              <a:srgbClr val="9AA8A2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680960" y="32186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3611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326880" y="3666744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3" name="Shape 11"/>
          <p:cNvSpPr/>
          <p:nvPr/>
        </p:nvSpPr>
        <p:spPr>
          <a:xfrm>
            <a:off x="9564624" y="3666744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4" name="Shape 12"/>
          <p:cNvSpPr/>
          <p:nvPr/>
        </p:nvSpPr>
        <p:spPr>
          <a:xfrm>
            <a:off x="9802368" y="3666744"/>
            <a:ext cx="155448" cy="155448"/>
          </a:xfrm>
          <a:prstGeom prst="ellipse">
            <a:avLst/>
          </a:prstGeom>
          <a:solidFill>
            <a:srgbClr val="C9D3C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40112" y="3666744"/>
            <a:ext cx="155448" cy="155448"/>
          </a:xfrm>
          <a:prstGeom prst="ellipse">
            <a:avLst/>
          </a:prstGeom>
          <a:solidFill>
            <a:srgbClr val="C9D3C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0" y="40050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4005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preparation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445312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SITS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472744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4, Modelling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657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5  ·  ANALYTICS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0927080" y="384048"/>
            <a:ext cx="603504" cy="603504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27080" y="3840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713232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D25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Excise-Fiscal Reports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91056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Instruments, externalities and policy pathways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377440"/>
            <a:ext cx="4297680" cy="3383280"/>
          </a:xfrm>
          <a:prstGeom prst="roundRect">
            <a:avLst>
              <a:gd name="adj" fmla="val 2703"/>
            </a:avLst>
          </a:prstGeom>
          <a:solidFill>
            <a:srgbClr val="EEF2F0"/>
          </a:solidFill>
          <a:ln/>
          <a:effectLst>
            <a:outerShdw sx="100000" sy="100000" kx="0" ky="0" algn="bl" rotWithShape="0" blurRad="101600" dist="25400" dir="5400000">
              <a:srgbClr val="9AA8A2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960120" y="265176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2E6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excise schedule as a system, not line by line.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5537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4846320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1" name="Shape 9"/>
          <p:cNvSpPr/>
          <p:nvPr/>
        </p:nvSpPr>
        <p:spPr>
          <a:xfrm>
            <a:off x="1197864" y="4846320"/>
            <a:ext cx="155448" cy="155448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2" name="Shape 10"/>
          <p:cNvSpPr/>
          <p:nvPr/>
        </p:nvSpPr>
        <p:spPr>
          <a:xfrm>
            <a:off x="1435608" y="4846320"/>
            <a:ext cx="155448" cy="155448"/>
          </a:xfrm>
          <a:prstGeom prst="ellipse">
            <a:avLst/>
          </a:prstGeom>
          <a:solidFill>
            <a:srgbClr val="C9D3CE"/>
          </a:solidFill>
          <a:ln/>
        </p:spPr>
      </p:sp>
      <p:sp>
        <p:nvSpPr>
          <p:cNvPr id="13" name="Shape 11"/>
          <p:cNvSpPr/>
          <p:nvPr/>
        </p:nvSpPr>
        <p:spPr>
          <a:xfrm>
            <a:off x="1673352" y="4846320"/>
            <a:ext cx="155448" cy="155448"/>
          </a:xfrm>
          <a:prstGeom prst="ellipse">
            <a:avLst/>
          </a:prstGeom>
          <a:solidFill>
            <a:srgbClr val="C9D3C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0120" y="51389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online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40680" y="2423160"/>
            <a:ext cx="6080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D25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 a standardised three-part diagnostic: an excise diagnostic that categorises each schedule line and scales rates comparably; an externality diagnostic bringing carbon, air pollution, accidents, congestion and road damage onto a common spine; and a policy pathways section converting findings into sequenced reform options. Sierra Leone is the worked application.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080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climatefiscalfinance.org/papers/ExciseFiscalDiagnostic.docx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3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is online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8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climatefiscalfinance.org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118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B9C9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Word document for every paper in the portfolio, including the retained work and the books, essays and political writing that do not appear on the research page.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5074920"/>
            <a:ext cx="603504" cy="603504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50749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783080" y="5074920"/>
            <a:ext cx="603504" cy="603504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783080" y="50749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651760" y="5074920"/>
            <a:ext cx="603504" cy="603504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51760" y="50749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520440" y="5074920"/>
            <a:ext cx="603504" cy="603504"/>
          </a:xfrm>
          <a:prstGeom prst="ellipse">
            <a:avLst/>
          </a:prstGeom>
          <a:solidFill>
            <a:srgbClr val="C8873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20440" y="50749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89120" y="5074920"/>
            <a:ext cx="603504" cy="603504"/>
          </a:xfrm>
          <a:prstGeom prst="ellipse">
            <a:avLst/>
          </a:prstGeom>
          <a:solidFill>
            <a:srgbClr val="2E6B5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89120" y="50749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 Overview</dc:title>
  <dc:subject>PptxGenJS Presentation</dc:subject>
  <dc:creator>Stephen Stretton</dc:creator>
  <cp:lastModifiedBy>Stephen Stretton</cp:lastModifiedBy>
  <cp:revision>1</cp:revision>
  <dcterms:created xsi:type="dcterms:W3CDTF">2026-09-17T23:20:28Z</dcterms:created>
  <dcterms:modified xsi:type="dcterms:W3CDTF">2026-09-17T23:20:28Z</dcterms:modified>
</cp:coreProperties>
</file>