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charts/style2.xml" ContentType="application/vnd.ms-office.chartstyle+xml"/>
  <Override PartName="/ppt/theme/theme1.xml" ContentType="application/vnd.openxmlformats-officedocument.theme+xml"/>
  <Override PartName="/ppt/charts/colors2.xml" ContentType="application/vnd.ms-office.chartcolorstyle+xml"/>
  <Override PartName="/ppt/theme/theme2.xml" ContentType="application/vnd.openxmlformats-officedocument.theme+xml"/>
  <Override PartName="/ppt/charts/colors1.xml" ContentType="application/vnd.ms-office.chartcolorstyle+xml"/>
  <Override PartName="/ppt/charts/chart1.xml" ContentType="application/vnd.openxmlformats-officedocument.drawingml.chart+xml"/>
  <Override PartName="/ppt/charts/style1.xml" ContentType="application/vnd.ms-office.chartstyl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4.xml" ContentType="application/vnd.openxmlformats-officedocument.customXml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5.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84" r:id="rId2"/>
    <p:sldId id="1235" r:id="rId3"/>
    <p:sldId id="1250" r:id="rId4"/>
    <p:sldId id="1260" r:id="rId5"/>
    <p:sldId id="1255" r:id="rId6"/>
    <p:sldId id="1237" r:id="rId7"/>
    <p:sldId id="1254" r:id="rId8"/>
    <p:sldId id="1251" r:id="rId9"/>
    <p:sldId id="1227" r:id="rId10"/>
    <p:sldId id="1241" r:id="rId11"/>
    <p:sldId id="1257" r:id="rId12"/>
    <p:sldId id="1242" r:id="rId13"/>
    <p:sldId id="1213" r:id="rId14"/>
    <p:sldId id="1244" r:id="rId15"/>
    <p:sldId id="1232" r:id="rId16"/>
    <p:sldId id="1258" r:id="rId17"/>
    <p:sldId id="126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ew slides" id="{3AD25B04-88E4-FB45-ACA7-707CBC139AAF}">
          <p14:sldIdLst>
            <p14:sldId id="284"/>
            <p14:sldId id="1235"/>
            <p14:sldId id="1250"/>
            <p14:sldId id="1260"/>
            <p14:sldId id="1255"/>
            <p14:sldId id="1237"/>
            <p14:sldId id="1254"/>
            <p14:sldId id="1251"/>
            <p14:sldId id="1227"/>
            <p14:sldId id="1241"/>
            <p14:sldId id="1257"/>
            <p14:sldId id="1242"/>
            <p14:sldId id="1213"/>
            <p14:sldId id="1244"/>
            <p14:sldId id="1232"/>
            <p14:sldId id="1258"/>
            <p14:sldId id="1261"/>
          </p14:sldIdLst>
        </p14:section>
        <p14:section name="Old text slides" id="{A08B9A68-5F21-A34F-AB6F-BDD9E2D45911}">
          <p14:sldIdLst/>
        </p14:section>
        <p14:section name="References" id="{1545AB69-57A0-5745-81C4-EE830BA4246D}">
          <p14:sldIdLst/>
        </p14:section>
      </p14:sectionLst>
    </p:ext>
    <p:ext uri="{EFAFB233-063F-42B5-8137-9DF3F51BA10A}">
      <p15:sldGuideLst xmlns:p15="http://schemas.microsoft.com/office/powerpoint/2012/main">
        <p15:guide id="1" orient="horz" pos="3543" userDrawn="1">
          <p15:clr>
            <a:srgbClr val="A4A3A4"/>
          </p15:clr>
        </p15:guide>
        <p15:guide id="2" pos="3999" userDrawn="1">
          <p15:clr>
            <a:srgbClr val="A4A3A4"/>
          </p15:clr>
        </p15:guide>
        <p15:guide id="4" orient="horz" pos="4110" userDrawn="1">
          <p15:clr>
            <a:srgbClr val="A4A3A4"/>
          </p15:clr>
        </p15:guide>
        <p15:guide id="5" pos="325" userDrawn="1">
          <p15:clr>
            <a:srgbClr val="A4A3A4"/>
          </p15:clr>
        </p15:guide>
        <p15:guide id="6" pos="1300" userDrawn="1">
          <p15:clr>
            <a:srgbClr val="A4A3A4"/>
          </p15:clr>
        </p15:guide>
        <p15:guide id="7" orient="horz" pos="3861" userDrawn="1">
          <p15:clr>
            <a:srgbClr val="A4A3A4"/>
          </p15:clr>
        </p15:guide>
        <p15:guide id="9" pos="7514" userDrawn="1">
          <p15:clr>
            <a:srgbClr val="A4A3A4"/>
          </p15:clr>
        </p15:guide>
        <p15:guide id="10" orient="horz" pos="26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600"/>
    <a:srgbClr val="FF9300"/>
    <a:srgbClr val="FFB5AE"/>
    <a:srgbClr val="FFBFB3"/>
    <a:srgbClr val="FBCED3"/>
    <a:srgbClr val="F9CFCF"/>
    <a:srgbClr val="FDCDB5"/>
    <a:srgbClr val="FEC1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63"/>
    <p:restoredTop sz="94835"/>
  </p:normalViewPr>
  <p:slideViewPr>
    <p:cSldViewPr snapToGrid="0" snapToObjects="1">
      <p:cViewPr varScale="1">
        <p:scale>
          <a:sx n="101" d="100"/>
          <a:sy n="101" d="100"/>
        </p:scale>
        <p:origin x="1020" y="96"/>
      </p:cViewPr>
      <p:guideLst>
        <p:guide orient="horz" pos="3543"/>
        <p:guide pos="3999"/>
        <p:guide orient="horz" pos="4110"/>
        <p:guide pos="325"/>
        <p:guide pos="1300"/>
        <p:guide orient="horz" pos="3861"/>
        <p:guide pos="7514"/>
        <p:guide orient="horz" pos="2682"/>
      </p:guideLst>
    </p:cSldViewPr>
  </p:slideViewPr>
  <p:notesTextViewPr>
    <p:cViewPr>
      <p:scale>
        <a:sx n="1" d="1"/>
        <a:sy n="1" d="1"/>
      </p:scale>
      <p:origin x="0" y="0"/>
    </p:cViewPr>
  </p:notesTextViewPr>
  <p:sorterViewPr>
    <p:cViewPr varScale="1">
      <p:scale>
        <a:sx n="100" d="100"/>
        <a:sy n="100" d="100"/>
      </p:scale>
      <p:origin x="0" y="-625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28" Type="http://schemas.openxmlformats.org/officeDocument/2006/relationships/customXml" Target="../customXml/item5.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7" Type="http://schemas.openxmlformats.org/officeDocument/2006/relationships/customXml" Target="../customXml/item4.xml"/></Relationships>
</file>

<file path=ppt/charts/_rels/chart1.xml.rels><?xml version="1.0" encoding="UTF-8" standalone="yes"?>
<Relationships xmlns="http://schemas.openxmlformats.org/package/2006/relationships"><Relationship Id="rId3" Type="http://schemas.openxmlformats.org/officeDocument/2006/relationships/oleObject" Target="file:///C:\Users\KYRIACGA\AppData\Local\Microsoft\Windows\INetCache\Content.Outlook\CBKE0YQS\IHLEG%20debt%20section%20figure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var\folders\8k\gpsz_qm51m70w0909ps7htbw0000gn\T\com.microsoft.Outlook\Outlook%20Temp\IHLEG%20debt%20section%20figure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000866030263042"/>
          <c:y val="5.6238704562813137E-2"/>
          <c:w val="0.86850642362942132"/>
          <c:h val="0.66160399193612673"/>
        </c:manualLayout>
      </c:layout>
      <c:lineChart>
        <c:grouping val="standard"/>
        <c:varyColors val="0"/>
        <c:ser>
          <c:idx val="0"/>
          <c:order val="0"/>
          <c:tx>
            <c:strRef>
              <c:f>'Debt Scenarios'!$B$4:$K$4</c:f>
              <c:strCache>
                <c:ptCount val="1"/>
                <c:pt idx="0">
                  <c:v>Baseline</c:v>
                </c:pt>
              </c:strCache>
            </c:strRef>
          </c:tx>
          <c:spPr>
            <a:ln w="28575" cap="rnd">
              <a:solidFill>
                <a:schemeClr val="accent1"/>
              </a:solidFill>
              <a:round/>
            </a:ln>
            <a:effectLst/>
          </c:spPr>
          <c:marker>
            <c:symbol val="none"/>
          </c:marker>
          <c:cat>
            <c:numRef>
              <c:f>'V:\crivard\Debt Sustainability\2022-10\Tables\[Debt Sustainability new r Average.xlsx]Debt Scenarios Mean v2 Arch'!$A$5:$A$36</c:f>
              <c:numCache>
                <c:formatCode>General</c:formatCode>
                <c:ptCount val="32"/>
                <c:pt idx="0">
                  <c:v>2019</c:v>
                </c:pt>
                <c:pt idx="1">
                  <c:v>2020</c:v>
                </c:pt>
                <c:pt idx="2">
                  <c:v>2021</c:v>
                </c:pt>
                <c:pt idx="3">
                  <c:v>2022</c:v>
                </c:pt>
                <c:pt idx="4">
                  <c:v>2023</c:v>
                </c:pt>
                <c:pt idx="5">
                  <c:v>2024</c:v>
                </c:pt>
                <c:pt idx="6">
                  <c:v>2025</c:v>
                </c:pt>
                <c:pt idx="7">
                  <c:v>2026</c:v>
                </c:pt>
                <c:pt idx="8">
                  <c:v>2027</c:v>
                </c:pt>
                <c:pt idx="9">
                  <c:v>2028</c:v>
                </c:pt>
                <c:pt idx="10">
                  <c:v>2029</c:v>
                </c:pt>
                <c:pt idx="11">
                  <c:v>2030</c:v>
                </c:pt>
                <c:pt idx="12">
                  <c:v>2031</c:v>
                </c:pt>
                <c:pt idx="13">
                  <c:v>2032</c:v>
                </c:pt>
                <c:pt idx="14">
                  <c:v>2033</c:v>
                </c:pt>
                <c:pt idx="15">
                  <c:v>2034</c:v>
                </c:pt>
                <c:pt idx="16">
                  <c:v>2035</c:v>
                </c:pt>
                <c:pt idx="17">
                  <c:v>2036</c:v>
                </c:pt>
                <c:pt idx="18">
                  <c:v>2037</c:v>
                </c:pt>
                <c:pt idx="19">
                  <c:v>2038</c:v>
                </c:pt>
                <c:pt idx="20">
                  <c:v>2039</c:v>
                </c:pt>
                <c:pt idx="21">
                  <c:v>2040</c:v>
                </c:pt>
                <c:pt idx="22">
                  <c:v>2041</c:v>
                </c:pt>
                <c:pt idx="23">
                  <c:v>2042</c:v>
                </c:pt>
                <c:pt idx="24">
                  <c:v>2043</c:v>
                </c:pt>
                <c:pt idx="25">
                  <c:v>2044</c:v>
                </c:pt>
                <c:pt idx="26">
                  <c:v>2045</c:v>
                </c:pt>
                <c:pt idx="27">
                  <c:v>2046</c:v>
                </c:pt>
                <c:pt idx="28">
                  <c:v>2047</c:v>
                </c:pt>
                <c:pt idx="29">
                  <c:v>2048</c:v>
                </c:pt>
                <c:pt idx="30">
                  <c:v>2049</c:v>
                </c:pt>
                <c:pt idx="31">
                  <c:v>2050</c:v>
                </c:pt>
              </c:numCache>
            </c:numRef>
          </c:cat>
          <c:val>
            <c:numRef>
              <c:f>'Debt Scenarios'!$K$6:$K$37</c:f>
              <c:numCache>
                <c:formatCode>0.00%</c:formatCode>
                <c:ptCount val="32"/>
                <c:pt idx="0">
                  <c:v>0.52844772727272726</c:v>
                </c:pt>
                <c:pt idx="1">
                  <c:v>0.63145643939393925</c:v>
                </c:pt>
                <c:pt idx="2">
                  <c:v>0.6026476153846152</c:v>
                </c:pt>
                <c:pt idx="3">
                  <c:v>0.59087031496062981</c:v>
                </c:pt>
                <c:pt idx="4">
                  <c:v>0.59966220436282236</c:v>
                </c:pt>
                <c:pt idx="5">
                  <c:v>0.60062586409131624</c:v>
                </c:pt>
                <c:pt idx="6">
                  <c:v>0.59753166053192186</c:v>
                </c:pt>
                <c:pt idx="7">
                  <c:v>0.5922268309123091</c:v>
                </c:pt>
                <c:pt idx="8">
                  <c:v>0.59076999794131313</c:v>
                </c:pt>
                <c:pt idx="9">
                  <c:v>0.58749423176621562</c:v>
                </c:pt>
                <c:pt idx="10">
                  <c:v>0.58423545826609702</c:v>
                </c:pt>
                <c:pt idx="11">
                  <c:v>0.58099351915918906</c:v>
                </c:pt>
                <c:pt idx="12">
                  <c:v>0.57776826004564907</c:v>
                </c:pt>
                <c:pt idx="13">
                  <c:v>0.57455953026632756</c:v>
                </c:pt>
                <c:pt idx="14">
                  <c:v>0.57136718276700804</c:v>
                </c:pt>
                <c:pt idx="15">
                  <c:v>0.5681910739679058</c:v>
                </c:pt>
                <c:pt idx="16">
                  <c:v>0.56503106363821998</c:v>
                </c:pt>
                <c:pt idx="17">
                  <c:v>0.56188701477554226</c:v>
                </c:pt>
                <c:pt idx="18">
                  <c:v>0.55875879348993163</c:v>
                </c:pt>
                <c:pt idx="19">
                  <c:v>0.55564626889247404</c:v>
                </c:pt>
                <c:pt idx="20">
                  <c:v>0.55254931298815146</c:v>
                </c:pt>
                <c:pt idx="21">
                  <c:v>0.54946780057285127</c:v>
                </c:pt>
                <c:pt idx="22">
                  <c:v>0.54640160913435565</c:v>
                </c:pt>
                <c:pt idx="23">
                  <c:v>0.54335061875715529</c:v>
                </c:pt>
                <c:pt idx="24">
                  <c:v>0.54031471203093817</c:v>
                </c:pt>
                <c:pt idx="25">
                  <c:v>0.53729377396260825</c:v>
                </c:pt>
                <c:pt idx="26">
                  <c:v>0.53428769189169956</c:v>
                </c:pt>
                <c:pt idx="27">
                  <c:v>0.53129635540905107</c:v>
                </c:pt>
                <c:pt idx="28">
                  <c:v>0.52831965627861421</c:v>
                </c:pt>
                <c:pt idx="29">
                  <c:v>0.52535748836227347</c:v>
                </c:pt>
                <c:pt idx="30">
                  <c:v>0.52240974754756042</c:v>
                </c:pt>
                <c:pt idx="31">
                  <c:v>0.51947633167814922</c:v>
                </c:pt>
              </c:numCache>
            </c:numRef>
          </c:val>
          <c:smooth val="0"/>
          <c:extLst>
            <c:ext xmlns:c16="http://schemas.microsoft.com/office/drawing/2014/chart" uri="{C3380CC4-5D6E-409C-BE32-E72D297353CC}">
              <c16:uniqueId val="{00000000-3072-D641-94A1-CA8D4699B869}"/>
            </c:ext>
          </c:extLst>
        </c:ser>
        <c:ser>
          <c:idx val="3"/>
          <c:order val="1"/>
          <c:tx>
            <c:v>Big Push, IBRD Rates</c:v>
          </c:tx>
          <c:spPr>
            <a:ln w="28575" cap="rnd">
              <a:solidFill>
                <a:schemeClr val="accent6"/>
              </a:solidFill>
              <a:round/>
            </a:ln>
            <a:effectLst/>
          </c:spPr>
          <c:marker>
            <c:symbol val="none"/>
          </c:marker>
          <c:cat>
            <c:numRef>
              <c:f>'V:\crivard\Debt Sustainability\2022-10\Tables\[Debt Sustainability new r Average.xlsx]Debt Scenarios Mean v2 Arch'!$A$5:$A$36</c:f>
              <c:numCache>
                <c:formatCode>General</c:formatCode>
                <c:ptCount val="32"/>
                <c:pt idx="0">
                  <c:v>2019</c:v>
                </c:pt>
                <c:pt idx="1">
                  <c:v>2020</c:v>
                </c:pt>
                <c:pt idx="2">
                  <c:v>2021</c:v>
                </c:pt>
                <c:pt idx="3">
                  <c:v>2022</c:v>
                </c:pt>
                <c:pt idx="4">
                  <c:v>2023</c:v>
                </c:pt>
                <c:pt idx="5">
                  <c:v>2024</c:v>
                </c:pt>
                <c:pt idx="6">
                  <c:v>2025</c:v>
                </c:pt>
                <c:pt idx="7">
                  <c:v>2026</c:v>
                </c:pt>
                <c:pt idx="8">
                  <c:v>2027</c:v>
                </c:pt>
                <c:pt idx="9">
                  <c:v>2028</c:v>
                </c:pt>
                <c:pt idx="10">
                  <c:v>2029</c:v>
                </c:pt>
                <c:pt idx="11">
                  <c:v>2030</c:v>
                </c:pt>
                <c:pt idx="12">
                  <c:v>2031</c:v>
                </c:pt>
                <c:pt idx="13">
                  <c:v>2032</c:v>
                </c:pt>
                <c:pt idx="14">
                  <c:v>2033</c:v>
                </c:pt>
                <c:pt idx="15">
                  <c:v>2034</c:v>
                </c:pt>
                <c:pt idx="16">
                  <c:v>2035</c:v>
                </c:pt>
                <c:pt idx="17">
                  <c:v>2036</c:v>
                </c:pt>
                <c:pt idx="18">
                  <c:v>2037</c:v>
                </c:pt>
                <c:pt idx="19">
                  <c:v>2038</c:v>
                </c:pt>
                <c:pt idx="20">
                  <c:v>2039</c:v>
                </c:pt>
                <c:pt idx="21">
                  <c:v>2040</c:v>
                </c:pt>
                <c:pt idx="22">
                  <c:v>2041</c:v>
                </c:pt>
                <c:pt idx="23">
                  <c:v>2042</c:v>
                </c:pt>
                <c:pt idx="24">
                  <c:v>2043</c:v>
                </c:pt>
                <c:pt idx="25">
                  <c:v>2044</c:v>
                </c:pt>
                <c:pt idx="26">
                  <c:v>2045</c:v>
                </c:pt>
                <c:pt idx="27">
                  <c:v>2046</c:v>
                </c:pt>
                <c:pt idx="28">
                  <c:v>2047</c:v>
                </c:pt>
                <c:pt idx="29">
                  <c:v>2048</c:v>
                </c:pt>
                <c:pt idx="30">
                  <c:v>2049</c:v>
                </c:pt>
                <c:pt idx="31">
                  <c:v>2050</c:v>
                </c:pt>
              </c:numCache>
            </c:numRef>
          </c:cat>
          <c:val>
            <c:numRef>
              <c:f>'Debt Scenarios'!$AE$6:$AE$37</c:f>
              <c:numCache>
                <c:formatCode>0.00%</c:formatCode>
                <c:ptCount val="32"/>
                <c:pt idx="0">
                  <c:v>0.52844772727272726</c:v>
                </c:pt>
                <c:pt idx="1">
                  <c:v>0.63145643939393925</c:v>
                </c:pt>
                <c:pt idx="2">
                  <c:v>0.6026476153846152</c:v>
                </c:pt>
                <c:pt idx="3">
                  <c:v>0.59087031496062981</c:v>
                </c:pt>
                <c:pt idx="4">
                  <c:v>0.61406252202529221</c:v>
                </c:pt>
                <c:pt idx="5">
                  <c:v>0.62894374306823309</c:v>
                </c:pt>
                <c:pt idx="6">
                  <c:v>0.63931010615282524</c:v>
                </c:pt>
                <c:pt idx="7">
                  <c:v>0.64709850545431324</c:v>
                </c:pt>
                <c:pt idx="8">
                  <c:v>0.65843948436538557</c:v>
                </c:pt>
                <c:pt idx="9">
                  <c:v>0.66743462940732812</c:v>
                </c:pt>
                <c:pt idx="10">
                  <c:v>0.67608637630856172</c:v>
                </c:pt>
                <c:pt idx="11">
                  <c:v>0.68440940450828847</c:v>
                </c:pt>
                <c:pt idx="12">
                  <c:v>0.6924177246361386</c:v>
                </c:pt>
                <c:pt idx="13">
                  <c:v>0.70012470995404974</c:v>
                </c:pt>
                <c:pt idx="14">
                  <c:v>0.70754312629862326</c:v>
                </c:pt>
                <c:pt idx="15">
                  <c:v>0.71468516059592746</c:v>
                </c:pt>
                <c:pt idx="16">
                  <c:v>0.72156244801725866</c:v>
                </c:pt>
                <c:pt idx="17">
                  <c:v>0.72818609784106836</c:v>
                </c:pt>
                <c:pt idx="18">
                  <c:v>0.73456671808313079</c:v>
                </c:pt>
                <c:pt idx="19">
                  <c:v>0.74071443895403655</c:v>
                </c:pt>
                <c:pt idx="20">
                  <c:v>0.74663893520025304</c:v>
                </c:pt>
                <c:pt idx="21">
                  <c:v>0.75234944738229093</c:v>
                </c:pt>
                <c:pt idx="22">
                  <c:v>0.75785480214093592</c:v>
                </c:pt>
                <c:pt idx="23">
                  <c:v>0.76316343150005428</c:v>
                </c:pt>
                <c:pt idx="24">
                  <c:v>0.76828339125214973</c:v>
                </c:pt>
                <c:pt idx="25">
                  <c:v>0.77322237847062381</c:v>
                </c:pt>
                <c:pt idx="26">
                  <c:v>0.77798774819058336</c:v>
                </c:pt>
                <c:pt idx="27">
                  <c:v>0.78258652929802031</c:v>
                </c:pt>
                <c:pt idx="28">
                  <c:v>0.78702543966527871</c:v>
                </c:pt>
                <c:pt idx="29">
                  <c:v>0.79131090056889808</c:v>
                </c:pt>
                <c:pt idx="30">
                  <c:v>0.79544905042418801</c:v>
                </c:pt>
                <c:pt idx="31">
                  <c:v>0.79944575786923755</c:v>
                </c:pt>
              </c:numCache>
            </c:numRef>
          </c:val>
          <c:smooth val="0"/>
          <c:extLst>
            <c:ext xmlns:c16="http://schemas.microsoft.com/office/drawing/2014/chart" uri="{C3380CC4-5D6E-409C-BE32-E72D297353CC}">
              <c16:uniqueId val="{00000001-3072-D641-94A1-CA8D4699B869}"/>
            </c:ext>
          </c:extLst>
        </c:ser>
        <c:ser>
          <c:idx val="1"/>
          <c:order val="2"/>
          <c:tx>
            <c:v>Big Push, Market Rates</c:v>
          </c:tx>
          <c:spPr>
            <a:ln w="28575" cap="rnd">
              <a:solidFill>
                <a:schemeClr val="accent4"/>
              </a:solidFill>
              <a:round/>
            </a:ln>
            <a:effectLst/>
          </c:spPr>
          <c:marker>
            <c:symbol val="none"/>
          </c:marker>
          <c:cat>
            <c:numRef>
              <c:f>'V:\crivard\Debt Sustainability\2022-10\Tables\[Debt Sustainability new r Average.xlsx]Debt Scenarios Mean v2 Arch'!$A$5:$A$36</c:f>
              <c:numCache>
                <c:formatCode>General</c:formatCode>
                <c:ptCount val="32"/>
                <c:pt idx="0">
                  <c:v>2019</c:v>
                </c:pt>
                <c:pt idx="1">
                  <c:v>2020</c:v>
                </c:pt>
                <c:pt idx="2">
                  <c:v>2021</c:v>
                </c:pt>
                <c:pt idx="3">
                  <c:v>2022</c:v>
                </c:pt>
                <c:pt idx="4">
                  <c:v>2023</c:v>
                </c:pt>
                <c:pt idx="5">
                  <c:v>2024</c:v>
                </c:pt>
                <c:pt idx="6">
                  <c:v>2025</c:v>
                </c:pt>
                <c:pt idx="7">
                  <c:v>2026</c:v>
                </c:pt>
                <c:pt idx="8">
                  <c:v>2027</c:v>
                </c:pt>
                <c:pt idx="9">
                  <c:v>2028</c:v>
                </c:pt>
                <c:pt idx="10">
                  <c:v>2029</c:v>
                </c:pt>
                <c:pt idx="11">
                  <c:v>2030</c:v>
                </c:pt>
                <c:pt idx="12">
                  <c:v>2031</c:v>
                </c:pt>
                <c:pt idx="13">
                  <c:v>2032</c:v>
                </c:pt>
                <c:pt idx="14">
                  <c:v>2033</c:v>
                </c:pt>
                <c:pt idx="15">
                  <c:v>2034</c:v>
                </c:pt>
                <c:pt idx="16">
                  <c:v>2035</c:v>
                </c:pt>
                <c:pt idx="17">
                  <c:v>2036</c:v>
                </c:pt>
                <c:pt idx="18">
                  <c:v>2037</c:v>
                </c:pt>
                <c:pt idx="19">
                  <c:v>2038</c:v>
                </c:pt>
                <c:pt idx="20">
                  <c:v>2039</c:v>
                </c:pt>
                <c:pt idx="21">
                  <c:v>2040</c:v>
                </c:pt>
                <c:pt idx="22">
                  <c:v>2041</c:v>
                </c:pt>
                <c:pt idx="23">
                  <c:v>2042</c:v>
                </c:pt>
                <c:pt idx="24">
                  <c:v>2043</c:v>
                </c:pt>
                <c:pt idx="25">
                  <c:v>2044</c:v>
                </c:pt>
                <c:pt idx="26">
                  <c:v>2045</c:v>
                </c:pt>
                <c:pt idx="27">
                  <c:v>2046</c:v>
                </c:pt>
                <c:pt idx="28">
                  <c:v>2047</c:v>
                </c:pt>
                <c:pt idx="29">
                  <c:v>2048</c:v>
                </c:pt>
                <c:pt idx="30">
                  <c:v>2049</c:v>
                </c:pt>
                <c:pt idx="31">
                  <c:v>2050</c:v>
                </c:pt>
              </c:numCache>
            </c:numRef>
          </c:cat>
          <c:val>
            <c:numRef>
              <c:f>'Debt Scenarios'!$AO$6:$AO$37</c:f>
              <c:numCache>
                <c:formatCode>0.00%</c:formatCode>
                <c:ptCount val="32"/>
                <c:pt idx="0">
                  <c:v>0.52844772727272726</c:v>
                </c:pt>
                <c:pt idx="1">
                  <c:v>0.63145643939393925</c:v>
                </c:pt>
                <c:pt idx="2">
                  <c:v>0.6026476153846152</c:v>
                </c:pt>
                <c:pt idx="3">
                  <c:v>0.59087031496062981</c:v>
                </c:pt>
                <c:pt idx="4">
                  <c:v>0.61467132101149524</c:v>
                </c:pt>
                <c:pt idx="5">
                  <c:v>0.63203175609733742</c:v>
                </c:pt>
                <c:pt idx="6">
                  <c:v>0.64658198874528372</c:v>
                </c:pt>
                <c:pt idx="7">
                  <c:v>0.66007171425315292</c:v>
                </c:pt>
                <c:pt idx="8">
                  <c:v>0.67851943399834524</c:v>
                </c:pt>
                <c:pt idx="9">
                  <c:v>0.69605533881425885</c:v>
                </c:pt>
                <c:pt idx="10">
                  <c:v>0.71469071685928509</c:v>
                </c:pt>
                <c:pt idx="11">
                  <c:v>0.73441148176132631</c:v>
                </c:pt>
                <c:pt idx="12">
                  <c:v>0.75520500623061715</c:v>
                </c:pt>
                <c:pt idx="13">
                  <c:v>0.77706006729287325</c:v>
                </c:pt>
                <c:pt idx="14">
                  <c:v>0.79996679447647845</c:v>
                </c:pt>
                <c:pt idx="15">
                  <c:v>0.82391662081748285</c:v>
                </c:pt>
                <c:pt idx="16">
                  <c:v>0.84890223655288433</c:v>
                </c:pt>
                <c:pt idx="17">
                  <c:v>0.8749175453790391</c:v>
                </c:pt>
                <c:pt idx="18">
                  <c:v>0.90195762315811534</c:v>
                </c:pt>
                <c:pt idx="19">
                  <c:v>0.93001867896128754</c:v>
                </c:pt>
                <c:pt idx="20">
                  <c:v>0.95909801834287423</c:v>
                </c:pt>
                <c:pt idx="21">
                  <c:v>0.98919400874485441</c:v>
                </c:pt>
                <c:pt idx="22">
                  <c:v>1.0203060469362024</c:v>
                </c:pt>
                <c:pt idx="23">
                  <c:v>1.0524345283962231</c:v>
                </c:pt>
                <c:pt idx="24">
                  <c:v>1.0855808185556031</c:v>
                </c:pt>
                <c:pt idx="25">
                  <c:v>1.1197472258131989</c:v>
                </c:pt>
                <c:pt idx="26">
                  <c:v>1.1549369762506991</c:v>
                </c:pt>
                <c:pt idx="27">
                  <c:v>1.1911541899711988</c:v>
                </c:pt>
                <c:pt idx="28">
                  <c:v>1.2284038589914563</c:v>
                </c:pt>
                <c:pt idx="29">
                  <c:v>1.2666918266211515</c:v>
                </c:pt>
                <c:pt idx="30">
                  <c:v>1.3060247682658452</c:v>
                </c:pt>
                <c:pt idx="31">
                  <c:v>1.3464101735935616</c:v>
                </c:pt>
              </c:numCache>
            </c:numRef>
          </c:val>
          <c:smooth val="0"/>
          <c:extLst>
            <c:ext xmlns:c16="http://schemas.microsoft.com/office/drawing/2014/chart" uri="{C3380CC4-5D6E-409C-BE32-E72D297353CC}">
              <c16:uniqueId val="{00000002-3072-D641-94A1-CA8D4699B869}"/>
            </c:ext>
          </c:extLst>
        </c:ser>
        <c:dLbls>
          <c:showLegendKey val="0"/>
          <c:showVal val="0"/>
          <c:showCatName val="0"/>
          <c:showSerName val="0"/>
          <c:showPercent val="0"/>
          <c:showBubbleSize val="0"/>
        </c:dLbls>
        <c:smooth val="0"/>
        <c:axId val="908131840"/>
        <c:axId val="908132672"/>
      </c:lineChart>
      <c:catAx>
        <c:axId val="908131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000" b="0" i="0" u="none" strike="noStrike" kern="1200" baseline="0">
                <a:solidFill>
                  <a:schemeClr val="tx1"/>
                </a:solidFill>
                <a:latin typeface="Century Gothic" panose="020B0502020202020204" pitchFamily="34" charset="0"/>
                <a:ea typeface="+mn-ea"/>
                <a:cs typeface="+mn-cs"/>
              </a:defRPr>
            </a:pPr>
            <a:endParaRPr lang="en-US"/>
          </a:p>
        </c:txPr>
        <c:crossAx val="908132672"/>
        <c:crosses val="autoZero"/>
        <c:auto val="1"/>
        <c:lblAlgn val="ctr"/>
        <c:lblOffset val="100"/>
        <c:tickLblSkip val="2"/>
        <c:noMultiLvlLbl val="0"/>
      </c:catAx>
      <c:valAx>
        <c:axId val="908132672"/>
        <c:scaling>
          <c:orientation val="minMax"/>
          <c:min val="0.5"/>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Century Gothic" panose="020B0502020202020204" pitchFamily="34" charset="0"/>
                <a:ea typeface="+mn-ea"/>
                <a:cs typeface="+mn-cs"/>
              </a:defRPr>
            </a:pPr>
            <a:endParaRPr lang="en-US"/>
          </a:p>
        </c:txPr>
        <c:crossAx val="908131840"/>
        <c:crosses val="autoZero"/>
        <c:crossBetween val="between"/>
      </c:valAx>
      <c:spPr>
        <a:noFill/>
        <a:ln>
          <a:noFill/>
        </a:ln>
        <a:effectLst/>
      </c:spPr>
    </c:plotArea>
    <c:legend>
      <c:legendPos val="b"/>
      <c:layout>
        <c:manualLayout>
          <c:xMode val="edge"/>
          <c:yMode val="edge"/>
          <c:x val="6.9623270050310437E-2"/>
          <c:y val="0.83475050864970357"/>
          <c:w val="0.90122223071134411"/>
          <c:h val="0.1447423987605766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Century Gothic" panose="020B0502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000">
          <a:solidFill>
            <a:schemeClr val="tx1"/>
          </a:solidFill>
          <a:latin typeface="Century Gothic" panose="020B0502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039370078740156E-2"/>
          <c:y val="0.12509948031509771"/>
          <c:w val="0.86248482428369533"/>
          <c:h val="0.56632544182185429"/>
        </c:manualLayout>
      </c:layout>
      <c:barChart>
        <c:barDir val="col"/>
        <c:grouping val="clustered"/>
        <c:varyColors val="0"/>
        <c:ser>
          <c:idx val="0"/>
          <c:order val="0"/>
          <c:tx>
            <c:strRef>
              <c:f>Bondyields!$G$1</c:f>
              <c:strCache>
                <c:ptCount val="1"/>
                <c:pt idx="0">
                  <c:v>bond yield</c:v>
                </c:pt>
              </c:strCache>
            </c:strRef>
          </c:tx>
          <c:spPr>
            <a:solidFill>
              <a:schemeClr val="accent1"/>
            </a:solidFill>
            <a:ln>
              <a:solidFill>
                <a:schemeClr val="accent1"/>
              </a:solidFill>
            </a:ln>
            <a:effectLst/>
          </c:spPr>
          <c:invertIfNegative val="0"/>
          <c:cat>
            <c:strRef>
              <c:f>Bondyields!$A$6:$A$98</c:f>
              <c:strCache>
                <c:ptCount val="49"/>
                <c:pt idx="0">
                  <c:v>China</c:v>
                </c:pt>
                <c:pt idx="1">
                  <c:v>Thailand</c:v>
                </c:pt>
                <c:pt idx="2">
                  <c:v>Morocco</c:v>
                </c:pt>
                <c:pt idx="3">
                  <c:v>Malaysia</c:v>
                </c:pt>
                <c:pt idx="4">
                  <c:v>Mauritius</c:v>
                </c:pt>
                <c:pt idx="5">
                  <c:v>Bulgaria</c:v>
                </c:pt>
                <c:pt idx="6">
                  <c:v>Vietnam</c:v>
                </c:pt>
                <c:pt idx="7">
                  <c:v>Jamaica</c:v>
                </c:pt>
                <c:pt idx="8">
                  <c:v>Paraguay</c:v>
                </c:pt>
                <c:pt idx="9">
                  <c:v>Azerbaijan</c:v>
                </c:pt>
                <c:pt idx="10">
                  <c:v>Guatemala</c:v>
                </c:pt>
                <c:pt idx="11">
                  <c:v>Botswana</c:v>
                </c:pt>
                <c:pt idx="12">
                  <c:v>Philippines</c:v>
                </c:pt>
                <c:pt idx="13">
                  <c:v>Indonesia</c:v>
                </c:pt>
                <c:pt idx="14">
                  <c:v>Costa Rica</c:v>
                </c:pt>
                <c:pt idx="15">
                  <c:v>India</c:v>
                </c:pt>
                <c:pt idx="16">
                  <c:v>Albania</c:v>
                </c:pt>
                <c:pt idx="17">
                  <c:v>Serbia</c:v>
                </c:pt>
                <c:pt idx="18">
                  <c:v>Bangladesh</c:v>
                </c:pt>
                <c:pt idx="19">
                  <c:v>Peru</c:v>
                </c:pt>
                <c:pt idx="20">
                  <c:v>Uzbekistan</c:v>
                </c:pt>
                <c:pt idx="21">
                  <c:v>Senegal</c:v>
                </c:pt>
                <c:pt idx="22">
                  <c:v>Armenia</c:v>
                </c:pt>
                <c:pt idx="23">
                  <c:v>Bolivia</c:v>
                </c:pt>
                <c:pt idx="24">
                  <c:v>Mexico</c:v>
                </c:pt>
                <c:pt idx="25">
                  <c:v>Russia</c:v>
                </c:pt>
                <c:pt idx="26">
                  <c:v>Iraq</c:v>
                </c:pt>
                <c:pt idx="27">
                  <c:v>Benin</c:v>
                </c:pt>
                <c:pt idx="28">
                  <c:v>Rwanda</c:v>
                </c:pt>
                <c:pt idx="29">
                  <c:v>South Africa</c:v>
                </c:pt>
                <c:pt idx="30">
                  <c:v>Honduras</c:v>
                </c:pt>
                <c:pt idx="31">
                  <c:v>Namibia</c:v>
                </c:pt>
                <c:pt idx="32">
                  <c:v>Brazil</c:v>
                </c:pt>
                <c:pt idx="33">
                  <c:v>Cameroon</c:v>
                </c:pt>
                <c:pt idx="34">
                  <c:v>Pakistan</c:v>
                </c:pt>
                <c:pt idx="35">
                  <c:v>Turkey</c:v>
                </c:pt>
                <c:pt idx="36">
                  <c:v>Kazakhstan</c:v>
                </c:pt>
                <c:pt idx="37">
                  <c:v>Gabon</c:v>
                </c:pt>
                <c:pt idx="38">
                  <c:v>PNG</c:v>
                </c:pt>
                <c:pt idx="39">
                  <c:v>Nigeria</c:v>
                </c:pt>
                <c:pt idx="40">
                  <c:v>Angola</c:v>
                </c:pt>
                <c:pt idx="41">
                  <c:v>Colombia</c:v>
                </c:pt>
                <c:pt idx="42">
                  <c:v>Kenya</c:v>
                </c:pt>
                <c:pt idx="43">
                  <c:v>Uganda</c:v>
                </c:pt>
                <c:pt idx="44">
                  <c:v>Egypt</c:v>
                </c:pt>
                <c:pt idx="45">
                  <c:v>Ukraine</c:v>
                </c:pt>
                <c:pt idx="46">
                  <c:v>Ghana</c:v>
                </c:pt>
                <c:pt idx="47">
                  <c:v>Sri Lanka</c:v>
                </c:pt>
                <c:pt idx="48">
                  <c:v>Zambia</c:v>
                </c:pt>
              </c:strCache>
            </c:strRef>
          </c:cat>
          <c:val>
            <c:numRef>
              <c:f>Bondyields!$G$2:$G$101</c:f>
              <c:numCache>
                <c:formatCode>0%</c:formatCode>
                <c:ptCount val="49"/>
                <c:pt idx="0">
                  <c:v>2.7140000835061073E-2</c:v>
                </c:pt>
                <c:pt idx="1">
                  <c:v>3.1199999153614044E-2</c:v>
                </c:pt>
                <c:pt idx="2">
                  <c:v>3.2000001519918442E-2</c:v>
                </c:pt>
                <c:pt idx="3">
                  <c:v>4.4640000909566879E-2</c:v>
                </c:pt>
                <c:pt idx="4">
                  <c:v>4.7100000083446503E-2</c:v>
                </c:pt>
                <c:pt idx="5">
                  <c:v>5.000000074505806E-2</c:v>
                </c:pt>
                <c:pt idx="6">
                  <c:v>5.1709998399019241E-2</c:v>
                </c:pt>
                <c:pt idx="7">
                  <c:v>5.950000137090683E-2</c:v>
                </c:pt>
                <c:pt idx="8">
                  <c:v>6.5700002014636993E-2</c:v>
                </c:pt>
                <c:pt idx="9">
                  <c:v>6.679999828338623E-2</c:v>
                </c:pt>
                <c:pt idx="10">
                  <c:v>6.9399997591972351E-2</c:v>
                </c:pt>
                <c:pt idx="11">
                  <c:v>7.0469997823238373E-2</c:v>
                </c:pt>
                <c:pt idx="12">
                  <c:v>7.201000303030014E-2</c:v>
                </c:pt>
                <c:pt idx="13">
                  <c:v>7.3360003530979156E-2</c:v>
                </c:pt>
                <c:pt idx="14">
                  <c:v>7.3600001633167267E-2</c:v>
                </c:pt>
                <c:pt idx="15">
                  <c:v>7.4699997901916504E-2</c:v>
                </c:pt>
                <c:pt idx="16">
                  <c:v>7.7399998903274536E-2</c:v>
                </c:pt>
                <c:pt idx="17">
                  <c:v>8.0559998750686646E-2</c:v>
                </c:pt>
                <c:pt idx="18">
                  <c:v>8.2699999213218689E-2</c:v>
                </c:pt>
                <c:pt idx="19">
                  <c:v>8.7200000882148743E-2</c:v>
                </c:pt>
                <c:pt idx="20">
                  <c:v>8.7600000202655792E-2</c:v>
                </c:pt>
                <c:pt idx="21">
                  <c:v>8.9500002562999725E-2</c:v>
                </c:pt>
                <c:pt idx="22">
                  <c:v>9.2699997127056122E-2</c:v>
                </c:pt>
                <c:pt idx="23">
                  <c:v>9.4899997115135193E-2</c:v>
                </c:pt>
                <c:pt idx="24">
                  <c:v>9.8200000822544098E-2</c:v>
                </c:pt>
                <c:pt idx="25">
                  <c:v>9.830000251531601E-2</c:v>
                </c:pt>
                <c:pt idx="26">
                  <c:v>9.9799998104572296E-2</c:v>
                </c:pt>
                <c:pt idx="27">
                  <c:v>0.10140000283718109</c:v>
                </c:pt>
                <c:pt idx="28">
                  <c:v>0.10220000147819519</c:v>
                </c:pt>
                <c:pt idx="29">
                  <c:v>0.10824999958276749</c:v>
                </c:pt>
                <c:pt idx="30">
                  <c:v>0.10869999974966049</c:v>
                </c:pt>
                <c:pt idx="31">
                  <c:v>0.11545000225305557</c:v>
                </c:pt>
                <c:pt idx="32">
                  <c:v>0.11749999970197678</c:v>
                </c:pt>
                <c:pt idx="33">
                  <c:v>0.11749999970197678</c:v>
                </c:pt>
                <c:pt idx="34">
                  <c:v>0.12714000046253204</c:v>
                </c:pt>
                <c:pt idx="35">
                  <c:v>0.13030000030994415</c:v>
                </c:pt>
                <c:pt idx="36">
                  <c:v>0.13050000369548798</c:v>
                </c:pt>
                <c:pt idx="37">
                  <c:v>0.13369999825954437</c:v>
                </c:pt>
                <c:pt idx="38">
                  <c:v>0.13420000672340393</c:v>
                </c:pt>
                <c:pt idx="39">
                  <c:v>0.13510000705718994</c:v>
                </c:pt>
                <c:pt idx="40">
                  <c:v>0.13600000739097595</c:v>
                </c:pt>
                <c:pt idx="41">
                  <c:v>0.13629999756813049</c:v>
                </c:pt>
                <c:pt idx="42">
                  <c:v>0.13869999349117279</c:v>
                </c:pt>
                <c:pt idx="43">
                  <c:v>0.18331000208854675</c:v>
                </c:pt>
                <c:pt idx="44">
                  <c:v>0.18784999847412109</c:v>
                </c:pt>
                <c:pt idx="45">
                  <c:v>0.26420000195503235</c:v>
                </c:pt>
                <c:pt idx="46">
                  <c:v>0.26629999279975891</c:v>
                </c:pt>
                <c:pt idx="47">
                  <c:v>0.2843799889087677</c:v>
                </c:pt>
                <c:pt idx="48">
                  <c:v>0.29372000694274902</c:v>
                </c:pt>
              </c:numCache>
            </c:numRef>
          </c:val>
          <c:extLst>
            <c:ext xmlns:c16="http://schemas.microsoft.com/office/drawing/2014/chart" uri="{C3380CC4-5D6E-409C-BE32-E72D297353CC}">
              <c16:uniqueId val="{00000000-4D11-EC4F-B925-0F15D2129A7B}"/>
            </c:ext>
          </c:extLst>
        </c:ser>
        <c:dLbls>
          <c:showLegendKey val="0"/>
          <c:showVal val="0"/>
          <c:showCatName val="0"/>
          <c:showSerName val="0"/>
          <c:showPercent val="0"/>
          <c:showBubbleSize val="0"/>
        </c:dLbls>
        <c:gapWidth val="219"/>
        <c:overlap val="-27"/>
        <c:axId val="1822240255"/>
        <c:axId val="1822251071"/>
      </c:barChart>
      <c:lineChart>
        <c:grouping val="standard"/>
        <c:varyColors val="0"/>
        <c:ser>
          <c:idx val="1"/>
          <c:order val="1"/>
          <c:tx>
            <c:v>IBRD rate</c:v>
          </c:tx>
          <c:spPr>
            <a:ln w="15875" cap="rnd">
              <a:solidFill>
                <a:schemeClr val="tx1"/>
              </a:solidFill>
              <a:prstDash val="solid"/>
              <a:round/>
            </a:ln>
            <a:effectLst/>
          </c:spPr>
          <c:marker>
            <c:symbol val="none"/>
          </c:marker>
          <c:dLbls>
            <c:dLbl>
              <c:idx val="0"/>
              <c:layout>
                <c:manualLayout>
                  <c:x val="-1.8018018018018018E-2"/>
                  <c:y val="-3.373955506151359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1-4D11-EC4F-B925-0F15D2129A7B}"/>
                </c:ext>
              </c:extLst>
            </c:dLbl>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Century Gothic" panose="020B0502020202020204" pitchFamily="34" charset="0"/>
                    <a:ea typeface="+mn-ea"/>
                    <a:cs typeface="BrownTT Light" panose="020B0404020101010102" pitchFamily="34" charset="77"/>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Bondyields!$A$2:$A$101</c:f>
              <c:strCache>
                <c:ptCount val="49"/>
                <c:pt idx="0">
                  <c:v>China</c:v>
                </c:pt>
                <c:pt idx="1">
                  <c:v>Thailand</c:v>
                </c:pt>
                <c:pt idx="2">
                  <c:v>Morocco</c:v>
                </c:pt>
                <c:pt idx="3">
                  <c:v>Malaysia</c:v>
                </c:pt>
                <c:pt idx="4">
                  <c:v>Mauritius</c:v>
                </c:pt>
                <c:pt idx="5">
                  <c:v>Bulgaria</c:v>
                </c:pt>
                <c:pt idx="6">
                  <c:v>Vietnam</c:v>
                </c:pt>
                <c:pt idx="7">
                  <c:v>Jamaica</c:v>
                </c:pt>
                <c:pt idx="8">
                  <c:v>Paraguay</c:v>
                </c:pt>
                <c:pt idx="9">
                  <c:v>Azerbaijan</c:v>
                </c:pt>
                <c:pt idx="10">
                  <c:v>Guatemala</c:v>
                </c:pt>
                <c:pt idx="11">
                  <c:v>Botswana</c:v>
                </c:pt>
                <c:pt idx="12">
                  <c:v>Philippines</c:v>
                </c:pt>
                <c:pt idx="13">
                  <c:v>Indonesia</c:v>
                </c:pt>
                <c:pt idx="14">
                  <c:v>Costa Rica</c:v>
                </c:pt>
                <c:pt idx="15">
                  <c:v>India</c:v>
                </c:pt>
                <c:pt idx="16">
                  <c:v>Albania</c:v>
                </c:pt>
                <c:pt idx="17">
                  <c:v>Serbia</c:v>
                </c:pt>
                <c:pt idx="18">
                  <c:v>Bangladesh</c:v>
                </c:pt>
                <c:pt idx="19">
                  <c:v>Peru</c:v>
                </c:pt>
                <c:pt idx="20">
                  <c:v>Uzbekistan</c:v>
                </c:pt>
                <c:pt idx="21">
                  <c:v>Senegal</c:v>
                </c:pt>
                <c:pt idx="22">
                  <c:v>Armenia</c:v>
                </c:pt>
                <c:pt idx="23">
                  <c:v>Bolivia</c:v>
                </c:pt>
                <c:pt idx="24">
                  <c:v>Mexico</c:v>
                </c:pt>
                <c:pt idx="25">
                  <c:v>Russia</c:v>
                </c:pt>
                <c:pt idx="26">
                  <c:v>Iraq</c:v>
                </c:pt>
                <c:pt idx="27">
                  <c:v>Benin</c:v>
                </c:pt>
                <c:pt idx="28">
                  <c:v>Rwanda</c:v>
                </c:pt>
                <c:pt idx="29">
                  <c:v>South Africa</c:v>
                </c:pt>
                <c:pt idx="30">
                  <c:v>Honduras</c:v>
                </c:pt>
                <c:pt idx="31">
                  <c:v>Namibia</c:v>
                </c:pt>
                <c:pt idx="32">
                  <c:v>Brazil</c:v>
                </c:pt>
                <c:pt idx="33">
                  <c:v>Cameroon</c:v>
                </c:pt>
                <c:pt idx="34">
                  <c:v>Pakistan</c:v>
                </c:pt>
                <c:pt idx="35">
                  <c:v>Turkey</c:v>
                </c:pt>
                <c:pt idx="36">
                  <c:v>Kazakhstan</c:v>
                </c:pt>
                <c:pt idx="37">
                  <c:v>Gabon</c:v>
                </c:pt>
                <c:pt idx="38">
                  <c:v>PNG</c:v>
                </c:pt>
                <c:pt idx="39">
                  <c:v>Nigeria</c:v>
                </c:pt>
                <c:pt idx="40">
                  <c:v>Angola</c:v>
                </c:pt>
                <c:pt idx="41">
                  <c:v>Colombia</c:v>
                </c:pt>
                <c:pt idx="42">
                  <c:v>Kenya</c:v>
                </c:pt>
                <c:pt idx="43">
                  <c:v>Uganda</c:v>
                </c:pt>
                <c:pt idx="44">
                  <c:v>Egypt</c:v>
                </c:pt>
                <c:pt idx="45">
                  <c:v>Ukraine</c:v>
                </c:pt>
                <c:pt idx="46">
                  <c:v>Ghana</c:v>
                </c:pt>
                <c:pt idx="47">
                  <c:v>Sri Lanka</c:v>
                </c:pt>
                <c:pt idx="48">
                  <c:v>Zambia</c:v>
                </c:pt>
              </c:strCache>
            </c:strRef>
          </c:cat>
          <c:val>
            <c:numRef>
              <c:f>Bondyields!$I$2:$I$101</c:f>
              <c:numCache>
                <c:formatCode>0.00%</c:formatCode>
                <c:ptCount val="49"/>
                <c:pt idx="0">
                  <c:v>5.1899999380111694E-2</c:v>
                </c:pt>
                <c:pt idx="1">
                  <c:v>5.1899999380111694E-2</c:v>
                </c:pt>
                <c:pt idx="2">
                  <c:v>5.1899999380111694E-2</c:v>
                </c:pt>
                <c:pt idx="3">
                  <c:v>5.1899999380111694E-2</c:v>
                </c:pt>
                <c:pt idx="4">
                  <c:v>5.1899999380111694E-2</c:v>
                </c:pt>
                <c:pt idx="5">
                  <c:v>5.1899999380111694E-2</c:v>
                </c:pt>
                <c:pt idx="6">
                  <c:v>5.1899999380111694E-2</c:v>
                </c:pt>
                <c:pt idx="7">
                  <c:v>5.1899999380111694E-2</c:v>
                </c:pt>
                <c:pt idx="8">
                  <c:v>5.1899999380111694E-2</c:v>
                </c:pt>
                <c:pt idx="9">
                  <c:v>5.1899999380111694E-2</c:v>
                </c:pt>
                <c:pt idx="10">
                  <c:v>5.1899999380111694E-2</c:v>
                </c:pt>
                <c:pt idx="11">
                  <c:v>5.1899999380111694E-2</c:v>
                </c:pt>
                <c:pt idx="12">
                  <c:v>5.1899999380111694E-2</c:v>
                </c:pt>
                <c:pt idx="13">
                  <c:v>5.1899999380111694E-2</c:v>
                </c:pt>
                <c:pt idx="14">
                  <c:v>5.1899999380111694E-2</c:v>
                </c:pt>
                <c:pt idx="15">
                  <c:v>5.1899999380111694E-2</c:v>
                </c:pt>
                <c:pt idx="16">
                  <c:v>5.1899999380111694E-2</c:v>
                </c:pt>
                <c:pt idx="17">
                  <c:v>5.1899999380111694E-2</c:v>
                </c:pt>
                <c:pt idx="18">
                  <c:v>5.1899999380111694E-2</c:v>
                </c:pt>
                <c:pt idx="19">
                  <c:v>5.1899999380111694E-2</c:v>
                </c:pt>
                <c:pt idx="20">
                  <c:v>5.1899999380111694E-2</c:v>
                </c:pt>
                <c:pt idx="21">
                  <c:v>5.1899999380111694E-2</c:v>
                </c:pt>
                <c:pt idx="22">
                  <c:v>5.1899999380111694E-2</c:v>
                </c:pt>
                <c:pt idx="23">
                  <c:v>5.1899999380111694E-2</c:v>
                </c:pt>
                <c:pt idx="24">
                  <c:v>5.1899999380111694E-2</c:v>
                </c:pt>
                <c:pt idx="25">
                  <c:v>5.1899999380111694E-2</c:v>
                </c:pt>
                <c:pt idx="26">
                  <c:v>5.1899999380111694E-2</c:v>
                </c:pt>
                <c:pt idx="27">
                  <c:v>5.1899999380111694E-2</c:v>
                </c:pt>
                <c:pt idx="28">
                  <c:v>5.1899999380111694E-2</c:v>
                </c:pt>
                <c:pt idx="29">
                  <c:v>5.1899999380111694E-2</c:v>
                </c:pt>
                <c:pt idx="30">
                  <c:v>5.1899999380111694E-2</c:v>
                </c:pt>
                <c:pt idx="31">
                  <c:v>5.1899999380111694E-2</c:v>
                </c:pt>
                <c:pt idx="32">
                  <c:v>5.1899999380111694E-2</c:v>
                </c:pt>
                <c:pt idx="33">
                  <c:v>5.1899999380111694E-2</c:v>
                </c:pt>
                <c:pt idx="34">
                  <c:v>5.1899999380111694E-2</c:v>
                </c:pt>
                <c:pt idx="35">
                  <c:v>5.1899999380111694E-2</c:v>
                </c:pt>
                <c:pt idx="36">
                  <c:v>5.1899999380111694E-2</c:v>
                </c:pt>
                <c:pt idx="37">
                  <c:v>5.1899999380111694E-2</c:v>
                </c:pt>
                <c:pt idx="38">
                  <c:v>5.1899999380111694E-2</c:v>
                </c:pt>
                <c:pt idx="39">
                  <c:v>5.1899999380111694E-2</c:v>
                </c:pt>
                <c:pt idx="40">
                  <c:v>5.1899999380111694E-2</c:v>
                </c:pt>
                <c:pt idx="41">
                  <c:v>5.1899999380111694E-2</c:v>
                </c:pt>
                <c:pt idx="42">
                  <c:v>5.1899999380111694E-2</c:v>
                </c:pt>
                <c:pt idx="43">
                  <c:v>5.1899999380111694E-2</c:v>
                </c:pt>
                <c:pt idx="44">
                  <c:v>5.1899999380111694E-2</c:v>
                </c:pt>
                <c:pt idx="45">
                  <c:v>5.1899999380111694E-2</c:v>
                </c:pt>
                <c:pt idx="46">
                  <c:v>5.1899999380111694E-2</c:v>
                </c:pt>
                <c:pt idx="47">
                  <c:v>5.1899999380111694E-2</c:v>
                </c:pt>
                <c:pt idx="48">
                  <c:v>5.1899999380111694E-2</c:v>
                </c:pt>
              </c:numCache>
            </c:numRef>
          </c:val>
          <c:smooth val="0"/>
          <c:extLst>
            <c:ext xmlns:c16="http://schemas.microsoft.com/office/drawing/2014/chart" uri="{C3380CC4-5D6E-409C-BE32-E72D297353CC}">
              <c16:uniqueId val="{00000002-4D11-EC4F-B925-0F15D2129A7B}"/>
            </c:ext>
          </c:extLst>
        </c:ser>
        <c:dLbls>
          <c:showLegendKey val="0"/>
          <c:showVal val="0"/>
          <c:showCatName val="0"/>
          <c:showSerName val="0"/>
          <c:showPercent val="0"/>
          <c:showBubbleSize val="0"/>
        </c:dLbls>
        <c:marker val="1"/>
        <c:smooth val="0"/>
        <c:axId val="1822240255"/>
        <c:axId val="1822251071"/>
      </c:lineChart>
      <c:catAx>
        <c:axId val="18222402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000" b="0" i="0" u="none" strike="noStrike" kern="1200" baseline="0">
                <a:solidFill>
                  <a:schemeClr val="tx1"/>
                </a:solidFill>
                <a:latin typeface="Century Gothic" panose="020B0502020202020204" pitchFamily="34" charset="0"/>
                <a:ea typeface="+mn-ea"/>
                <a:cs typeface="BrownTT Light" panose="020B0404020101010102" pitchFamily="34" charset="77"/>
              </a:defRPr>
            </a:pPr>
            <a:endParaRPr lang="en-US"/>
          </a:p>
        </c:txPr>
        <c:crossAx val="1822251071"/>
        <c:crosses val="autoZero"/>
        <c:auto val="1"/>
        <c:lblAlgn val="ctr"/>
        <c:lblOffset val="100"/>
        <c:tickLblSkip val="1"/>
        <c:noMultiLvlLbl val="0"/>
      </c:catAx>
      <c:valAx>
        <c:axId val="1822251071"/>
        <c:scaling>
          <c:orientation val="minMax"/>
          <c:max val="0.30000000000000004"/>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Century Gothic" panose="020B0502020202020204" pitchFamily="34" charset="0"/>
                <a:ea typeface="+mn-ea"/>
                <a:cs typeface="BrownTT Light" panose="020B0404020101010102" pitchFamily="34" charset="77"/>
              </a:defRPr>
            </a:pPr>
            <a:endParaRPr lang="en-US"/>
          </a:p>
        </c:txPr>
        <c:crossAx val="1822240255"/>
        <c:crossesAt val="1"/>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000" b="0" i="0">
          <a:solidFill>
            <a:schemeClr val="tx1"/>
          </a:solidFill>
          <a:latin typeface="Century Gothic" panose="020B0502020202020204" pitchFamily="34" charset="0"/>
          <a:cs typeface="BrownTT Light" panose="020B0404020101010102" pitchFamily="34" charset="77"/>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6AECE3-B767-8640-A383-F305D5FF0E12}" type="datetimeFigureOut">
              <a:rPr lang="en-US" smtClean="0"/>
              <a:t>2/8/2023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E9A12-BCE1-064E-B7A0-0D84592B7366}" type="slidenum">
              <a:rPr lang="en-US" smtClean="0"/>
              <a:t>‹#›</a:t>
            </a:fld>
            <a:endParaRPr lang="en-US"/>
          </a:p>
        </p:txBody>
      </p:sp>
    </p:spTree>
    <p:extLst>
      <p:ext uri="{BB962C8B-B14F-4D97-AF65-F5344CB8AC3E}">
        <p14:creationId xmlns:p14="http://schemas.microsoft.com/office/powerpoint/2010/main" val="2365260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4E9A12-BCE1-064E-B7A0-0D84592B7366}" type="slidenum">
              <a:rPr lang="en-US" smtClean="0"/>
              <a:t>2</a:t>
            </a:fld>
            <a:endParaRPr lang="en-US"/>
          </a:p>
        </p:txBody>
      </p:sp>
    </p:spTree>
    <p:extLst>
      <p:ext uri="{BB962C8B-B14F-4D97-AF65-F5344CB8AC3E}">
        <p14:creationId xmlns:p14="http://schemas.microsoft.com/office/powerpoint/2010/main" val="2520320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B4E9A12-BCE1-064E-B7A0-0D84592B7366}" type="slidenum">
              <a:rPr lang="en-US" smtClean="0"/>
              <a:t>3</a:t>
            </a:fld>
            <a:endParaRPr lang="en-US"/>
          </a:p>
        </p:txBody>
      </p:sp>
    </p:spTree>
    <p:extLst>
      <p:ext uri="{BB962C8B-B14F-4D97-AF65-F5344CB8AC3E}">
        <p14:creationId xmlns:p14="http://schemas.microsoft.com/office/powerpoint/2010/main" val="2676114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B4E9A12-BCE1-064E-B7A0-0D84592B7366}" type="slidenum">
              <a:rPr lang="en-US" smtClean="0"/>
              <a:t>4</a:t>
            </a:fld>
            <a:endParaRPr lang="en-US"/>
          </a:p>
        </p:txBody>
      </p:sp>
    </p:spTree>
    <p:extLst>
      <p:ext uri="{BB962C8B-B14F-4D97-AF65-F5344CB8AC3E}">
        <p14:creationId xmlns:p14="http://schemas.microsoft.com/office/powerpoint/2010/main" val="3782333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4E9A12-BCE1-064E-B7A0-0D84592B7366}" type="slidenum">
              <a:rPr lang="en-US" smtClean="0"/>
              <a:t>5</a:t>
            </a:fld>
            <a:endParaRPr lang="en-US"/>
          </a:p>
        </p:txBody>
      </p:sp>
    </p:spTree>
    <p:extLst>
      <p:ext uri="{BB962C8B-B14F-4D97-AF65-F5344CB8AC3E}">
        <p14:creationId xmlns:p14="http://schemas.microsoft.com/office/powerpoint/2010/main" val="361188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4E9A12-BCE1-064E-B7A0-0D84592B7366}" type="slidenum">
              <a:rPr lang="en-US" smtClean="0"/>
              <a:t>6</a:t>
            </a:fld>
            <a:endParaRPr lang="en-US"/>
          </a:p>
        </p:txBody>
      </p:sp>
    </p:spTree>
    <p:extLst>
      <p:ext uri="{BB962C8B-B14F-4D97-AF65-F5344CB8AC3E}">
        <p14:creationId xmlns:p14="http://schemas.microsoft.com/office/powerpoint/2010/main" val="1666506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4E9A12-BCE1-064E-B7A0-0D84592B7366}" type="slidenum">
              <a:rPr lang="en-US" smtClean="0"/>
              <a:t>7</a:t>
            </a:fld>
            <a:endParaRPr lang="en-US"/>
          </a:p>
        </p:txBody>
      </p:sp>
    </p:spTree>
    <p:extLst>
      <p:ext uri="{BB962C8B-B14F-4D97-AF65-F5344CB8AC3E}">
        <p14:creationId xmlns:p14="http://schemas.microsoft.com/office/powerpoint/2010/main" val="1504944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B4E9A12-BCE1-064E-B7A0-0D84592B7366}" type="slidenum">
              <a:rPr lang="en-US" smtClean="0"/>
              <a:t>8</a:t>
            </a:fld>
            <a:endParaRPr lang="en-US"/>
          </a:p>
        </p:txBody>
      </p:sp>
    </p:spTree>
    <p:extLst>
      <p:ext uri="{BB962C8B-B14F-4D97-AF65-F5344CB8AC3E}">
        <p14:creationId xmlns:p14="http://schemas.microsoft.com/office/powerpoint/2010/main" val="2091360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B4E9A12-BCE1-064E-B7A0-0D84592B7366}" type="slidenum">
              <a:rPr lang="en-US" smtClean="0"/>
              <a:t>9</a:t>
            </a:fld>
            <a:endParaRPr lang="en-US"/>
          </a:p>
        </p:txBody>
      </p:sp>
    </p:spTree>
    <p:extLst>
      <p:ext uri="{BB962C8B-B14F-4D97-AF65-F5344CB8AC3E}">
        <p14:creationId xmlns:p14="http://schemas.microsoft.com/office/powerpoint/2010/main" val="885640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4E9A12-BCE1-064E-B7A0-0D84592B7366}" type="slidenum">
              <a:rPr lang="en-US" smtClean="0"/>
              <a:t>10</a:t>
            </a:fld>
            <a:endParaRPr lang="en-US"/>
          </a:p>
        </p:txBody>
      </p:sp>
    </p:spTree>
    <p:extLst>
      <p:ext uri="{BB962C8B-B14F-4D97-AF65-F5344CB8AC3E}">
        <p14:creationId xmlns:p14="http://schemas.microsoft.com/office/powerpoint/2010/main" val="295437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B4E9A12-BCE1-064E-B7A0-0D84592B7366}" type="slidenum">
              <a:rPr lang="en-US" smtClean="0"/>
              <a:t>11</a:t>
            </a:fld>
            <a:endParaRPr lang="en-US"/>
          </a:p>
        </p:txBody>
      </p:sp>
    </p:spTree>
    <p:extLst>
      <p:ext uri="{BB962C8B-B14F-4D97-AF65-F5344CB8AC3E}">
        <p14:creationId xmlns:p14="http://schemas.microsoft.com/office/powerpoint/2010/main" val="3135819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4E9A12-BCE1-064E-B7A0-0D84592B7366}" type="slidenum">
              <a:rPr lang="en-US" smtClean="0"/>
              <a:t>12</a:t>
            </a:fld>
            <a:endParaRPr lang="en-US"/>
          </a:p>
        </p:txBody>
      </p:sp>
    </p:spTree>
    <p:extLst>
      <p:ext uri="{BB962C8B-B14F-4D97-AF65-F5344CB8AC3E}">
        <p14:creationId xmlns:p14="http://schemas.microsoft.com/office/powerpoint/2010/main" val="2112089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4E9A12-BCE1-064E-B7A0-0D84592B7366}" type="slidenum">
              <a:rPr lang="en-US" smtClean="0"/>
              <a:t>14</a:t>
            </a:fld>
            <a:endParaRPr lang="en-US"/>
          </a:p>
        </p:txBody>
      </p:sp>
    </p:spTree>
    <p:extLst>
      <p:ext uri="{BB962C8B-B14F-4D97-AF65-F5344CB8AC3E}">
        <p14:creationId xmlns:p14="http://schemas.microsoft.com/office/powerpoint/2010/main" val="3289149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B4E9A12-BCE1-064E-B7A0-0D84592B7366}" type="slidenum">
              <a:rPr lang="en-US" smtClean="0"/>
              <a:t>15</a:t>
            </a:fld>
            <a:endParaRPr lang="en-US"/>
          </a:p>
        </p:txBody>
      </p:sp>
    </p:spTree>
    <p:extLst>
      <p:ext uri="{BB962C8B-B14F-4D97-AF65-F5344CB8AC3E}">
        <p14:creationId xmlns:p14="http://schemas.microsoft.com/office/powerpoint/2010/main" val="2485636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4E9A12-BCE1-064E-B7A0-0D84592B7366}" type="slidenum">
              <a:rPr lang="en-US" smtClean="0"/>
              <a:t>16</a:t>
            </a:fld>
            <a:endParaRPr lang="en-US"/>
          </a:p>
        </p:txBody>
      </p:sp>
    </p:spTree>
    <p:extLst>
      <p:ext uri="{BB962C8B-B14F-4D97-AF65-F5344CB8AC3E}">
        <p14:creationId xmlns:p14="http://schemas.microsoft.com/office/powerpoint/2010/main" val="2028834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4E9A12-BCE1-064E-B7A0-0D84592B7366}" type="slidenum">
              <a:rPr lang="en-US" smtClean="0"/>
              <a:t>17</a:t>
            </a:fld>
            <a:endParaRPr lang="en-US"/>
          </a:p>
        </p:txBody>
      </p:sp>
    </p:spTree>
    <p:extLst>
      <p:ext uri="{BB962C8B-B14F-4D97-AF65-F5344CB8AC3E}">
        <p14:creationId xmlns:p14="http://schemas.microsoft.com/office/powerpoint/2010/main" val="867506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75D0F39-777D-41B6-BE32-CB4CF35E6F9F}" type="datetime1">
              <a:rPr lang="en-US" smtClean="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0BC24E-1FCA-104C-9491-B86F520D4F68}" type="slidenum">
              <a:rPr lang="en-US" smtClean="0"/>
              <a:t>‹#›</a:t>
            </a:fld>
            <a:endParaRPr lang="en-US"/>
          </a:p>
        </p:txBody>
      </p:sp>
    </p:spTree>
    <p:extLst>
      <p:ext uri="{BB962C8B-B14F-4D97-AF65-F5344CB8AC3E}">
        <p14:creationId xmlns:p14="http://schemas.microsoft.com/office/powerpoint/2010/main" val="1556061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4404778-0A19-46EE-9A25-B21F54A9BD5D}" type="datetime1">
              <a:rPr lang="en-US" smtClean="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0BC24E-1FCA-104C-9491-B86F520D4F68}" type="slidenum">
              <a:rPr lang="en-US" smtClean="0"/>
              <a:t>‹#›</a:t>
            </a:fld>
            <a:endParaRPr lang="en-US"/>
          </a:p>
        </p:txBody>
      </p:sp>
    </p:spTree>
    <p:extLst>
      <p:ext uri="{BB962C8B-B14F-4D97-AF65-F5344CB8AC3E}">
        <p14:creationId xmlns:p14="http://schemas.microsoft.com/office/powerpoint/2010/main" val="3151956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CD90E29-4BF6-4FA0-8856-52056E842431}" type="datetime1">
              <a:rPr lang="en-US" smtClean="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0BC24E-1FCA-104C-9491-B86F520D4F68}" type="slidenum">
              <a:rPr lang="en-US" smtClean="0"/>
              <a:t>‹#›</a:t>
            </a:fld>
            <a:endParaRPr lang="en-US"/>
          </a:p>
        </p:txBody>
      </p:sp>
    </p:spTree>
    <p:extLst>
      <p:ext uri="{BB962C8B-B14F-4D97-AF65-F5344CB8AC3E}">
        <p14:creationId xmlns:p14="http://schemas.microsoft.com/office/powerpoint/2010/main" val="3485799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0D5EEBFD-776D-4529-91B6-27AF135A5F2D}" type="datetime1">
              <a:rPr lang="en-US" smtClean="0"/>
              <a:t>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0BC24E-1FCA-104C-9491-B86F520D4F68}" type="slidenum">
              <a:rPr lang="en-US" smtClean="0"/>
              <a:t>‹#›</a:t>
            </a:fld>
            <a:endParaRPr lang="en-US"/>
          </a:p>
        </p:txBody>
      </p:sp>
    </p:spTree>
    <p:extLst>
      <p:ext uri="{BB962C8B-B14F-4D97-AF65-F5344CB8AC3E}">
        <p14:creationId xmlns:p14="http://schemas.microsoft.com/office/powerpoint/2010/main" val="1089168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AC3C46D-7B23-4816-B4CE-FE9EE60C199D}" type="datetime1">
              <a:rPr lang="en-US" smtClean="0"/>
              <a:t>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0BC24E-1FCA-104C-9491-B86F520D4F68}" type="slidenum">
              <a:rPr lang="en-US" smtClean="0"/>
              <a:t>‹#›</a:t>
            </a:fld>
            <a:endParaRPr lang="en-US"/>
          </a:p>
        </p:txBody>
      </p:sp>
    </p:spTree>
    <p:extLst>
      <p:ext uri="{BB962C8B-B14F-4D97-AF65-F5344CB8AC3E}">
        <p14:creationId xmlns:p14="http://schemas.microsoft.com/office/powerpoint/2010/main" val="193237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0F9E438-8546-4B0F-B151-5E3F666072FB}" type="datetime1">
              <a:rPr lang="en-US" smtClean="0"/>
              <a:t>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0BC24E-1FCA-104C-9491-B86F520D4F68}" type="slidenum">
              <a:rPr lang="en-US" smtClean="0"/>
              <a:t>‹#›</a:t>
            </a:fld>
            <a:endParaRPr lang="en-US"/>
          </a:p>
        </p:txBody>
      </p:sp>
    </p:spTree>
    <p:extLst>
      <p:ext uri="{BB962C8B-B14F-4D97-AF65-F5344CB8AC3E}">
        <p14:creationId xmlns:p14="http://schemas.microsoft.com/office/powerpoint/2010/main" val="207517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79EFD0-1625-4795-9C2C-270A352814F1}" type="datetime1">
              <a:rPr lang="en-US" smtClean="0"/>
              <a:t>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0BC24E-1FCA-104C-9491-B86F520D4F68}" type="slidenum">
              <a:rPr lang="en-US" smtClean="0"/>
              <a:t>‹#›</a:t>
            </a:fld>
            <a:endParaRPr lang="en-US"/>
          </a:p>
        </p:txBody>
      </p:sp>
    </p:spTree>
    <p:extLst>
      <p:ext uri="{BB962C8B-B14F-4D97-AF65-F5344CB8AC3E}">
        <p14:creationId xmlns:p14="http://schemas.microsoft.com/office/powerpoint/2010/main" val="3118001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DF58684-F9B7-47A8-85CD-2E84402914DE}" type="datetime1">
              <a:rPr lang="en-US" smtClean="0"/>
              <a:t>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0BC24E-1FCA-104C-9491-B86F520D4F68}" type="slidenum">
              <a:rPr lang="en-US" smtClean="0"/>
              <a:t>‹#›</a:t>
            </a:fld>
            <a:endParaRPr lang="en-US"/>
          </a:p>
        </p:txBody>
      </p:sp>
    </p:spTree>
    <p:extLst>
      <p:ext uri="{BB962C8B-B14F-4D97-AF65-F5344CB8AC3E}">
        <p14:creationId xmlns:p14="http://schemas.microsoft.com/office/powerpoint/2010/main" val="1917054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6130223-BB1F-41EB-A357-63F6F170BA9E}" type="datetime1">
              <a:rPr lang="en-US" smtClean="0"/>
              <a:t>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0BC24E-1FCA-104C-9491-B86F520D4F68}" type="slidenum">
              <a:rPr lang="en-US" smtClean="0"/>
              <a:t>‹#›</a:t>
            </a:fld>
            <a:endParaRPr lang="en-US"/>
          </a:p>
        </p:txBody>
      </p:sp>
    </p:spTree>
    <p:extLst>
      <p:ext uri="{BB962C8B-B14F-4D97-AF65-F5344CB8AC3E}">
        <p14:creationId xmlns:p14="http://schemas.microsoft.com/office/powerpoint/2010/main" val="414549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918F30C-C1B1-4CDB-A449-9347576E2585}" type="datetime1">
              <a:rPr lang="en-US" smtClean="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0BC24E-1FCA-104C-9491-B86F520D4F68}" type="slidenum">
              <a:rPr lang="en-US" smtClean="0"/>
              <a:t>‹#›</a:t>
            </a:fld>
            <a:endParaRPr lang="en-US"/>
          </a:p>
        </p:txBody>
      </p:sp>
    </p:spTree>
    <p:extLst>
      <p:ext uri="{BB962C8B-B14F-4D97-AF65-F5344CB8AC3E}">
        <p14:creationId xmlns:p14="http://schemas.microsoft.com/office/powerpoint/2010/main" val="74468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BE01C5A-F9A7-4F53-A92C-6EAA02F81C00}" type="datetime1">
              <a:rPr lang="en-US" smtClean="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0BC24E-1FCA-104C-9491-B86F520D4F68}" type="slidenum">
              <a:rPr lang="en-US" smtClean="0"/>
              <a:t>‹#›</a:t>
            </a:fld>
            <a:endParaRPr lang="en-US"/>
          </a:p>
        </p:txBody>
      </p:sp>
    </p:spTree>
    <p:extLst>
      <p:ext uri="{BB962C8B-B14F-4D97-AF65-F5344CB8AC3E}">
        <p14:creationId xmlns:p14="http://schemas.microsoft.com/office/powerpoint/2010/main" val="612325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63E399-3FC3-4092-8D2F-1F44985130B4}" type="datetime1">
              <a:rPr lang="en-US" smtClean="0"/>
              <a:t>2/8/2023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BC24E-1FCA-104C-9491-B86F520D4F68}" type="slidenum">
              <a:rPr lang="en-US" smtClean="0"/>
              <a:t>‹#›</a:t>
            </a:fld>
            <a:endParaRPr lang="en-US"/>
          </a:p>
        </p:txBody>
      </p:sp>
      <p:sp>
        <p:nvSpPr>
          <p:cNvPr id="7" name="Title 1">
            <a:extLst>
              <a:ext uri="{FF2B5EF4-FFF2-40B4-BE49-F238E27FC236}">
                <a16:creationId xmlns:a16="http://schemas.microsoft.com/office/drawing/2014/main" id="{962CC8CC-C28C-2356-B649-47BD729EA36D}"/>
              </a:ext>
            </a:extLst>
          </p:cNvPr>
          <p:cNvSpPr txBox="1">
            <a:spLocks/>
          </p:cNvSpPr>
          <p:nvPr userDrawn="1"/>
        </p:nvSpPr>
        <p:spPr>
          <a:xfrm>
            <a:off x="414608" y="238676"/>
            <a:ext cx="10549646" cy="102800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200" b="1">
              <a:solidFill>
                <a:srgbClr val="37546C"/>
              </a:solidFill>
              <a:latin typeface="Century Gothic" panose="020B0502020202020204" pitchFamily="34" charset="0"/>
            </a:endParaRPr>
          </a:p>
        </p:txBody>
      </p:sp>
    </p:spTree>
    <p:extLst>
      <p:ext uri="{BB962C8B-B14F-4D97-AF65-F5344CB8AC3E}">
        <p14:creationId xmlns:p14="http://schemas.microsoft.com/office/powerpoint/2010/main" val="21532333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9377" r="51706"/>
          <a:stretch/>
        </p:blipFill>
        <p:spPr>
          <a:xfrm>
            <a:off x="7517422" y="0"/>
            <a:ext cx="4719421" cy="6858000"/>
          </a:xfrm>
          <a:prstGeom prst="rect">
            <a:avLst/>
          </a:prstGeom>
          <a:effectLst/>
        </p:spPr>
      </p:pic>
      <p:sp>
        <p:nvSpPr>
          <p:cNvPr id="11" name="Rectangle 2"/>
          <p:cNvSpPr txBox="1">
            <a:spLocks noChangeArrowheads="1"/>
          </p:cNvSpPr>
          <p:nvPr/>
        </p:nvSpPr>
        <p:spPr bwMode="auto">
          <a:xfrm>
            <a:off x="627230" y="942976"/>
            <a:ext cx="5992645" cy="2486024"/>
          </a:xfrm>
          <a:prstGeom prst="rect">
            <a:avLst/>
          </a:prstGeom>
          <a:noFill/>
          <a:ln w="9525">
            <a:noFill/>
            <a:miter lim="800000"/>
            <a:headEnd/>
            <a:tailEnd/>
          </a:ln>
        </p:spPr>
        <p:txBody>
          <a:bodyPr lIns="35695" tIns="35695" rIns="35695" bIns="35695" anchor="ctr"/>
          <a:lstStyle/>
          <a:p>
            <a:pPr marL="0" marR="0" lvl="0" indent="0" algn="l" defTabSz="457200" rtl="0" eaLnBrk="1" fontAlgn="auto" latinLnBrk="0" hangingPunct="1">
              <a:lnSpc>
                <a:spcPct val="115000"/>
              </a:lnSpc>
              <a:spcBef>
                <a:spcPts val="0"/>
              </a:spcBef>
              <a:spcAft>
                <a:spcPts val="0"/>
              </a:spcAft>
              <a:buClrTx/>
              <a:buSzTx/>
              <a:buFontTx/>
              <a:buNone/>
              <a:tabLst/>
              <a:defRPr/>
            </a:pPr>
            <a:r>
              <a:rPr lang="en-US" sz="2800" b="1" dirty="0">
                <a:solidFill>
                  <a:srgbClr val="44546A"/>
                </a:solidFill>
                <a:latin typeface="Calibri" panose="020F0502020204030204"/>
                <a:ea typeface="Roboto Slab"/>
                <a:cs typeface="Roboto Slab"/>
                <a:sym typeface="Roboto Slab"/>
              </a:rPr>
              <a:t>Scaling up financing for development, climate and nature</a:t>
            </a:r>
          </a:p>
          <a:p>
            <a:pPr marL="0" marR="0" lvl="0" indent="0" algn="l" defTabSz="457200" rtl="0" eaLnBrk="1" fontAlgn="auto" latinLnBrk="0" hangingPunct="1">
              <a:lnSpc>
                <a:spcPct val="115000"/>
              </a:lnSpc>
              <a:spcBef>
                <a:spcPts val="0"/>
              </a:spcBef>
              <a:spcAft>
                <a:spcPts val="0"/>
              </a:spcAft>
              <a:buClrTx/>
              <a:buSzTx/>
              <a:buFontTx/>
              <a:buNone/>
              <a:tabLst/>
              <a:defRPr/>
            </a:pPr>
            <a:r>
              <a:rPr kumimoji="0" lang="en-US" sz="2800" b="1" i="1" u="none" strike="noStrike" kern="1200" cap="none" spc="0" normalizeH="0" baseline="0" noProof="0" dirty="0">
                <a:ln>
                  <a:noFill/>
                </a:ln>
                <a:solidFill>
                  <a:srgbClr val="44546A"/>
                </a:solidFill>
                <a:effectLst/>
                <a:uLnTx/>
                <a:uFillTx/>
                <a:latin typeface="Calibri" panose="020F0502020204030204"/>
                <a:ea typeface="Roboto Slab"/>
                <a:cs typeface="Roboto Slab"/>
                <a:sym typeface="Roboto Slab"/>
              </a:rPr>
              <a:t>Implications for MIGA</a:t>
            </a:r>
          </a:p>
          <a:p>
            <a:pPr marL="0" marR="0" lvl="0" indent="0" algn="l" defTabSz="457200" rtl="0" eaLnBrk="1" fontAlgn="auto" latinLnBrk="0" hangingPunct="1">
              <a:lnSpc>
                <a:spcPct val="115000"/>
              </a:lnSpc>
              <a:spcBef>
                <a:spcPts val="0"/>
              </a:spcBef>
              <a:spcAft>
                <a:spcPts val="0"/>
              </a:spcAft>
              <a:buClrTx/>
              <a:buSzTx/>
              <a:buFontTx/>
              <a:buNone/>
              <a:tabLst/>
              <a:defRPr/>
            </a:pPr>
            <a:endParaRPr kumimoji="0" lang="en-GB" altLang="en-US" sz="2000" b="1" i="0" u="none" strike="noStrike" kern="1200" cap="none" spc="0" normalizeH="0" baseline="0" noProof="0" dirty="0">
              <a:ln>
                <a:noFill/>
              </a:ln>
              <a:solidFill>
                <a:srgbClr val="44546A"/>
              </a:solidFill>
              <a:effectLst/>
              <a:uLnTx/>
              <a:uFillTx/>
              <a:latin typeface="Calibri" panose="020F0502020204030204"/>
              <a:ea typeface="+mn-ea"/>
              <a:cs typeface="Segoe UI" pitchFamily="34" charset="0"/>
            </a:endParaRPr>
          </a:p>
          <a:p>
            <a:pPr marL="0" marR="0" lvl="0" indent="0" algn="l" defTabSz="642907" rtl="0" eaLnBrk="1" fontAlgn="auto" latinLnBrk="0" hangingPunct="1">
              <a:lnSpc>
                <a:spcPct val="100000"/>
              </a:lnSpc>
              <a:spcBef>
                <a:spcPts val="0"/>
              </a:spcBef>
              <a:spcAft>
                <a:spcPts val="0"/>
              </a:spcAft>
              <a:buClrTx/>
              <a:buSzTx/>
              <a:buFontTx/>
              <a:buNone/>
              <a:tabLst/>
              <a:defRPr/>
            </a:pPr>
            <a:endParaRPr kumimoji="0" lang="en-GB" altLang="en-US" sz="2400" b="1" i="0" u="none" strike="noStrike" kern="1200" cap="none" spc="0" normalizeH="0" baseline="0" noProof="0" dirty="0">
              <a:ln>
                <a:noFill/>
              </a:ln>
              <a:solidFill>
                <a:srgbClr val="44546A"/>
              </a:solidFill>
              <a:effectLst/>
              <a:uLnTx/>
              <a:uFillTx/>
              <a:latin typeface="Calibri" panose="020F0502020204030204"/>
              <a:ea typeface="+mn-ea"/>
              <a:cs typeface="Segoe UI" pitchFamily="34" charset="0"/>
            </a:endParaRPr>
          </a:p>
        </p:txBody>
      </p:sp>
      <p:sp>
        <p:nvSpPr>
          <p:cNvPr id="2" name="Rectangle 1"/>
          <p:cNvSpPr/>
          <p:nvPr/>
        </p:nvSpPr>
        <p:spPr>
          <a:xfrm>
            <a:off x="627230" y="3014928"/>
            <a:ext cx="4719421" cy="1384995"/>
          </a:xfrm>
          <a:prstGeom prst="rect">
            <a:avLst/>
          </a:prstGeom>
        </p:spPr>
        <p:txBody>
          <a:bodyPr wrap="square">
            <a:spAutoFit/>
          </a:bodyPr>
          <a:lstStyle/>
          <a:p>
            <a:pPr marL="0" marR="0" lvl="0" indent="0" algn="l" defTabSz="642907" rtl="0" eaLnBrk="1" fontAlgn="auto" latinLnBrk="0" hangingPunct="1">
              <a:lnSpc>
                <a:spcPct val="100000"/>
              </a:lnSpc>
              <a:spcBef>
                <a:spcPts val="0"/>
              </a:spcBef>
              <a:spcAft>
                <a:spcPts val="0"/>
              </a:spcAft>
              <a:buClrTx/>
              <a:buSzTx/>
              <a:buFontTx/>
              <a:buNone/>
              <a:tabLst/>
              <a:defRPr/>
            </a:pPr>
            <a:r>
              <a:rPr lang="en-US" altLang="en-US" b="1" dirty="0">
                <a:solidFill>
                  <a:srgbClr val="44546A"/>
                </a:solidFill>
                <a:latin typeface="Calibri" panose="020F0502020204030204"/>
                <a:cs typeface="Segoe UI" pitchFamily="34" charset="0"/>
              </a:rPr>
              <a:t>Amar Bhattacharya</a:t>
            </a:r>
          </a:p>
          <a:p>
            <a:pPr marL="0" marR="0" lvl="0" indent="0" algn="l" defTabSz="642907" rtl="0" eaLnBrk="1" fontAlgn="auto" latinLnBrk="0" hangingPunct="1">
              <a:lnSpc>
                <a:spcPct val="100000"/>
              </a:lnSpc>
              <a:spcBef>
                <a:spcPts val="0"/>
              </a:spcBef>
              <a:spcAft>
                <a:spcPts val="0"/>
              </a:spcAft>
              <a:buClrTx/>
              <a:buSzTx/>
              <a:buFontTx/>
              <a:buNone/>
              <a:tabLst/>
              <a:defRPr/>
            </a:pPr>
            <a:endParaRPr lang="en-US" altLang="en-US" dirty="0">
              <a:solidFill>
                <a:srgbClr val="44546A"/>
              </a:solidFill>
              <a:latin typeface="Calibri" panose="020F0502020204030204"/>
              <a:cs typeface="Segoe UI" pitchFamily="34" charset="0"/>
            </a:endParaRPr>
          </a:p>
          <a:p>
            <a:pPr marL="0" marR="0" lvl="0" indent="0" algn="l" defTabSz="642907" rtl="0" eaLnBrk="1" fontAlgn="auto" latinLnBrk="0" hangingPunct="1">
              <a:lnSpc>
                <a:spcPct val="100000"/>
              </a:lnSpc>
              <a:spcBef>
                <a:spcPts val="0"/>
              </a:spcBef>
              <a:spcAft>
                <a:spcPts val="0"/>
              </a:spcAft>
              <a:buClrTx/>
              <a:buSzTx/>
              <a:buFontTx/>
              <a:buNone/>
              <a:tabLst/>
              <a:defRPr/>
            </a:pPr>
            <a:endParaRPr lang="en-US" altLang="en-US" sz="1600" i="1" dirty="0">
              <a:solidFill>
                <a:srgbClr val="44546A"/>
              </a:solidFill>
              <a:latin typeface="Calibri" panose="020F0502020204030204"/>
              <a:cs typeface="Segoe UI" pitchFamily="34" charset="0"/>
            </a:endParaRPr>
          </a:p>
          <a:p>
            <a:pPr marL="0" marR="0" lvl="0" indent="0" algn="l" defTabSz="642907" rtl="0" eaLnBrk="1" fontAlgn="auto" latinLnBrk="0" hangingPunct="1">
              <a:lnSpc>
                <a:spcPct val="100000"/>
              </a:lnSpc>
              <a:spcBef>
                <a:spcPts val="0"/>
              </a:spcBef>
              <a:spcAft>
                <a:spcPts val="0"/>
              </a:spcAft>
              <a:buClrTx/>
              <a:buSzTx/>
              <a:buFontTx/>
              <a:buNone/>
              <a:tabLst/>
              <a:defRPr/>
            </a:pPr>
            <a:r>
              <a:rPr lang="en-US" altLang="en-US" sz="1600" i="1" dirty="0">
                <a:solidFill>
                  <a:srgbClr val="44546A"/>
                </a:solidFill>
                <a:latin typeface="Calibri" panose="020F0502020204030204"/>
                <a:cs typeface="Segoe UI" pitchFamily="34" charset="0"/>
              </a:rPr>
              <a:t>MIGA Presentation</a:t>
            </a:r>
            <a:endParaRPr kumimoji="0" lang="en-US" altLang="en-US" sz="1600" b="0" i="1" u="none" strike="noStrike" kern="1200" cap="none" spc="0" normalizeH="0" baseline="0" noProof="0" dirty="0">
              <a:ln>
                <a:noFill/>
              </a:ln>
              <a:solidFill>
                <a:srgbClr val="44546A"/>
              </a:solidFill>
              <a:effectLst/>
              <a:uLnTx/>
              <a:uFillTx/>
              <a:latin typeface="Calibri" panose="020F0502020204030204"/>
              <a:ea typeface="+mn-ea"/>
              <a:cs typeface="Segoe UI" pitchFamily="34" charset="0"/>
            </a:endParaRPr>
          </a:p>
          <a:p>
            <a:pPr marL="0" marR="0" lvl="0" indent="0" algn="l" defTabSz="642907" rtl="0" eaLnBrk="1" fontAlgn="auto" latinLnBrk="0" hangingPunct="1">
              <a:lnSpc>
                <a:spcPct val="100000"/>
              </a:lnSpc>
              <a:spcBef>
                <a:spcPts val="0"/>
              </a:spcBef>
              <a:spcAft>
                <a:spcPts val="0"/>
              </a:spcAft>
              <a:buClrTx/>
              <a:buSzTx/>
              <a:buFontTx/>
              <a:buNone/>
              <a:tabLst/>
              <a:defRPr/>
            </a:pPr>
            <a:r>
              <a:rPr lang="en-US" altLang="en-US" sz="1600" i="1" dirty="0">
                <a:solidFill>
                  <a:srgbClr val="44546A"/>
                </a:solidFill>
                <a:latin typeface="Calibri" panose="020F0502020204030204"/>
                <a:cs typeface="Segoe UI" pitchFamily="34" charset="0"/>
              </a:rPr>
              <a:t>February 8</a:t>
            </a:r>
            <a:r>
              <a:rPr kumimoji="0" lang="en-US" altLang="en-US" sz="1600" b="0" i="1" u="none" strike="noStrike" kern="1200" cap="none" spc="0" normalizeH="0" baseline="0" noProof="0" dirty="0">
                <a:ln>
                  <a:noFill/>
                </a:ln>
                <a:solidFill>
                  <a:srgbClr val="44546A"/>
                </a:solidFill>
                <a:effectLst/>
                <a:uLnTx/>
                <a:uFillTx/>
                <a:latin typeface="Calibri" panose="020F0502020204030204"/>
                <a:ea typeface="+mn-ea"/>
                <a:cs typeface="Segoe UI" pitchFamily="34" charset="0"/>
              </a:rPr>
              <a:t>, 2023</a:t>
            </a:r>
          </a:p>
        </p:txBody>
      </p:sp>
      <p:sp>
        <p:nvSpPr>
          <p:cNvPr id="12" name="TextBox 11"/>
          <p:cNvSpPr txBox="1"/>
          <p:nvPr/>
        </p:nvSpPr>
        <p:spPr>
          <a:xfrm>
            <a:off x="10252149" y="6587235"/>
            <a:ext cx="2052165" cy="2616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Photo by Tyler Casey on </a:t>
            </a:r>
            <a:r>
              <a:rPr kumimoji="0" lang="en-US" sz="1100" b="0" i="0" u="none" strike="noStrike" kern="1200" cap="none" spc="0" normalizeH="0" baseline="0" noProof="0" dirty="0" err="1">
                <a:ln>
                  <a:noFill/>
                </a:ln>
                <a:solidFill>
                  <a:prstClr val="black">
                    <a:lumMod val="65000"/>
                    <a:lumOff val="35000"/>
                  </a:prstClr>
                </a:solidFill>
                <a:effectLst/>
                <a:uLnTx/>
                <a:uFillTx/>
                <a:latin typeface="Calibri" panose="020F0502020204030204"/>
                <a:ea typeface="+mn-ea"/>
                <a:cs typeface="+mn-cs"/>
              </a:rPr>
              <a:t>Unplash</a:t>
            </a:r>
            <a:endParaRPr kumimoji="0" lang="en-US" sz="11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83389CFF-46E3-4A01-A3DD-98245DC95C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79657" y="6046866"/>
            <a:ext cx="2840218" cy="380811"/>
          </a:xfrm>
          <a:prstGeom prst="rect">
            <a:avLst/>
          </a:prstGeom>
        </p:spPr>
      </p:pic>
      <p:pic>
        <p:nvPicPr>
          <p:cNvPr id="2050" name="Picture 2" descr="Image previe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3899" y="6046866"/>
            <a:ext cx="1801002" cy="671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502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BB32C7B-E374-E3F5-D8DB-0997486B260E}"/>
              </a:ext>
            </a:extLst>
          </p:cNvPr>
          <p:cNvSpPr txBox="1">
            <a:spLocks noChangeArrowheads="1"/>
          </p:cNvSpPr>
          <p:nvPr/>
        </p:nvSpPr>
        <p:spPr bwMode="auto">
          <a:xfrm>
            <a:off x="699714" y="353160"/>
            <a:ext cx="7091300" cy="898581"/>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b="1" dirty="0">
                <a:solidFill>
                  <a:srgbClr val="FFFFFF"/>
                </a:solidFill>
                <a:latin typeface="+mj-lt"/>
                <a:ea typeface="+mj-ea"/>
                <a:cs typeface="+mj-cs"/>
                <a:sym typeface="Roboto Slab"/>
              </a:rPr>
              <a:t>Members of the Independent High-Level Expert Group on Climate Finance</a:t>
            </a:r>
            <a:endParaRPr kumimoji="0" lang="en-US" altLang="en-US" sz="2800" b="1" i="0" u="none" strike="noStrike" cap="none" spc="0" normalizeH="0" baseline="0" noProof="0" dirty="0">
              <a:ln>
                <a:noFill/>
              </a:ln>
              <a:solidFill>
                <a:srgbClr val="FFFFFF"/>
              </a:solidFill>
              <a:effectLst/>
              <a:uLnTx/>
              <a:uFillTx/>
              <a:latin typeface="+mj-lt"/>
              <a:ea typeface="+mj-ea"/>
              <a:cs typeface="+mj-cs"/>
            </a:endParaRPr>
          </a:p>
        </p:txBody>
      </p:sp>
      <p:sp>
        <p:nvSpPr>
          <p:cNvPr id="46" name="Title 1">
            <a:extLst>
              <a:ext uri="{FF2B5EF4-FFF2-40B4-BE49-F238E27FC236}">
                <a16:creationId xmlns:a16="http://schemas.microsoft.com/office/drawing/2014/main" id="{D6341A84-152F-BB7A-4D8D-148CA51CF28D}"/>
              </a:ext>
            </a:extLst>
          </p:cNvPr>
          <p:cNvSpPr txBox="1">
            <a:spLocks/>
          </p:cNvSpPr>
          <p:nvPr/>
        </p:nvSpPr>
        <p:spPr>
          <a:xfrm>
            <a:off x="414608" y="229152"/>
            <a:ext cx="10549646" cy="61936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37546C"/>
                </a:solidFill>
                <a:latin typeface="Century Gothic" panose="020B0502020202020204" pitchFamily="34" charset="0"/>
              </a:rPr>
              <a:t>A critical moment in time</a:t>
            </a:r>
          </a:p>
        </p:txBody>
      </p:sp>
      <p:sp>
        <p:nvSpPr>
          <p:cNvPr id="2" name="Content Placeholder 2">
            <a:extLst>
              <a:ext uri="{FF2B5EF4-FFF2-40B4-BE49-F238E27FC236}">
                <a16:creationId xmlns:a16="http://schemas.microsoft.com/office/drawing/2014/main" id="{3F2C6343-A254-94D2-4F10-FA4E20C81D9E}"/>
              </a:ext>
            </a:extLst>
          </p:cNvPr>
          <p:cNvSpPr txBox="1">
            <a:spLocks/>
          </p:cNvSpPr>
          <p:nvPr/>
        </p:nvSpPr>
        <p:spPr>
          <a:xfrm>
            <a:off x="407987" y="1264806"/>
            <a:ext cx="11520487" cy="5164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A moment of </a:t>
            </a:r>
            <a:r>
              <a:rPr lang="en-US" sz="1700" b="1" dirty="0">
                <a:solidFill>
                  <a:srgbClr val="37546C"/>
                </a:solidFill>
                <a:latin typeface="Century Gothic" panose="020B0502020202020204" pitchFamily="34" charset="0"/>
                <a:ea typeface="+mj-ea"/>
                <a:cs typeface="+mj-cs"/>
              </a:rPr>
              <a:t>great risk and great opportunity</a:t>
            </a:r>
            <a:r>
              <a:rPr lang="en-US" sz="1700" dirty="0">
                <a:solidFill>
                  <a:srgbClr val="37546C"/>
                </a:solidFill>
                <a:latin typeface="Century Gothic" panose="020B0502020202020204" pitchFamily="34" charset="0"/>
                <a:ea typeface="+mj-ea"/>
                <a:cs typeface="+mj-cs"/>
              </a:rPr>
              <a:t>. One path leads to attractive growth and development, the other to great difficulties and indeed destruction.</a:t>
            </a:r>
          </a:p>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Even before the COVID-19 pandemic, emerging markets and developing countries (EMDCs) were facing challenges. As a result of the Covid pandemic and the war in Ukraine, </a:t>
            </a:r>
            <a:r>
              <a:rPr lang="en-US" sz="1700" b="1" dirty="0">
                <a:solidFill>
                  <a:srgbClr val="37546C"/>
                </a:solidFill>
                <a:latin typeface="Century Gothic" panose="020B0502020202020204" pitchFamily="34" charset="0"/>
                <a:ea typeface="+mj-ea"/>
                <a:cs typeface="+mj-cs"/>
              </a:rPr>
              <a:t>EMDCs are under great pressure</a:t>
            </a:r>
            <a:r>
              <a:rPr lang="en-US" sz="1700" dirty="0">
                <a:solidFill>
                  <a:srgbClr val="37546C"/>
                </a:solidFill>
                <a:latin typeface="Century Gothic" panose="020B0502020202020204" pitchFamily="34" charset="0"/>
                <a:ea typeface="+mj-ea"/>
                <a:cs typeface="+mj-cs"/>
              </a:rPr>
              <a:t>.</a:t>
            </a:r>
          </a:p>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The present trajectory is one of slow growth, low investment and public spending, and rising debt service burdens in many, if not most, EMDCs. </a:t>
            </a:r>
            <a:r>
              <a:rPr lang="en-US" sz="1700" b="1" dirty="0">
                <a:solidFill>
                  <a:srgbClr val="37546C"/>
                </a:solidFill>
                <a:latin typeface="Century Gothic" panose="020B0502020202020204" pitchFamily="34" charset="0"/>
                <a:ea typeface="+mj-ea"/>
                <a:cs typeface="+mj-cs"/>
              </a:rPr>
              <a:t>Risk of a lost decade for development</a:t>
            </a:r>
            <a:r>
              <a:rPr lang="en-US" sz="1700" dirty="0">
                <a:solidFill>
                  <a:srgbClr val="37546C"/>
                </a:solidFill>
                <a:latin typeface="Century Gothic" panose="020B0502020202020204" pitchFamily="34" charset="0"/>
                <a:ea typeface="+mj-ea"/>
                <a:cs typeface="+mj-cs"/>
              </a:rPr>
              <a:t>.</a:t>
            </a:r>
          </a:p>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We are </a:t>
            </a:r>
            <a:r>
              <a:rPr lang="en-US" sz="1700" b="1" dirty="0">
                <a:solidFill>
                  <a:srgbClr val="37546C"/>
                </a:solidFill>
                <a:latin typeface="Century Gothic" panose="020B0502020202020204" pitchFamily="34" charset="0"/>
                <a:ea typeface="+mj-ea"/>
                <a:cs typeface="+mj-cs"/>
              </a:rPr>
              <a:t>off track on virtually all SDGs </a:t>
            </a:r>
            <a:r>
              <a:rPr lang="en-US" sz="1700" dirty="0">
                <a:solidFill>
                  <a:srgbClr val="37546C"/>
                </a:solidFill>
                <a:latin typeface="Century Gothic" panose="020B0502020202020204" pitchFamily="34" charset="0"/>
                <a:ea typeface="+mj-ea"/>
                <a:cs typeface="+mj-cs"/>
              </a:rPr>
              <a:t>and ill prepared for the </a:t>
            </a:r>
            <a:r>
              <a:rPr lang="en-US" sz="1700" b="1" dirty="0">
                <a:solidFill>
                  <a:srgbClr val="37546C"/>
                </a:solidFill>
                <a:latin typeface="Century Gothic" panose="020B0502020202020204" pitchFamily="34" charset="0"/>
                <a:ea typeface="+mj-ea"/>
                <a:cs typeface="+mj-cs"/>
              </a:rPr>
              <a:t>major demographic transitions </a:t>
            </a:r>
            <a:r>
              <a:rPr lang="en-US" sz="1700" dirty="0">
                <a:solidFill>
                  <a:srgbClr val="37546C"/>
                </a:solidFill>
                <a:latin typeface="Century Gothic" panose="020B0502020202020204" pitchFamily="34" charset="0"/>
                <a:ea typeface="+mj-ea"/>
                <a:cs typeface="+mj-cs"/>
              </a:rPr>
              <a:t>ahead.</a:t>
            </a:r>
          </a:p>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At the same time the </a:t>
            </a:r>
            <a:r>
              <a:rPr lang="en-US" sz="1700" b="1" dirty="0">
                <a:solidFill>
                  <a:srgbClr val="37546C"/>
                </a:solidFill>
                <a:latin typeface="Century Gothic" panose="020B0502020202020204" pitchFamily="34" charset="0"/>
                <a:ea typeface="+mj-ea"/>
                <a:cs typeface="+mj-cs"/>
              </a:rPr>
              <a:t>urgency and opportunity of tackling climate change </a:t>
            </a:r>
            <a:r>
              <a:rPr lang="en-US" sz="1700" dirty="0">
                <a:solidFill>
                  <a:srgbClr val="37546C"/>
                </a:solidFill>
                <a:latin typeface="Century Gothic" panose="020B0502020202020204" pitchFamily="34" charset="0"/>
                <a:ea typeface="+mj-ea"/>
                <a:cs typeface="+mj-cs"/>
              </a:rPr>
              <a:t>is becoming ever clearer.</a:t>
            </a:r>
          </a:p>
          <a:p>
            <a:pPr>
              <a:lnSpc>
                <a:spcPct val="100000"/>
              </a:lnSpc>
              <a:spcBef>
                <a:spcPct val="0"/>
              </a:spcBef>
              <a:spcAft>
                <a:spcPts val="1200"/>
              </a:spcAft>
            </a:pPr>
            <a:r>
              <a:rPr lang="en-US" sz="1700" b="1" dirty="0">
                <a:solidFill>
                  <a:srgbClr val="37546C"/>
                </a:solidFill>
                <a:latin typeface="Century Gothic" panose="020B0502020202020204" pitchFamily="34" charset="0"/>
                <a:ea typeface="+mj-ea"/>
                <a:cs typeface="+mj-cs"/>
              </a:rPr>
              <a:t>Equally urgent challenge to protect and restore nature</a:t>
            </a:r>
            <a:r>
              <a:rPr lang="en-US" sz="1700" dirty="0">
                <a:solidFill>
                  <a:srgbClr val="37546C"/>
                </a:solidFill>
                <a:latin typeface="Century Gothic" panose="020B0502020202020204" pitchFamily="34" charset="0"/>
                <a:ea typeface="+mj-ea"/>
                <a:cs typeface="+mj-cs"/>
              </a:rPr>
              <a:t>.</a:t>
            </a:r>
          </a:p>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Acting on climate and nature is not a cost but rather an </a:t>
            </a:r>
            <a:r>
              <a:rPr lang="en-US" sz="1700" b="1" dirty="0">
                <a:solidFill>
                  <a:srgbClr val="37546C"/>
                </a:solidFill>
                <a:latin typeface="Century Gothic" panose="020B0502020202020204" pitchFamily="34" charset="0"/>
                <a:ea typeface="+mj-ea"/>
                <a:cs typeface="+mj-cs"/>
              </a:rPr>
              <a:t>opportunity to unlock new and better forms of growth. </a:t>
            </a:r>
          </a:p>
          <a:p>
            <a:pPr>
              <a:lnSpc>
                <a:spcPct val="100000"/>
              </a:lnSpc>
              <a:spcBef>
                <a:spcPct val="0"/>
              </a:spcBef>
              <a:spcAft>
                <a:spcPts val="1200"/>
              </a:spcAft>
            </a:pPr>
            <a:r>
              <a:rPr lang="en-US" sz="1700" b="1" dirty="0">
                <a:solidFill>
                  <a:srgbClr val="37546C"/>
                </a:solidFill>
                <a:latin typeface="Century Gothic" panose="020B0502020202020204" pitchFamily="34" charset="0"/>
                <a:ea typeface="+mj-ea"/>
                <a:cs typeface="+mj-cs"/>
              </a:rPr>
              <a:t>A major push on investment and innovation </a:t>
            </a:r>
            <a:r>
              <a:rPr lang="en-US" sz="1700" dirty="0">
                <a:solidFill>
                  <a:srgbClr val="37546C"/>
                </a:solidFill>
                <a:latin typeface="Century Gothic" panose="020B0502020202020204" pitchFamily="34" charset="0"/>
                <a:ea typeface="+mj-ea"/>
                <a:cs typeface="+mj-cs"/>
              </a:rPr>
              <a:t>can drive a sustainable recovery and make a breakthrough on both development goals and climate.</a:t>
            </a:r>
          </a:p>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Seizing that opportunity will </a:t>
            </a:r>
            <a:r>
              <a:rPr lang="en-US" sz="1700" b="1" dirty="0">
                <a:solidFill>
                  <a:srgbClr val="37546C"/>
                </a:solidFill>
                <a:latin typeface="Century Gothic" panose="020B0502020202020204" pitchFamily="34" charset="0"/>
                <a:ea typeface="+mj-ea"/>
                <a:cs typeface="+mj-cs"/>
              </a:rPr>
              <a:t>require a clear strategic direction, strong and purposive policies, a massive scaling up and shift in investment and the </a:t>
            </a:r>
            <a:r>
              <a:rPr lang="en-US" sz="1700" b="1" dirty="0" err="1">
                <a:solidFill>
                  <a:srgbClr val="37546C"/>
                </a:solidFill>
                <a:latin typeface="Century Gothic" panose="020B0502020202020204" pitchFamily="34" charset="0"/>
                <a:ea typeface="+mj-ea"/>
                <a:cs typeface="+mj-cs"/>
              </a:rPr>
              <a:t>mobilisation</a:t>
            </a:r>
            <a:r>
              <a:rPr lang="en-US" sz="1700" b="1" dirty="0">
                <a:solidFill>
                  <a:srgbClr val="37546C"/>
                </a:solidFill>
                <a:latin typeface="Century Gothic" panose="020B0502020202020204" pitchFamily="34" charset="0"/>
                <a:ea typeface="+mj-ea"/>
                <a:cs typeface="+mj-cs"/>
              </a:rPr>
              <a:t> of the right finance at the right scale.</a:t>
            </a: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endParaRPr lang="en-US" sz="1800" b="1" dirty="0">
              <a:solidFill>
                <a:srgbClr val="37546C"/>
              </a:solidFill>
              <a:latin typeface="Century Gothic" panose="020B0502020202020204" pitchFamily="34" charset="0"/>
              <a:ea typeface="+mj-ea"/>
              <a:cs typeface="+mj-cs"/>
            </a:endParaRPr>
          </a:p>
          <a:p>
            <a:endParaRPr lang="en-US" sz="1800" dirty="0"/>
          </a:p>
        </p:txBody>
      </p:sp>
    </p:spTree>
    <p:extLst>
      <p:ext uri="{BB962C8B-B14F-4D97-AF65-F5344CB8AC3E}">
        <p14:creationId xmlns:p14="http://schemas.microsoft.com/office/powerpoint/2010/main" val="3583398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BE57-3129-74B2-09E8-D6BABC290976}"/>
              </a:ext>
            </a:extLst>
          </p:cNvPr>
          <p:cNvSpPr>
            <a:spLocks noGrp="1"/>
          </p:cNvSpPr>
          <p:nvPr>
            <p:ph type="title"/>
          </p:nvPr>
        </p:nvSpPr>
        <p:spPr>
          <a:xfrm>
            <a:off x="403033" y="233068"/>
            <a:ext cx="11525442" cy="618286"/>
          </a:xfrm>
        </p:spPr>
        <p:txBody>
          <a:bodyPr>
            <a:normAutofit/>
          </a:bodyPr>
          <a:lstStyle/>
          <a:p>
            <a:r>
              <a:rPr lang="en-US" sz="3200" b="1" dirty="0">
                <a:solidFill>
                  <a:srgbClr val="37546C"/>
                </a:solidFill>
                <a:latin typeface="Century Gothic" panose="020B0502020202020204" pitchFamily="34" charset="0"/>
              </a:rPr>
              <a:t>Tipping points for green transformation by sector</a:t>
            </a:r>
          </a:p>
        </p:txBody>
      </p:sp>
      <p:sp>
        <p:nvSpPr>
          <p:cNvPr id="11" name="TextBox 10">
            <a:extLst>
              <a:ext uri="{FF2B5EF4-FFF2-40B4-BE49-F238E27FC236}">
                <a16:creationId xmlns:a16="http://schemas.microsoft.com/office/drawing/2014/main" id="{2025CC2A-42E7-3BCC-9B1A-42CFE07A9200}"/>
              </a:ext>
            </a:extLst>
          </p:cNvPr>
          <p:cNvSpPr txBox="1"/>
          <p:nvPr/>
        </p:nvSpPr>
        <p:spPr>
          <a:xfrm>
            <a:off x="416670" y="1053508"/>
            <a:ext cx="6688980" cy="338554"/>
          </a:xfrm>
          <a:prstGeom prst="rect">
            <a:avLst/>
          </a:prstGeom>
          <a:noFill/>
        </p:spPr>
        <p:txBody>
          <a:bodyPr wrap="square" rtlCol="0">
            <a:spAutoFit/>
          </a:bodyPr>
          <a:lstStyle/>
          <a:p>
            <a:r>
              <a:rPr lang="en-US" sz="1600" dirty="0">
                <a:latin typeface="Century Gothic" panose="020B0502020202020204" pitchFamily="34" charset="0"/>
              </a:rPr>
              <a:t>Historical progress and indicative future timeline</a:t>
            </a:r>
          </a:p>
        </p:txBody>
      </p:sp>
      <p:cxnSp>
        <p:nvCxnSpPr>
          <p:cNvPr id="13" name="Straight Connector 12">
            <a:extLst>
              <a:ext uri="{FF2B5EF4-FFF2-40B4-BE49-F238E27FC236}">
                <a16:creationId xmlns:a16="http://schemas.microsoft.com/office/drawing/2014/main" id="{953B9BAD-00FD-2BCE-2915-BEA37AC63F63}"/>
              </a:ext>
            </a:extLst>
          </p:cNvPr>
          <p:cNvCxnSpPr>
            <a:cxnSpLocks/>
          </p:cNvCxnSpPr>
          <p:nvPr/>
        </p:nvCxnSpPr>
        <p:spPr>
          <a:xfrm>
            <a:off x="515938" y="1392062"/>
            <a:ext cx="6284912"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14">
            <a:extLst>
              <a:ext uri="{FF2B5EF4-FFF2-40B4-BE49-F238E27FC236}">
                <a16:creationId xmlns:a16="http://schemas.microsoft.com/office/drawing/2014/main" id="{4164C0D9-68D5-391A-C577-37F56BA8B771}"/>
              </a:ext>
            </a:extLst>
          </p:cNvPr>
          <p:cNvSpPr txBox="1"/>
          <p:nvPr/>
        </p:nvSpPr>
        <p:spPr>
          <a:xfrm>
            <a:off x="8817465" y="5399649"/>
            <a:ext cx="2794355" cy="1015663"/>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dirty="0">
                <a:ln>
                  <a:noFill/>
                </a:ln>
                <a:effectLst/>
                <a:uLnTx/>
                <a:uFillTx/>
                <a:latin typeface="Century Gothic"/>
                <a:ea typeface="+mn-ea"/>
                <a:cs typeface="+mn-cs"/>
              </a:rPr>
              <a:t>Notes</a:t>
            </a:r>
            <a:r>
              <a:rPr kumimoji="0" lang="en-GB" sz="1000" b="0" i="0" u="none" strike="noStrike" kern="1200" cap="none" spc="0" normalizeH="0" baseline="0" dirty="0">
                <a:ln>
                  <a:noFill/>
                </a:ln>
                <a:effectLst/>
                <a:uLnTx/>
                <a:uFillTx/>
                <a:latin typeface="Century Gothic"/>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dirty="0">
                <a:ln>
                  <a:noFill/>
                </a:ln>
                <a:effectLst/>
                <a:uLnTx/>
                <a:uFillTx/>
                <a:latin typeface="Century Gothic"/>
                <a:ea typeface="+mn-ea"/>
                <a:cs typeface="+mn-cs"/>
              </a:rPr>
              <a:t>The financing needs are </a:t>
            </a:r>
            <a:r>
              <a:rPr kumimoji="0" lang="en-GB" sz="1000" b="0" i="0" u="none" strike="noStrike" kern="1200" cap="none" spc="0" normalizeH="0" baseline="0" dirty="0" err="1">
                <a:ln>
                  <a:noFill/>
                </a:ln>
                <a:effectLst/>
                <a:uLnTx/>
                <a:uFillTx/>
                <a:latin typeface="Century Gothic"/>
                <a:ea typeface="+mn-ea"/>
                <a:cs typeface="+mn-cs"/>
              </a:rPr>
              <a:t>esti</a:t>
            </a:r>
            <a:endParaRPr kumimoji="0" lang="en-GB" sz="1000" b="0" i="0" u="none" strike="noStrike" kern="1200" cap="none" spc="0" normalizeH="0" baseline="0" dirty="0">
              <a:ln>
                <a:noFill/>
              </a:ln>
              <a:effectLst/>
              <a:uLnTx/>
              <a:uFillTx/>
              <a:latin typeface="Century Gothic"/>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dirty="0">
                <a:ln>
                  <a:noFill/>
                </a:ln>
                <a:effectLst/>
                <a:uLnTx/>
                <a:uFillTx/>
                <a:latin typeface="Century Gothic"/>
                <a:ea typeface="+mn-ea"/>
                <a:cs typeface="+mn-cs"/>
              </a:rPr>
              <a:t> year 2030 and as such do not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dirty="0" err="1">
                <a:ln>
                  <a:noFill/>
                </a:ln>
                <a:effectLst/>
                <a:uLnTx/>
                <a:uFillTx/>
                <a:latin typeface="Century Gothic"/>
                <a:ea typeface="+mn-ea"/>
                <a:cs typeface="+mn-cs"/>
              </a:rPr>
              <a:t>ments</a:t>
            </a:r>
            <a:r>
              <a:rPr kumimoji="0" lang="en-GB" sz="1000" b="0" i="0" u="none" strike="noStrike" kern="1200" cap="none" spc="0" normalizeH="0" baseline="0" dirty="0">
                <a:ln>
                  <a:noFill/>
                </a:ln>
                <a:effectLst/>
                <a:uLnTx/>
                <a:uFillTx/>
                <a:latin typeface="Century Gothic"/>
                <a:ea typeface="+mn-ea"/>
                <a:cs typeface="+mn-cs"/>
              </a:rPr>
              <a:t> for 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dirty="0">
              <a:ln>
                <a:noFill/>
              </a:ln>
              <a:effectLst/>
              <a:uLnTx/>
              <a:uFillTx/>
              <a:latin typeface="Century Gothic"/>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dirty="0">
                <a:ln>
                  <a:noFill/>
                </a:ln>
                <a:effectLst/>
                <a:uLnTx/>
                <a:uFillTx/>
                <a:latin typeface="Century Gothic"/>
                <a:ea typeface="+mn-ea"/>
                <a:cs typeface="+mn-cs"/>
              </a:rPr>
              <a:t>Source</a:t>
            </a:r>
            <a:r>
              <a:rPr kumimoji="0" lang="en-GB" sz="1000" b="0" i="0" u="none" strike="noStrike" kern="1200" cap="none" spc="0" normalizeH="0" baseline="0" dirty="0">
                <a:ln>
                  <a:noFill/>
                </a:ln>
                <a:effectLst/>
                <a:uLnTx/>
                <a:uFillTx/>
                <a:latin typeface="Century Gothic"/>
                <a:ea typeface="+mn-ea"/>
                <a:cs typeface="+mn-cs"/>
              </a:rPr>
              <a:t>: Stern et al. (2023)</a:t>
            </a:r>
          </a:p>
        </p:txBody>
      </p:sp>
      <p:pic>
        <p:nvPicPr>
          <p:cNvPr id="1026" name="Picture 2" descr="A graphic showing the tipping points by sector from 1990 to 2050.">
            <a:extLst>
              <a:ext uri="{FF2B5EF4-FFF2-40B4-BE49-F238E27FC236}">
                <a16:creationId xmlns:a16="http://schemas.microsoft.com/office/drawing/2014/main" id="{6CE4C3C0-6A6B-7813-404A-A0E2E3D312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257" y="1392062"/>
            <a:ext cx="9688286" cy="4812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503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BE57-3129-74B2-09E8-D6BABC290976}"/>
              </a:ext>
            </a:extLst>
          </p:cNvPr>
          <p:cNvSpPr>
            <a:spLocks noGrp="1"/>
          </p:cNvSpPr>
          <p:nvPr>
            <p:ph type="title"/>
          </p:nvPr>
        </p:nvSpPr>
        <p:spPr>
          <a:xfrm>
            <a:off x="403033" y="331892"/>
            <a:ext cx="10515600" cy="618286"/>
          </a:xfrm>
        </p:spPr>
        <p:txBody>
          <a:bodyPr>
            <a:normAutofit/>
          </a:bodyPr>
          <a:lstStyle/>
          <a:p>
            <a:r>
              <a:rPr lang="en-US" sz="3200" b="1" dirty="0">
                <a:solidFill>
                  <a:srgbClr val="37546C"/>
                </a:solidFill>
                <a:latin typeface="Century Gothic" panose="020B0502020202020204" pitchFamily="34" charset="0"/>
              </a:rPr>
              <a:t>Investment must scale up by several points of GDP</a:t>
            </a:r>
          </a:p>
        </p:txBody>
      </p:sp>
      <p:sp>
        <p:nvSpPr>
          <p:cNvPr id="11" name="TextBox 10">
            <a:extLst>
              <a:ext uri="{FF2B5EF4-FFF2-40B4-BE49-F238E27FC236}">
                <a16:creationId xmlns:a16="http://schemas.microsoft.com/office/drawing/2014/main" id="{2025CC2A-42E7-3BCC-9B1A-42CFE07A9200}"/>
              </a:ext>
            </a:extLst>
          </p:cNvPr>
          <p:cNvSpPr txBox="1"/>
          <p:nvPr/>
        </p:nvSpPr>
        <p:spPr>
          <a:xfrm>
            <a:off x="433295" y="1103612"/>
            <a:ext cx="11632900" cy="338554"/>
          </a:xfrm>
          <a:prstGeom prst="rect">
            <a:avLst/>
          </a:prstGeom>
          <a:noFill/>
        </p:spPr>
        <p:txBody>
          <a:bodyPr wrap="square" rtlCol="0">
            <a:spAutoFit/>
          </a:bodyPr>
          <a:lstStyle/>
          <a:p>
            <a:r>
              <a:rPr lang="en-US" sz="1600" dirty="0">
                <a:latin typeface="Century Gothic" panose="020B0502020202020204" pitchFamily="34" charset="0"/>
              </a:rPr>
              <a:t>Investment/spending needs per year for sustainable development and climate action for EMDCs (other than China):</a:t>
            </a:r>
          </a:p>
        </p:txBody>
      </p:sp>
      <p:cxnSp>
        <p:nvCxnSpPr>
          <p:cNvPr id="13" name="Straight Connector 12">
            <a:extLst>
              <a:ext uri="{FF2B5EF4-FFF2-40B4-BE49-F238E27FC236}">
                <a16:creationId xmlns:a16="http://schemas.microsoft.com/office/drawing/2014/main" id="{953B9BAD-00FD-2BCE-2915-BEA37AC63F63}"/>
              </a:ext>
            </a:extLst>
          </p:cNvPr>
          <p:cNvCxnSpPr>
            <a:cxnSpLocks/>
          </p:cNvCxnSpPr>
          <p:nvPr/>
        </p:nvCxnSpPr>
        <p:spPr>
          <a:xfrm>
            <a:off x="515938" y="1444500"/>
            <a:ext cx="11389871"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1A5F7D8-6BF7-05CD-CC65-DE0A99FEBAB9}"/>
              </a:ext>
            </a:extLst>
          </p:cNvPr>
          <p:cNvSpPr txBox="1"/>
          <p:nvPr/>
        </p:nvSpPr>
        <p:spPr>
          <a:xfrm>
            <a:off x="541178" y="5208062"/>
            <a:ext cx="11389873" cy="584775"/>
          </a:xfrm>
          <a:prstGeom prst="rect">
            <a:avLst/>
          </a:prstGeom>
          <a:solidFill>
            <a:schemeClr val="tx2">
              <a:lumMod val="20000"/>
              <a:lumOff val="80000"/>
            </a:schemeClr>
          </a:solidFill>
          <a:ln>
            <a:noFill/>
          </a:ln>
        </p:spPr>
        <p:txBody>
          <a:bodyPr wrap="square">
            <a:spAutoFit/>
          </a:bodyPr>
          <a:lstStyle>
            <a:defPPr>
              <a:defRPr lang="en-US"/>
            </a:defPPr>
            <a:lvl1pPr marR="0" lvl="0" indent="0" algn="ctr" defTabSz="1219170" fontAlgn="auto">
              <a:lnSpc>
                <a:spcPct val="100000"/>
              </a:lnSpc>
              <a:spcBef>
                <a:spcPts val="0"/>
              </a:spcBef>
              <a:spcAft>
                <a:spcPts val="1600"/>
              </a:spcAft>
              <a:buClrTx/>
              <a:buSzTx/>
              <a:buFontTx/>
              <a:buNone/>
              <a:tabLst/>
              <a:defRPr kumimoji="0" sz="1333" b="1" i="0" u="none" strike="noStrike" cap="none" spc="0" normalizeH="0" baseline="0">
                <a:ln>
                  <a:noFill/>
                </a:ln>
                <a:solidFill>
                  <a:srgbClr val="2E3052"/>
                </a:solidFill>
                <a:effectLst/>
                <a:uLnTx/>
                <a:uFillTx/>
                <a:latin typeface="Century Gothic"/>
              </a:defRPr>
            </a:lvl1pPr>
          </a:lstStyle>
          <a:p>
            <a:pPr>
              <a:defRPr/>
            </a:pPr>
            <a:r>
              <a:rPr lang="en-GB" sz="1600" dirty="0"/>
              <a:t>The growth and structural change agendas in EMDCs will already entail substantial energy investment. Savings from avoided investments in fossil fuels in EMDCs dwarf additional climate investment needs.</a:t>
            </a:r>
          </a:p>
        </p:txBody>
      </p:sp>
      <p:graphicFrame>
        <p:nvGraphicFramePr>
          <p:cNvPr id="3" name="Table 2">
            <a:extLst>
              <a:ext uri="{FF2B5EF4-FFF2-40B4-BE49-F238E27FC236}">
                <a16:creationId xmlns:a16="http://schemas.microsoft.com/office/drawing/2014/main" id="{8A82E3E4-5251-1046-DFCE-D7C0F14BE746}"/>
              </a:ext>
            </a:extLst>
          </p:cNvPr>
          <p:cNvGraphicFramePr>
            <a:graphicFrameLocks noGrp="1"/>
          </p:cNvGraphicFramePr>
          <p:nvPr/>
        </p:nvGraphicFramePr>
        <p:xfrm>
          <a:off x="515936" y="1645186"/>
          <a:ext cx="11389870" cy="2341503"/>
        </p:xfrm>
        <a:graphic>
          <a:graphicData uri="http://schemas.openxmlformats.org/drawingml/2006/table">
            <a:tbl>
              <a:tblPr firstRow="1" firstCol="1" bandRow="1">
                <a:tableStyleId>{17292A2E-F333-43FB-9621-5CBBE7FDCDCB}</a:tableStyleId>
              </a:tblPr>
              <a:tblGrid>
                <a:gridCol w="3100567">
                  <a:extLst>
                    <a:ext uri="{9D8B030D-6E8A-4147-A177-3AD203B41FA5}">
                      <a16:colId xmlns:a16="http://schemas.microsoft.com/office/drawing/2014/main" val="3526724576"/>
                    </a:ext>
                  </a:extLst>
                </a:gridCol>
                <a:gridCol w="1684962">
                  <a:extLst>
                    <a:ext uri="{9D8B030D-6E8A-4147-A177-3AD203B41FA5}">
                      <a16:colId xmlns:a16="http://schemas.microsoft.com/office/drawing/2014/main" val="562880596"/>
                    </a:ext>
                  </a:extLst>
                </a:gridCol>
                <a:gridCol w="1839074">
                  <a:extLst>
                    <a:ext uri="{9D8B030D-6E8A-4147-A177-3AD203B41FA5}">
                      <a16:colId xmlns:a16="http://schemas.microsoft.com/office/drawing/2014/main" val="715632386"/>
                    </a:ext>
                  </a:extLst>
                </a:gridCol>
                <a:gridCol w="2547991">
                  <a:extLst>
                    <a:ext uri="{9D8B030D-6E8A-4147-A177-3AD203B41FA5}">
                      <a16:colId xmlns:a16="http://schemas.microsoft.com/office/drawing/2014/main" val="2614363028"/>
                    </a:ext>
                  </a:extLst>
                </a:gridCol>
                <a:gridCol w="2217276">
                  <a:extLst>
                    <a:ext uri="{9D8B030D-6E8A-4147-A177-3AD203B41FA5}">
                      <a16:colId xmlns:a16="http://schemas.microsoft.com/office/drawing/2014/main" val="1546436108"/>
                    </a:ext>
                  </a:extLst>
                </a:gridCol>
              </a:tblGrid>
              <a:tr h="845541">
                <a:tc>
                  <a:txBody>
                    <a:bodyPr/>
                    <a:lstStyle/>
                    <a:p>
                      <a:pPr>
                        <a:spcAft>
                          <a:spcPts val="600"/>
                        </a:spcAft>
                      </a:pPr>
                      <a:r>
                        <a:rPr lang="en-GB" sz="1600" b="1" dirty="0">
                          <a:solidFill>
                            <a:schemeClr val="bg1"/>
                          </a:solidFill>
                          <a:effectLst/>
                          <a:latin typeface="Century Gothic" panose="020B0502020202020204" pitchFamily="34" charset="0"/>
                        </a:rPr>
                        <a:t>Estimate</a:t>
                      </a:r>
                      <a:endParaRPr lang="en-GB" sz="1600" b="1" dirty="0">
                        <a:solidFill>
                          <a:schemeClr val="bg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Aft>
                          <a:spcPts val="600"/>
                        </a:spcAft>
                      </a:pPr>
                      <a:r>
                        <a:rPr lang="en-GB" sz="1600" b="1" dirty="0">
                          <a:solidFill>
                            <a:schemeClr val="bg1"/>
                          </a:solidFill>
                          <a:effectLst/>
                          <a:latin typeface="Century Gothic" panose="020B0502020202020204" pitchFamily="34" charset="0"/>
                        </a:rPr>
                        <a:t>2019 </a:t>
                      </a:r>
                    </a:p>
                    <a:p>
                      <a:pPr algn="ctr">
                        <a:spcAft>
                          <a:spcPts val="600"/>
                        </a:spcAft>
                      </a:pPr>
                      <a:r>
                        <a:rPr lang="en-GB" sz="1600" b="1" dirty="0">
                          <a:solidFill>
                            <a:schemeClr val="bg1"/>
                          </a:solidFill>
                          <a:effectLst/>
                          <a:latin typeface="Century Gothic" panose="020B0502020202020204" pitchFamily="34" charset="0"/>
                        </a:rPr>
                        <a:t>% GDP</a:t>
                      </a:r>
                      <a:endParaRPr lang="en-GB" sz="1600" b="1" dirty="0">
                        <a:solidFill>
                          <a:schemeClr val="bg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Aft>
                          <a:spcPts val="600"/>
                        </a:spcAft>
                      </a:pPr>
                      <a:r>
                        <a:rPr lang="en-GB" sz="1600" b="1" dirty="0">
                          <a:solidFill>
                            <a:schemeClr val="bg1"/>
                          </a:solidFill>
                          <a:effectLst/>
                          <a:latin typeface="Century Gothic" panose="020B0502020202020204" pitchFamily="34" charset="0"/>
                        </a:rPr>
                        <a:t>2030</a:t>
                      </a:r>
                    </a:p>
                    <a:p>
                      <a:pPr algn="ctr">
                        <a:spcAft>
                          <a:spcPts val="600"/>
                        </a:spcAft>
                      </a:pPr>
                      <a:r>
                        <a:rPr lang="en-GB" sz="1600" b="1" dirty="0">
                          <a:solidFill>
                            <a:schemeClr val="bg1"/>
                          </a:solidFill>
                          <a:effectLst/>
                          <a:latin typeface="Century Gothic" panose="020B0502020202020204" pitchFamily="34" charset="0"/>
                        </a:rPr>
                        <a:t>% GDP</a:t>
                      </a:r>
                      <a:endParaRPr lang="en-GB" sz="1600" b="1" dirty="0">
                        <a:solidFill>
                          <a:schemeClr val="bg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Aft>
                          <a:spcPts val="600"/>
                        </a:spcAft>
                      </a:pPr>
                      <a:r>
                        <a:rPr lang="en-GB" sz="1600" b="1" dirty="0">
                          <a:solidFill>
                            <a:schemeClr val="bg1"/>
                          </a:solidFill>
                          <a:effectLst/>
                          <a:latin typeface="Century Gothic" panose="020B0502020202020204" pitchFamily="34" charset="0"/>
                        </a:rPr>
                        <a:t>Gap (2030 minus 2019)</a:t>
                      </a:r>
                      <a:r>
                        <a:rPr lang="en-GB" sz="1600" b="1" baseline="30000" dirty="0">
                          <a:solidFill>
                            <a:schemeClr val="bg1"/>
                          </a:solidFill>
                          <a:effectLst/>
                          <a:latin typeface="Century Gothic" panose="020B0502020202020204" pitchFamily="34" charset="0"/>
                        </a:rPr>
                        <a:t>1</a:t>
                      </a:r>
                      <a:r>
                        <a:rPr lang="en-GB" sz="1600" b="1" dirty="0">
                          <a:solidFill>
                            <a:schemeClr val="bg1"/>
                          </a:solidFill>
                          <a:effectLst/>
                          <a:latin typeface="Century Gothic" panose="020B0502020202020204" pitchFamily="34" charset="0"/>
                        </a:rPr>
                        <a:t> </a:t>
                      </a:r>
                    </a:p>
                    <a:p>
                      <a:pPr algn="ctr">
                        <a:spcAft>
                          <a:spcPts val="600"/>
                        </a:spcAft>
                      </a:pPr>
                      <a:r>
                        <a:rPr lang="en-GB" sz="1600" b="1" dirty="0">
                          <a:solidFill>
                            <a:schemeClr val="bg1"/>
                          </a:solidFill>
                          <a:effectLst/>
                          <a:latin typeface="Century Gothic" panose="020B0502020202020204" pitchFamily="34" charset="0"/>
                        </a:rPr>
                        <a:t>US$ billion</a:t>
                      </a:r>
                      <a:endParaRPr lang="en-GB" sz="1600" b="1" dirty="0">
                        <a:solidFill>
                          <a:schemeClr val="bg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GB" sz="1600" b="1" dirty="0">
                          <a:solidFill>
                            <a:schemeClr val="bg1"/>
                          </a:solidFill>
                          <a:effectLst/>
                          <a:latin typeface="Century Gothic" panose="020B0502020202020204" pitchFamily="34" charset="0"/>
                        </a:rPr>
                        <a:t>Gap (2030 minus 2019)</a:t>
                      </a:r>
                      <a:r>
                        <a:rPr lang="en-GB" sz="1600" b="1" baseline="30000" dirty="0">
                          <a:solidFill>
                            <a:schemeClr val="bg1"/>
                          </a:solidFill>
                          <a:effectLst/>
                          <a:latin typeface="Century Gothic" panose="020B0502020202020204" pitchFamily="34" charset="0"/>
                        </a:rPr>
                        <a:t>1</a:t>
                      </a:r>
                      <a:r>
                        <a:rPr lang="en-GB" sz="1600" b="1" dirty="0">
                          <a:solidFill>
                            <a:schemeClr val="bg1"/>
                          </a:solidFill>
                          <a:effectLst/>
                          <a:latin typeface="Century Gothic" panose="020B0502020202020204" pitchFamily="34" charset="0"/>
                        </a:rPr>
                        <a:t> </a:t>
                      </a:r>
                    </a:p>
                    <a:p>
                      <a:pPr algn="ctr">
                        <a:spcAft>
                          <a:spcPts val="600"/>
                        </a:spcAft>
                      </a:pPr>
                      <a:r>
                        <a:rPr lang="en-GB" sz="1600" b="1" dirty="0">
                          <a:solidFill>
                            <a:schemeClr val="bg1"/>
                          </a:solidFill>
                          <a:effectLst/>
                          <a:latin typeface="Century Gothic" panose="020B0502020202020204" pitchFamily="34" charset="0"/>
                        </a:rPr>
                        <a:t>% GDP</a:t>
                      </a:r>
                      <a:endParaRPr lang="en-GB" sz="1600" b="1" dirty="0">
                        <a:solidFill>
                          <a:schemeClr val="bg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6350" cap="flat" cmpd="sng" algn="ctr">
                      <a:noFill/>
                      <a:prstDash val="solid"/>
                      <a:miter lim="800000"/>
                    </a:lnR>
                    <a:lnT w="6350" cap="flat" cmpd="sng" algn="ctr">
                      <a:noFill/>
                      <a:prstDash val="solid"/>
                      <a:miter lim="800000"/>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077366014"/>
                  </a:ext>
                </a:extLst>
              </a:tr>
              <a:tr h="747981">
                <a:tc>
                  <a:txBody>
                    <a:bodyPr/>
                    <a:lstStyle/>
                    <a:p>
                      <a:pPr>
                        <a:spcAft>
                          <a:spcPts val="600"/>
                        </a:spcAft>
                      </a:pPr>
                      <a:r>
                        <a:rPr lang="en-GB" sz="1600">
                          <a:solidFill>
                            <a:schemeClr val="tx1"/>
                          </a:solidFill>
                          <a:effectLst/>
                          <a:latin typeface="Century Gothic" panose="020B0502020202020204" pitchFamily="34" charset="0"/>
                        </a:rPr>
                        <a:t>SDG-related investment</a:t>
                      </a:r>
                      <a:r>
                        <a:rPr lang="en-GB" sz="1600" baseline="30000">
                          <a:solidFill>
                            <a:schemeClr val="tx1"/>
                          </a:solidFill>
                          <a:effectLst/>
                          <a:latin typeface="Century Gothic" panose="020B0502020202020204" pitchFamily="34" charset="0"/>
                        </a:rPr>
                        <a:t>2</a:t>
                      </a:r>
                      <a:endParaRPr lang="en-GB" sz="16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6350" cap="flat" cmpd="sng" algn="ctr">
                      <a:noFill/>
                      <a:prstDash val="solid"/>
                      <a:miter lim="800000"/>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600" b="0" dirty="0">
                          <a:solidFill>
                            <a:schemeClr val="tx1"/>
                          </a:solidFill>
                          <a:effectLst/>
                          <a:latin typeface="Century Gothic" panose="020B0502020202020204" pitchFamily="34" charset="0"/>
                        </a:rPr>
                        <a:t>11.3%</a:t>
                      </a:r>
                      <a:endParaRPr lang="en-GB" sz="1600" b="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600" b="0" dirty="0">
                          <a:solidFill>
                            <a:schemeClr val="tx1"/>
                          </a:solidFill>
                          <a:effectLst/>
                          <a:latin typeface="Century Gothic" panose="020B0502020202020204" pitchFamily="34" charset="0"/>
                        </a:rPr>
                        <a:t>18,2%</a:t>
                      </a:r>
                      <a:endParaRPr lang="en-GB" sz="1600" b="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600" b="0" dirty="0">
                          <a:solidFill>
                            <a:schemeClr val="tx1"/>
                          </a:solidFill>
                          <a:effectLst/>
                          <a:latin typeface="Century Gothic" panose="020B0502020202020204" pitchFamily="34" charset="0"/>
                        </a:rPr>
                        <a:t>3,500</a:t>
                      </a:r>
                      <a:endParaRPr lang="en-GB" sz="1600" b="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600" b="1" dirty="0">
                          <a:solidFill>
                            <a:schemeClr val="tx1"/>
                          </a:solidFill>
                          <a:effectLst/>
                          <a:latin typeface="Century Gothic" panose="020B0502020202020204" pitchFamily="34" charset="0"/>
                        </a:rPr>
                        <a:t>6.9%</a:t>
                      </a:r>
                      <a:endParaRPr lang="en-GB" sz="1600" b="1"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6350" cap="flat" cmpd="sng" algn="ctr">
                      <a:noFill/>
                      <a:prstDash val="solid"/>
                      <a:miter lim="800000"/>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7030074"/>
                  </a:ext>
                </a:extLst>
              </a:tr>
              <a:tr h="747981">
                <a:tc>
                  <a:txBody>
                    <a:bodyPr/>
                    <a:lstStyle/>
                    <a:p>
                      <a:pPr>
                        <a:spcAft>
                          <a:spcPts val="600"/>
                        </a:spcAft>
                      </a:pPr>
                      <a:r>
                        <a:rPr lang="en-GB" sz="1600" dirty="0">
                          <a:solidFill>
                            <a:schemeClr val="tx1"/>
                          </a:solidFill>
                          <a:effectLst/>
                          <a:latin typeface="Century Gothic" panose="020B0502020202020204" pitchFamily="34" charset="0"/>
                        </a:rPr>
                        <a:t>Of which climate and related investments</a:t>
                      </a:r>
                      <a:r>
                        <a:rPr lang="en-GB" sz="1600" baseline="30000" dirty="0">
                          <a:solidFill>
                            <a:schemeClr val="tx1"/>
                          </a:solidFill>
                          <a:effectLst/>
                          <a:latin typeface="Century Gothic" panose="020B0502020202020204" pitchFamily="34" charset="0"/>
                        </a:rPr>
                        <a:t>3</a:t>
                      </a:r>
                      <a:endParaRPr lang="en-GB" sz="1600" i="1"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6350" cap="flat" cmpd="sng" algn="ctr">
                      <a:noFill/>
                      <a:prstDash val="solid"/>
                      <a:miter lim="800000"/>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600" b="0" dirty="0">
                          <a:solidFill>
                            <a:schemeClr val="tx1"/>
                          </a:solidFill>
                          <a:effectLst/>
                          <a:latin typeface="Century Gothic" panose="020B0502020202020204" pitchFamily="34" charset="0"/>
                        </a:rPr>
                        <a:t>2.1%</a:t>
                      </a:r>
                      <a:endParaRPr lang="en-GB" sz="1600" b="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600" b="0" dirty="0">
                          <a:solidFill>
                            <a:schemeClr val="tx1"/>
                          </a:solidFill>
                          <a:effectLst/>
                          <a:latin typeface="Century Gothic" panose="020B0502020202020204" pitchFamily="34" charset="0"/>
                        </a:rPr>
                        <a:t>6.9%</a:t>
                      </a:r>
                      <a:endParaRPr lang="en-GB" sz="1600" b="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600" b="0" dirty="0">
                          <a:solidFill>
                            <a:schemeClr val="tx1"/>
                          </a:solidFill>
                          <a:effectLst/>
                          <a:latin typeface="Century Gothic" panose="020B0502020202020204" pitchFamily="34" charset="0"/>
                        </a:rPr>
                        <a:t>1,800</a:t>
                      </a:r>
                      <a:endParaRPr lang="en-GB" sz="1600" b="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600" b="1" dirty="0">
                          <a:solidFill>
                            <a:schemeClr val="tx1"/>
                          </a:solidFill>
                          <a:effectLst/>
                          <a:latin typeface="Century Gothic" panose="020B0502020202020204" pitchFamily="34" charset="0"/>
                        </a:rPr>
                        <a:t>4.8%</a:t>
                      </a:r>
                      <a:endParaRPr lang="en-GB" sz="1600" b="1"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6350" cap="flat" cmpd="sng" algn="ctr">
                      <a:noFill/>
                      <a:prstDash val="solid"/>
                      <a:miter lim="800000"/>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9983972"/>
                  </a:ext>
                </a:extLst>
              </a:tr>
            </a:tbl>
          </a:graphicData>
        </a:graphic>
      </p:graphicFrame>
      <p:sp>
        <p:nvSpPr>
          <p:cNvPr id="7" name="TextBox 6">
            <a:extLst>
              <a:ext uri="{FF2B5EF4-FFF2-40B4-BE49-F238E27FC236}">
                <a16:creationId xmlns:a16="http://schemas.microsoft.com/office/drawing/2014/main" id="{E94E5034-68CF-D46D-0011-4DD1175951DD}"/>
              </a:ext>
            </a:extLst>
          </p:cNvPr>
          <p:cNvSpPr txBox="1"/>
          <p:nvPr/>
        </p:nvSpPr>
        <p:spPr>
          <a:xfrm>
            <a:off x="816954" y="4088960"/>
            <a:ext cx="8497962" cy="1015663"/>
          </a:xfrm>
          <a:prstGeom prst="rect">
            <a:avLst/>
          </a:prstGeom>
          <a:noFill/>
        </p:spPr>
        <p:txBody>
          <a:bodyPr wrap="square">
            <a:spAutoFit/>
          </a:bodyPr>
          <a:lstStyle/>
          <a:p>
            <a:r>
              <a:rPr lang="en-GB" sz="1000" b="1" dirty="0">
                <a:latin typeface="Century Gothic" panose="020B0502020202020204" pitchFamily="34" charset="0"/>
              </a:rPr>
              <a:t>Notes</a:t>
            </a:r>
            <a:r>
              <a:rPr lang="en-GB" sz="1000" dirty="0">
                <a:latin typeface="Century Gothic" panose="020B0502020202020204" pitchFamily="34" charset="0"/>
              </a:rPr>
              <a:t>: </a:t>
            </a:r>
          </a:p>
          <a:p>
            <a:pPr marL="228600" indent="-228600">
              <a:buAutoNum type="arabicPeriod"/>
            </a:pPr>
            <a:r>
              <a:rPr lang="en-GB" sz="1000" dirty="0">
                <a:latin typeface="Century Gothic" panose="020B0502020202020204" pitchFamily="34" charset="0"/>
              </a:rPr>
              <a:t>Gap is defined as difference between estimated investment needs in 2030 and current baseline of investment in 2019. </a:t>
            </a:r>
          </a:p>
          <a:p>
            <a:pPr marL="228600" indent="-228600">
              <a:buAutoNum type="arabicPeriod"/>
            </a:pPr>
            <a:r>
              <a:rPr lang="en-GB" sz="1000" dirty="0">
                <a:latin typeface="Century Gothic" panose="020B0502020202020204" pitchFamily="34" charset="0"/>
              </a:rPr>
              <a:t>Human capital, sustainable infrastructure (including on the energy transition), adaptation and resilience, AFOLU. </a:t>
            </a:r>
          </a:p>
          <a:p>
            <a:pPr marL="228600" indent="-228600">
              <a:buAutoNum type="arabicPeriod"/>
            </a:pPr>
            <a:r>
              <a:rPr lang="en-GB" sz="1000" dirty="0">
                <a:latin typeface="Century Gothic" panose="020B0502020202020204" pitchFamily="34" charset="0"/>
              </a:rPr>
              <a:t>Energy transition, adaptation and resilience, AFOLU.</a:t>
            </a:r>
          </a:p>
          <a:p>
            <a:pPr marL="228600" indent="-228600">
              <a:buAutoNum type="arabicPeriod"/>
            </a:pPr>
            <a:endParaRPr lang="en-US" sz="1000" dirty="0">
              <a:latin typeface="Century Gothic" panose="020B0502020202020204" pitchFamily="34" charset="0"/>
            </a:endParaRPr>
          </a:p>
          <a:p>
            <a:r>
              <a:rPr kumimoji="0" lang="fr-FR" sz="1000" b="1" i="0" u="none" strike="noStrike" kern="1200" cap="none" spc="0" normalizeH="0" baseline="0" noProof="0" dirty="0">
                <a:ln>
                  <a:noFill/>
                </a:ln>
                <a:effectLst/>
                <a:uLnTx/>
                <a:uFillTx/>
                <a:latin typeface="Century Gothic"/>
                <a:ea typeface="+mn-ea"/>
                <a:cs typeface="+mn-cs"/>
              </a:rPr>
              <a:t>Source</a:t>
            </a:r>
            <a:r>
              <a:rPr kumimoji="0" lang="fr-FR" sz="1000" b="0" i="0" u="none" strike="noStrike" kern="1200" cap="none" spc="0" normalizeH="0" baseline="0" noProof="0" dirty="0">
                <a:ln>
                  <a:noFill/>
                </a:ln>
                <a:effectLst/>
                <a:uLnTx/>
                <a:uFillTx/>
                <a:latin typeface="Century Gothic"/>
                <a:ea typeface="+mn-ea"/>
                <a:cs typeface="+mn-cs"/>
              </a:rPr>
              <a:t>: </a:t>
            </a:r>
            <a:r>
              <a:rPr lang="fr-FR" sz="1000" dirty="0" err="1">
                <a:latin typeface="Century Gothic"/>
              </a:rPr>
              <a:t>Bhattacharya</a:t>
            </a:r>
            <a:r>
              <a:rPr lang="fr-FR" sz="1000" dirty="0">
                <a:latin typeface="Century Gothic"/>
              </a:rPr>
              <a:t> et al. (2022)</a:t>
            </a:r>
            <a:endParaRPr kumimoji="0" lang="en-GB" sz="1000" b="0" i="0" u="none" strike="noStrike" kern="1200" cap="none" spc="0" normalizeH="0" baseline="0" noProof="0" dirty="0">
              <a:ln>
                <a:noFill/>
              </a:ln>
              <a:effectLst/>
              <a:uLnTx/>
              <a:uFillTx/>
              <a:latin typeface="Century Gothic"/>
              <a:ea typeface="+mn-ea"/>
              <a:cs typeface="+mn-cs"/>
            </a:endParaRPr>
          </a:p>
        </p:txBody>
      </p:sp>
      <p:sp>
        <p:nvSpPr>
          <p:cNvPr id="4" name="TextBox 3">
            <a:extLst>
              <a:ext uri="{FF2B5EF4-FFF2-40B4-BE49-F238E27FC236}">
                <a16:creationId xmlns:a16="http://schemas.microsoft.com/office/drawing/2014/main" id="{C0C58AC0-29F9-6422-1A10-F9EEAD637732}"/>
              </a:ext>
            </a:extLst>
          </p:cNvPr>
          <p:cNvSpPr txBox="1"/>
          <p:nvPr/>
        </p:nvSpPr>
        <p:spPr>
          <a:xfrm>
            <a:off x="541004" y="5939850"/>
            <a:ext cx="11374437" cy="584775"/>
          </a:xfrm>
          <a:prstGeom prst="rect">
            <a:avLst/>
          </a:prstGeom>
          <a:solidFill>
            <a:schemeClr val="accent1">
              <a:lumMod val="20000"/>
              <a:lumOff val="80000"/>
            </a:schemeClr>
          </a:solidFill>
        </p:spPr>
        <p:txBody>
          <a:bodyPr wrap="square" rtlCol="0">
            <a:spAutoFit/>
          </a:bodyPr>
          <a:lstStyle/>
          <a:p>
            <a:pPr algn="ctr">
              <a:defRPr/>
            </a:pPr>
            <a:r>
              <a:rPr lang="en-GB" sz="1600" b="1" dirty="0">
                <a:solidFill>
                  <a:srgbClr val="2E3052"/>
                </a:solidFill>
                <a:latin typeface="Century Gothic"/>
              </a:rPr>
              <a:t>Investment requirements in natural capital, adaptation and resilience, and spending on loss and damage will be additional.</a:t>
            </a:r>
          </a:p>
        </p:txBody>
      </p:sp>
    </p:spTree>
    <p:extLst>
      <p:ext uri="{BB962C8B-B14F-4D97-AF65-F5344CB8AC3E}">
        <p14:creationId xmlns:p14="http://schemas.microsoft.com/office/powerpoint/2010/main" val="2587874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BB32C7B-E374-E3F5-D8DB-0997486B260E}"/>
              </a:ext>
            </a:extLst>
          </p:cNvPr>
          <p:cNvSpPr txBox="1">
            <a:spLocks noChangeArrowheads="1"/>
          </p:cNvSpPr>
          <p:nvPr/>
        </p:nvSpPr>
        <p:spPr bwMode="auto">
          <a:xfrm>
            <a:off x="699714" y="353160"/>
            <a:ext cx="7091300" cy="898581"/>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b="1">
                <a:solidFill>
                  <a:srgbClr val="FFFFFF"/>
                </a:solidFill>
                <a:latin typeface="+mj-lt"/>
                <a:ea typeface="+mj-ea"/>
                <a:cs typeface="+mj-cs"/>
                <a:sym typeface="Roboto Slab"/>
              </a:rPr>
              <a:t>Members of the Independent High-Level Expert Group on Climate Finance</a:t>
            </a:r>
            <a:endParaRPr kumimoji="0" lang="en-US" altLang="en-US" sz="2800" b="1" i="0" u="none" strike="noStrike" cap="none" spc="0" normalizeH="0" baseline="0" noProof="0">
              <a:ln>
                <a:noFill/>
              </a:ln>
              <a:solidFill>
                <a:srgbClr val="FFFFFF"/>
              </a:solidFill>
              <a:effectLst/>
              <a:uLnTx/>
              <a:uFillTx/>
              <a:latin typeface="+mj-lt"/>
              <a:ea typeface="+mj-ea"/>
              <a:cs typeface="+mj-cs"/>
            </a:endParaRPr>
          </a:p>
        </p:txBody>
      </p:sp>
      <p:sp>
        <p:nvSpPr>
          <p:cNvPr id="46" name="Title 1">
            <a:extLst>
              <a:ext uri="{FF2B5EF4-FFF2-40B4-BE49-F238E27FC236}">
                <a16:creationId xmlns:a16="http://schemas.microsoft.com/office/drawing/2014/main" id="{D6341A84-152F-BB7A-4D8D-148CA51CF28D}"/>
              </a:ext>
            </a:extLst>
          </p:cNvPr>
          <p:cNvSpPr txBox="1">
            <a:spLocks/>
          </p:cNvSpPr>
          <p:nvPr/>
        </p:nvSpPr>
        <p:spPr>
          <a:xfrm>
            <a:off x="395557" y="229151"/>
            <a:ext cx="11532917" cy="102800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37546C"/>
                </a:solidFill>
                <a:latin typeface="Century Gothic" panose="020B0502020202020204" pitchFamily="34" charset="0"/>
              </a:rPr>
              <a:t>Investment and spending priorities for climate action and sustainable development</a:t>
            </a:r>
          </a:p>
        </p:txBody>
      </p:sp>
      <p:sp>
        <p:nvSpPr>
          <p:cNvPr id="2" name="Content Placeholder 2">
            <a:extLst>
              <a:ext uri="{FF2B5EF4-FFF2-40B4-BE49-F238E27FC236}">
                <a16:creationId xmlns:a16="http://schemas.microsoft.com/office/drawing/2014/main" id="{3F2C6343-A254-94D2-4F10-FA4E20C81D9E}"/>
              </a:ext>
            </a:extLst>
          </p:cNvPr>
          <p:cNvSpPr txBox="1">
            <a:spLocks/>
          </p:cNvSpPr>
          <p:nvPr/>
        </p:nvSpPr>
        <p:spPr>
          <a:xfrm>
            <a:off x="850604" y="1370246"/>
            <a:ext cx="11077869" cy="5164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ts val="1200"/>
              </a:spcAft>
              <a:buNone/>
            </a:pPr>
            <a:r>
              <a:rPr lang="en-US" sz="1700" dirty="0">
                <a:solidFill>
                  <a:schemeClr val="accent4">
                    <a:lumMod val="75000"/>
                  </a:schemeClr>
                </a:solidFill>
                <a:latin typeface="Century Gothic" panose="020B0502020202020204" pitchFamily="34" charset="0"/>
                <a:ea typeface="+mj-ea"/>
                <a:cs typeface="+mj-cs"/>
              </a:rPr>
              <a:t>While the investment push is needed across the full spectrum of the sustainable development goals, the key investment and spending priorities to ramp up climate action and deliver on the related sustainable development goals are:</a:t>
            </a:r>
          </a:p>
          <a:p>
            <a:pPr marL="457200" lvl="1" indent="0">
              <a:lnSpc>
                <a:spcPct val="100000"/>
              </a:lnSpc>
              <a:spcBef>
                <a:spcPct val="0"/>
              </a:spcBef>
              <a:spcAft>
                <a:spcPts val="1200"/>
              </a:spcAft>
              <a:buNone/>
            </a:pPr>
            <a:r>
              <a:rPr lang="en-US" sz="1700" b="1" dirty="0">
                <a:solidFill>
                  <a:schemeClr val="accent4">
                    <a:lumMod val="75000"/>
                  </a:schemeClr>
                </a:solidFill>
                <a:latin typeface="Century Gothic" panose="020B0502020202020204" pitchFamily="34" charset="0"/>
                <a:ea typeface="+mj-ea"/>
                <a:cs typeface="+mj-cs"/>
              </a:rPr>
              <a:t>	Transformation of energy systems</a:t>
            </a:r>
            <a:r>
              <a:rPr lang="en-US" sz="1700" dirty="0">
                <a:solidFill>
                  <a:schemeClr val="accent4">
                    <a:lumMod val="75000"/>
                  </a:schemeClr>
                </a:solidFill>
                <a:latin typeface="Century Gothic" panose="020B0502020202020204" pitchFamily="34" charset="0"/>
                <a:ea typeface="+mj-ea"/>
                <a:cs typeface="+mj-cs"/>
              </a:rPr>
              <a:t>: major and rapid scale up of renewable energy; 	complementary public infrastructure; energy efficiency and transformation of demand; just 	transitions; curb methane emissions. </a:t>
            </a:r>
          </a:p>
          <a:p>
            <a:pPr marL="457200" lvl="1" indent="0">
              <a:lnSpc>
                <a:spcPct val="100000"/>
              </a:lnSpc>
              <a:spcBef>
                <a:spcPct val="0"/>
              </a:spcBef>
              <a:spcAft>
                <a:spcPts val="1200"/>
              </a:spcAft>
              <a:buNone/>
            </a:pPr>
            <a:r>
              <a:rPr lang="en-US" sz="1700" b="1" dirty="0">
                <a:solidFill>
                  <a:schemeClr val="accent4">
                    <a:lumMod val="75000"/>
                  </a:schemeClr>
                </a:solidFill>
                <a:latin typeface="Century Gothic" panose="020B0502020202020204" pitchFamily="34" charset="0"/>
                <a:ea typeface="+mj-ea"/>
                <a:cs typeface="+mj-cs"/>
              </a:rPr>
              <a:t>	Respond to the growing vulnerability</a:t>
            </a:r>
            <a:r>
              <a:rPr lang="en-US" sz="1700" dirty="0">
                <a:solidFill>
                  <a:schemeClr val="accent4">
                    <a:lumMod val="75000"/>
                  </a:schemeClr>
                </a:solidFill>
                <a:latin typeface="Century Gothic" panose="020B0502020202020204" pitchFamily="34" charset="0"/>
                <a:ea typeface="+mj-ea"/>
                <a:cs typeface="+mj-cs"/>
              </a:rPr>
              <a:t> </a:t>
            </a:r>
            <a:r>
              <a:rPr lang="en-US" sz="1700" b="1" dirty="0">
                <a:solidFill>
                  <a:schemeClr val="accent4">
                    <a:lumMod val="75000"/>
                  </a:schemeClr>
                </a:solidFill>
                <a:latin typeface="Century Gothic" panose="020B0502020202020204" pitchFamily="34" charset="0"/>
                <a:ea typeface="+mj-ea"/>
                <a:cs typeface="+mj-cs"/>
              </a:rPr>
              <a:t>of developing countries </a:t>
            </a:r>
            <a:r>
              <a:rPr lang="en-US" sz="1700" dirty="0">
                <a:solidFill>
                  <a:schemeClr val="accent4">
                    <a:lumMod val="75000"/>
                  </a:schemeClr>
                </a:solidFill>
                <a:latin typeface="Century Gothic" panose="020B0502020202020204" pitchFamily="34" charset="0"/>
                <a:ea typeface="+mj-ea"/>
                <a:cs typeface="+mj-cs"/>
              </a:rPr>
              <a:t>to climate change: both more 	frequent and damaging extreme events and the effects of “slow onset” especially on heat, 	precipitation and water. This will mean much better mechanisms to deal with loss and damage 	as well as greatly accelerating the investments in adaptation and resilience.</a:t>
            </a:r>
          </a:p>
          <a:p>
            <a:pPr marL="457200" lvl="1" indent="0">
              <a:lnSpc>
                <a:spcPct val="100000"/>
              </a:lnSpc>
              <a:spcBef>
                <a:spcPct val="0"/>
              </a:spcBef>
              <a:spcAft>
                <a:spcPts val="1200"/>
              </a:spcAft>
              <a:buNone/>
            </a:pPr>
            <a:r>
              <a:rPr lang="en-US" sz="1700" b="1" dirty="0">
                <a:solidFill>
                  <a:schemeClr val="accent4">
                    <a:lumMod val="75000"/>
                  </a:schemeClr>
                </a:solidFill>
                <a:latin typeface="Century Gothic" panose="020B0502020202020204" pitchFamily="34" charset="0"/>
                <a:ea typeface="+mj-ea"/>
                <a:cs typeface="+mj-cs"/>
              </a:rPr>
              <a:t>	Investing in sustainable</a:t>
            </a:r>
            <a:r>
              <a:rPr lang="en-US" sz="1700" dirty="0">
                <a:solidFill>
                  <a:schemeClr val="accent4">
                    <a:lumMod val="75000"/>
                  </a:schemeClr>
                </a:solidFill>
                <a:latin typeface="Century Gothic" panose="020B0502020202020204" pitchFamily="34" charset="0"/>
                <a:ea typeface="+mj-ea"/>
                <a:cs typeface="+mj-cs"/>
              </a:rPr>
              <a:t> </a:t>
            </a:r>
            <a:r>
              <a:rPr lang="en-US" sz="1700" b="1" dirty="0">
                <a:solidFill>
                  <a:schemeClr val="accent4">
                    <a:lumMod val="75000"/>
                  </a:schemeClr>
                </a:solidFill>
                <a:latin typeface="Century Gothic" panose="020B0502020202020204" pitchFamily="34" charset="0"/>
                <a:ea typeface="+mj-ea"/>
                <a:cs typeface="+mj-cs"/>
              </a:rPr>
              <a:t>agriculture</a:t>
            </a:r>
            <a:r>
              <a:rPr lang="en-US" sz="1700" dirty="0">
                <a:solidFill>
                  <a:schemeClr val="accent4">
                    <a:lumMod val="75000"/>
                  </a:schemeClr>
                </a:solidFill>
                <a:latin typeface="Century Gothic" panose="020B0502020202020204" pitchFamily="34" charset="0"/>
                <a:ea typeface="+mj-ea"/>
                <a:cs typeface="+mj-cs"/>
              </a:rPr>
              <a:t> </a:t>
            </a:r>
            <a:r>
              <a:rPr lang="en-US" sz="1700" b="1" dirty="0">
                <a:solidFill>
                  <a:schemeClr val="accent4">
                    <a:lumMod val="75000"/>
                  </a:schemeClr>
                </a:solidFill>
                <a:latin typeface="Century Gothic" panose="020B0502020202020204" pitchFamily="34" charset="0"/>
                <a:ea typeface="+mj-ea"/>
                <a:cs typeface="+mj-cs"/>
              </a:rPr>
              <a:t>and natural capital, </a:t>
            </a:r>
            <a:r>
              <a:rPr lang="en-US" sz="1700" dirty="0">
                <a:solidFill>
                  <a:schemeClr val="accent4">
                    <a:lumMod val="75000"/>
                  </a:schemeClr>
                </a:solidFill>
                <a:latin typeface="Century Gothic" panose="020B0502020202020204" pitchFamily="34" charset="0"/>
                <a:ea typeface="+mj-ea"/>
                <a:cs typeface="+mj-cs"/>
              </a:rPr>
              <a:t>which will be key to mitigation, 	adaptation and development. We must also ensure that we begin to restore right away the  	damage that we have done to our natural capital in terms of degraded land, deforestation, 	and damage to our water supply and oceans.</a:t>
            </a:r>
          </a:p>
          <a:p>
            <a:pPr marL="0" indent="0">
              <a:spcBef>
                <a:spcPct val="0"/>
              </a:spcBef>
              <a:spcAft>
                <a:spcPts val="1200"/>
              </a:spcAft>
              <a:buNone/>
            </a:pPr>
            <a:r>
              <a:rPr lang="en-GB" sz="1800" dirty="0">
                <a:solidFill>
                  <a:schemeClr val="accent4">
                    <a:lumMod val="75000"/>
                  </a:schemeClr>
                </a:solidFill>
                <a:latin typeface="Century Gothic" panose="020B0502020202020204" pitchFamily="34" charset="0"/>
              </a:rPr>
              <a:t>The climate and the biodiversity crises are deeply intertwined: they share common drivers, and each global challenge can worsen the other. As such, they must be addressed together.</a:t>
            </a:r>
          </a:p>
          <a:p>
            <a:pPr>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pPr>
            <a:endParaRPr lang="en-US" sz="1700" dirty="0">
              <a:solidFill>
                <a:srgbClr val="37546C"/>
              </a:solidFill>
              <a:latin typeface="Century Gothic" panose="020B0502020202020204" pitchFamily="34" charset="0"/>
              <a:ea typeface="+mj-ea"/>
              <a:cs typeface="+mj-cs"/>
            </a:endParaRPr>
          </a:p>
          <a:p>
            <a:pPr>
              <a:spcBef>
                <a:spcPct val="0"/>
              </a:spcBef>
            </a:pPr>
            <a:endParaRPr lang="en-US" sz="1700" dirty="0">
              <a:solidFill>
                <a:srgbClr val="37546C"/>
              </a:solidFill>
              <a:latin typeface="Century Gothic" panose="020B0502020202020204" pitchFamily="34" charset="0"/>
              <a:ea typeface="+mj-ea"/>
              <a:cs typeface="+mj-cs"/>
            </a:endParaRPr>
          </a:p>
          <a:p>
            <a:pPr>
              <a:spcBef>
                <a:spcPct val="0"/>
              </a:spcBef>
            </a:pPr>
            <a:endParaRPr lang="en-US" sz="1700" dirty="0">
              <a:solidFill>
                <a:srgbClr val="37546C"/>
              </a:solidFill>
              <a:latin typeface="Century Gothic" panose="020B0502020202020204" pitchFamily="34" charset="0"/>
              <a:ea typeface="+mj-ea"/>
              <a:cs typeface="+mj-cs"/>
            </a:endParaRPr>
          </a:p>
          <a:p>
            <a:endParaRPr lang="en-US" sz="1700" b="1" dirty="0">
              <a:solidFill>
                <a:srgbClr val="37546C"/>
              </a:solidFill>
              <a:latin typeface="Century Gothic" panose="020B0502020202020204" pitchFamily="34" charset="0"/>
              <a:ea typeface="+mj-ea"/>
              <a:cs typeface="+mj-cs"/>
            </a:endParaRPr>
          </a:p>
          <a:p>
            <a:endParaRPr lang="en-US" sz="1700" dirty="0"/>
          </a:p>
        </p:txBody>
      </p:sp>
      <p:pic>
        <p:nvPicPr>
          <p:cNvPr id="6" name="Graphic 5" descr="Sprouting Seed with solid fill">
            <a:extLst>
              <a:ext uri="{FF2B5EF4-FFF2-40B4-BE49-F238E27FC236}">
                <a16:creationId xmlns:a16="http://schemas.microsoft.com/office/drawing/2014/main" id="{45EBD461-C279-AB19-AA94-05592B193A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5613" y="4425478"/>
            <a:ext cx="577547" cy="577547"/>
          </a:xfrm>
          <a:prstGeom prst="rect">
            <a:avLst/>
          </a:prstGeom>
        </p:spPr>
      </p:pic>
      <p:pic>
        <p:nvPicPr>
          <p:cNvPr id="8" name="Graphic 7" descr="Renewable Energy with solid fill">
            <a:extLst>
              <a:ext uri="{FF2B5EF4-FFF2-40B4-BE49-F238E27FC236}">
                <a16:creationId xmlns:a16="http://schemas.microsoft.com/office/drawing/2014/main" id="{F43FC7FA-7E19-4E8E-6DFB-F8F14C74EB7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3749" y="2285643"/>
            <a:ext cx="607801" cy="607801"/>
          </a:xfrm>
          <a:prstGeom prst="rect">
            <a:avLst/>
          </a:prstGeom>
        </p:spPr>
      </p:pic>
      <p:pic>
        <p:nvPicPr>
          <p:cNvPr id="9" name="Graphic 8" descr="Shield with solid fill">
            <a:extLst>
              <a:ext uri="{FF2B5EF4-FFF2-40B4-BE49-F238E27FC236}">
                <a16:creationId xmlns:a16="http://schemas.microsoft.com/office/drawing/2014/main" id="{079A97A2-2DF3-CD65-E008-D7E96FE755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5613" y="3314546"/>
            <a:ext cx="524072" cy="494295"/>
          </a:xfrm>
          <a:prstGeom prst="rect">
            <a:avLst/>
          </a:prstGeom>
        </p:spPr>
      </p:pic>
    </p:spTree>
    <p:extLst>
      <p:ext uri="{BB962C8B-B14F-4D97-AF65-F5344CB8AC3E}">
        <p14:creationId xmlns:p14="http://schemas.microsoft.com/office/powerpoint/2010/main" val="1531789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BB32C7B-E374-E3F5-D8DB-0997486B260E}"/>
              </a:ext>
            </a:extLst>
          </p:cNvPr>
          <p:cNvSpPr txBox="1">
            <a:spLocks noChangeArrowheads="1"/>
          </p:cNvSpPr>
          <p:nvPr/>
        </p:nvSpPr>
        <p:spPr bwMode="auto">
          <a:xfrm>
            <a:off x="699714" y="353160"/>
            <a:ext cx="7091300" cy="898581"/>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b="1">
                <a:solidFill>
                  <a:srgbClr val="FFFFFF"/>
                </a:solidFill>
                <a:latin typeface="+mj-lt"/>
                <a:ea typeface="+mj-ea"/>
                <a:cs typeface="+mj-cs"/>
                <a:sym typeface="Roboto Slab"/>
              </a:rPr>
              <a:t>Members of the Independent High-Level Expert Group on Climate Finance</a:t>
            </a:r>
            <a:endParaRPr kumimoji="0" lang="en-US" altLang="en-US" sz="2800" b="1" i="0" u="none" strike="noStrike" cap="none" spc="0" normalizeH="0" baseline="0" noProof="0">
              <a:ln>
                <a:noFill/>
              </a:ln>
              <a:solidFill>
                <a:srgbClr val="FFFFFF"/>
              </a:solidFill>
              <a:effectLst/>
              <a:uLnTx/>
              <a:uFillTx/>
              <a:latin typeface="+mj-lt"/>
              <a:ea typeface="+mj-ea"/>
              <a:cs typeface="+mj-cs"/>
            </a:endParaRPr>
          </a:p>
        </p:txBody>
      </p:sp>
      <p:sp>
        <p:nvSpPr>
          <p:cNvPr id="46" name="Title 1">
            <a:extLst>
              <a:ext uri="{FF2B5EF4-FFF2-40B4-BE49-F238E27FC236}">
                <a16:creationId xmlns:a16="http://schemas.microsoft.com/office/drawing/2014/main" id="{D6341A84-152F-BB7A-4D8D-148CA51CF28D}"/>
              </a:ext>
            </a:extLst>
          </p:cNvPr>
          <p:cNvSpPr txBox="1">
            <a:spLocks/>
          </p:cNvSpPr>
          <p:nvPr/>
        </p:nvSpPr>
        <p:spPr>
          <a:xfrm>
            <a:off x="424133" y="229151"/>
            <a:ext cx="11504342" cy="102800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37546C"/>
                </a:solidFill>
                <a:latin typeface="Century Gothic" panose="020B0502020202020204" pitchFamily="34" charset="0"/>
              </a:rPr>
              <a:t>Translating investment opportunities to reality: </a:t>
            </a:r>
          </a:p>
          <a:p>
            <a:r>
              <a:rPr lang="en-US" sz="3200" b="1" dirty="0">
                <a:solidFill>
                  <a:srgbClr val="37546C"/>
                </a:solidFill>
                <a:latin typeface="Century Gothic" panose="020B0502020202020204" pitchFamily="34" charset="0"/>
              </a:rPr>
              <a:t>unlocking ambitious investment </a:t>
            </a:r>
            <a:r>
              <a:rPr lang="en-US" sz="3200" b="1" dirty="0" err="1">
                <a:solidFill>
                  <a:srgbClr val="37546C"/>
                </a:solidFill>
                <a:latin typeface="Century Gothic" panose="020B0502020202020204" pitchFamily="34" charset="0"/>
              </a:rPr>
              <a:t>programmes</a:t>
            </a:r>
            <a:r>
              <a:rPr lang="en-US" sz="3200" b="1" dirty="0">
                <a:solidFill>
                  <a:srgbClr val="37546C"/>
                </a:solidFill>
                <a:latin typeface="Century Gothic" panose="020B0502020202020204" pitchFamily="34" charset="0"/>
              </a:rPr>
              <a:t> </a:t>
            </a:r>
          </a:p>
        </p:txBody>
      </p:sp>
      <p:sp>
        <p:nvSpPr>
          <p:cNvPr id="2" name="Content Placeholder 2">
            <a:extLst>
              <a:ext uri="{FF2B5EF4-FFF2-40B4-BE49-F238E27FC236}">
                <a16:creationId xmlns:a16="http://schemas.microsoft.com/office/drawing/2014/main" id="{3F2C6343-A254-94D2-4F10-FA4E20C81D9E}"/>
              </a:ext>
            </a:extLst>
          </p:cNvPr>
          <p:cNvSpPr txBox="1">
            <a:spLocks/>
          </p:cNvSpPr>
          <p:nvPr/>
        </p:nvSpPr>
        <p:spPr>
          <a:xfrm>
            <a:off x="424316" y="1613697"/>
            <a:ext cx="11504341" cy="5164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Investments to ramp up climate action, for both mitigation and adaptation, will remain academic, unless countries are able to develop and implement investment programmes in a purposeful way. </a:t>
            </a:r>
          </a:p>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These </a:t>
            </a:r>
            <a:r>
              <a:rPr lang="en-US" sz="1700" b="1" dirty="0">
                <a:solidFill>
                  <a:srgbClr val="37546C"/>
                </a:solidFill>
                <a:latin typeface="Century Gothic" panose="020B0502020202020204" pitchFamily="34" charset="0"/>
                <a:ea typeface="+mj-ea"/>
                <a:cs typeface="+mj-cs"/>
              </a:rPr>
              <a:t>programmes need to be translated into concrete pipelines of projects and supported by a favorable investment climate</a:t>
            </a:r>
            <a:r>
              <a:rPr lang="en-US" sz="1700" dirty="0">
                <a:solidFill>
                  <a:srgbClr val="37546C"/>
                </a:solidFill>
                <a:latin typeface="Century Gothic" panose="020B0502020202020204" pitchFamily="34" charset="0"/>
                <a:ea typeface="+mj-ea"/>
                <a:cs typeface="+mj-cs"/>
              </a:rPr>
              <a:t>. Investment depends on expectations, and clarity and credibility over the medium term are crucial.</a:t>
            </a:r>
          </a:p>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Countries will need therefore </a:t>
            </a:r>
            <a:r>
              <a:rPr lang="en-US" sz="1700" b="1" dirty="0">
                <a:solidFill>
                  <a:srgbClr val="37546C"/>
                </a:solidFill>
                <a:latin typeface="Century Gothic" panose="020B0502020202020204" pitchFamily="34" charset="0"/>
                <a:ea typeface="+mj-ea"/>
                <a:cs typeface="+mj-cs"/>
              </a:rPr>
              <a:t>strong and sustained policy and institutional reforms </a:t>
            </a:r>
            <a:r>
              <a:rPr lang="en-US" sz="1700" dirty="0">
                <a:solidFill>
                  <a:srgbClr val="37546C"/>
                </a:solidFill>
                <a:latin typeface="Century Gothic" panose="020B0502020202020204" pitchFamily="34" charset="0"/>
                <a:ea typeface="+mj-ea"/>
                <a:cs typeface="+mj-cs"/>
              </a:rPr>
              <a:t>to unlock the scale and quality of investments and </a:t>
            </a:r>
            <a:r>
              <a:rPr lang="en-US" sz="1700" dirty="0" err="1">
                <a:solidFill>
                  <a:srgbClr val="37546C"/>
                </a:solidFill>
                <a:latin typeface="Century Gothic" panose="020B0502020202020204" pitchFamily="34" charset="0"/>
                <a:ea typeface="+mj-ea"/>
                <a:cs typeface="+mj-cs"/>
              </a:rPr>
              <a:t>mobilise</a:t>
            </a:r>
            <a:r>
              <a:rPr lang="en-US" sz="1700" dirty="0">
                <a:solidFill>
                  <a:srgbClr val="37546C"/>
                </a:solidFill>
                <a:latin typeface="Century Gothic" panose="020B0502020202020204" pitchFamily="34" charset="0"/>
                <a:ea typeface="+mj-ea"/>
                <a:cs typeface="+mj-cs"/>
              </a:rPr>
              <a:t> the domestic resources that will be needed. A concerted push will be needed on </a:t>
            </a:r>
            <a:r>
              <a:rPr lang="en-US" sz="1700" b="1" dirty="0">
                <a:solidFill>
                  <a:srgbClr val="37546C"/>
                </a:solidFill>
                <a:latin typeface="Century Gothic" panose="020B0502020202020204" pitchFamily="34" charset="0"/>
                <a:ea typeface="+mj-ea"/>
                <a:cs typeface="+mj-cs"/>
              </a:rPr>
              <a:t>capacity building</a:t>
            </a:r>
            <a:r>
              <a:rPr lang="en-US" sz="1700" dirty="0">
                <a:solidFill>
                  <a:srgbClr val="37546C"/>
                </a:solidFill>
                <a:latin typeface="Century Gothic" panose="020B0502020202020204" pitchFamily="34" charset="0"/>
                <a:ea typeface="+mj-ea"/>
                <a:cs typeface="+mj-cs"/>
              </a:rPr>
              <a:t>.</a:t>
            </a:r>
          </a:p>
          <a:p>
            <a:pPr>
              <a:lnSpc>
                <a:spcPct val="100000"/>
              </a:lnSpc>
              <a:spcBef>
                <a:spcPct val="0"/>
              </a:spcBef>
              <a:spcAft>
                <a:spcPts val="1200"/>
              </a:spcAft>
            </a:pPr>
            <a:r>
              <a:rPr lang="en-US" sz="1700" b="1" dirty="0">
                <a:solidFill>
                  <a:srgbClr val="37546C"/>
                </a:solidFill>
                <a:latin typeface="Century Gothic" panose="020B0502020202020204" pitchFamily="34" charset="0"/>
                <a:ea typeface="+mj-ea"/>
                <a:cs typeface="+mj-cs"/>
              </a:rPr>
              <a:t>Country/sector platforms</a:t>
            </a:r>
            <a:r>
              <a:rPr lang="en-US" sz="1700" dirty="0">
                <a:solidFill>
                  <a:srgbClr val="37546C"/>
                </a:solidFill>
                <a:latin typeface="Century Gothic" panose="020B0502020202020204" pitchFamily="34" charset="0"/>
                <a:ea typeface="+mj-ea"/>
                <a:cs typeface="+mj-cs"/>
              </a:rPr>
              <a:t>, driven by countries, help bring together key stakeholders around a purposeful strategy, scaling up of investments, tackling binding constraints, ensuring a just transition and mobilization of finance especially private finance.  </a:t>
            </a:r>
          </a:p>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It will also be important to make market mechanisms work more effectively and efficiently to direct capital where needed.</a:t>
            </a:r>
          </a:p>
          <a:p>
            <a:pPr>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endParaRPr lang="en-US" sz="1800" b="1" dirty="0">
              <a:solidFill>
                <a:srgbClr val="37546C"/>
              </a:solidFill>
              <a:latin typeface="Century Gothic" panose="020B0502020202020204" pitchFamily="34" charset="0"/>
              <a:ea typeface="+mj-ea"/>
              <a:cs typeface="+mj-cs"/>
            </a:endParaRPr>
          </a:p>
          <a:p>
            <a:endParaRPr lang="en-US" sz="1800" dirty="0"/>
          </a:p>
        </p:txBody>
      </p:sp>
    </p:spTree>
    <p:extLst>
      <p:ext uri="{BB962C8B-B14F-4D97-AF65-F5344CB8AC3E}">
        <p14:creationId xmlns:p14="http://schemas.microsoft.com/office/powerpoint/2010/main" val="1107650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BB32C7B-E374-E3F5-D8DB-0997486B260E}"/>
              </a:ext>
            </a:extLst>
          </p:cNvPr>
          <p:cNvSpPr txBox="1">
            <a:spLocks noChangeArrowheads="1"/>
          </p:cNvSpPr>
          <p:nvPr/>
        </p:nvSpPr>
        <p:spPr bwMode="auto">
          <a:xfrm>
            <a:off x="699714" y="353160"/>
            <a:ext cx="7091300" cy="898581"/>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b="1" dirty="0">
                <a:solidFill>
                  <a:srgbClr val="FFFFFF"/>
                </a:solidFill>
                <a:latin typeface="+mj-lt"/>
                <a:ea typeface="+mj-ea"/>
                <a:cs typeface="+mj-cs"/>
                <a:sym typeface="Roboto Slab"/>
              </a:rPr>
              <a:t>Members of the Independent High-Level Expert Group on Climate Finance</a:t>
            </a:r>
            <a:endParaRPr kumimoji="0" lang="en-US" altLang="en-US" sz="2800" b="1" i="0" u="none" strike="noStrike" cap="none" spc="0" normalizeH="0" baseline="0" noProof="0" dirty="0">
              <a:ln>
                <a:noFill/>
              </a:ln>
              <a:solidFill>
                <a:srgbClr val="FFFFFF"/>
              </a:solidFill>
              <a:effectLst/>
              <a:uLnTx/>
              <a:uFillTx/>
              <a:latin typeface="+mj-lt"/>
              <a:ea typeface="+mj-ea"/>
              <a:cs typeface="+mj-cs"/>
            </a:endParaRPr>
          </a:p>
        </p:txBody>
      </p:sp>
      <p:sp>
        <p:nvSpPr>
          <p:cNvPr id="46" name="Title 1">
            <a:extLst>
              <a:ext uri="{FF2B5EF4-FFF2-40B4-BE49-F238E27FC236}">
                <a16:creationId xmlns:a16="http://schemas.microsoft.com/office/drawing/2014/main" id="{D6341A84-152F-BB7A-4D8D-148CA51CF28D}"/>
              </a:ext>
            </a:extLst>
          </p:cNvPr>
          <p:cNvSpPr txBox="1">
            <a:spLocks/>
          </p:cNvSpPr>
          <p:nvPr/>
        </p:nvSpPr>
        <p:spPr>
          <a:xfrm>
            <a:off x="414607" y="229151"/>
            <a:ext cx="11513867" cy="102800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37546C"/>
                </a:solidFill>
                <a:latin typeface="Century Gothic" panose="020B0502020202020204" pitchFamily="34" charset="0"/>
              </a:rPr>
              <a:t>A new approach to finance: scale, urgency and options</a:t>
            </a:r>
          </a:p>
        </p:txBody>
      </p:sp>
      <p:sp>
        <p:nvSpPr>
          <p:cNvPr id="2" name="Content Placeholder 2">
            <a:extLst>
              <a:ext uri="{FF2B5EF4-FFF2-40B4-BE49-F238E27FC236}">
                <a16:creationId xmlns:a16="http://schemas.microsoft.com/office/drawing/2014/main" id="{3F2C6343-A254-94D2-4F10-FA4E20C81D9E}"/>
              </a:ext>
            </a:extLst>
          </p:cNvPr>
          <p:cNvSpPr txBox="1">
            <a:spLocks/>
          </p:cNvSpPr>
          <p:nvPr/>
        </p:nvSpPr>
        <p:spPr>
          <a:xfrm>
            <a:off x="407987" y="1264806"/>
            <a:ext cx="11520487" cy="5164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The scale of the investments needed in EMDCs over the next five years and beyond will require a debt and financing strategy that:</a:t>
            </a:r>
          </a:p>
          <a:p>
            <a:pPr lvl="1">
              <a:lnSpc>
                <a:spcPct val="100000"/>
              </a:lnSpc>
              <a:spcBef>
                <a:spcPct val="0"/>
              </a:spcBef>
              <a:spcAft>
                <a:spcPts val="1200"/>
              </a:spcAft>
              <a:buFont typeface="Wingdings" panose="05000000000000000000" pitchFamily="2" charset="2"/>
              <a:buChar char="ü"/>
            </a:pPr>
            <a:r>
              <a:rPr lang="en-US" sz="1700" b="1" dirty="0">
                <a:solidFill>
                  <a:srgbClr val="37546C"/>
                </a:solidFill>
                <a:latin typeface="Century Gothic" panose="020B0502020202020204" pitchFamily="34" charset="0"/>
                <a:ea typeface="+mj-ea"/>
                <a:cs typeface="+mj-cs"/>
              </a:rPr>
              <a:t>tackles festering debt difficulties</a:t>
            </a:r>
            <a:r>
              <a:rPr lang="en-US" sz="1700" dirty="0">
                <a:solidFill>
                  <a:srgbClr val="37546C"/>
                </a:solidFill>
                <a:latin typeface="Century Gothic" panose="020B0502020202020204" pitchFamily="34" charset="0"/>
                <a:ea typeface="+mj-ea"/>
                <a:cs typeface="+mj-cs"/>
              </a:rPr>
              <a:t>, especially those of poor and vulnerable countries.</a:t>
            </a:r>
          </a:p>
          <a:p>
            <a:pPr lvl="1">
              <a:lnSpc>
                <a:spcPct val="100000"/>
              </a:lnSpc>
              <a:spcBef>
                <a:spcPct val="0"/>
              </a:spcBef>
              <a:spcAft>
                <a:spcPts val="1200"/>
              </a:spcAft>
              <a:buFont typeface="Wingdings" panose="05000000000000000000" pitchFamily="2" charset="2"/>
              <a:buChar char="ü"/>
            </a:pPr>
            <a:r>
              <a:rPr lang="en-US" sz="1700" dirty="0">
                <a:solidFill>
                  <a:srgbClr val="37546C"/>
                </a:solidFill>
                <a:latin typeface="Century Gothic" panose="020B0502020202020204" pitchFamily="34" charset="0"/>
                <a:ea typeface="+mj-ea"/>
                <a:cs typeface="+mj-cs"/>
              </a:rPr>
              <a:t>leads to a major expansion and </a:t>
            </a:r>
            <a:r>
              <a:rPr lang="en-US" sz="1700" b="1" dirty="0">
                <a:solidFill>
                  <a:srgbClr val="37546C"/>
                </a:solidFill>
                <a:latin typeface="Century Gothic" panose="020B0502020202020204" pitchFamily="34" charset="0"/>
                <a:ea typeface="+mj-ea"/>
                <a:cs typeface="+mj-cs"/>
              </a:rPr>
              <a:t>revamp of both domestic and international finance, public and private. </a:t>
            </a:r>
          </a:p>
          <a:p>
            <a:pPr>
              <a:lnSpc>
                <a:spcPct val="100000"/>
              </a:lnSpc>
              <a:spcBef>
                <a:spcPct val="0"/>
              </a:spcBef>
            </a:pPr>
            <a:r>
              <a:rPr lang="en-US" sz="1700" dirty="0">
                <a:solidFill>
                  <a:srgbClr val="37546C"/>
                </a:solidFill>
                <a:latin typeface="Century Gothic" panose="020B0502020202020204" pitchFamily="34" charset="0"/>
                <a:ea typeface="+mj-ea"/>
                <a:cs typeface="+mj-cs"/>
              </a:rPr>
              <a:t>An overall financing strategy must utilize the </a:t>
            </a:r>
            <a:r>
              <a:rPr lang="en-US" sz="1700" b="1" dirty="0">
                <a:solidFill>
                  <a:srgbClr val="37546C"/>
                </a:solidFill>
                <a:latin typeface="Century Gothic" panose="020B0502020202020204" pitchFamily="34" charset="0"/>
                <a:ea typeface="+mj-ea"/>
                <a:cs typeface="+mj-cs"/>
              </a:rPr>
              <a:t>complementary strengths</a:t>
            </a:r>
            <a:r>
              <a:rPr lang="en-US" sz="1700" dirty="0">
                <a:solidFill>
                  <a:srgbClr val="37546C"/>
                </a:solidFill>
                <a:latin typeface="Century Gothic" panose="020B0502020202020204" pitchFamily="34" charset="0"/>
                <a:ea typeface="+mj-ea"/>
                <a:cs typeface="+mj-cs"/>
              </a:rPr>
              <a:t> of different pools of finance to ensure the right scale and kind of finance and to reduce the cost of capital rather than simply focusing on the aggregate number.  </a:t>
            </a:r>
          </a:p>
          <a:p>
            <a:pPr>
              <a:lnSpc>
                <a:spcPct val="100000"/>
              </a:lnSpc>
              <a:spcBef>
                <a:spcPct val="0"/>
              </a:spcBef>
            </a:pPr>
            <a:endParaRPr lang="en-US" sz="1700" dirty="0">
              <a:solidFill>
                <a:srgbClr val="37546C"/>
              </a:solidFill>
              <a:latin typeface="Century Gothic" panose="020B0502020202020204" pitchFamily="34" charset="0"/>
              <a:ea typeface="+mj-ea"/>
              <a:cs typeface="+mj-cs"/>
            </a:endParaRPr>
          </a:p>
          <a:p>
            <a:pPr marL="457200" lvl="1" indent="0">
              <a:lnSpc>
                <a:spcPct val="100000"/>
              </a:lnSpc>
              <a:spcBef>
                <a:spcPct val="0"/>
              </a:spcBef>
              <a:buNone/>
            </a:pPr>
            <a:r>
              <a:rPr lang="en-US" sz="1700" dirty="0">
                <a:solidFill>
                  <a:srgbClr val="37546C"/>
                </a:solidFill>
                <a:latin typeface="Century Gothic" panose="020B0502020202020204" pitchFamily="34" charset="0"/>
                <a:ea typeface="+mj-ea"/>
                <a:cs typeface="+mj-cs"/>
              </a:rPr>
              <a:t>		It must embody a</a:t>
            </a:r>
            <a:r>
              <a:rPr lang="en-US" sz="1700" b="1" dirty="0">
                <a:solidFill>
                  <a:srgbClr val="37546C"/>
                </a:solidFill>
                <a:latin typeface="Century Gothic" panose="020B0502020202020204" pitchFamily="34" charset="0"/>
                <a:ea typeface="+mj-ea"/>
                <a:cs typeface="+mj-cs"/>
              </a:rPr>
              <a:t> holistic and comprehensive approach </a:t>
            </a:r>
            <a:r>
              <a:rPr lang="en-US" sz="1700" dirty="0">
                <a:solidFill>
                  <a:srgbClr val="37546C"/>
                </a:solidFill>
                <a:latin typeface="Century Gothic" panose="020B0502020202020204" pitchFamily="34" charset="0"/>
                <a:ea typeface="+mj-ea"/>
                <a:cs typeface="+mj-cs"/>
              </a:rPr>
              <a:t>to climate finance</a:t>
            </a:r>
            <a:r>
              <a:rPr lang="en-US" sz="1700" b="1" dirty="0">
                <a:solidFill>
                  <a:srgbClr val="37546C"/>
                </a:solidFill>
                <a:latin typeface="Century Gothic" panose="020B0502020202020204" pitchFamily="34" charset="0"/>
                <a:ea typeface="+mj-ea"/>
                <a:cs typeface="+mj-cs"/>
              </a:rPr>
              <a:t>.</a:t>
            </a:r>
          </a:p>
          <a:p>
            <a:pPr marL="457200" lvl="1" indent="0">
              <a:lnSpc>
                <a:spcPct val="100000"/>
              </a:lnSpc>
              <a:spcBef>
                <a:spcPct val="0"/>
              </a:spcBef>
              <a:buNone/>
            </a:pPr>
            <a:endParaRPr lang="en-US" sz="1700" b="1" dirty="0">
              <a:solidFill>
                <a:srgbClr val="37546C"/>
              </a:solidFill>
              <a:latin typeface="Century Gothic" panose="020B0502020202020204" pitchFamily="34" charset="0"/>
              <a:ea typeface="+mj-ea"/>
              <a:cs typeface="+mj-cs"/>
            </a:endParaRPr>
          </a:p>
          <a:p>
            <a:pPr marL="457200" lvl="1" indent="0">
              <a:lnSpc>
                <a:spcPct val="100000"/>
              </a:lnSpc>
              <a:spcBef>
                <a:spcPct val="0"/>
              </a:spcBef>
              <a:buNone/>
            </a:pPr>
            <a:endParaRPr lang="en-US" sz="1700" dirty="0">
              <a:solidFill>
                <a:srgbClr val="37546C"/>
              </a:solidFill>
              <a:latin typeface="Century Gothic" panose="020B0502020202020204" pitchFamily="34" charset="0"/>
              <a:ea typeface="+mj-ea"/>
              <a:cs typeface="+mj-cs"/>
            </a:endParaRPr>
          </a:p>
          <a:p>
            <a:pPr marL="457200" lvl="1" indent="0">
              <a:lnSpc>
                <a:spcPct val="100000"/>
              </a:lnSpc>
              <a:spcBef>
                <a:spcPct val="0"/>
              </a:spcBef>
              <a:buNone/>
            </a:pPr>
            <a:r>
              <a:rPr lang="en-US" sz="1700" dirty="0">
                <a:solidFill>
                  <a:srgbClr val="37546C"/>
                </a:solidFill>
                <a:latin typeface="Century Gothic" panose="020B0502020202020204" pitchFamily="34" charset="0"/>
                <a:ea typeface="+mj-ea"/>
                <a:cs typeface="+mj-cs"/>
              </a:rPr>
              <a:t>		It must </a:t>
            </a:r>
            <a:r>
              <a:rPr lang="en-US" sz="1700" b="1" dirty="0">
                <a:solidFill>
                  <a:srgbClr val="37546C"/>
                </a:solidFill>
                <a:latin typeface="Century Gothic" panose="020B0502020202020204" pitchFamily="34" charset="0"/>
                <a:ea typeface="+mj-ea"/>
                <a:cs typeface="+mj-cs"/>
              </a:rPr>
              <a:t>align all finance with sustainability, including climate goals</a:t>
            </a:r>
            <a:r>
              <a:rPr lang="en-US" sz="1700" dirty="0">
                <a:solidFill>
                  <a:srgbClr val="37546C"/>
                </a:solidFill>
                <a:latin typeface="Century Gothic" panose="020B0502020202020204" pitchFamily="34" charset="0"/>
                <a:ea typeface="+mj-ea"/>
                <a:cs typeface="+mj-cs"/>
              </a:rPr>
              <a:t>, in line with Article 2.1c.</a:t>
            </a:r>
          </a:p>
          <a:p>
            <a:pPr marL="457200" lvl="1" indent="0">
              <a:lnSpc>
                <a:spcPct val="100000"/>
              </a:lnSpc>
              <a:spcBef>
                <a:spcPct val="0"/>
              </a:spcBef>
              <a:buNone/>
            </a:pPr>
            <a:endParaRPr lang="en-US" sz="1700" dirty="0">
              <a:solidFill>
                <a:srgbClr val="37546C"/>
              </a:solidFill>
              <a:latin typeface="Century Gothic" panose="020B0502020202020204" pitchFamily="34" charset="0"/>
              <a:ea typeface="+mj-ea"/>
              <a:cs typeface="+mj-cs"/>
            </a:endParaRPr>
          </a:p>
          <a:p>
            <a:pPr marL="457200" lvl="1" indent="0">
              <a:lnSpc>
                <a:spcPct val="100000"/>
              </a:lnSpc>
              <a:spcBef>
                <a:spcPct val="0"/>
              </a:spcBef>
              <a:buNone/>
            </a:pPr>
            <a:endParaRPr lang="en-US" sz="1700" dirty="0">
              <a:solidFill>
                <a:srgbClr val="37546C"/>
              </a:solidFill>
              <a:latin typeface="Century Gothic" panose="020B0502020202020204" pitchFamily="34" charset="0"/>
              <a:ea typeface="+mj-ea"/>
              <a:cs typeface="+mj-cs"/>
            </a:endParaRPr>
          </a:p>
          <a:p>
            <a:pPr marL="457200" lvl="1" indent="0">
              <a:lnSpc>
                <a:spcPct val="100000"/>
              </a:lnSpc>
              <a:spcBef>
                <a:spcPct val="0"/>
              </a:spcBef>
              <a:buNone/>
            </a:pPr>
            <a:r>
              <a:rPr lang="en-US" sz="1700" dirty="0">
                <a:solidFill>
                  <a:srgbClr val="37546C"/>
                </a:solidFill>
                <a:latin typeface="Century Gothic" panose="020B0502020202020204" pitchFamily="34" charset="0"/>
                <a:ea typeface="+mj-ea"/>
                <a:cs typeface="+mj-cs"/>
              </a:rPr>
              <a:t>		It must </a:t>
            </a:r>
            <a:r>
              <a:rPr lang="en-US" sz="1700" b="1" dirty="0">
                <a:solidFill>
                  <a:srgbClr val="37546C"/>
                </a:solidFill>
                <a:latin typeface="Century Gothic" panose="020B0502020202020204" pitchFamily="34" charset="0"/>
                <a:ea typeface="+mj-ea"/>
                <a:cs typeface="+mj-cs"/>
              </a:rPr>
              <a:t>create the necessary partnerships </a:t>
            </a:r>
            <a:r>
              <a:rPr lang="en-US" sz="1700" dirty="0">
                <a:solidFill>
                  <a:srgbClr val="37546C"/>
                </a:solidFill>
                <a:latin typeface="Century Gothic" panose="020B0502020202020204" pitchFamily="34" charset="0"/>
                <a:ea typeface="+mj-ea"/>
                <a:cs typeface="+mj-cs"/>
              </a:rPr>
              <a:t>to deliver concrete results. </a:t>
            </a:r>
          </a:p>
          <a:p>
            <a:pPr lvl="1">
              <a:lnSpc>
                <a:spcPct val="100000"/>
              </a:lnSpc>
              <a:spcBef>
                <a:spcPct val="0"/>
              </a:spcBef>
              <a:spcAft>
                <a:spcPts val="1200"/>
              </a:spcAft>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endParaRPr lang="en-US" sz="1800" b="1" dirty="0">
              <a:solidFill>
                <a:srgbClr val="37546C"/>
              </a:solidFill>
              <a:latin typeface="Century Gothic" panose="020B0502020202020204" pitchFamily="34" charset="0"/>
              <a:ea typeface="+mj-ea"/>
              <a:cs typeface="+mj-cs"/>
            </a:endParaRPr>
          </a:p>
          <a:p>
            <a:endParaRPr lang="en-US" sz="1800" dirty="0"/>
          </a:p>
        </p:txBody>
      </p:sp>
      <p:pic>
        <p:nvPicPr>
          <p:cNvPr id="5" name="Graphic 4" descr="Circles with lines with solid fill">
            <a:extLst>
              <a:ext uri="{FF2B5EF4-FFF2-40B4-BE49-F238E27FC236}">
                <a16:creationId xmlns:a16="http://schemas.microsoft.com/office/drawing/2014/main" id="{7CE0FDDA-89CF-AC87-D1C1-B9FF30B5E3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61805" y="3910431"/>
            <a:ext cx="709612" cy="709612"/>
          </a:xfrm>
          <a:prstGeom prst="rect">
            <a:avLst/>
          </a:prstGeom>
        </p:spPr>
      </p:pic>
      <p:pic>
        <p:nvPicPr>
          <p:cNvPr id="8" name="Graphic 7" descr="Line arrow: Straight with solid fill">
            <a:extLst>
              <a:ext uri="{FF2B5EF4-FFF2-40B4-BE49-F238E27FC236}">
                <a16:creationId xmlns:a16="http://schemas.microsoft.com/office/drawing/2014/main" id="{91EA27BF-7EF9-AC0A-09D3-39D9BAAF5E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563397" y="-171247"/>
            <a:ext cx="914400" cy="914400"/>
          </a:xfrm>
          <a:prstGeom prst="rect">
            <a:avLst/>
          </a:prstGeom>
        </p:spPr>
      </p:pic>
      <p:pic>
        <p:nvPicPr>
          <p:cNvPr id="10" name="Graphic 9" descr="Boardroom with solid fill">
            <a:extLst>
              <a:ext uri="{FF2B5EF4-FFF2-40B4-BE49-F238E27FC236}">
                <a16:creationId xmlns:a16="http://schemas.microsoft.com/office/drawing/2014/main" id="{C0344ACA-DDC5-F836-FD5A-9B9E6ECAF49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1805" y="5487810"/>
            <a:ext cx="709612" cy="709612"/>
          </a:xfrm>
          <a:prstGeom prst="rect">
            <a:avLst/>
          </a:prstGeom>
        </p:spPr>
      </p:pic>
      <p:pic>
        <p:nvPicPr>
          <p:cNvPr id="12" name="Graphic 11" descr="Open hand with plant with solid fill">
            <a:extLst>
              <a:ext uri="{FF2B5EF4-FFF2-40B4-BE49-F238E27FC236}">
                <a16:creationId xmlns:a16="http://schemas.microsoft.com/office/drawing/2014/main" id="{47540C91-9AEF-809F-A98C-104B4EDF03D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61805" y="4711536"/>
            <a:ext cx="709612" cy="709612"/>
          </a:xfrm>
          <a:prstGeom prst="rect">
            <a:avLst/>
          </a:prstGeom>
        </p:spPr>
      </p:pic>
    </p:spTree>
    <p:extLst>
      <p:ext uri="{BB962C8B-B14F-4D97-AF65-F5344CB8AC3E}">
        <p14:creationId xmlns:p14="http://schemas.microsoft.com/office/powerpoint/2010/main" val="499167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BE57-3129-74B2-09E8-D6BABC290976}"/>
              </a:ext>
            </a:extLst>
          </p:cNvPr>
          <p:cNvSpPr>
            <a:spLocks noGrp="1"/>
          </p:cNvSpPr>
          <p:nvPr>
            <p:ph type="title"/>
          </p:nvPr>
        </p:nvSpPr>
        <p:spPr>
          <a:xfrm>
            <a:off x="422083" y="133416"/>
            <a:ext cx="11506392" cy="618286"/>
          </a:xfrm>
        </p:spPr>
        <p:txBody>
          <a:bodyPr>
            <a:noAutofit/>
          </a:bodyPr>
          <a:lstStyle/>
          <a:p>
            <a:r>
              <a:rPr lang="en-US" sz="3200" b="1" dirty="0">
                <a:solidFill>
                  <a:srgbClr val="37546C"/>
                </a:solidFill>
                <a:latin typeface="Century Gothic" panose="020B0502020202020204" pitchFamily="34" charset="0"/>
              </a:rPr>
              <a:t>An additional $1 trillion per year is needed in external finance from different sources</a:t>
            </a:r>
          </a:p>
        </p:txBody>
      </p:sp>
      <p:sp>
        <p:nvSpPr>
          <p:cNvPr id="11" name="TextBox 10">
            <a:extLst>
              <a:ext uri="{FF2B5EF4-FFF2-40B4-BE49-F238E27FC236}">
                <a16:creationId xmlns:a16="http://schemas.microsoft.com/office/drawing/2014/main" id="{2025CC2A-42E7-3BCC-9B1A-42CFE07A9200}"/>
              </a:ext>
            </a:extLst>
          </p:cNvPr>
          <p:cNvSpPr txBox="1"/>
          <p:nvPr/>
        </p:nvSpPr>
        <p:spPr>
          <a:xfrm>
            <a:off x="416670" y="1148548"/>
            <a:ext cx="11632900" cy="338554"/>
          </a:xfrm>
          <a:prstGeom prst="rect">
            <a:avLst/>
          </a:prstGeom>
          <a:noFill/>
        </p:spPr>
        <p:txBody>
          <a:bodyPr wrap="square" rtlCol="0">
            <a:spAutoFit/>
          </a:bodyPr>
          <a:lstStyle/>
          <a:p>
            <a:r>
              <a:rPr lang="en-US" sz="1600" dirty="0">
                <a:latin typeface="Century Gothic" panose="020B0502020202020204" pitchFamily="34" charset="0"/>
              </a:rPr>
              <a:t>External financing sources for investment and spending priorities for climate action and related development goals</a:t>
            </a:r>
          </a:p>
        </p:txBody>
      </p:sp>
      <p:cxnSp>
        <p:nvCxnSpPr>
          <p:cNvPr id="13" name="Straight Connector 12">
            <a:extLst>
              <a:ext uri="{FF2B5EF4-FFF2-40B4-BE49-F238E27FC236}">
                <a16:creationId xmlns:a16="http://schemas.microsoft.com/office/drawing/2014/main" id="{953B9BAD-00FD-2BCE-2915-BEA37AC63F63}"/>
              </a:ext>
            </a:extLst>
          </p:cNvPr>
          <p:cNvCxnSpPr>
            <a:cxnSpLocks/>
          </p:cNvCxnSpPr>
          <p:nvPr/>
        </p:nvCxnSpPr>
        <p:spPr>
          <a:xfrm>
            <a:off x="515937" y="1487433"/>
            <a:ext cx="11295063"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94E5034-68CF-D46D-0011-4DD1175951DD}"/>
              </a:ext>
            </a:extLst>
          </p:cNvPr>
          <p:cNvSpPr txBox="1"/>
          <p:nvPr/>
        </p:nvSpPr>
        <p:spPr>
          <a:xfrm>
            <a:off x="9617205" y="2031312"/>
            <a:ext cx="2313656" cy="3939540"/>
          </a:xfrm>
          <a:prstGeom prst="rect">
            <a:avLst/>
          </a:prstGeom>
          <a:noFill/>
        </p:spPr>
        <p:txBody>
          <a:bodyPr wrap="square">
            <a:spAutoFit/>
          </a:bodyPr>
          <a:lstStyle/>
          <a:p>
            <a:r>
              <a:rPr lang="en-GB" sz="1000" b="1" dirty="0">
                <a:latin typeface="Century Gothic" panose="020B0502020202020204" pitchFamily="34" charset="0"/>
              </a:rPr>
              <a:t>Notes</a:t>
            </a:r>
            <a:r>
              <a:rPr lang="en-GB" sz="1000" dirty="0">
                <a:latin typeface="Century Gothic" panose="020B0502020202020204" pitchFamily="34" charset="0"/>
              </a:rPr>
              <a:t>: </a:t>
            </a:r>
          </a:p>
          <a:p>
            <a:r>
              <a:rPr lang="en-GB" sz="1000" dirty="0">
                <a:latin typeface="Century Gothic" panose="020B0502020202020204" pitchFamily="34" charset="0"/>
              </a:rPr>
              <a:t>The categories of investment and spending necessary to meet climate and development goals are shown on the left-hand side. For each, we outline the mix of financing needed from external sources to support the related investment and spending priorities. </a:t>
            </a:r>
          </a:p>
          <a:p>
            <a:endParaRPr lang="en-GB" sz="1000" dirty="0">
              <a:latin typeface="Century Gothic" panose="020B0502020202020204" pitchFamily="34" charset="0"/>
            </a:endParaRPr>
          </a:p>
          <a:p>
            <a:r>
              <a:rPr lang="en-GB" sz="1000" dirty="0">
                <a:latin typeface="Century Gothic" panose="020B0502020202020204" pitchFamily="34" charset="0"/>
              </a:rPr>
              <a:t>We distinguish between sources that would constitute the primary source of financing for one sector, and those that would play a secondary role. </a:t>
            </a:r>
          </a:p>
          <a:p>
            <a:endParaRPr lang="en-GB" sz="1000" dirty="0">
              <a:latin typeface="Century Gothic" panose="020B0502020202020204" pitchFamily="34" charset="0"/>
            </a:endParaRPr>
          </a:p>
          <a:p>
            <a:r>
              <a:rPr lang="en-GB" sz="1000" dirty="0">
                <a:latin typeface="Century Gothic" panose="020B0502020202020204" pitchFamily="34" charset="0"/>
              </a:rPr>
              <a:t>On the right-hand side we outline the estimated investment and spending requirements by 2030 for each category.</a:t>
            </a:r>
          </a:p>
          <a:p>
            <a:endParaRPr lang="en-US" sz="1000" dirty="0">
              <a:latin typeface="Century Gothic" panose="020B0502020202020204" pitchFamily="34" charset="0"/>
            </a:endParaRPr>
          </a:p>
          <a:p>
            <a:endParaRPr lang="en-US" sz="1000" dirty="0">
              <a:latin typeface="Century Gothic" panose="020B0502020202020204" pitchFamily="34" charset="0"/>
            </a:endParaRPr>
          </a:p>
          <a:p>
            <a:endParaRPr lang="en-US" sz="1000" dirty="0">
              <a:latin typeface="Century Gothic" panose="020B0502020202020204" pitchFamily="34" charset="0"/>
            </a:endParaRPr>
          </a:p>
          <a:p>
            <a:r>
              <a:rPr kumimoji="0" lang="fr-FR" sz="1000" b="1" i="0" u="none" strike="noStrike" kern="1200" cap="none" spc="0" normalizeH="0" baseline="0" noProof="0" dirty="0">
                <a:ln>
                  <a:noFill/>
                </a:ln>
                <a:effectLst/>
                <a:uLnTx/>
                <a:uFillTx/>
                <a:latin typeface="Century Gothic"/>
                <a:ea typeface="+mn-ea"/>
                <a:cs typeface="+mn-cs"/>
              </a:rPr>
              <a:t>Source</a:t>
            </a:r>
            <a:r>
              <a:rPr kumimoji="0" lang="fr-FR" sz="1000" b="0" i="0" u="none" strike="noStrike" kern="1200" cap="none" spc="0" normalizeH="0" baseline="0" noProof="0" dirty="0">
                <a:ln>
                  <a:noFill/>
                </a:ln>
                <a:effectLst/>
                <a:uLnTx/>
                <a:uFillTx/>
                <a:latin typeface="Century Gothic"/>
                <a:ea typeface="+mn-ea"/>
                <a:cs typeface="+mn-cs"/>
              </a:rPr>
              <a:t>: </a:t>
            </a:r>
            <a:r>
              <a:rPr kumimoji="0" lang="fr-FR" sz="1000" b="0" i="0" u="none" strike="noStrike" kern="1200" cap="none" spc="0" normalizeH="0" baseline="0" noProof="0" dirty="0" err="1">
                <a:ln>
                  <a:noFill/>
                </a:ln>
                <a:effectLst/>
                <a:uLnTx/>
                <a:uFillTx/>
                <a:latin typeface="Century Gothic"/>
                <a:ea typeface="+mn-ea"/>
                <a:cs typeface="+mn-cs"/>
              </a:rPr>
              <a:t>Songwe</a:t>
            </a:r>
            <a:r>
              <a:rPr lang="fr-FR" sz="1000" dirty="0">
                <a:latin typeface="Century Gothic"/>
              </a:rPr>
              <a:t> et al. (2022)</a:t>
            </a:r>
            <a:endParaRPr kumimoji="0" lang="en-GB" sz="1000" b="0" i="0" u="none" strike="noStrike" kern="1200" cap="none" spc="0" normalizeH="0" baseline="0" noProof="0" dirty="0">
              <a:ln>
                <a:noFill/>
              </a:ln>
              <a:effectLst/>
              <a:uLnTx/>
              <a:uFillTx/>
              <a:latin typeface="Century Gothic"/>
              <a:ea typeface="+mn-ea"/>
              <a:cs typeface="+mn-cs"/>
            </a:endParaRPr>
          </a:p>
        </p:txBody>
      </p:sp>
      <p:pic>
        <p:nvPicPr>
          <p:cNvPr id="5" name="Picture 4" descr="A picture containing background pattern&#10;&#10;Description automatically generated">
            <a:extLst>
              <a:ext uri="{FF2B5EF4-FFF2-40B4-BE49-F238E27FC236}">
                <a16:creationId xmlns:a16="http://schemas.microsoft.com/office/drawing/2014/main" id="{73620861-06FA-FA68-8B87-036826126136}"/>
              </a:ext>
            </a:extLst>
          </p:cNvPr>
          <p:cNvPicPr>
            <a:picLocks noChangeAspect="1"/>
          </p:cNvPicPr>
          <p:nvPr/>
        </p:nvPicPr>
        <p:blipFill>
          <a:blip r:embed="rId3"/>
          <a:stretch>
            <a:fillRect/>
          </a:stretch>
        </p:blipFill>
        <p:spPr>
          <a:xfrm>
            <a:off x="515937" y="1565551"/>
            <a:ext cx="9076215" cy="5172673"/>
          </a:xfrm>
          <a:prstGeom prst="rect">
            <a:avLst/>
          </a:prstGeom>
        </p:spPr>
      </p:pic>
    </p:spTree>
    <p:extLst>
      <p:ext uri="{BB962C8B-B14F-4D97-AF65-F5344CB8AC3E}">
        <p14:creationId xmlns:p14="http://schemas.microsoft.com/office/powerpoint/2010/main" val="2856187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BE57-3129-74B2-09E8-D6BABC290976}"/>
              </a:ext>
            </a:extLst>
          </p:cNvPr>
          <p:cNvSpPr>
            <a:spLocks noGrp="1"/>
          </p:cNvSpPr>
          <p:nvPr>
            <p:ph type="title"/>
          </p:nvPr>
        </p:nvSpPr>
        <p:spPr>
          <a:xfrm>
            <a:off x="422083" y="219627"/>
            <a:ext cx="10515600" cy="618286"/>
          </a:xfrm>
        </p:spPr>
        <p:txBody>
          <a:bodyPr>
            <a:normAutofit/>
          </a:bodyPr>
          <a:lstStyle/>
          <a:p>
            <a:r>
              <a:rPr lang="en-US" sz="3200" b="1" dirty="0">
                <a:solidFill>
                  <a:srgbClr val="37546C"/>
                </a:solidFill>
                <a:latin typeface="Century Gothic" panose="020B0502020202020204" pitchFamily="34" charset="0"/>
              </a:rPr>
              <a:t>Addressing the debt challenge </a:t>
            </a:r>
          </a:p>
        </p:txBody>
      </p:sp>
      <p:sp>
        <p:nvSpPr>
          <p:cNvPr id="4" name="TextBox 14">
            <a:extLst>
              <a:ext uri="{FF2B5EF4-FFF2-40B4-BE49-F238E27FC236}">
                <a16:creationId xmlns:a16="http://schemas.microsoft.com/office/drawing/2014/main" id="{4164C0D9-68D5-391A-C577-37F56BA8B771}"/>
              </a:ext>
            </a:extLst>
          </p:cNvPr>
          <p:cNvSpPr txBox="1"/>
          <p:nvPr/>
        </p:nvSpPr>
        <p:spPr>
          <a:xfrm>
            <a:off x="2759299" y="5489163"/>
            <a:ext cx="2041821" cy="246221"/>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effectLst/>
                <a:uLnTx/>
                <a:uFillTx/>
                <a:latin typeface="Century Gothic"/>
                <a:ea typeface="+mn-ea"/>
                <a:cs typeface="+mn-cs"/>
              </a:rPr>
              <a:t>Source</a:t>
            </a:r>
            <a:r>
              <a:rPr kumimoji="0" lang="fr-FR" sz="1000" b="0" i="0" u="none" strike="noStrike" kern="1200" cap="none" spc="0" normalizeH="0" baseline="0" noProof="0">
                <a:ln>
                  <a:noFill/>
                </a:ln>
                <a:effectLst/>
                <a:uLnTx/>
                <a:uFillTx/>
                <a:latin typeface="Century Gothic"/>
                <a:ea typeface="+mn-ea"/>
                <a:cs typeface="+mn-cs"/>
              </a:rPr>
              <a:t>: </a:t>
            </a:r>
            <a:r>
              <a:rPr kumimoji="0" lang="fr-FR" sz="1000" b="0" i="0" u="none" strike="noStrike" kern="1200" cap="none" spc="0" normalizeH="0" baseline="0" noProof="0" err="1">
                <a:ln>
                  <a:noFill/>
                </a:ln>
                <a:effectLst/>
                <a:uLnTx/>
                <a:uFillTx/>
                <a:latin typeface="Century Gothic"/>
                <a:ea typeface="+mn-ea"/>
                <a:cs typeface="+mn-cs"/>
              </a:rPr>
              <a:t>Songwe</a:t>
            </a:r>
            <a:r>
              <a:rPr kumimoji="0" lang="fr-FR" sz="1000" b="0" i="0" u="none" strike="noStrike" kern="1200" cap="none" spc="0" normalizeH="0" baseline="0" noProof="0">
                <a:ln>
                  <a:noFill/>
                </a:ln>
                <a:effectLst/>
                <a:uLnTx/>
                <a:uFillTx/>
                <a:latin typeface="Century Gothic"/>
                <a:ea typeface="+mn-ea"/>
                <a:cs typeface="+mn-cs"/>
              </a:rPr>
              <a:t> et al. (2022)</a:t>
            </a:r>
            <a:endParaRPr kumimoji="0" lang="en-GB" sz="1000" b="0" i="0" u="none" strike="noStrike" kern="1200" cap="none" spc="0" normalizeH="0" baseline="0" noProof="0">
              <a:ln>
                <a:noFill/>
              </a:ln>
              <a:effectLst/>
              <a:uLnTx/>
              <a:uFillTx/>
              <a:latin typeface="Century Gothic"/>
              <a:ea typeface="+mn-ea"/>
              <a:cs typeface="+mn-cs"/>
            </a:endParaRPr>
          </a:p>
        </p:txBody>
      </p:sp>
      <p:sp>
        <p:nvSpPr>
          <p:cNvPr id="11" name="TextBox 10">
            <a:extLst>
              <a:ext uri="{FF2B5EF4-FFF2-40B4-BE49-F238E27FC236}">
                <a16:creationId xmlns:a16="http://schemas.microsoft.com/office/drawing/2014/main" id="{2025CC2A-42E7-3BCC-9B1A-42CFE07A9200}"/>
              </a:ext>
            </a:extLst>
          </p:cNvPr>
          <p:cNvSpPr txBox="1"/>
          <p:nvPr/>
        </p:nvSpPr>
        <p:spPr>
          <a:xfrm>
            <a:off x="416670" y="1103612"/>
            <a:ext cx="6688980" cy="338554"/>
          </a:xfrm>
          <a:prstGeom prst="rect">
            <a:avLst/>
          </a:prstGeom>
          <a:noFill/>
        </p:spPr>
        <p:txBody>
          <a:bodyPr wrap="square" rtlCol="0">
            <a:spAutoFit/>
          </a:bodyPr>
          <a:lstStyle/>
          <a:p>
            <a:r>
              <a:rPr lang="en-US" sz="1600" dirty="0">
                <a:latin typeface="Century Gothic" panose="020B0502020202020204" pitchFamily="34" charset="0"/>
              </a:rPr>
              <a:t>Average developing county debt projections from 2019 to 2040</a:t>
            </a:r>
          </a:p>
        </p:txBody>
      </p:sp>
      <p:cxnSp>
        <p:nvCxnSpPr>
          <p:cNvPr id="13" name="Straight Connector 12">
            <a:extLst>
              <a:ext uri="{FF2B5EF4-FFF2-40B4-BE49-F238E27FC236}">
                <a16:creationId xmlns:a16="http://schemas.microsoft.com/office/drawing/2014/main" id="{953B9BAD-00FD-2BCE-2915-BEA37AC63F63}"/>
              </a:ext>
            </a:extLst>
          </p:cNvPr>
          <p:cNvCxnSpPr>
            <a:cxnSpLocks/>
          </p:cNvCxnSpPr>
          <p:nvPr/>
        </p:nvCxnSpPr>
        <p:spPr>
          <a:xfrm>
            <a:off x="515938" y="1442166"/>
            <a:ext cx="6284912"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1A5F7D8-6BF7-05CD-CC65-DE0A99FEBAB9}"/>
              </a:ext>
            </a:extLst>
          </p:cNvPr>
          <p:cNvSpPr txBox="1"/>
          <p:nvPr/>
        </p:nvSpPr>
        <p:spPr>
          <a:xfrm>
            <a:off x="515937" y="5937250"/>
            <a:ext cx="11415509" cy="584775"/>
          </a:xfrm>
          <a:prstGeom prst="rect">
            <a:avLst/>
          </a:prstGeom>
          <a:solidFill>
            <a:schemeClr val="tx2">
              <a:lumMod val="20000"/>
              <a:lumOff val="80000"/>
            </a:schemeClr>
          </a:solidFill>
          <a:ln>
            <a:noFill/>
          </a:ln>
        </p:spPr>
        <p:txBody>
          <a:bodyPr wrap="square">
            <a:spAutoFit/>
          </a:bodyPr>
          <a:lstStyle>
            <a:defPPr>
              <a:defRPr lang="en-US"/>
            </a:defPPr>
            <a:lvl1pPr marR="0" lvl="0" indent="0" algn="ctr" defTabSz="1219170" fontAlgn="auto">
              <a:lnSpc>
                <a:spcPct val="100000"/>
              </a:lnSpc>
              <a:spcBef>
                <a:spcPts val="0"/>
              </a:spcBef>
              <a:spcAft>
                <a:spcPts val="1600"/>
              </a:spcAft>
              <a:buClrTx/>
              <a:buSzTx/>
              <a:buFontTx/>
              <a:buNone/>
              <a:tabLst/>
              <a:defRPr kumimoji="0" sz="1333" b="1" i="0" u="none" strike="noStrike" cap="none" spc="0" normalizeH="0" baseline="0">
                <a:ln>
                  <a:noFill/>
                </a:ln>
                <a:solidFill>
                  <a:srgbClr val="2E3052"/>
                </a:solidFill>
                <a:effectLst/>
                <a:uLnTx/>
                <a:uFillTx/>
                <a:latin typeface="Century Gothic"/>
              </a:defRPr>
            </a:lvl1pPr>
          </a:lstStyle>
          <a:p>
            <a:pPr>
              <a:defRPr/>
            </a:pPr>
            <a:r>
              <a:rPr lang="en-GB" sz="1600" dirty="0"/>
              <a:t>A big push strategy is feasible only if the incremental financing comes largely on terms that are affordable, comparable to IBRD rates of interest.</a:t>
            </a:r>
          </a:p>
        </p:txBody>
      </p:sp>
      <p:graphicFrame>
        <p:nvGraphicFramePr>
          <p:cNvPr id="16" name="Chart 15">
            <a:extLst>
              <a:ext uri="{FF2B5EF4-FFF2-40B4-BE49-F238E27FC236}">
                <a16:creationId xmlns:a16="http://schemas.microsoft.com/office/drawing/2014/main" id="{4B0BA26E-04C7-43FA-B651-99BC1CE826D8}"/>
              </a:ext>
            </a:extLst>
          </p:cNvPr>
          <p:cNvGraphicFramePr/>
          <p:nvPr/>
        </p:nvGraphicFramePr>
        <p:xfrm>
          <a:off x="2590801" y="1614551"/>
          <a:ext cx="7010399" cy="392429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31674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BB32C7B-E374-E3F5-D8DB-0997486B260E}"/>
              </a:ext>
            </a:extLst>
          </p:cNvPr>
          <p:cNvSpPr txBox="1">
            <a:spLocks noChangeArrowheads="1"/>
          </p:cNvSpPr>
          <p:nvPr/>
        </p:nvSpPr>
        <p:spPr bwMode="auto">
          <a:xfrm>
            <a:off x="699714" y="353160"/>
            <a:ext cx="7091300" cy="898581"/>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b="1">
                <a:solidFill>
                  <a:srgbClr val="FFFFFF"/>
                </a:solidFill>
                <a:latin typeface="+mj-lt"/>
                <a:ea typeface="+mj-ea"/>
                <a:cs typeface="+mj-cs"/>
                <a:sym typeface="Roboto Slab"/>
              </a:rPr>
              <a:t>Members of the Independent High-Level Expert Group on Climate Finance</a:t>
            </a:r>
            <a:endParaRPr kumimoji="0" lang="en-US" altLang="en-US" sz="2800" b="1" i="0" u="none" strike="noStrike" cap="none" spc="0" normalizeH="0" baseline="0" noProof="0">
              <a:ln>
                <a:noFill/>
              </a:ln>
              <a:solidFill>
                <a:srgbClr val="FFFFFF"/>
              </a:solidFill>
              <a:effectLst/>
              <a:uLnTx/>
              <a:uFillTx/>
              <a:latin typeface="+mj-lt"/>
              <a:ea typeface="+mj-ea"/>
              <a:cs typeface="+mj-cs"/>
            </a:endParaRPr>
          </a:p>
        </p:txBody>
      </p:sp>
      <p:sp>
        <p:nvSpPr>
          <p:cNvPr id="46" name="Title 1">
            <a:extLst>
              <a:ext uri="{FF2B5EF4-FFF2-40B4-BE49-F238E27FC236}">
                <a16:creationId xmlns:a16="http://schemas.microsoft.com/office/drawing/2014/main" id="{D6341A84-152F-BB7A-4D8D-148CA51CF28D}"/>
              </a:ext>
            </a:extLst>
          </p:cNvPr>
          <p:cNvSpPr txBox="1">
            <a:spLocks/>
          </p:cNvSpPr>
          <p:nvPr/>
        </p:nvSpPr>
        <p:spPr>
          <a:xfrm>
            <a:off x="414607" y="276777"/>
            <a:ext cx="11513867" cy="490254"/>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37546C"/>
                </a:solidFill>
                <a:latin typeface="Century Gothic" panose="020B0502020202020204" pitchFamily="34" charset="0"/>
              </a:rPr>
              <a:t>Mobilizing private finance at scale</a:t>
            </a:r>
          </a:p>
        </p:txBody>
      </p:sp>
      <p:sp>
        <p:nvSpPr>
          <p:cNvPr id="2" name="Content Placeholder 2">
            <a:extLst>
              <a:ext uri="{FF2B5EF4-FFF2-40B4-BE49-F238E27FC236}">
                <a16:creationId xmlns:a16="http://schemas.microsoft.com/office/drawing/2014/main" id="{3F2C6343-A254-94D2-4F10-FA4E20C81D9E}"/>
              </a:ext>
            </a:extLst>
          </p:cNvPr>
          <p:cNvSpPr txBox="1">
            <a:spLocks/>
          </p:cNvSpPr>
          <p:nvPr/>
        </p:nvSpPr>
        <p:spPr>
          <a:xfrm>
            <a:off x="419989" y="1282428"/>
            <a:ext cx="11508485" cy="5164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0"/>
              </a:spcBef>
              <a:spcAft>
                <a:spcPts val="1200"/>
              </a:spcAft>
            </a:pPr>
            <a:r>
              <a:rPr lang="en-US" sz="2000" dirty="0">
                <a:solidFill>
                  <a:srgbClr val="37546C"/>
                </a:solidFill>
                <a:latin typeface="Century Gothic" panose="020B0502020202020204" pitchFamily="34" charset="0"/>
                <a:ea typeface="+mj-ea"/>
                <a:cs typeface="+mj-cs"/>
              </a:rPr>
              <a:t>A growing proportion of investments can now be undertaken by the private sector. However, the </a:t>
            </a:r>
            <a:r>
              <a:rPr lang="en-US" sz="2000" b="1" dirty="0">
                <a:solidFill>
                  <a:srgbClr val="37546C"/>
                </a:solidFill>
                <a:latin typeface="Century Gothic" panose="020B0502020202020204" pitchFamily="34" charset="0"/>
                <a:ea typeface="+mj-ea"/>
                <a:cs typeface="+mj-cs"/>
              </a:rPr>
              <a:t>mobilization of private finance today is far too low </a:t>
            </a:r>
            <a:r>
              <a:rPr lang="en-US" sz="2000" dirty="0">
                <a:solidFill>
                  <a:srgbClr val="37546C"/>
                </a:solidFill>
                <a:latin typeface="Century Gothic" panose="020B0502020202020204" pitchFamily="34" charset="0"/>
                <a:ea typeface="+mj-ea"/>
                <a:cs typeface="+mj-cs"/>
              </a:rPr>
              <a:t>and will have to increase many times over.  </a:t>
            </a:r>
          </a:p>
          <a:p>
            <a:pPr>
              <a:lnSpc>
                <a:spcPct val="100000"/>
              </a:lnSpc>
              <a:spcBef>
                <a:spcPct val="0"/>
              </a:spcBef>
              <a:spcAft>
                <a:spcPts val="1200"/>
              </a:spcAft>
            </a:pPr>
            <a:r>
              <a:rPr lang="en-US" sz="2000" b="1" dirty="0">
                <a:solidFill>
                  <a:srgbClr val="37546C"/>
                </a:solidFill>
                <a:latin typeface="Century Gothic" panose="020B0502020202020204" pitchFamily="34" charset="0"/>
                <a:ea typeface="+mj-ea"/>
                <a:cs typeface="+mj-cs"/>
              </a:rPr>
              <a:t>Several private-sector led initiatives </a:t>
            </a:r>
            <a:r>
              <a:rPr lang="en-US" sz="2000" dirty="0">
                <a:solidFill>
                  <a:srgbClr val="37546C"/>
                </a:solidFill>
                <a:latin typeface="Century Gothic" panose="020B0502020202020204" pitchFamily="34" charset="0"/>
                <a:ea typeface="+mj-ea"/>
                <a:cs typeface="+mj-cs"/>
              </a:rPr>
              <a:t>have been launched over the past two years. MDBs have also come forward with important new initiatives to catalyze private finance. </a:t>
            </a:r>
          </a:p>
          <a:p>
            <a:pPr>
              <a:lnSpc>
                <a:spcPct val="100000"/>
              </a:lnSpc>
              <a:spcBef>
                <a:spcPct val="0"/>
              </a:spcBef>
              <a:spcAft>
                <a:spcPts val="1200"/>
              </a:spcAft>
            </a:pPr>
            <a:r>
              <a:rPr lang="en-US" sz="2000" b="1" dirty="0">
                <a:solidFill>
                  <a:srgbClr val="37546C"/>
                </a:solidFill>
                <a:latin typeface="Century Gothic" panose="020B0502020202020204" pitchFamily="34" charset="0"/>
                <a:ea typeface="+mj-ea"/>
                <a:cs typeface="+mj-cs"/>
              </a:rPr>
              <a:t>Private and public sectors need to work together </a:t>
            </a:r>
            <a:r>
              <a:rPr lang="en-US" sz="2000" dirty="0">
                <a:solidFill>
                  <a:srgbClr val="37546C"/>
                </a:solidFill>
                <a:latin typeface="Century Gothic" panose="020B0502020202020204" pitchFamily="34" charset="0"/>
                <a:ea typeface="+mj-ea"/>
                <a:cs typeface="+mj-cs"/>
              </a:rPr>
              <a:t>to unlock investment opportunities, reduce, manage and share risk, and bring down the cost of capital.  Promising de-risking tools to facilitate the translation of financial assets into financial flows for a strengthened response to climate change.</a:t>
            </a:r>
          </a:p>
          <a:p>
            <a:pPr>
              <a:lnSpc>
                <a:spcPct val="100000"/>
              </a:lnSpc>
              <a:spcBef>
                <a:spcPct val="0"/>
              </a:spcBef>
              <a:spcAft>
                <a:spcPts val="1200"/>
              </a:spcAft>
            </a:pPr>
            <a:r>
              <a:rPr lang="en-US" sz="2000" b="1" dirty="0">
                <a:solidFill>
                  <a:srgbClr val="37546C"/>
                </a:solidFill>
                <a:latin typeface="Century Gothic" panose="020B0502020202020204" pitchFamily="34" charset="0"/>
                <a:ea typeface="+mj-ea"/>
                <a:cs typeface="+mj-cs"/>
              </a:rPr>
              <a:t>Need to develop concrete and standardized approaches</a:t>
            </a:r>
            <a:r>
              <a:rPr lang="en-US" sz="2000" dirty="0">
                <a:solidFill>
                  <a:srgbClr val="37546C"/>
                </a:solidFill>
                <a:latin typeface="Century Gothic" panose="020B0502020202020204" pitchFamily="34" charset="0"/>
                <a:ea typeface="+mj-ea"/>
                <a:cs typeface="+mj-cs"/>
              </a:rPr>
              <a:t> that can unlock institutional capital at scale.</a:t>
            </a:r>
          </a:p>
          <a:p>
            <a:pPr>
              <a:lnSpc>
                <a:spcPct val="100000"/>
              </a:lnSpc>
              <a:spcBef>
                <a:spcPct val="0"/>
              </a:spcBef>
              <a:spcAft>
                <a:spcPts val="1200"/>
              </a:spcAft>
            </a:pPr>
            <a:r>
              <a:rPr lang="en-US" sz="2000" b="1" dirty="0">
                <a:solidFill>
                  <a:srgbClr val="37546C"/>
                </a:solidFill>
                <a:latin typeface="Century Gothic" panose="020B0502020202020204" pitchFamily="34" charset="0"/>
                <a:ea typeface="+mj-ea"/>
                <a:cs typeface="+mj-cs"/>
              </a:rPr>
              <a:t>Sustainable finance agenda</a:t>
            </a:r>
            <a:r>
              <a:rPr lang="en-US" sz="2000" dirty="0">
                <a:solidFill>
                  <a:srgbClr val="37546C"/>
                </a:solidFill>
                <a:latin typeface="Century Gothic" panose="020B0502020202020204" pitchFamily="34" charset="0"/>
                <a:ea typeface="+mj-ea"/>
                <a:cs typeface="+mj-cs"/>
              </a:rPr>
              <a:t> to help expand and improve the alignment of climate finance.</a:t>
            </a: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endParaRPr lang="en-US" sz="1800" b="1" dirty="0">
              <a:solidFill>
                <a:srgbClr val="37546C"/>
              </a:solidFill>
              <a:latin typeface="Century Gothic" panose="020B0502020202020204" pitchFamily="34" charset="0"/>
              <a:ea typeface="+mj-ea"/>
              <a:cs typeface="+mj-cs"/>
            </a:endParaRPr>
          </a:p>
          <a:p>
            <a:endParaRPr lang="en-US" sz="1800" dirty="0"/>
          </a:p>
        </p:txBody>
      </p:sp>
    </p:spTree>
    <p:extLst>
      <p:ext uri="{BB962C8B-B14F-4D97-AF65-F5344CB8AC3E}">
        <p14:creationId xmlns:p14="http://schemas.microsoft.com/office/powerpoint/2010/main" val="1487024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BE57-3129-74B2-09E8-D6BABC290976}"/>
              </a:ext>
            </a:extLst>
          </p:cNvPr>
          <p:cNvSpPr>
            <a:spLocks noGrp="1"/>
          </p:cNvSpPr>
          <p:nvPr>
            <p:ph type="title"/>
          </p:nvPr>
        </p:nvSpPr>
        <p:spPr>
          <a:xfrm>
            <a:off x="424133" y="229152"/>
            <a:ext cx="10515600" cy="618286"/>
          </a:xfrm>
        </p:spPr>
        <p:txBody>
          <a:bodyPr>
            <a:normAutofit/>
          </a:bodyPr>
          <a:lstStyle/>
          <a:p>
            <a:r>
              <a:rPr lang="en-US" sz="3200" b="1" dirty="0">
                <a:solidFill>
                  <a:srgbClr val="37546C"/>
                </a:solidFill>
                <a:latin typeface="Century Gothic" panose="020B0502020202020204" pitchFamily="34" charset="0"/>
              </a:rPr>
              <a:t>The cost of capital must be tackled</a:t>
            </a:r>
          </a:p>
        </p:txBody>
      </p:sp>
      <p:sp>
        <p:nvSpPr>
          <p:cNvPr id="11" name="TextBox 10">
            <a:extLst>
              <a:ext uri="{FF2B5EF4-FFF2-40B4-BE49-F238E27FC236}">
                <a16:creationId xmlns:a16="http://schemas.microsoft.com/office/drawing/2014/main" id="{2025CC2A-42E7-3BCC-9B1A-42CFE07A9200}"/>
              </a:ext>
            </a:extLst>
          </p:cNvPr>
          <p:cNvSpPr txBox="1"/>
          <p:nvPr/>
        </p:nvSpPr>
        <p:spPr>
          <a:xfrm>
            <a:off x="416670" y="1117011"/>
            <a:ext cx="4823912" cy="338554"/>
          </a:xfrm>
          <a:prstGeom prst="rect">
            <a:avLst/>
          </a:prstGeom>
          <a:noFill/>
        </p:spPr>
        <p:txBody>
          <a:bodyPr wrap="square" rtlCol="0">
            <a:spAutoFit/>
          </a:bodyPr>
          <a:lstStyle/>
          <a:p>
            <a:r>
              <a:rPr lang="en-US" sz="1600" dirty="0">
                <a:latin typeface="Century Gothic" panose="020B0502020202020204" pitchFamily="34" charset="0"/>
              </a:rPr>
              <a:t>Developing country 10-year bond yields</a:t>
            </a:r>
          </a:p>
        </p:txBody>
      </p:sp>
      <p:cxnSp>
        <p:nvCxnSpPr>
          <p:cNvPr id="12" name="Straight Connector 11">
            <a:extLst>
              <a:ext uri="{FF2B5EF4-FFF2-40B4-BE49-F238E27FC236}">
                <a16:creationId xmlns:a16="http://schemas.microsoft.com/office/drawing/2014/main" id="{B1672917-B4BC-3EA1-48B0-CCC8556BBA74}"/>
              </a:ext>
            </a:extLst>
          </p:cNvPr>
          <p:cNvCxnSpPr>
            <a:cxnSpLocks/>
          </p:cNvCxnSpPr>
          <p:nvPr/>
        </p:nvCxnSpPr>
        <p:spPr>
          <a:xfrm>
            <a:off x="6110294" y="1871663"/>
            <a:ext cx="0" cy="2828925"/>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53B9BAD-00FD-2BCE-2915-BEA37AC63F63}"/>
              </a:ext>
            </a:extLst>
          </p:cNvPr>
          <p:cNvCxnSpPr>
            <a:cxnSpLocks/>
          </p:cNvCxnSpPr>
          <p:nvPr/>
        </p:nvCxnSpPr>
        <p:spPr>
          <a:xfrm>
            <a:off x="515938" y="1455565"/>
            <a:ext cx="3941762"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5A2E478-2FCB-CA72-0184-6BBF875BAB3F}"/>
              </a:ext>
            </a:extLst>
          </p:cNvPr>
          <p:cNvSpPr txBox="1"/>
          <p:nvPr/>
        </p:nvSpPr>
        <p:spPr>
          <a:xfrm>
            <a:off x="6243076" y="1117011"/>
            <a:ext cx="5069283" cy="338554"/>
          </a:xfrm>
          <a:prstGeom prst="rect">
            <a:avLst/>
          </a:prstGeom>
          <a:noFill/>
        </p:spPr>
        <p:txBody>
          <a:bodyPr wrap="square" rtlCol="0">
            <a:spAutoFit/>
          </a:bodyPr>
          <a:lstStyle/>
          <a:p>
            <a:r>
              <a:rPr lang="en-US" sz="1600" dirty="0">
                <a:latin typeface="Century Gothic" panose="020B0502020202020204" pitchFamily="34" charset="0"/>
              </a:rPr>
              <a:t>Return expectation from solar projects in EMDCs</a:t>
            </a:r>
          </a:p>
        </p:txBody>
      </p:sp>
      <p:cxnSp>
        <p:nvCxnSpPr>
          <p:cNvPr id="22" name="Straight Connector 21">
            <a:extLst>
              <a:ext uri="{FF2B5EF4-FFF2-40B4-BE49-F238E27FC236}">
                <a16:creationId xmlns:a16="http://schemas.microsoft.com/office/drawing/2014/main" id="{E0CC6606-951D-C72C-969A-404FB3FDC4DB}"/>
              </a:ext>
            </a:extLst>
          </p:cNvPr>
          <p:cNvCxnSpPr>
            <a:cxnSpLocks/>
          </p:cNvCxnSpPr>
          <p:nvPr/>
        </p:nvCxnSpPr>
        <p:spPr>
          <a:xfrm>
            <a:off x="6364546" y="1460165"/>
            <a:ext cx="4706225"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14">
            <a:extLst>
              <a:ext uri="{FF2B5EF4-FFF2-40B4-BE49-F238E27FC236}">
                <a16:creationId xmlns:a16="http://schemas.microsoft.com/office/drawing/2014/main" id="{6F2BD24D-C20A-EDBD-0A2C-A8FFDDB99C02}"/>
              </a:ext>
            </a:extLst>
          </p:cNvPr>
          <p:cNvSpPr txBox="1"/>
          <p:nvPr/>
        </p:nvSpPr>
        <p:spPr>
          <a:xfrm>
            <a:off x="6345897" y="6373102"/>
            <a:ext cx="3935737" cy="246221"/>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effectLst/>
                <a:uLnTx/>
                <a:uFillTx/>
                <a:latin typeface="Century Gothic"/>
                <a:ea typeface="+mn-ea"/>
                <a:cs typeface="+mn-cs"/>
              </a:rPr>
              <a:t>Source</a:t>
            </a:r>
            <a:r>
              <a:rPr kumimoji="0" lang="fr-FR" sz="1000" b="0" i="0" u="none" strike="noStrike" kern="1200" cap="none" spc="0" normalizeH="0" baseline="0" noProof="0">
                <a:ln>
                  <a:noFill/>
                </a:ln>
                <a:effectLst/>
                <a:uLnTx/>
                <a:uFillTx/>
                <a:latin typeface="Century Gothic"/>
                <a:ea typeface="+mn-ea"/>
                <a:cs typeface="+mn-cs"/>
              </a:rPr>
              <a:t>: CPI, </a:t>
            </a:r>
            <a:r>
              <a:rPr lang="fr-FR" sz="1000" err="1">
                <a:latin typeface="Century Gothic"/>
              </a:rPr>
              <a:t>forthcoming</a:t>
            </a:r>
            <a:endParaRPr kumimoji="0" lang="en-GB" sz="1000" b="0" i="0" u="none" strike="noStrike" kern="1200" cap="none" spc="0" normalizeH="0" baseline="0" noProof="0">
              <a:ln>
                <a:noFill/>
              </a:ln>
              <a:effectLst/>
              <a:uLnTx/>
              <a:uFillTx/>
              <a:latin typeface="Century Gothic"/>
              <a:ea typeface="+mn-ea"/>
              <a:cs typeface="+mn-cs"/>
            </a:endParaRPr>
          </a:p>
        </p:txBody>
      </p:sp>
      <p:graphicFrame>
        <p:nvGraphicFramePr>
          <p:cNvPr id="19" name="Chart 18">
            <a:extLst>
              <a:ext uri="{FF2B5EF4-FFF2-40B4-BE49-F238E27FC236}">
                <a16:creationId xmlns:a16="http://schemas.microsoft.com/office/drawing/2014/main" id="{156A502A-9C3C-408F-96C6-254956FBE14D}"/>
              </a:ext>
            </a:extLst>
          </p:cNvPr>
          <p:cNvGraphicFramePr/>
          <p:nvPr/>
        </p:nvGraphicFramePr>
        <p:xfrm>
          <a:off x="398264" y="1728957"/>
          <a:ext cx="5842660" cy="47956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9">
            <a:extLst>
              <a:ext uri="{FF2B5EF4-FFF2-40B4-BE49-F238E27FC236}">
                <a16:creationId xmlns:a16="http://schemas.microsoft.com/office/drawing/2014/main" id="{40690370-7C66-9A1F-5E06-964D0AE41765}"/>
              </a:ext>
            </a:extLst>
          </p:cNvPr>
          <p:cNvGraphicFramePr>
            <a:graphicFrameLocks noGrp="1"/>
          </p:cNvGraphicFramePr>
          <p:nvPr>
            <p:extLst>
              <p:ext uri="{D42A27DB-BD31-4B8C-83A1-F6EECF244321}">
                <p14:modId xmlns:p14="http://schemas.microsoft.com/office/powerpoint/2010/main" val="2384281407"/>
              </p:ext>
            </p:extLst>
          </p:nvPr>
        </p:nvGraphicFramePr>
        <p:xfrm>
          <a:off x="6364546" y="1801900"/>
          <a:ext cx="5732202" cy="4534783"/>
        </p:xfrm>
        <a:graphic>
          <a:graphicData uri="http://schemas.openxmlformats.org/drawingml/2006/table">
            <a:tbl>
              <a:tblPr firstRow="1" firstCol="1" bandRow="1">
                <a:tableStyleId>{17292A2E-F333-43FB-9621-5CBBE7FDCDCB}</a:tableStyleId>
              </a:tblPr>
              <a:tblGrid>
                <a:gridCol w="1008608">
                  <a:extLst>
                    <a:ext uri="{9D8B030D-6E8A-4147-A177-3AD203B41FA5}">
                      <a16:colId xmlns:a16="http://schemas.microsoft.com/office/drawing/2014/main" val="3526724576"/>
                    </a:ext>
                  </a:extLst>
                </a:gridCol>
                <a:gridCol w="1644732">
                  <a:extLst>
                    <a:ext uri="{9D8B030D-6E8A-4147-A177-3AD203B41FA5}">
                      <a16:colId xmlns:a16="http://schemas.microsoft.com/office/drawing/2014/main" val="3590589276"/>
                    </a:ext>
                  </a:extLst>
                </a:gridCol>
                <a:gridCol w="3078862">
                  <a:extLst>
                    <a:ext uri="{9D8B030D-6E8A-4147-A177-3AD203B41FA5}">
                      <a16:colId xmlns:a16="http://schemas.microsoft.com/office/drawing/2014/main" val="2614363028"/>
                    </a:ext>
                  </a:extLst>
                </a:gridCol>
              </a:tblGrid>
              <a:tr h="214813">
                <a:tc>
                  <a:txBody>
                    <a:bodyPr/>
                    <a:lstStyle/>
                    <a:p>
                      <a:pPr>
                        <a:spcAft>
                          <a:spcPts val="600"/>
                        </a:spcAft>
                      </a:pPr>
                      <a:r>
                        <a:rPr lang="en-GB" sz="1000" b="1" dirty="0">
                          <a:solidFill>
                            <a:schemeClr val="bg1"/>
                          </a:solidFill>
                          <a:effectLst/>
                          <a:latin typeface="Century Gothic" panose="020B0502020202020204" pitchFamily="34" charset="0"/>
                        </a:rPr>
                        <a:t>Country</a:t>
                      </a:r>
                      <a:endParaRPr lang="en-GB" sz="1100" b="1" dirty="0">
                        <a:solidFill>
                          <a:schemeClr val="bg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6350" cap="flat" cmpd="sng" algn="ctr">
                      <a:noFill/>
                      <a:prstDash val="solid"/>
                      <a:miter lim="800000"/>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Aft>
                          <a:spcPts val="600"/>
                        </a:spcAft>
                      </a:pPr>
                      <a:r>
                        <a:rPr lang="en-GB" sz="1000" b="1">
                          <a:solidFill>
                            <a:schemeClr val="bg1"/>
                          </a:solidFill>
                          <a:effectLst/>
                          <a:latin typeface="Century Gothic" panose="020B0502020202020204" pitchFamily="34" charset="0"/>
                        </a:rPr>
                        <a:t>S&amp;P Rating</a:t>
                      </a:r>
                      <a:endParaRPr lang="en-GB" sz="1100" b="1">
                        <a:solidFill>
                          <a:schemeClr val="bg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6350" cap="flat" cmpd="sng" algn="ctr">
                      <a:noFill/>
                      <a:prstDash val="solid"/>
                      <a:miter lim="800000"/>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spcAft>
                          <a:spcPts val="600"/>
                        </a:spcAft>
                      </a:pPr>
                      <a:r>
                        <a:rPr lang="en-GB" sz="1000" b="1" dirty="0">
                          <a:solidFill>
                            <a:schemeClr val="bg1"/>
                          </a:solidFill>
                          <a:effectLst/>
                          <a:latin typeface="Century Gothic" panose="020B0502020202020204" pitchFamily="34" charset="0"/>
                        </a:rPr>
                        <a:t>Required return from solar project (%)</a:t>
                      </a:r>
                      <a:endParaRPr lang="en-GB" sz="1100" b="1" dirty="0">
                        <a:solidFill>
                          <a:schemeClr val="bg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6350" cap="flat" cmpd="sng" algn="ctr">
                      <a:noFill/>
                      <a:prstDash val="solid"/>
                      <a:miter lim="800000"/>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077366014"/>
                  </a:ext>
                </a:extLst>
              </a:tr>
              <a:tr h="214813">
                <a:tc>
                  <a:txBody>
                    <a:bodyPr/>
                    <a:lstStyle/>
                    <a:p>
                      <a:pPr>
                        <a:spcAft>
                          <a:spcPts val="600"/>
                        </a:spcAft>
                      </a:pPr>
                      <a:r>
                        <a:rPr lang="en-GB" sz="1000" dirty="0">
                          <a:solidFill>
                            <a:schemeClr val="tx1"/>
                          </a:solidFill>
                          <a:effectLst/>
                          <a:latin typeface="Century Gothic" panose="020B0502020202020204" pitchFamily="34" charset="0"/>
                        </a:rPr>
                        <a:t>Germany</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AAA</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7%</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107030074"/>
                  </a:ext>
                </a:extLst>
              </a:tr>
              <a:tr h="214813">
                <a:tc>
                  <a:txBody>
                    <a:bodyPr/>
                    <a:lstStyle/>
                    <a:p>
                      <a:pPr>
                        <a:spcAft>
                          <a:spcPts val="600"/>
                        </a:spcAft>
                      </a:pPr>
                      <a:r>
                        <a:rPr lang="en-GB" sz="1000">
                          <a:solidFill>
                            <a:schemeClr val="tx1"/>
                          </a:solidFill>
                          <a:effectLst/>
                          <a:latin typeface="Century Gothic" panose="020B0502020202020204" pitchFamily="34" charset="0"/>
                        </a:rPr>
                        <a:t>USA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AA+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9%</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609983972"/>
                  </a:ext>
                </a:extLst>
              </a:tr>
              <a:tr h="214813">
                <a:tc>
                  <a:txBody>
                    <a:bodyPr/>
                    <a:lstStyle/>
                    <a:p>
                      <a:pPr>
                        <a:spcAft>
                          <a:spcPts val="600"/>
                        </a:spcAft>
                      </a:pPr>
                      <a:r>
                        <a:rPr lang="en-GB" sz="1000" dirty="0">
                          <a:solidFill>
                            <a:schemeClr val="tx1"/>
                          </a:solidFill>
                          <a:effectLst/>
                          <a:latin typeface="Century Gothic" panose="020B0502020202020204" pitchFamily="34" charset="0"/>
                        </a:rPr>
                        <a:t>UAE</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AA</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10%</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779275913"/>
                  </a:ext>
                </a:extLst>
              </a:tr>
              <a:tr h="192875">
                <a:tc>
                  <a:txBody>
                    <a:bodyPr/>
                    <a:lstStyle/>
                    <a:p>
                      <a:pPr>
                        <a:spcAft>
                          <a:spcPts val="600"/>
                        </a:spcAft>
                      </a:pPr>
                      <a:r>
                        <a:rPr lang="en-GB" sz="1000">
                          <a:solidFill>
                            <a:schemeClr val="tx1"/>
                          </a:solidFill>
                          <a:effectLst/>
                          <a:latin typeface="Century Gothic" panose="020B0502020202020204" pitchFamily="34" charset="0"/>
                        </a:rPr>
                        <a:t>Saudi Arabia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A-</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12%</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84277193"/>
                  </a:ext>
                </a:extLst>
              </a:tr>
              <a:tr h="214813">
                <a:tc>
                  <a:txBody>
                    <a:bodyPr/>
                    <a:lstStyle/>
                    <a:p>
                      <a:pPr>
                        <a:spcAft>
                          <a:spcPts val="600"/>
                        </a:spcAft>
                      </a:pPr>
                      <a:r>
                        <a:rPr lang="en-GB" sz="1000">
                          <a:solidFill>
                            <a:schemeClr val="tx1"/>
                          </a:solidFill>
                          <a:effectLst/>
                          <a:latin typeface="Century Gothic" panose="020B0502020202020204" pitchFamily="34" charset="0"/>
                        </a:rPr>
                        <a:t>Chile</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A</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12%</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773864921"/>
                  </a:ext>
                </a:extLst>
              </a:tr>
              <a:tr h="214813">
                <a:tc>
                  <a:txBody>
                    <a:bodyPr/>
                    <a:lstStyle/>
                    <a:p>
                      <a:pPr>
                        <a:spcAft>
                          <a:spcPts val="600"/>
                        </a:spcAft>
                      </a:pPr>
                      <a:r>
                        <a:rPr lang="en-GB" sz="1000">
                          <a:solidFill>
                            <a:schemeClr val="tx1"/>
                          </a:solidFill>
                          <a:effectLst/>
                          <a:latin typeface="Century Gothic" panose="020B0502020202020204" pitchFamily="34" charset="0"/>
                        </a:rPr>
                        <a:t>Morocco</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BBB-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15%</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271508"/>
                  </a:ext>
                </a:extLst>
              </a:tr>
              <a:tr h="214813">
                <a:tc>
                  <a:txBody>
                    <a:bodyPr/>
                    <a:lstStyle/>
                    <a:p>
                      <a:pPr>
                        <a:spcAft>
                          <a:spcPts val="600"/>
                        </a:spcAft>
                      </a:pPr>
                      <a:r>
                        <a:rPr lang="en-GB" sz="1000">
                          <a:solidFill>
                            <a:schemeClr val="tx1"/>
                          </a:solidFill>
                          <a:effectLst/>
                          <a:latin typeface="Century Gothic" panose="020B0502020202020204" pitchFamily="34" charset="0"/>
                        </a:rPr>
                        <a:t>India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BBB-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17%</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50443559"/>
                  </a:ext>
                </a:extLst>
              </a:tr>
              <a:tr h="214813">
                <a:tc>
                  <a:txBody>
                    <a:bodyPr/>
                    <a:lstStyle/>
                    <a:p>
                      <a:pPr>
                        <a:spcAft>
                          <a:spcPts val="600"/>
                        </a:spcAft>
                      </a:pPr>
                      <a:r>
                        <a:rPr lang="en-GB" sz="1000">
                          <a:solidFill>
                            <a:schemeClr val="tx1"/>
                          </a:solidFill>
                          <a:effectLst/>
                          <a:latin typeface="Century Gothic" panose="020B0502020202020204" pitchFamily="34" charset="0"/>
                        </a:rPr>
                        <a:t>Algeria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18%</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703603903"/>
                  </a:ext>
                </a:extLst>
              </a:tr>
              <a:tr h="214813">
                <a:tc>
                  <a:txBody>
                    <a:bodyPr/>
                    <a:lstStyle/>
                    <a:p>
                      <a:pPr>
                        <a:spcAft>
                          <a:spcPts val="600"/>
                        </a:spcAft>
                      </a:pPr>
                      <a:r>
                        <a:rPr lang="en-GB" sz="1000">
                          <a:solidFill>
                            <a:schemeClr val="tx1"/>
                          </a:solidFill>
                          <a:effectLst/>
                          <a:latin typeface="Century Gothic" panose="020B0502020202020204" pitchFamily="34" charset="0"/>
                        </a:rPr>
                        <a:t>Oman</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18%</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027565998"/>
                  </a:ext>
                </a:extLst>
              </a:tr>
              <a:tr h="214813">
                <a:tc>
                  <a:txBody>
                    <a:bodyPr/>
                    <a:lstStyle/>
                    <a:p>
                      <a:pPr>
                        <a:spcAft>
                          <a:spcPts val="600"/>
                        </a:spcAft>
                      </a:pPr>
                      <a:r>
                        <a:rPr lang="en-GB" sz="1000">
                          <a:solidFill>
                            <a:schemeClr val="tx1"/>
                          </a:solidFill>
                          <a:effectLst/>
                          <a:latin typeface="Century Gothic" panose="020B0502020202020204" pitchFamily="34" charset="0"/>
                        </a:rPr>
                        <a:t>Peru</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BBB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20%</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861967601"/>
                  </a:ext>
                </a:extLst>
              </a:tr>
              <a:tr h="214813">
                <a:tc>
                  <a:txBody>
                    <a:bodyPr/>
                    <a:lstStyle/>
                    <a:p>
                      <a:pPr>
                        <a:spcAft>
                          <a:spcPts val="600"/>
                        </a:spcAft>
                      </a:pPr>
                      <a:r>
                        <a:rPr lang="en-GB" sz="1000">
                          <a:solidFill>
                            <a:schemeClr val="tx1"/>
                          </a:solidFill>
                          <a:effectLst/>
                          <a:latin typeface="Century Gothic" panose="020B0502020202020204" pitchFamily="34" charset="0"/>
                        </a:rPr>
                        <a:t>Costa Rica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21%</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883319383"/>
                  </a:ext>
                </a:extLst>
              </a:tr>
              <a:tr h="214813">
                <a:tc>
                  <a:txBody>
                    <a:bodyPr/>
                    <a:lstStyle/>
                    <a:p>
                      <a:pPr>
                        <a:spcAft>
                          <a:spcPts val="600"/>
                        </a:spcAft>
                      </a:pPr>
                      <a:r>
                        <a:rPr lang="en-GB" sz="1000">
                          <a:solidFill>
                            <a:schemeClr val="tx1"/>
                          </a:solidFill>
                          <a:effectLst/>
                          <a:latin typeface="Century Gothic" panose="020B0502020202020204" pitchFamily="34" charset="0"/>
                        </a:rPr>
                        <a:t>Namibia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21%</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934464102"/>
                  </a:ext>
                </a:extLst>
              </a:tr>
              <a:tr h="214813">
                <a:tc>
                  <a:txBody>
                    <a:bodyPr/>
                    <a:lstStyle/>
                    <a:p>
                      <a:pPr>
                        <a:spcAft>
                          <a:spcPts val="600"/>
                        </a:spcAft>
                      </a:pPr>
                      <a:r>
                        <a:rPr lang="en-GB" sz="1000">
                          <a:solidFill>
                            <a:schemeClr val="tx1"/>
                          </a:solidFill>
                          <a:effectLst/>
                          <a:latin typeface="Century Gothic" panose="020B0502020202020204" pitchFamily="34" charset="0"/>
                        </a:rPr>
                        <a:t>Ghana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22%</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606414859"/>
                  </a:ext>
                </a:extLst>
              </a:tr>
              <a:tr h="214813">
                <a:tc>
                  <a:txBody>
                    <a:bodyPr/>
                    <a:lstStyle/>
                    <a:p>
                      <a:pPr>
                        <a:spcAft>
                          <a:spcPts val="600"/>
                        </a:spcAft>
                      </a:pPr>
                      <a:r>
                        <a:rPr lang="en-GB" sz="1000">
                          <a:solidFill>
                            <a:schemeClr val="tx1"/>
                          </a:solidFill>
                          <a:effectLst/>
                          <a:latin typeface="Century Gothic" panose="020B0502020202020204" pitchFamily="34" charset="0"/>
                        </a:rPr>
                        <a:t>Brazil</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22%</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711863578"/>
                  </a:ext>
                </a:extLst>
              </a:tr>
              <a:tr h="214813">
                <a:tc>
                  <a:txBody>
                    <a:bodyPr/>
                    <a:lstStyle/>
                    <a:p>
                      <a:pPr>
                        <a:spcAft>
                          <a:spcPts val="600"/>
                        </a:spcAft>
                      </a:pPr>
                      <a:r>
                        <a:rPr lang="en-GB" sz="1000">
                          <a:solidFill>
                            <a:schemeClr val="tx1"/>
                          </a:solidFill>
                          <a:effectLst/>
                          <a:latin typeface="Century Gothic" panose="020B0502020202020204" pitchFamily="34" charset="0"/>
                        </a:rPr>
                        <a:t>Nigeria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22%</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511943823"/>
                  </a:ext>
                </a:extLst>
              </a:tr>
              <a:tr h="214813">
                <a:tc>
                  <a:txBody>
                    <a:bodyPr/>
                    <a:lstStyle/>
                    <a:p>
                      <a:pPr>
                        <a:spcAft>
                          <a:spcPts val="600"/>
                        </a:spcAft>
                      </a:pPr>
                      <a:r>
                        <a:rPr lang="en-GB" sz="1000">
                          <a:solidFill>
                            <a:schemeClr val="tx1"/>
                          </a:solidFill>
                          <a:effectLst/>
                          <a:latin typeface="Century Gothic" panose="020B0502020202020204" pitchFamily="34" charset="0"/>
                        </a:rPr>
                        <a:t>Bolivia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24%</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564789929"/>
                  </a:ext>
                </a:extLst>
              </a:tr>
              <a:tr h="214813">
                <a:tc>
                  <a:txBody>
                    <a:bodyPr/>
                    <a:lstStyle/>
                    <a:p>
                      <a:pPr>
                        <a:spcAft>
                          <a:spcPts val="600"/>
                        </a:spcAft>
                      </a:pPr>
                      <a:r>
                        <a:rPr lang="en-GB" sz="1000">
                          <a:solidFill>
                            <a:schemeClr val="tx1"/>
                          </a:solidFill>
                          <a:effectLst/>
                          <a:latin typeface="Century Gothic" panose="020B0502020202020204" pitchFamily="34" charset="0"/>
                        </a:rPr>
                        <a:t>Tanzania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24%</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4289534411"/>
                  </a:ext>
                </a:extLst>
              </a:tr>
              <a:tr h="214813">
                <a:tc>
                  <a:txBody>
                    <a:bodyPr/>
                    <a:lstStyle/>
                    <a:p>
                      <a:pPr>
                        <a:spcAft>
                          <a:spcPts val="600"/>
                        </a:spcAft>
                      </a:pPr>
                      <a:r>
                        <a:rPr lang="en-GB" sz="1000">
                          <a:solidFill>
                            <a:schemeClr val="tx1"/>
                          </a:solidFill>
                          <a:effectLst/>
                          <a:latin typeface="Century Gothic" panose="020B0502020202020204" pitchFamily="34" charset="0"/>
                        </a:rPr>
                        <a:t>Egypt</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B</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28%</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3022891857"/>
                  </a:ext>
                </a:extLst>
              </a:tr>
              <a:tr h="214813">
                <a:tc>
                  <a:txBody>
                    <a:bodyPr/>
                    <a:lstStyle/>
                    <a:p>
                      <a:pPr>
                        <a:spcAft>
                          <a:spcPts val="600"/>
                        </a:spcAft>
                      </a:pPr>
                      <a:r>
                        <a:rPr lang="en-GB" sz="1000">
                          <a:solidFill>
                            <a:schemeClr val="tx1"/>
                          </a:solidFill>
                          <a:effectLst/>
                          <a:latin typeface="Century Gothic" panose="020B0502020202020204" pitchFamily="34" charset="0"/>
                        </a:rPr>
                        <a:t>Zambia</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a:solidFill>
                            <a:schemeClr val="tx1"/>
                          </a:solidFill>
                          <a:effectLst/>
                          <a:latin typeface="Century Gothic" panose="020B0502020202020204" pitchFamily="34" charset="0"/>
                        </a:rPr>
                        <a:t>CCC-</a:t>
                      </a:r>
                      <a:endParaRPr lang="en-GB" sz="110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38%</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257959761"/>
                  </a:ext>
                </a:extLst>
              </a:tr>
              <a:tr h="260461">
                <a:tc>
                  <a:txBody>
                    <a:bodyPr/>
                    <a:lstStyle/>
                    <a:p>
                      <a:pPr>
                        <a:spcAft>
                          <a:spcPts val="600"/>
                        </a:spcAft>
                      </a:pPr>
                      <a:r>
                        <a:rPr lang="en-GB" sz="1000" dirty="0">
                          <a:solidFill>
                            <a:schemeClr val="tx1"/>
                          </a:solidFill>
                          <a:effectLst/>
                          <a:latin typeface="Century Gothic" panose="020B0502020202020204" pitchFamily="34" charset="0"/>
                        </a:rPr>
                        <a:t>Argentina</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lumMod val="40000"/>
                          <a:lumOff val="60000"/>
                        </a:schemeClr>
                      </a:solidFill>
                      <a:prstDash val="solid"/>
                      <a:round/>
                      <a:headEnd type="none" w="med" len="med"/>
                      <a:tailEnd type="none" w="med" len="med"/>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CCC+</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600"/>
                        </a:spcAft>
                      </a:pPr>
                      <a:r>
                        <a:rPr lang="en-GB" sz="1000" dirty="0">
                          <a:solidFill>
                            <a:schemeClr val="tx1"/>
                          </a:solidFill>
                          <a:effectLst/>
                          <a:latin typeface="Century Gothic" panose="020B0502020202020204" pitchFamily="34" charset="0"/>
                        </a:rPr>
                        <a:t>52%</a:t>
                      </a:r>
                      <a:endParaRPr lang="en-GB" sz="1100" dirty="0">
                        <a:solidFill>
                          <a:schemeClr val="tx1"/>
                        </a:solidFill>
                        <a:effectLst/>
                        <a:latin typeface="Century Gothic" panose="020B0502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219570307"/>
                  </a:ext>
                </a:extLst>
              </a:tr>
            </a:tbl>
          </a:graphicData>
        </a:graphic>
      </p:graphicFrame>
      <p:sp>
        <p:nvSpPr>
          <p:cNvPr id="4" name="TextBox 14">
            <a:extLst>
              <a:ext uri="{FF2B5EF4-FFF2-40B4-BE49-F238E27FC236}">
                <a16:creationId xmlns:a16="http://schemas.microsoft.com/office/drawing/2014/main" id="{4164C0D9-68D5-391A-C577-37F56BA8B771}"/>
              </a:ext>
            </a:extLst>
          </p:cNvPr>
          <p:cNvSpPr txBox="1"/>
          <p:nvPr/>
        </p:nvSpPr>
        <p:spPr>
          <a:xfrm>
            <a:off x="503237" y="6368711"/>
            <a:ext cx="5104138" cy="400110"/>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effectLst/>
                <a:uLnTx/>
                <a:uFillTx/>
                <a:latin typeface="Century Gothic"/>
                <a:ea typeface="+mn-ea"/>
                <a:cs typeface="+mn-cs"/>
              </a:rPr>
              <a:t>Source</a:t>
            </a:r>
            <a:r>
              <a:rPr kumimoji="0" lang="fr-FR" sz="1000" b="0" i="0" u="none" strike="noStrike" kern="1200" cap="none" spc="0" normalizeH="0" baseline="0" noProof="0">
                <a:ln>
                  <a:noFill/>
                </a:ln>
                <a:effectLst/>
                <a:uLnTx/>
                <a:uFillTx/>
                <a:latin typeface="Century Gothic"/>
                <a:ea typeface="+mn-ea"/>
                <a:cs typeface="+mn-cs"/>
              </a:rPr>
              <a:t>: </a:t>
            </a:r>
            <a:r>
              <a:rPr lang="fr-FR" sz="1000">
                <a:latin typeface="Century Gothic"/>
              </a:rPr>
              <a:t>Trading </a:t>
            </a:r>
            <a:r>
              <a:rPr lang="fr-FR" sz="1000" err="1">
                <a:latin typeface="Century Gothic"/>
              </a:rPr>
              <a:t>Economics</a:t>
            </a:r>
            <a:r>
              <a:rPr lang="fr-FR" sz="1000">
                <a:latin typeface="Century Gothic"/>
              </a:rPr>
              <a:t> and World </a:t>
            </a:r>
            <a:r>
              <a:rPr lang="fr-FR" sz="1000" err="1">
                <a:latin typeface="Century Gothic"/>
              </a:rPr>
              <a:t>Government</a:t>
            </a:r>
            <a:r>
              <a:rPr lang="fr-FR" sz="1000">
                <a:latin typeface="Century Gothic"/>
              </a:rPr>
              <a:t> Bonds, </a:t>
            </a:r>
            <a:r>
              <a:rPr lang="fr-FR" sz="1000" err="1">
                <a:latin typeface="Century Gothic"/>
              </a:rPr>
              <a:t>Market</a:t>
            </a:r>
            <a:r>
              <a:rPr lang="fr-FR" sz="1000">
                <a:latin typeface="Century Gothic"/>
              </a:rPr>
              <a:t> </a:t>
            </a:r>
            <a:r>
              <a:rPr lang="fr-FR" sz="1000" err="1">
                <a:latin typeface="Century Gothic"/>
              </a:rPr>
              <a:t>Insider</a:t>
            </a:r>
            <a:r>
              <a:rPr lang="fr-FR" sz="1000">
                <a:latin typeface="Century Gothic"/>
              </a:rPr>
              <a:t>, and Haver Analytics</a:t>
            </a:r>
            <a:endParaRPr kumimoji="0" lang="en-GB" sz="1000" b="0" i="0" u="none" strike="noStrike" kern="1200" cap="none" spc="0" normalizeH="0" baseline="0" noProof="0">
              <a:ln>
                <a:noFill/>
              </a:ln>
              <a:effectLst/>
              <a:uLnTx/>
              <a:uFillTx/>
              <a:latin typeface="Century Gothic"/>
              <a:ea typeface="+mn-ea"/>
              <a:cs typeface="+mn-cs"/>
            </a:endParaRPr>
          </a:p>
        </p:txBody>
      </p:sp>
      <p:cxnSp>
        <p:nvCxnSpPr>
          <p:cNvPr id="16" name="Straight Connector 15">
            <a:extLst>
              <a:ext uri="{FF2B5EF4-FFF2-40B4-BE49-F238E27FC236}">
                <a16:creationId xmlns:a16="http://schemas.microsoft.com/office/drawing/2014/main" id="{5734F11F-D9CA-9BAC-730A-EFAC931E9B7C}"/>
              </a:ext>
            </a:extLst>
          </p:cNvPr>
          <p:cNvCxnSpPr>
            <a:cxnSpLocks/>
          </p:cNvCxnSpPr>
          <p:nvPr/>
        </p:nvCxnSpPr>
        <p:spPr>
          <a:xfrm>
            <a:off x="6118273" y="2392363"/>
            <a:ext cx="0" cy="2828925"/>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1045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BB32C7B-E374-E3F5-D8DB-0997486B260E}"/>
              </a:ext>
            </a:extLst>
          </p:cNvPr>
          <p:cNvSpPr txBox="1">
            <a:spLocks noChangeArrowheads="1"/>
          </p:cNvSpPr>
          <p:nvPr/>
        </p:nvSpPr>
        <p:spPr bwMode="auto">
          <a:xfrm>
            <a:off x="699714" y="353160"/>
            <a:ext cx="7091300" cy="898581"/>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b="1" dirty="0">
                <a:solidFill>
                  <a:srgbClr val="FFFFFF"/>
                </a:solidFill>
                <a:latin typeface="+mj-lt"/>
                <a:ea typeface="+mj-ea"/>
                <a:cs typeface="+mj-cs"/>
                <a:sym typeface="Roboto Slab"/>
              </a:rPr>
              <a:t>Members of the Independent High-Level Expert Group on Climate Finance</a:t>
            </a:r>
            <a:endParaRPr kumimoji="0" lang="en-US" altLang="en-US" sz="2800" b="1" i="0" u="none" strike="noStrike" cap="none" spc="0" normalizeH="0" baseline="0" noProof="0" dirty="0">
              <a:ln>
                <a:noFill/>
              </a:ln>
              <a:solidFill>
                <a:srgbClr val="FFFFFF"/>
              </a:solidFill>
              <a:effectLst/>
              <a:uLnTx/>
              <a:uFillTx/>
              <a:latin typeface="+mj-lt"/>
              <a:ea typeface="+mj-ea"/>
              <a:cs typeface="+mj-cs"/>
            </a:endParaRPr>
          </a:p>
        </p:txBody>
      </p:sp>
      <p:sp>
        <p:nvSpPr>
          <p:cNvPr id="46" name="Title 1">
            <a:extLst>
              <a:ext uri="{FF2B5EF4-FFF2-40B4-BE49-F238E27FC236}">
                <a16:creationId xmlns:a16="http://schemas.microsoft.com/office/drawing/2014/main" id="{D6341A84-152F-BB7A-4D8D-148CA51CF28D}"/>
              </a:ext>
            </a:extLst>
          </p:cNvPr>
          <p:cNvSpPr txBox="1">
            <a:spLocks/>
          </p:cNvSpPr>
          <p:nvPr/>
        </p:nvSpPr>
        <p:spPr>
          <a:xfrm>
            <a:off x="414607" y="229151"/>
            <a:ext cx="11513867" cy="102800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37546C"/>
                </a:solidFill>
                <a:latin typeface="Century Gothic" panose="020B0502020202020204" pitchFamily="34" charset="0"/>
              </a:rPr>
              <a:t>MDBs are central to the expansion of investment in climate and development action in EMDCs</a:t>
            </a:r>
          </a:p>
        </p:txBody>
      </p:sp>
      <p:sp>
        <p:nvSpPr>
          <p:cNvPr id="2" name="Content Placeholder 2">
            <a:extLst>
              <a:ext uri="{FF2B5EF4-FFF2-40B4-BE49-F238E27FC236}">
                <a16:creationId xmlns:a16="http://schemas.microsoft.com/office/drawing/2014/main" id="{3F2C6343-A254-94D2-4F10-FA4E20C81D9E}"/>
              </a:ext>
            </a:extLst>
          </p:cNvPr>
          <p:cNvSpPr txBox="1">
            <a:spLocks/>
          </p:cNvSpPr>
          <p:nvPr/>
        </p:nvSpPr>
        <p:spPr>
          <a:xfrm>
            <a:off x="407987" y="1280500"/>
            <a:ext cx="11520487" cy="47952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0"/>
              </a:spcBef>
              <a:spcAft>
                <a:spcPts val="1200"/>
              </a:spcAft>
            </a:pPr>
            <a:r>
              <a:rPr lang="en-US" sz="1700" dirty="0">
                <a:solidFill>
                  <a:schemeClr val="accent4">
                    <a:lumMod val="75000"/>
                  </a:schemeClr>
                </a:solidFill>
                <a:latin typeface="Century Gothic" panose="020B0502020202020204" pitchFamily="34" charset="0"/>
                <a:ea typeface="+mj-ea"/>
                <a:cs typeface="+mj-cs"/>
              </a:rPr>
              <a:t>Considering the scale and urgency of current climate and development challenges, MDBs and the development finance system as a whole will need to significantly increase their activities.</a:t>
            </a:r>
          </a:p>
          <a:p>
            <a:pPr lvl="1">
              <a:lnSpc>
                <a:spcPct val="100000"/>
              </a:lnSpc>
              <a:spcBef>
                <a:spcPct val="0"/>
              </a:spcBef>
              <a:spcAft>
                <a:spcPts val="800"/>
              </a:spcAft>
              <a:buFont typeface="Wingdings" panose="05000000000000000000" pitchFamily="2" charset="2"/>
              <a:buChar char="ü"/>
            </a:pPr>
            <a:r>
              <a:rPr lang="en-GB" sz="1800" dirty="0">
                <a:solidFill>
                  <a:schemeClr val="accent4">
                    <a:lumMod val="75000"/>
                  </a:schemeClr>
                </a:solidFill>
              </a:rPr>
              <a:t>Working as a system, the MDBs should engage with countries and the private sector to play a purposive and </a:t>
            </a:r>
            <a:r>
              <a:rPr lang="en-GB" sz="1800" b="1" dirty="0">
                <a:solidFill>
                  <a:schemeClr val="accent4">
                    <a:lumMod val="75000"/>
                  </a:schemeClr>
                </a:solidFill>
              </a:rPr>
              <a:t>proactive role in helping countries define, identify, enable and foster the investments and programmes necessary</a:t>
            </a:r>
            <a:r>
              <a:rPr lang="en-GB" sz="1800" dirty="0">
                <a:solidFill>
                  <a:schemeClr val="accent4">
                    <a:lumMod val="75000"/>
                  </a:schemeClr>
                </a:solidFill>
              </a:rPr>
              <a:t>.</a:t>
            </a:r>
          </a:p>
          <a:p>
            <a:pPr lvl="1">
              <a:lnSpc>
                <a:spcPct val="100000"/>
              </a:lnSpc>
              <a:spcBef>
                <a:spcPct val="0"/>
              </a:spcBef>
              <a:spcAft>
                <a:spcPts val="800"/>
              </a:spcAft>
              <a:buFont typeface="Wingdings" panose="05000000000000000000" pitchFamily="2" charset="2"/>
              <a:buChar char="ü"/>
            </a:pPr>
            <a:r>
              <a:rPr lang="en-GB" sz="1800" dirty="0">
                <a:solidFill>
                  <a:schemeClr val="accent4">
                    <a:lumMod val="75000"/>
                  </a:schemeClr>
                </a:solidFill>
              </a:rPr>
              <a:t>MDBs have a critical role to play in </a:t>
            </a:r>
            <a:r>
              <a:rPr lang="en-GB" sz="1800" b="1" dirty="0">
                <a:solidFill>
                  <a:schemeClr val="accent4">
                    <a:lumMod val="75000"/>
                  </a:schemeClr>
                </a:solidFill>
              </a:rPr>
              <a:t>catalysing private finance </a:t>
            </a:r>
            <a:r>
              <a:rPr lang="en-GB" sz="1800" dirty="0">
                <a:solidFill>
                  <a:schemeClr val="accent4">
                    <a:lumMod val="75000"/>
                  </a:schemeClr>
                </a:solidFill>
              </a:rPr>
              <a:t>and in supporting the large </a:t>
            </a:r>
            <a:r>
              <a:rPr lang="en-GB" sz="1800" b="1" dirty="0">
                <a:solidFill>
                  <a:schemeClr val="accent4">
                    <a:lumMod val="75000"/>
                  </a:schemeClr>
                </a:solidFill>
              </a:rPr>
              <a:t>necessary public investments.</a:t>
            </a:r>
          </a:p>
          <a:p>
            <a:pPr lvl="1">
              <a:spcBef>
                <a:spcPct val="0"/>
              </a:spcBef>
              <a:spcAft>
                <a:spcPts val="800"/>
              </a:spcAft>
              <a:buFont typeface="Wingdings" panose="05000000000000000000" pitchFamily="2" charset="2"/>
              <a:buChar char="ü"/>
            </a:pPr>
            <a:r>
              <a:rPr lang="en-GB" sz="1800" dirty="0">
                <a:solidFill>
                  <a:schemeClr val="accent4">
                    <a:lumMod val="75000"/>
                  </a:schemeClr>
                </a:solidFill>
              </a:rPr>
              <a:t>The MDBs and their shareholders must explicitly recognise that these tasks </a:t>
            </a:r>
            <a:r>
              <a:rPr lang="en-GB" sz="1800" b="1" dirty="0">
                <a:solidFill>
                  <a:schemeClr val="accent4">
                    <a:lumMod val="75000"/>
                  </a:schemeClr>
                </a:solidFill>
              </a:rPr>
              <a:t>require a multiplying of their flows of finance by a factor of three in the next five years.</a:t>
            </a:r>
          </a:p>
          <a:p>
            <a:pPr lvl="1">
              <a:spcBef>
                <a:spcPct val="0"/>
              </a:spcBef>
              <a:spcAft>
                <a:spcPts val="800"/>
              </a:spcAft>
              <a:buFont typeface="Wingdings" panose="05000000000000000000" pitchFamily="2" charset="2"/>
              <a:buChar char="ü"/>
            </a:pPr>
            <a:r>
              <a:rPr lang="en-GB" sz="1800" dirty="0">
                <a:solidFill>
                  <a:schemeClr val="accent4">
                    <a:lumMod val="75000"/>
                  </a:schemeClr>
                </a:solidFill>
              </a:rPr>
              <a:t>This scaling up of financial flows from the MDBs can be built in part on </a:t>
            </a:r>
            <a:r>
              <a:rPr lang="en-GB" sz="1800" b="1" dirty="0">
                <a:solidFill>
                  <a:schemeClr val="accent4">
                    <a:lumMod val="75000"/>
                  </a:schemeClr>
                </a:solidFill>
              </a:rPr>
              <a:t>more effective utilisation of the capital already available.</a:t>
            </a:r>
          </a:p>
          <a:p>
            <a:pPr lvl="1">
              <a:spcBef>
                <a:spcPct val="0"/>
              </a:spcBef>
              <a:spcAft>
                <a:spcPts val="800"/>
              </a:spcAft>
              <a:buFont typeface="Wingdings" panose="05000000000000000000" pitchFamily="2" charset="2"/>
              <a:buChar char="ü"/>
            </a:pPr>
            <a:r>
              <a:rPr lang="en-GB" sz="1800" dirty="0">
                <a:solidFill>
                  <a:schemeClr val="accent4">
                    <a:lumMod val="75000"/>
                  </a:schemeClr>
                </a:solidFill>
              </a:rPr>
              <a:t>Shareholders must recognise that </a:t>
            </a:r>
            <a:r>
              <a:rPr lang="en-GB" sz="1800" b="1" dirty="0">
                <a:solidFill>
                  <a:schemeClr val="accent4">
                    <a:lumMod val="75000"/>
                  </a:schemeClr>
                </a:solidFill>
              </a:rPr>
              <a:t>substantial capital increases for the MDBs over the coming five years will be required</a:t>
            </a:r>
            <a:r>
              <a:rPr lang="en-GB" sz="1800" dirty="0">
                <a:solidFill>
                  <a:schemeClr val="accent4">
                    <a:lumMod val="75000"/>
                  </a:schemeClr>
                </a:solidFill>
              </a:rPr>
              <a:t> to achieve the necessary three-fold increase in flows.</a:t>
            </a:r>
          </a:p>
          <a:p>
            <a:pPr lvl="1">
              <a:spcBef>
                <a:spcPct val="0"/>
              </a:spcBef>
              <a:spcAft>
                <a:spcPts val="800"/>
              </a:spcAft>
              <a:buFont typeface="Wingdings" panose="05000000000000000000" pitchFamily="2" charset="2"/>
              <a:buChar char="ü"/>
            </a:pPr>
            <a:r>
              <a:rPr lang="en-GB" sz="1800" dirty="0">
                <a:solidFill>
                  <a:schemeClr val="accent4">
                    <a:lumMod val="75000"/>
                  </a:schemeClr>
                </a:solidFill>
              </a:rPr>
              <a:t>Beyond the MDBs, there is great potential to </a:t>
            </a:r>
            <a:r>
              <a:rPr lang="en-GB" sz="1800" b="1" dirty="0">
                <a:solidFill>
                  <a:schemeClr val="accent4">
                    <a:lumMod val="75000"/>
                  </a:schemeClr>
                </a:solidFill>
              </a:rPr>
              <a:t>harness the entire public development bank system</a:t>
            </a:r>
            <a:r>
              <a:rPr lang="en-GB" sz="1800" dirty="0">
                <a:solidFill>
                  <a:schemeClr val="accent4">
                    <a:lumMod val="75000"/>
                  </a:schemeClr>
                </a:solidFill>
              </a:rPr>
              <a:t>.</a:t>
            </a:r>
            <a:endParaRPr lang="en-US" sz="1800" dirty="0">
              <a:solidFill>
                <a:schemeClr val="accent4">
                  <a:lumMod val="75000"/>
                </a:schemeClr>
              </a:solidFill>
              <a:latin typeface="Century Gothic" panose="020B0502020202020204" pitchFamily="34" charset="0"/>
              <a:ea typeface="+mj-ea"/>
              <a:cs typeface="+mj-cs"/>
            </a:endParaRPr>
          </a:p>
          <a:p>
            <a:pPr>
              <a:spcBef>
                <a:spcPct val="0"/>
              </a:spcBef>
            </a:pPr>
            <a:endParaRPr lang="en-US" sz="1800" dirty="0">
              <a:solidFill>
                <a:schemeClr val="accent4">
                  <a:lumMod val="50000"/>
                </a:schemeClr>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endParaRPr lang="en-US" sz="1800" b="1" dirty="0">
              <a:solidFill>
                <a:srgbClr val="37546C"/>
              </a:solidFill>
              <a:latin typeface="Century Gothic" panose="020B0502020202020204" pitchFamily="34" charset="0"/>
              <a:ea typeface="+mj-ea"/>
              <a:cs typeface="+mj-cs"/>
            </a:endParaRPr>
          </a:p>
          <a:p>
            <a:endParaRPr lang="en-US" sz="1800" dirty="0"/>
          </a:p>
        </p:txBody>
      </p:sp>
    </p:spTree>
    <p:extLst>
      <p:ext uri="{BB962C8B-B14F-4D97-AF65-F5344CB8AC3E}">
        <p14:creationId xmlns:p14="http://schemas.microsoft.com/office/powerpoint/2010/main" val="3404184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Group 62"/>
          <p:cNvGrpSpPr/>
          <p:nvPr/>
        </p:nvGrpSpPr>
        <p:grpSpPr>
          <a:xfrm>
            <a:off x="1182855" y="1047948"/>
            <a:ext cx="9581164" cy="3934340"/>
            <a:chOff x="1187368" y="845142"/>
            <a:chExt cx="7560847" cy="3080197"/>
          </a:xfrm>
        </p:grpSpPr>
        <p:grpSp>
          <p:nvGrpSpPr>
            <p:cNvPr id="47" name="Group 46"/>
            <p:cNvGrpSpPr/>
            <p:nvPr/>
          </p:nvGrpSpPr>
          <p:grpSpPr>
            <a:xfrm>
              <a:off x="1187368" y="976517"/>
              <a:ext cx="7560847" cy="2948822"/>
              <a:chOff x="1187368" y="976517"/>
              <a:chExt cx="7560847" cy="2948822"/>
            </a:xfrm>
          </p:grpSpPr>
          <p:sp>
            <p:nvSpPr>
              <p:cNvPr id="13" name="Rectangle 12"/>
              <p:cNvSpPr/>
              <p:nvPr/>
            </p:nvSpPr>
            <p:spPr>
              <a:xfrm>
                <a:off x="1419367" y="2601051"/>
                <a:ext cx="709684" cy="916496"/>
              </a:xfrm>
              <a:prstGeom prst="rect">
                <a:avLst/>
              </a:prstGeom>
              <a:solidFill>
                <a:schemeClr val="accent4">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endParaRPr lang="en-GB" sz="933">
                  <a:solidFill>
                    <a:prstClr val="white"/>
                  </a:solidFill>
                  <a:latin typeface="Century Gothic"/>
                </a:endParaRPr>
              </a:p>
            </p:txBody>
          </p:sp>
          <p:cxnSp>
            <p:nvCxnSpPr>
              <p:cNvPr id="6" name="Straight Connector 5"/>
              <p:cNvCxnSpPr>
                <a:stCxn id="49" idx="1"/>
              </p:cNvCxnSpPr>
              <p:nvPr/>
            </p:nvCxnSpPr>
            <p:spPr>
              <a:xfrm>
                <a:off x="1187368" y="1037917"/>
                <a:ext cx="0" cy="2478777"/>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442464" y="2391836"/>
                <a:ext cx="709684" cy="201075"/>
              </a:xfrm>
              <a:prstGeom prst="rect">
                <a:avLst/>
              </a:prstGeom>
              <a:solidFill>
                <a:schemeClr val="tx2">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endParaRPr lang="en-GB" sz="2400" b="1">
                  <a:solidFill>
                    <a:prstClr val="white"/>
                  </a:solidFill>
                  <a:latin typeface="Century Gothic"/>
                </a:endParaRPr>
              </a:p>
            </p:txBody>
          </p:sp>
          <p:cxnSp>
            <p:nvCxnSpPr>
              <p:cNvPr id="16" name="Straight Connector 15"/>
              <p:cNvCxnSpPr/>
              <p:nvPr/>
            </p:nvCxnSpPr>
            <p:spPr>
              <a:xfrm>
                <a:off x="4364434" y="990572"/>
                <a:ext cx="0" cy="2528731"/>
              </a:xfrm>
              <a:prstGeom prst="line">
                <a:avLst/>
              </a:prstGeom>
              <a:ln>
                <a:solidFill>
                  <a:schemeClr val="tx1">
                    <a:alpha val="32000"/>
                  </a:schemeClr>
                </a:solidFill>
                <a:prstDash val="dash"/>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3374109" y="976517"/>
                <a:ext cx="709684" cy="1408997"/>
              </a:xfrm>
              <a:prstGeom prst="rect">
                <a:avLst/>
              </a:prstGeom>
              <a:solidFill>
                <a:schemeClr val="accent4">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endParaRPr lang="en-GB" sz="2400">
                  <a:solidFill>
                    <a:prstClr val="white"/>
                  </a:solidFill>
                  <a:latin typeface="Century Gothic"/>
                </a:endParaRPr>
              </a:p>
            </p:txBody>
          </p:sp>
          <p:sp>
            <p:nvSpPr>
              <p:cNvPr id="20" name="Rectangle 19"/>
              <p:cNvSpPr/>
              <p:nvPr/>
            </p:nvSpPr>
            <p:spPr>
              <a:xfrm>
                <a:off x="1419367" y="3654659"/>
                <a:ext cx="709684" cy="2706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a:solidFill>
                      <a:srgbClr val="2E3052"/>
                    </a:solidFill>
                    <a:latin typeface="Century Gothic"/>
                  </a:rPr>
                  <a:t>Current Equity Capital</a:t>
                </a:r>
              </a:p>
            </p:txBody>
          </p:sp>
          <p:sp>
            <p:nvSpPr>
              <p:cNvPr id="21" name="Rectangle 20"/>
              <p:cNvSpPr/>
              <p:nvPr/>
            </p:nvSpPr>
            <p:spPr>
              <a:xfrm>
                <a:off x="2449779" y="3654659"/>
                <a:ext cx="709684" cy="2706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a:solidFill>
                      <a:srgbClr val="2E3052"/>
                    </a:solidFill>
                    <a:latin typeface="Century Gothic"/>
                  </a:rPr>
                  <a:t>Additional Paid-In Capital (one time)</a:t>
                </a:r>
              </a:p>
            </p:txBody>
          </p:sp>
          <p:sp>
            <p:nvSpPr>
              <p:cNvPr id="22" name="Rectangle 21"/>
              <p:cNvSpPr/>
              <p:nvPr/>
            </p:nvSpPr>
            <p:spPr>
              <a:xfrm>
                <a:off x="3366448" y="3654659"/>
                <a:ext cx="709684" cy="2706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a:solidFill>
                      <a:srgbClr val="2E3052"/>
                    </a:solidFill>
                    <a:latin typeface="Century Gothic"/>
                  </a:rPr>
                  <a:t>Additional Callable Capital</a:t>
                </a:r>
              </a:p>
              <a:p>
                <a:pPr algn="ctr" defTabSz="1219140">
                  <a:defRPr/>
                </a:pPr>
                <a:r>
                  <a:rPr lang="en-GB" sz="933">
                    <a:solidFill>
                      <a:srgbClr val="2E3052"/>
                    </a:solidFill>
                    <a:latin typeface="Century Gothic"/>
                  </a:rPr>
                  <a:t>(20x)</a:t>
                </a:r>
              </a:p>
            </p:txBody>
          </p:sp>
          <p:sp>
            <p:nvSpPr>
              <p:cNvPr id="24" name="Rectangle 23"/>
              <p:cNvSpPr/>
              <p:nvPr/>
            </p:nvSpPr>
            <p:spPr>
              <a:xfrm>
                <a:off x="1419367" y="2955235"/>
                <a:ext cx="702369" cy="20812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b="1">
                    <a:solidFill>
                      <a:srgbClr val="2E3052"/>
                    </a:solidFill>
                    <a:latin typeface="Century Gothic"/>
                  </a:rPr>
                  <a:t>680</a:t>
                </a:r>
              </a:p>
            </p:txBody>
          </p:sp>
          <p:sp>
            <p:nvSpPr>
              <p:cNvPr id="25" name="Rectangle 24"/>
              <p:cNvSpPr/>
              <p:nvPr/>
            </p:nvSpPr>
            <p:spPr>
              <a:xfrm>
                <a:off x="2517527" y="2417245"/>
                <a:ext cx="559558" cy="20812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b="1">
                    <a:solidFill>
                      <a:srgbClr val="2E3052"/>
                    </a:solidFill>
                    <a:latin typeface="Century Gothic"/>
                  </a:rPr>
                  <a:t>35 - 50</a:t>
                </a:r>
              </a:p>
            </p:txBody>
          </p:sp>
          <p:sp>
            <p:nvSpPr>
              <p:cNvPr id="26" name="Rectangle 25"/>
              <p:cNvSpPr/>
              <p:nvPr/>
            </p:nvSpPr>
            <p:spPr>
              <a:xfrm>
                <a:off x="3441511" y="1568874"/>
                <a:ext cx="559558" cy="26442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b="1" dirty="0">
                    <a:solidFill>
                      <a:srgbClr val="2E3052"/>
                    </a:solidFill>
                    <a:latin typeface="Century Gothic"/>
                  </a:rPr>
                  <a:t>700 - 1000</a:t>
                </a:r>
              </a:p>
            </p:txBody>
          </p:sp>
          <p:sp>
            <p:nvSpPr>
              <p:cNvPr id="28" name="Rectangle 27"/>
              <p:cNvSpPr/>
              <p:nvPr/>
            </p:nvSpPr>
            <p:spPr>
              <a:xfrm>
                <a:off x="4683456" y="3261335"/>
                <a:ext cx="709684" cy="257944"/>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endParaRPr lang="en-GB" sz="2400">
                  <a:solidFill>
                    <a:prstClr val="white"/>
                  </a:solidFill>
                  <a:latin typeface="Century Gothic"/>
                </a:endParaRPr>
              </a:p>
            </p:txBody>
          </p:sp>
          <p:sp>
            <p:nvSpPr>
              <p:cNvPr id="29" name="Rectangle 28"/>
              <p:cNvSpPr/>
              <p:nvPr/>
            </p:nvSpPr>
            <p:spPr>
              <a:xfrm>
                <a:off x="4758519" y="3282085"/>
                <a:ext cx="559558" cy="21644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b="1" dirty="0">
                    <a:solidFill>
                      <a:srgbClr val="2E3052"/>
                    </a:solidFill>
                    <a:latin typeface="Century Gothic"/>
                  </a:rPr>
                  <a:t>70</a:t>
                </a:r>
              </a:p>
            </p:txBody>
          </p:sp>
          <p:sp>
            <p:nvSpPr>
              <p:cNvPr id="32" name="Rectangle 31"/>
              <p:cNvSpPr/>
              <p:nvPr/>
            </p:nvSpPr>
            <p:spPr>
              <a:xfrm>
                <a:off x="7566768" y="1407035"/>
                <a:ext cx="709684" cy="1328689"/>
              </a:xfrm>
              <a:prstGeom prst="rect">
                <a:avLst/>
              </a:prstGeom>
              <a:solidFill>
                <a:schemeClr val="accent1">
                  <a:lumMod val="40000"/>
                  <a:lumOff val="60000"/>
                </a:schemeClr>
              </a:solidFill>
              <a:ln w="31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endParaRPr lang="en-GB" sz="2400">
                  <a:solidFill>
                    <a:prstClr val="white"/>
                  </a:solidFill>
                  <a:latin typeface="Century Gothic"/>
                </a:endParaRPr>
              </a:p>
            </p:txBody>
          </p:sp>
          <p:sp>
            <p:nvSpPr>
              <p:cNvPr id="34" name="Rectangle 33"/>
              <p:cNvSpPr/>
              <p:nvPr/>
            </p:nvSpPr>
            <p:spPr>
              <a:xfrm>
                <a:off x="7641831" y="1964211"/>
                <a:ext cx="559558" cy="23840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b="1">
                    <a:solidFill>
                      <a:srgbClr val="2E3052"/>
                    </a:solidFill>
                    <a:latin typeface="Century Gothic"/>
                  </a:rPr>
                  <a:t>400 - 800</a:t>
                </a:r>
              </a:p>
            </p:txBody>
          </p:sp>
          <p:sp>
            <p:nvSpPr>
              <p:cNvPr id="36" name="Rectangle 35"/>
              <p:cNvSpPr/>
              <p:nvPr/>
            </p:nvSpPr>
            <p:spPr>
              <a:xfrm>
                <a:off x="4506035" y="3677414"/>
                <a:ext cx="1034955" cy="24792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a:solidFill>
                      <a:srgbClr val="2E3052"/>
                    </a:solidFill>
                    <a:latin typeface="Century Gothic"/>
                  </a:rPr>
                  <a:t>Current </a:t>
                </a:r>
              </a:p>
              <a:p>
                <a:pPr algn="ctr" defTabSz="1219140">
                  <a:defRPr/>
                </a:pPr>
                <a:r>
                  <a:rPr lang="en-GB" sz="933">
                    <a:solidFill>
                      <a:srgbClr val="2E3052"/>
                    </a:solidFill>
                    <a:latin typeface="Century Gothic"/>
                  </a:rPr>
                  <a:t>Annual Lending</a:t>
                </a:r>
              </a:p>
            </p:txBody>
          </p:sp>
          <p:sp>
            <p:nvSpPr>
              <p:cNvPr id="37" name="Rectangle 36"/>
              <p:cNvSpPr/>
              <p:nvPr/>
            </p:nvSpPr>
            <p:spPr>
              <a:xfrm>
                <a:off x="6384115" y="3654659"/>
                <a:ext cx="1014476" cy="2706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a:solidFill>
                      <a:srgbClr val="2E3052"/>
                    </a:solidFill>
                    <a:latin typeface="Century Gothic"/>
                  </a:rPr>
                  <a:t>Adjust Gearing Ratio </a:t>
                </a:r>
              </a:p>
              <a:p>
                <a:pPr algn="ctr" defTabSz="1219140">
                  <a:defRPr/>
                </a:pPr>
                <a:r>
                  <a:rPr lang="en-GB" sz="933">
                    <a:solidFill>
                      <a:srgbClr val="2E3052"/>
                    </a:solidFill>
                    <a:latin typeface="Century Gothic"/>
                  </a:rPr>
                  <a:t>(1.5x)</a:t>
                </a:r>
              </a:p>
            </p:txBody>
          </p:sp>
          <p:sp>
            <p:nvSpPr>
              <p:cNvPr id="38" name="Rectangle 37"/>
              <p:cNvSpPr/>
              <p:nvPr/>
            </p:nvSpPr>
            <p:spPr>
              <a:xfrm>
                <a:off x="7398591" y="3671717"/>
                <a:ext cx="1103188" cy="25362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a:solidFill>
                      <a:srgbClr val="2E3052"/>
                    </a:solidFill>
                    <a:latin typeface="Century Gothic"/>
                  </a:rPr>
                  <a:t>Private Sector Leverage </a:t>
                </a:r>
              </a:p>
              <a:p>
                <a:pPr algn="ctr" defTabSz="1219140">
                  <a:defRPr/>
                </a:pPr>
                <a:r>
                  <a:rPr lang="en-GB" sz="933">
                    <a:solidFill>
                      <a:srgbClr val="2E3052"/>
                    </a:solidFill>
                    <a:latin typeface="Century Gothic"/>
                  </a:rPr>
                  <a:t>(2x - 4x)</a:t>
                </a:r>
              </a:p>
            </p:txBody>
          </p:sp>
          <p:sp>
            <p:nvSpPr>
              <p:cNvPr id="40" name="Rectangle 39"/>
              <p:cNvSpPr/>
              <p:nvPr/>
            </p:nvSpPr>
            <p:spPr>
              <a:xfrm>
                <a:off x="5570852" y="2992783"/>
                <a:ext cx="709684" cy="257944"/>
              </a:xfrm>
              <a:prstGeom prst="rect">
                <a:avLst/>
              </a:prstGeom>
              <a:solidFill>
                <a:schemeClr val="tx2">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endParaRPr lang="en-GB" sz="2400">
                  <a:solidFill>
                    <a:prstClr val="white"/>
                  </a:solidFill>
                  <a:latin typeface="Century Gothic"/>
                </a:endParaRPr>
              </a:p>
            </p:txBody>
          </p:sp>
          <p:sp>
            <p:nvSpPr>
              <p:cNvPr id="42" name="Rectangle 41"/>
              <p:cNvSpPr/>
              <p:nvPr/>
            </p:nvSpPr>
            <p:spPr>
              <a:xfrm>
                <a:off x="5465601" y="3632815"/>
                <a:ext cx="871013" cy="29252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a:solidFill>
                      <a:srgbClr val="2E3052"/>
                    </a:solidFill>
                    <a:latin typeface="Century Gothic"/>
                  </a:rPr>
                  <a:t>Increase Incremental Lending </a:t>
                </a:r>
              </a:p>
              <a:p>
                <a:pPr algn="ctr" defTabSz="1219140">
                  <a:defRPr/>
                </a:pPr>
                <a:r>
                  <a:rPr lang="en-GB" sz="933">
                    <a:solidFill>
                      <a:srgbClr val="2E3052"/>
                    </a:solidFill>
                    <a:latin typeface="Century Gothic"/>
                  </a:rPr>
                  <a:t>(2x)</a:t>
                </a:r>
              </a:p>
            </p:txBody>
          </p:sp>
          <p:sp>
            <p:nvSpPr>
              <p:cNvPr id="43" name="Rectangle 42"/>
              <p:cNvSpPr/>
              <p:nvPr/>
            </p:nvSpPr>
            <p:spPr>
              <a:xfrm>
                <a:off x="5645915" y="3030880"/>
                <a:ext cx="559558" cy="193782"/>
              </a:xfrm>
              <a:prstGeom prst="rect">
                <a:avLst/>
              </a:prstGeom>
              <a:solidFill>
                <a:schemeClr val="tx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b="1">
                    <a:solidFill>
                      <a:srgbClr val="2E3052"/>
                    </a:solidFill>
                    <a:latin typeface="Century Gothic"/>
                  </a:rPr>
                  <a:t>70</a:t>
                </a:r>
              </a:p>
            </p:txBody>
          </p:sp>
          <p:sp>
            <p:nvSpPr>
              <p:cNvPr id="45" name="Rectangle 44"/>
              <p:cNvSpPr/>
              <p:nvPr/>
            </p:nvSpPr>
            <p:spPr>
              <a:xfrm>
                <a:off x="6536511" y="2735724"/>
                <a:ext cx="709684" cy="257944"/>
              </a:xfrm>
              <a:prstGeom prst="rect">
                <a:avLst/>
              </a:prstGeom>
              <a:solidFill>
                <a:schemeClr val="tx2">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endParaRPr lang="en-GB" sz="2400">
                  <a:solidFill>
                    <a:prstClr val="white"/>
                  </a:solidFill>
                  <a:latin typeface="Century Gothic"/>
                </a:endParaRPr>
              </a:p>
            </p:txBody>
          </p:sp>
          <p:sp>
            <p:nvSpPr>
              <p:cNvPr id="46" name="Rectangle 45"/>
              <p:cNvSpPr/>
              <p:nvPr/>
            </p:nvSpPr>
            <p:spPr>
              <a:xfrm>
                <a:off x="6611574" y="2784102"/>
                <a:ext cx="559558" cy="185253"/>
              </a:xfrm>
              <a:prstGeom prst="rect">
                <a:avLst/>
              </a:prstGeom>
              <a:solidFill>
                <a:schemeClr val="tx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933" b="1">
                    <a:solidFill>
                      <a:srgbClr val="2E3052"/>
                    </a:solidFill>
                    <a:latin typeface="Century Gothic"/>
                  </a:rPr>
                  <a:t>70</a:t>
                </a:r>
              </a:p>
            </p:txBody>
          </p:sp>
          <p:cxnSp>
            <p:nvCxnSpPr>
              <p:cNvPr id="8" name="Straight Connector 7"/>
              <p:cNvCxnSpPr/>
              <p:nvPr/>
            </p:nvCxnSpPr>
            <p:spPr>
              <a:xfrm>
                <a:off x="1187368" y="3529951"/>
                <a:ext cx="756084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9" name="Rectangle 48"/>
            <p:cNvSpPr/>
            <p:nvPr/>
          </p:nvSpPr>
          <p:spPr>
            <a:xfrm>
              <a:off x="1187368" y="845142"/>
              <a:ext cx="1295258" cy="38555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140">
                <a:defRPr/>
              </a:pPr>
              <a:r>
                <a:rPr lang="en-GB" sz="1200" b="1" dirty="0">
                  <a:solidFill>
                    <a:srgbClr val="2E3052"/>
                  </a:solidFill>
                  <a:latin typeface="Century Gothic"/>
                </a:rPr>
                <a:t>Capital</a:t>
              </a:r>
            </a:p>
          </p:txBody>
        </p:sp>
        <p:sp>
          <p:nvSpPr>
            <p:cNvPr id="50" name="Rectangle 49"/>
            <p:cNvSpPr/>
            <p:nvPr/>
          </p:nvSpPr>
          <p:spPr>
            <a:xfrm>
              <a:off x="4421875" y="845142"/>
              <a:ext cx="1295258" cy="38555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140">
                <a:defRPr/>
              </a:pPr>
              <a:r>
                <a:rPr lang="en-GB" sz="1200" b="1" dirty="0">
                  <a:solidFill>
                    <a:srgbClr val="2E3052"/>
                  </a:solidFill>
                  <a:latin typeface="Century Gothic"/>
                </a:rPr>
                <a:t>Annual Lending</a:t>
              </a:r>
            </a:p>
          </p:txBody>
        </p:sp>
        <p:cxnSp>
          <p:nvCxnSpPr>
            <p:cNvPr id="52" name="Straight Connector 51"/>
            <p:cNvCxnSpPr/>
            <p:nvPr/>
          </p:nvCxnSpPr>
          <p:spPr>
            <a:xfrm>
              <a:off x="2121736" y="2599114"/>
              <a:ext cx="320728" cy="0"/>
            </a:xfrm>
            <a:prstGeom prst="line">
              <a:avLst/>
            </a:prstGeom>
            <a:ln w="0">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3152754" y="2389918"/>
              <a:ext cx="288758" cy="0"/>
            </a:xfrm>
            <a:prstGeom prst="line">
              <a:avLst/>
            </a:prstGeom>
            <a:ln w="0">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5388992" y="3257138"/>
              <a:ext cx="190226" cy="0"/>
            </a:xfrm>
            <a:prstGeom prst="line">
              <a:avLst/>
            </a:prstGeom>
            <a:ln w="0">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6280536" y="2994715"/>
              <a:ext cx="258170" cy="0"/>
            </a:xfrm>
            <a:prstGeom prst="line">
              <a:avLst/>
            </a:prstGeom>
            <a:ln w="0">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7247752" y="2735724"/>
              <a:ext cx="320728" cy="0"/>
            </a:xfrm>
            <a:prstGeom prst="line">
              <a:avLst/>
            </a:prstGeom>
            <a:ln w="0">
              <a:prstDash val="dash"/>
            </a:ln>
          </p:spPr>
          <p:style>
            <a:lnRef idx="1">
              <a:schemeClr val="accent1"/>
            </a:lnRef>
            <a:fillRef idx="0">
              <a:schemeClr val="accent1"/>
            </a:fillRef>
            <a:effectRef idx="0">
              <a:schemeClr val="accent1"/>
            </a:effectRef>
            <a:fontRef idx="minor">
              <a:schemeClr val="tx1"/>
            </a:fontRef>
          </p:style>
        </p:cxnSp>
      </p:grpSp>
      <p:sp>
        <p:nvSpPr>
          <p:cNvPr id="44" name="Rectangle 43"/>
          <p:cNvSpPr/>
          <p:nvPr/>
        </p:nvSpPr>
        <p:spPr>
          <a:xfrm>
            <a:off x="515940" y="5290085"/>
            <a:ext cx="11429474" cy="770419"/>
          </a:xfrm>
          <a:prstGeom prst="rect">
            <a:avLst/>
          </a:prstGeom>
          <a:solidFill>
            <a:schemeClr val="tx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r>
              <a:rPr lang="en-GB" sz="1600" b="1" dirty="0">
                <a:solidFill>
                  <a:srgbClr val="2E3052"/>
                </a:solidFill>
                <a:latin typeface="Century Gothic"/>
              </a:rPr>
              <a:t>The  MDBs have a crucial role to play in helping reduce government-induced risk through the use of their instruments (global equity, long-term loans, and guarantees), thereby reducing the cost of capital. They also bring trust and convening power in supporting projects and platforms.</a:t>
            </a:r>
          </a:p>
        </p:txBody>
      </p:sp>
      <p:sp>
        <p:nvSpPr>
          <p:cNvPr id="3" name="TextBox 2"/>
          <p:cNvSpPr txBox="1"/>
          <p:nvPr/>
        </p:nvSpPr>
        <p:spPr>
          <a:xfrm>
            <a:off x="537858" y="6124696"/>
            <a:ext cx="11429475" cy="584775"/>
          </a:xfrm>
          <a:prstGeom prst="rect">
            <a:avLst/>
          </a:prstGeom>
          <a:solidFill>
            <a:schemeClr val="accent1">
              <a:lumMod val="20000"/>
              <a:lumOff val="80000"/>
            </a:schemeClr>
          </a:solidFill>
        </p:spPr>
        <p:txBody>
          <a:bodyPr wrap="square" rtlCol="0">
            <a:spAutoFit/>
          </a:bodyPr>
          <a:lstStyle/>
          <a:p>
            <a:pPr algn="ctr" defTabSz="914377">
              <a:defRPr/>
            </a:pPr>
            <a:r>
              <a:rPr lang="en-GB" sz="1600" b="1" dirty="0">
                <a:solidFill>
                  <a:srgbClr val="2E3052"/>
                </a:solidFill>
                <a:latin typeface="Century Gothic"/>
              </a:rPr>
              <a:t>Need better utilization of capital, more capital, and higher private sector multipliers to deliver necessary scale of finance</a:t>
            </a:r>
            <a:r>
              <a:rPr lang="en-US" sz="1600" dirty="0">
                <a:solidFill>
                  <a:srgbClr val="2E3052"/>
                </a:solidFill>
                <a:latin typeface="Brown"/>
              </a:rPr>
              <a:t>.</a:t>
            </a:r>
            <a:endParaRPr lang="en-GB" sz="1600" dirty="0">
              <a:solidFill>
                <a:srgbClr val="2E3052"/>
              </a:solidFill>
              <a:latin typeface="Brown"/>
            </a:endParaRPr>
          </a:p>
        </p:txBody>
      </p:sp>
      <p:sp>
        <p:nvSpPr>
          <p:cNvPr id="5" name="Title 1">
            <a:extLst>
              <a:ext uri="{FF2B5EF4-FFF2-40B4-BE49-F238E27FC236}">
                <a16:creationId xmlns:a16="http://schemas.microsoft.com/office/drawing/2014/main" id="{1684CD92-2302-9ED9-E008-B9789521860B}"/>
              </a:ext>
            </a:extLst>
          </p:cNvPr>
          <p:cNvSpPr txBox="1">
            <a:spLocks/>
          </p:cNvSpPr>
          <p:nvPr/>
        </p:nvSpPr>
        <p:spPr>
          <a:xfrm>
            <a:off x="411886" y="82196"/>
            <a:ext cx="11532915" cy="102800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900" b="1" dirty="0">
                <a:solidFill>
                  <a:srgbClr val="37546C"/>
                </a:solidFill>
                <a:latin typeface="Century Gothic" panose="020B0502020202020204" pitchFamily="34" charset="0"/>
              </a:rPr>
              <a:t>Development banks can play a key role to moving from “billions” to “trillions” to finance a big push investment strategy</a:t>
            </a:r>
          </a:p>
        </p:txBody>
      </p:sp>
    </p:spTree>
    <p:extLst>
      <p:ext uri="{BB962C8B-B14F-4D97-AF65-F5344CB8AC3E}">
        <p14:creationId xmlns:p14="http://schemas.microsoft.com/office/powerpoint/2010/main" val="4175350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BB32C7B-E374-E3F5-D8DB-0997486B260E}"/>
              </a:ext>
            </a:extLst>
          </p:cNvPr>
          <p:cNvSpPr txBox="1">
            <a:spLocks noChangeArrowheads="1"/>
          </p:cNvSpPr>
          <p:nvPr/>
        </p:nvSpPr>
        <p:spPr bwMode="auto">
          <a:xfrm>
            <a:off x="699714" y="353160"/>
            <a:ext cx="7091300" cy="898581"/>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b="1" dirty="0">
                <a:solidFill>
                  <a:srgbClr val="FFFFFF"/>
                </a:solidFill>
                <a:latin typeface="+mj-lt"/>
                <a:ea typeface="+mj-ea"/>
                <a:cs typeface="+mj-cs"/>
                <a:sym typeface="Roboto Slab"/>
              </a:rPr>
              <a:t>Members of the Independent High-Level Expert Group on Climate Finance</a:t>
            </a:r>
            <a:endParaRPr kumimoji="0" lang="en-US" altLang="en-US" sz="2800" b="1" i="0" u="none" strike="noStrike" cap="none" spc="0" normalizeH="0" baseline="0" noProof="0" dirty="0">
              <a:ln>
                <a:noFill/>
              </a:ln>
              <a:solidFill>
                <a:srgbClr val="FFFFFF"/>
              </a:solidFill>
              <a:effectLst/>
              <a:uLnTx/>
              <a:uFillTx/>
              <a:latin typeface="+mj-lt"/>
              <a:ea typeface="+mj-ea"/>
              <a:cs typeface="+mj-cs"/>
            </a:endParaRPr>
          </a:p>
        </p:txBody>
      </p:sp>
      <p:sp>
        <p:nvSpPr>
          <p:cNvPr id="46" name="Title 1">
            <a:extLst>
              <a:ext uri="{FF2B5EF4-FFF2-40B4-BE49-F238E27FC236}">
                <a16:creationId xmlns:a16="http://schemas.microsoft.com/office/drawing/2014/main" id="{D6341A84-152F-BB7A-4D8D-148CA51CF28D}"/>
              </a:ext>
            </a:extLst>
          </p:cNvPr>
          <p:cNvSpPr txBox="1">
            <a:spLocks/>
          </p:cNvSpPr>
          <p:nvPr/>
        </p:nvSpPr>
        <p:spPr>
          <a:xfrm>
            <a:off x="414608" y="238676"/>
            <a:ext cx="10549646" cy="102800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37546C"/>
                </a:solidFill>
                <a:latin typeface="Century Gothic" panose="020B0502020202020204" pitchFamily="34" charset="0"/>
              </a:rPr>
              <a:t>Scaling up concessional finance is critical</a:t>
            </a:r>
          </a:p>
        </p:txBody>
      </p:sp>
      <p:sp>
        <p:nvSpPr>
          <p:cNvPr id="2" name="Content Placeholder 2">
            <a:extLst>
              <a:ext uri="{FF2B5EF4-FFF2-40B4-BE49-F238E27FC236}">
                <a16:creationId xmlns:a16="http://schemas.microsoft.com/office/drawing/2014/main" id="{3F2C6343-A254-94D2-4F10-FA4E20C81D9E}"/>
              </a:ext>
            </a:extLst>
          </p:cNvPr>
          <p:cNvSpPr txBox="1">
            <a:spLocks/>
          </p:cNvSpPr>
          <p:nvPr/>
        </p:nvSpPr>
        <p:spPr>
          <a:xfrm>
            <a:off x="417513" y="1280316"/>
            <a:ext cx="11510962" cy="5164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Donors must: </a:t>
            </a:r>
          </a:p>
          <a:p>
            <a:pPr lvl="1">
              <a:lnSpc>
                <a:spcPct val="100000"/>
              </a:lnSpc>
              <a:spcBef>
                <a:spcPct val="0"/>
              </a:spcBef>
              <a:spcAft>
                <a:spcPts val="1200"/>
              </a:spcAft>
              <a:buFont typeface="Wingdings" panose="05000000000000000000" pitchFamily="2" charset="2"/>
              <a:buChar char="ü"/>
            </a:pPr>
            <a:r>
              <a:rPr lang="en-US" sz="1700" dirty="0">
                <a:solidFill>
                  <a:srgbClr val="37546C"/>
                </a:solidFill>
                <a:latin typeface="Century Gothic" panose="020B0502020202020204" pitchFamily="34" charset="0"/>
                <a:ea typeface="+mj-ea"/>
                <a:cs typeface="+mj-cs"/>
              </a:rPr>
              <a:t>double </a:t>
            </a:r>
            <a:r>
              <a:rPr lang="en-US" sz="1700" b="1" dirty="0">
                <a:solidFill>
                  <a:srgbClr val="37546C"/>
                </a:solidFill>
                <a:latin typeface="Century Gothic" panose="020B0502020202020204" pitchFamily="34" charset="0"/>
                <a:ea typeface="+mj-ea"/>
                <a:cs typeface="+mj-cs"/>
              </a:rPr>
              <a:t>bilateral climate finance </a:t>
            </a:r>
            <a:r>
              <a:rPr lang="en-US" sz="1700" dirty="0">
                <a:solidFill>
                  <a:srgbClr val="37546C"/>
                </a:solidFill>
                <a:latin typeface="Century Gothic" panose="020B0502020202020204" pitchFamily="34" charset="0"/>
                <a:ea typeface="+mj-ea"/>
                <a:cs typeface="+mj-cs"/>
              </a:rPr>
              <a:t>to $60 billion by 2025 from its 2020 level.</a:t>
            </a:r>
          </a:p>
          <a:p>
            <a:pPr lvl="1">
              <a:lnSpc>
                <a:spcPct val="100000"/>
              </a:lnSpc>
              <a:spcBef>
                <a:spcPct val="0"/>
              </a:spcBef>
              <a:spcAft>
                <a:spcPts val="1200"/>
              </a:spcAft>
              <a:buFont typeface="Wingdings" panose="05000000000000000000" pitchFamily="2" charset="2"/>
              <a:buChar char="ü"/>
            </a:pPr>
            <a:r>
              <a:rPr lang="en-US" sz="1700" dirty="0">
                <a:solidFill>
                  <a:srgbClr val="37546C"/>
                </a:solidFill>
                <a:latin typeface="Century Gothic" panose="020B0502020202020204" pitchFamily="34" charset="0"/>
                <a:ea typeface="+mj-ea"/>
                <a:cs typeface="+mj-cs"/>
              </a:rPr>
              <a:t>rapidly scale up their commitment to </a:t>
            </a:r>
            <a:r>
              <a:rPr lang="en-US" sz="1700" b="1" dirty="0">
                <a:solidFill>
                  <a:srgbClr val="37546C"/>
                </a:solidFill>
                <a:latin typeface="Century Gothic" panose="020B0502020202020204" pitchFamily="34" charset="0"/>
                <a:ea typeface="+mj-ea"/>
                <a:cs typeface="+mj-cs"/>
              </a:rPr>
              <a:t>adaptation finance </a:t>
            </a:r>
            <a:r>
              <a:rPr lang="en-US" sz="1700" dirty="0">
                <a:solidFill>
                  <a:srgbClr val="37546C"/>
                </a:solidFill>
                <a:latin typeface="Century Gothic" panose="020B0502020202020204" pitchFamily="34" charset="0"/>
                <a:ea typeface="+mj-ea"/>
                <a:cs typeface="+mj-cs"/>
              </a:rPr>
              <a:t>in line with the Delivery Plan.</a:t>
            </a:r>
          </a:p>
          <a:p>
            <a:pPr lvl="1">
              <a:lnSpc>
                <a:spcPct val="100000"/>
              </a:lnSpc>
              <a:spcBef>
                <a:spcPct val="0"/>
              </a:spcBef>
              <a:spcAft>
                <a:spcPts val="1200"/>
              </a:spcAft>
              <a:buFont typeface="Wingdings" panose="05000000000000000000" pitchFamily="2" charset="2"/>
              <a:buChar char="ü"/>
            </a:pPr>
            <a:r>
              <a:rPr lang="en-US" sz="1700" dirty="0">
                <a:solidFill>
                  <a:srgbClr val="37546C"/>
                </a:solidFill>
                <a:latin typeface="Century Gothic" panose="020B0502020202020204" pitchFamily="34" charset="0"/>
                <a:ea typeface="+mj-ea"/>
                <a:cs typeface="+mj-cs"/>
              </a:rPr>
              <a:t>enhance their support to the </a:t>
            </a:r>
            <a:r>
              <a:rPr lang="en-US" sz="1700" b="1" dirty="0">
                <a:solidFill>
                  <a:srgbClr val="37546C"/>
                </a:solidFill>
                <a:latin typeface="Century Gothic" panose="020B0502020202020204" pitchFamily="34" charset="0"/>
                <a:ea typeface="+mj-ea"/>
                <a:cs typeface="+mj-cs"/>
              </a:rPr>
              <a:t>multilateral concessional</a:t>
            </a:r>
            <a:r>
              <a:rPr lang="en-US" sz="1700" dirty="0">
                <a:solidFill>
                  <a:srgbClr val="37546C"/>
                </a:solidFill>
                <a:latin typeface="Century Gothic" panose="020B0502020202020204" pitchFamily="34" charset="0"/>
                <a:ea typeface="+mj-ea"/>
                <a:cs typeface="+mj-cs"/>
              </a:rPr>
              <a:t> climate-related funds.</a:t>
            </a:r>
          </a:p>
          <a:p>
            <a:pPr lvl="1">
              <a:lnSpc>
                <a:spcPct val="100000"/>
              </a:lnSpc>
              <a:spcBef>
                <a:spcPct val="0"/>
              </a:spcBef>
              <a:spcAft>
                <a:spcPts val="1200"/>
              </a:spcAft>
              <a:buFont typeface="Wingdings" panose="05000000000000000000" pitchFamily="2" charset="2"/>
              <a:buChar char="ü"/>
            </a:pPr>
            <a:r>
              <a:rPr lang="en-US" sz="1700" dirty="0">
                <a:solidFill>
                  <a:srgbClr val="37546C"/>
                </a:solidFill>
                <a:latin typeface="Century Gothic" panose="020B0502020202020204" pitchFamily="34" charset="0"/>
                <a:ea typeface="+mj-ea"/>
                <a:cs typeface="+mj-cs"/>
              </a:rPr>
              <a:t>Improve effectiveness and alignment with country priorities, access and transparency</a:t>
            </a:r>
          </a:p>
          <a:p>
            <a:pPr>
              <a:lnSpc>
                <a:spcPct val="100000"/>
              </a:lnSpc>
              <a:spcBef>
                <a:spcPct val="0"/>
              </a:spcBef>
              <a:spcAft>
                <a:spcPts val="1200"/>
              </a:spcAft>
            </a:pPr>
            <a:r>
              <a:rPr lang="en-US" sz="1700" dirty="0">
                <a:solidFill>
                  <a:srgbClr val="37546C"/>
                </a:solidFill>
                <a:latin typeface="Century Gothic" panose="020B0502020202020204" pitchFamily="34" charset="0"/>
                <a:ea typeface="+mj-ea"/>
                <a:cs typeface="+mj-cs"/>
              </a:rPr>
              <a:t>Expand the envelope of low-cost finance: </a:t>
            </a:r>
          </a:p>
          <a:p>
            <a:pPr lvl="1">
              <a:lnSpc>
                <a:spcPct val="100000"/>
              </a:lnSpc>
              <a:spcBef>
                <a:spcPct val="0"/>
              </a:spcBef>
              <a:spcAft>
                <a:spcPts val="1200"/>
              </a:spcAft>
              <a:buFont typeface="Wingdings" panose="05000000000000000000" pitchFamily="2" charset="2"/>
              <a:buChar char="ü"/>
            </a:pPr>
            <a:r>
              <a:rPr lang="en-US" sz="1700" b="1" dirty="0">
                <a:solidFill>
                  <a:srgbClr val="37546C"/>
                </a:solidFill>
                <a:latin typeface="Century Gothic" panose="020B0502020202020204" pitchFamily="34" charset="0"/>
                <a:ea typeface="+mj-ea"/>
                <a:cs typeface="+mj-cs"/>
              </a:rPr>
              <a:t>Augment the use of special drawing rights </a:t>
            </a:r>
            <a:r>
              <a:rPr lang="en-US" sz="1700" dirty="0">
                <a:solidFill>
                  <a:srgbClr val="37546C"/>
                </a:solidFill>
                <a:latin typeface="Century Gothic" panose="020B0502020202020204" pitchFamily="34" charset="0"/>
                <a:ea typeface="+mj-ea"/>
                <a:cs typeface="+mj-cs"/>
              </a:rPr>
              <a:t>(SDRs) for climate finance by bolstering further the Resilience and Sustainability Trust; modernize the architecture for rechanneling SDRs; augment the pool of SDRs through regular issuance; expand channels for use including MDBs; and leverage SDRs to catalyze private finance. </a:t>
            </a:r>
          </a:p>
          <a:p>
            <a:pPr lvl="1">
              <a:lnSpc>
                <a:spcPct val="100000"/>
              </a:lnSpc>
              <a:spcBef>
                <a:spcPct val="0"/>
              </a:spcBef>
              <a:spcAft>
                <a:spcPts val="1200"/>
              </a:spcAft>
              <a:buFont typeface="Wingdings" panose="05000000000000000000" pitchFamily="2" charset="2"/>
              <a:buChar char="ü"/>
            </a:pPr>
            <a:r>
              <a:rPr lang="en-US" sz="1700" b="1" dirty="0">
                <a:solidFill>
                  <a:srgbClr val="37546C"/>
                </a:solidFill>
                <a:latin typeface="Century Gothic" panose="020B0502020202020204" pitchFamily="34" charset="0"/>
                <a:ea typeface="+mj-ea"/>
                <a:cs typeface="+mj-cs"/>
              </a:rPr>
              <a:t>Tap voluntary and compliance carbon markets </a:t>
            </a:r>
            <a:r>
              <a:rPr lang="en-US" sz="1700" dirty="0">
                <a:solidFill>
                  <a:srgbClr val="37546C"/>
                </a:solidFill>
                <a:latin typeface="Century Gothic" panose="020B0502020202020204" pitchFamily="34" charset="0"/>
                <a:ea typeface="+mj-ea"/>
                <a:cs typeface="+mj-cs"/>
              </a:rPr>
              <a:t>for priorities such as restoration of forests, peatlands and degraded land and the accelerated phase-out of coal. </a:t>
            </a:r>
          </a:p>
          <a:p>
            <a:pPr lvl="1">
              <a:lnSpc>
                <a:spcPct val="100000"/>
              </a:lnSpc>
              <a:spcBef>
                <a:spcPct val="0"/>
              </a:spcBef>
              <a:spcAft>
                <a:spcPts val="1200"/>
              </a:spcAft>
              <a:buFont typeface="Wingdings" panose="05000000000000000000" pitchFamily="2" charset="2"/>
              <a:buChar char="ü"/>
            </a:pPr>
            <a:r>
              <a:rPr lang="en-US" sz="1700" b="1" dirty="0">
                <a:solidFill>
                  <a:srgbClr val="37546C"/>
                </a:solidFill>
                <a:latin typeface="Century Gothic" panose="020B0502020202020204" pitchFamily="34" charset="0"/>
                <a:ea typeface="+mj-ea"/>
                <a:cs typeface="+mj-cs"/>
              </a:rPr>
              <a:t>Create an International Financing Facility </a:t>
            </a:r>
            <a:r>
              <a:rPr lang="en-US" sz="1700" dirty="0">
                <a:solidFill>
                  <a:srgbClr val="37546C"/>
                </a:solidFill>
                <a:latin typeface="Century Gothic" panose="020B0502020202020204" pitchFamily="34" charset="0"/>
                <a:ea typeface="+mj-ea"/>
                <a:cs typeface="+mj-cs"/>
              </a:rPr>
              <a:t>like mechanisms for climate and nature.</a:t>
            </a:r>
          </a:p>
          <a:p>
            <a:pPr lvl="1">
              <a:lnSpc>
                <a:spcPct val="100000"/>
              </a:lnSpc>
              <a:spcBef>
                <a:spcPct val="0"/>
              </a:spcBef>
              <a:spcAft>
                <a:spcPts val="1200"/>
              </a:spcAft>
              <a:buFont typeface="Wingdings" panose="05000000000000000000" pitchFamily="2" charset="2"/>
              <a:buChar char="ü"/>
            </a:pPr>
            <a:r>
              <a:rPr lang="en-US" sz="1700" b="1" dirty="0">
                <a:solidFill>
                  <a:srgbClr val="37546C"/>
                </a:solidFill>
                <a:latin typeface="Century Gothic" panose="020B0502020202020204" pitchFamily="34" charset="0"/>
                <a:ea typeface="+mj-ea"/>
                <a:cs typeface="+mj-cs"/>
              </a:rPr>
              <a:t>Leverage the growing flows of private philanthropy</a:t>
            </a:r>
            <a:r>
              <a:rPr lang="en-US" sz="1700" dirty="0">
                <a:solidFill>
                  <a:srgbClr val="37546C"/>
                </a:solidFill>
                <a:latin typeface="Century Gothic" panose="020B0502020202020204" pitchFamily="34" charset="0"/>
                <a:ea typeface="+mj-ea"/>
                <a:cs typeface="+mj-cs"/>
              </a:rPr>
              <a:t> </a:t>
            </a:r>
          </a:p>
          <a:p>
            <a:pPr marL="457200" lvl="1" indent="0">
              <a:lnSpc>
                <a:spcPct val="100000"/>
              </a:lnSpc>
              <a:spcBef>
                <a:spcPct val="0"/>
              </a:spcBef>
              <a:spcAft>
                <a:spcPts val="1200"/>
              </a:spcAft>
              <a:buNone/>
            </a:pPr>
            <a:endParaRPr lang="en-US" sz="17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marL="457200" lvl="1" indent="0">
              <a:spcBef>
                <a:spcPct val="0"/>
              </a:spcBef>
              <a:buNone/>
            </a:pPr>
            <a:endParaRPr lang="en-US" sz="1400" dirty="0">
              <a:solidFill>
                <a:srgbClr val="37546C"/>
              </a:solidFill>
              <a:latin typeface="Century Gothic" panose="020B0502020202020204" pitchFamily="34" charset="0"/>
              <a:ea typeface="+mj-ea"/>
              <a:cs typeface="+mj-cs"/>
            </a:endParaRPr>
          </a:p>
          <a:p>
            <a:pPr marL="0" indent="0">
              <a:spcBef>
                <a:spcPct val="0"/>
              </a:spcBef>
              <a:buNone/>
            </a:pPr>
            <a:endParaRPr lang="en-US" sz="1800" dirty="0">
              <a:solidFill>
                <a:srgbClr val="37546C"/>
              </a:solidFill>
              <a:latin typeface="Century Gothic" panose="020B0502020202020204" pitchFamily="34" charset="0"/>
              <a:ea typeface="+mj-ea"/>
              <a:cs typeface="+mj-cs"/>
            </a:endParaRPr>
          </a:p>
          <a:p>
            <a:endParaRPr lang="en-US" sz="1800" b="1" dirty="0">
              <a:solidFill>
                <a:srgbClr val="37546C"/>
              </a:solidFill>
              <a:latin typeface="Century Gothic" panose="020B0502020202020204" pitchFamily="34" charset="0"/>
              <a:ea typeface="+mj-ea"/>
              <a:cs typeface="+mj-cs"/>
            </a:endParaRPr>
          </a:p>
          <a:p>
            <a:endParaRPr lang="en-US" sz="1800" dirty="0"/>
          </a:p>
        </p:txBody>
      </p:sp>
    </p:spTree>
    <p:extLst>
      <p:ext uri="{BB962C8B-B14F-4D97-AF65-F5344CB8AC3E}">
        <p14:creationId xmlns:p14="http://schemas.microsoft.com/office/powerpoint/2010/main" val="2609025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BE57-3129-74B2-09E8-D6BABC290976}"/>
              </a:ext>
            </a:extLst>
          </p:cNvPr>
          <p:cNvSpPr>
            <a:spLocks noGrp="1"/>
          </p:cNvSpPr>
          <p:nvPr>
            <p:ph type="title"/>
          </p:nvPr>
        </p:nvSpPr>
        <p:spPr>
          <a:xfrm>
            <a:off x="412557" y="238677"/>
            <a:ext cx="11515917" cy="618286"/>
          </a:xfrm>
        </p:spPr>
        <p:txBody>
          <a:bodyPr>
            <a:noAutofit/>
          </a:bodyPr>
          <a:lstStyle/>
          <a:p>
            <a:r>
              <a:rPr lang="en-US" sz="3200" b="1" dirty="0">
                <a:solidFill>
                  <a:srgbClr val="37546C"/>
                </a:solidFill>
                <a:latin typeface="Century Gothic" panose="020B0502020202020204" pitchFamily="34" charset="0"/>
              </a:rPr>
              <a:t>A “Grand Match” to deliver on scale of finance needed</a:t>
            </a:r>
          </a:p>
        </p:txBody>
      </p:sp>
      <p:sp>
        <p:nvSpPr>
          <p:cNvPr id="11" name="TextBox 10">
            <a:extLst>
              <a:ext uri="{FF2B5EF4-FFF2-40B4-BE49-F238E27FC236}">
                <a16:creationId xmlns:a16="http://schemas.microsoft.com/office/drawing/2014/main" id="{2025CC2A-42E7-3BCC-9B1A-42CFE07A9200}"/>
              </a:ext>
            </a:extLst>
          </p:cNvPr>
          <p:cNvSpPr txBox="1"/>
          <p:nvPr/>
        </p:nvSpPr>
        <p:spPr>
          <a:xfrm>
            <a:off x="416670" y="1103612"/>
            <a:ext cx="11632900" cy="338554"/>
          </a:xfrm>
          <a:prstGeom prst="rect">
            <a:avLst/>
          </a:prstGeom>
          <a:noFill/>
        </p:spPr>
        <p:txBody>
          <a:bodyPr wrap="square" rtlCol="0">
            <a:spAutoFit/>
          </a:bodyPr>
          <a:lstStyle/>
          <a:p>
            <a:r>
              <a:rPr lang="en-US" sz="1600" dirty="0">
                <a:latin typeface="Century Gothic" panose="020B0502020202020204" pitchFamily="34" charset="0"/>
              </a:rPr>
              <a:t>Grand-match financing strategy – incremental finance needed between 2019 and 2025 (billions 2019 US$)</a:t>
            </a:r>
          </a:p>
        </p:txBody>
      </p:sp>
      <p:cxnSp>
        <p:nvCxnSpPr>
          <p:cNvPr id="13" name="Straight Connector 12">
            <a:extLst>
              <a:ext uri="{FF2B5EF4-FFF2-40B4-BE49-F238E27FC236}">
                <a16:creationId xmlns:a16="http://schemas.microsoft.com/office/drawing/2014/main" id="{953B9BAD-00FD-2BCE-2915-BEA37AC63F63}"/>
              </a:ext>
            </a:extLst>
          </p:cNvPr>
          <p:cNvCxnSpPr>
            <a:cxnSpLocks/>
          </p:cNvCxnSpPr>
          <p:nvPr/>
        </p:nvCxnSpPr>
        <p:spPr>
          <a:xfrm>
            <a:off x="515938" y="1462309"/>
            <a:ext cx="10424205"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94E5034-68CF-D46D-0011-4DD1175951DD}"/>
              </a:ext>
            </a:extLst>
          </p:cNvPr>
          <p:cNvSpPr txBox="1"/>
          <p:nvPr/>
        </p:nvSpPr>
        <p:spPr>
          <a:xfrm>
            <a:off x="2051537" y="5933699"/>
            <a:ext cx="4076344" cy="246221"/>
          </a:xfrm>
          <a:prstGeom prst="rect">
            <a:avLst/>
          </a:prstGeom>
          <a:noFill/>
        </p:spPr>
        <p:txBody>
          <a:bodyPr wrap="square">
            <a:spAutoFit/>
          </a:bodyPr>
          <a:lstStyle/>
          <a:p>
            <a:r>
              <a:rPr kumimoji="0" lang="fr-FR" sz="1000" b="1" i="0" u="none" strike="noStrike" kern="1200" cap="none" spc="0" normalizeH="0" baseline="0" noProof="0" dirty="0">
                <a:ln>
                  <a:noFill/>
                </a:ln>
                <a:effectLst/>
                <a:uLnTx/>
                <a:uFillTx/>
                <a:latin typeface="Century Gothic"/>
                <a:ea typeface="+mn-ea"/>
                <a:cs typeface="+mn-cs"/>
              </a:rPr>
              <a:t>Source</a:t>
            </a:r>
            <a:r>
              <a:rPr kumimoji="0" lang="fr-FR" sz="1000" b="0" i="0" u="none" strike="noStrike" kern="1200" cap="none" spc="0" normalizeH="0" baseline="0" noProof="0" dirty="0">
                <a:ln>
                  <a:noFill/>
                </a:ln>
                <a:effectLst/>
                <a:uLnTx/>
                <a:uFillTx/>
                <a:latin typeface="Century Gothic"/>
                <a:ea typeface="+mn-ea"/>
                <a:cs typeface="+mn-cs"/>
              </a:rPr>
              <a:t>: </a:t>
            </a:r>
            <a:r>
              <a:rPr lang="fr-FR" sz="1000" dirty="0" err="1">
                <a:latin typeface="Century Gothic"/>
              </a:rPr>
              <a:t>Bhattacharya</a:t>
            </a:r>
            <a:r>
              <a:rPr lang="fr-FR" sz="1000" dirty="0">
                <a:latin typeface="Century Gothic"/>
              </a:rPr>
              <a:t> et al. (2022)</a:t>
            </a:r>
            <a:endParaRPr kumimoji="0" lang="en-GB" sz="1000" b="0" i="0" u="none" strike="noStrike" kern="1200" cap="none" spc="0" normalizeH="0" baseline="0" noProof="0" dirty="0">
              <a:ln>
                <a:noFill/>
              </a:ln>
              <a:effectLst/>
              <a:uLnTx/>
              <a:uFillTx/>
              <a:latin typeface="Century Gothic"/>
              <a:ea typeface="+mn-ea"/>
              <a:cs typeface="+mn-cs"/>
            </a:endParaRPr>
          </a:p>
        </p:txBody>
      </p:sp>
      <p:sp>
        <p:nvSpPr>
          <p:cNvPr id="8" name="TextBox 7">
            <a:extLst>
              <a:ext uri="{FF2B5EF4-FFF2-40B4-BE49-F238E27FC236}">
                <a16:creationId xmlns:a16="http://schemas.microsoft.com/office/drawing/2014/main" id="{CAAD7924-8031-5461-860D-1A215781EC90}"/>
              </a:ext>
            </a:extLst>
          </p:cNvPr>
          <p:cNvSpPr txBox="1"/>
          <p:nvPr/>
        </p:nvSpPr>
        <p:spPr>
          <a:xfrm>
            <a:off x="515938" y="6280769"/>
            <a:ext cx="11415114" cy="338552"/>
          </a:xfrm>
          <a:prstGeom prst="rect">
            <a:avLst/>
          </a:prstGeom>
          <a:solidFill>
            <a:schemeClr val="tx2">
              <a:lumMod val="20000"/>
              <a:lumOff val="80000"/>
            </a:schemeClr>
          </a:solidFill>
          <a:ln>
            <a:noFill/>
          </a:ln>
        </p:spPr>
        <p:txBody>
          <a:bodyPr wrap="square">
            <a:spAutoFit/>
          </a:bodyPr>
          <a:lstStyle>
            <a:defPPr>
              <a:defRPr lang="en-US"/>
            </a:defPPr>
            <a:lvl1pPr marR="0" lvl="0" indent="0" algn="ctr" defTabSz="1219170" fontAlgn="auto">
              <a:lnSpc>
                <a:spcPct val="100000"/>
              </a:lnSpc>
              <a:spcBef>
                <a:spcPts val="0"/>
              </a:spcBef>
              <a:spcAft>
                <a:spcPts val="1600"/>
              </a:spcAft>
              <a:buClrTx/>
              <a:buSzTx/>
              <a:buFontTx/>
              <a:buNone/>
              <a:tabLst/>
              <a:defRPr kumimoji="0" sz="1333" b="1" i="0" u="none" strike="noStrike" cap="none" spc="0" normalizeH="0" baseline="0">
                <a:ln>
                  <a:noFill/>
                </a:ln>
                <a:solidFill>
                  <a:srgbClr val="2E3052"/>
                </a:solidFill>
                <a:effectLst/>
                <a:uLnTx/>
                <a:uFillTx/>
                <a:latin typeface="Century Gothic"/>
              </a:defRPr>
            </a:lvl1pPr>
          </a:lstStyle>
          <a:p>
            <a:pPr>
              <a:defRPr/>
            </a:pPr>
            <a:r>
              <a:rPr lang="en-GB" sz="1600" dirty="0"/>
              <a:t>A sustained effort to boost financing from all sources must start now given the urgency of the climate challenge.</a:t>
            </a:r>
          </a:p>
        </p:txBody>
      </p:sp>
      <p:pic>
        <p:nvPicPr>
          <p:cNvPr id="4" name="Picture 3">
            <a:extLst>
              <a:ext uri="{FF2B5EF4-FFF2-40B4-BE49-F238E27FC236}">
                <a16:creationId xmlns:a16="http://schemas.microsoft.com/office/drawing/2014/main" id="{2E9D57C5-39FF-A8AD-0D6E-5BA65BB0707B}"/>
              </a:ext>
            </a:extLst>
          </p:cNvPr>
          <p:cNvPicPr>
            <a:picLocks noChangeAspect="1"/>
          </p:cNvPicPr>
          <p:nvPr/>
        </p:nvPicPr>
        <p:blipFill>
          <a:blip r:embed="rId3"/>
          <a:stretch>
            <a:fillRect/>
          </a:stretch>
        </p:blipFill>
        <p:spPr>
          <a:xfrm>
            <a:off x="1686157" y="1622919"/>
            <a:ext cx="8511947" cy="4310771"/>
          </a:xfrm>
          <a:prstGeom prst="rect">
            <a:avLst/>
          </a:prstGeom>
        </p:spPr>
      </p:pic>
    </p:spTree>
    <p:extLst>
      <p:ext uri="{BB962C8B-B14F-4D97-AF65-F5344CB8AC3E}">
        <p14:creationId xmlns:p14="http://schemas.microsoft.com/office/powerpoint/2010/main" val="1141185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BB32C7B-E374-E3F5-D8DB-0997486B260E}"/>
              </a:ext>
            </a:extLst>
          </p:cNvPr>
          <p:cNvSpPr txBox="1">
            <a:spLocks noChangeArrowheads="1"/>
          </p:cNvSpPr>
          <p:nvPr/>
        </p:nvSpPr>
        <p:spPr bwMode="auto">
          <a:xfrm>
            <a:off x="699714" y="353160"/>
            <a:ext cx="7091300" cy="898581"/>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b="1" dirty="0">
                <a:solidFill>
                  <a:srgbClr val="FFFFFF"/>
                </a:solidFill>
                <a:latin typeface="+mj-lt"/>
                <a:ea typeface="+mj-ea"/>
                <a:cs typeface="+mj-cs"/>
                <a:sym typeface="Roboto Slab"/>
              </a:rPr>
              <a:t>Members of the Independent High-Level Expert Group on Climate Finance</a:t>
            </a:r>
            <a:endParaRPr kumimoji="0" lang="en-US" altLang="en-US" sz="2800" b="1" i="0" u="none" strike="noStrike" cap="none" spc="0" normalizeH="0" baseline="0" noProof="0" dirty="0">
              <a:ln>
                <a:noFill/>
              </a:ln>
              <a:solidFill>
                <a:srgbClr val="FFFFFF"/>
              </a:solidFill>
              <a:effectLst/>
              <a:uLnTx/>
              <a:uFillTx/>
              <a:latin typeface="+mj-lt"/>
              <a:ea typeface="+mj-ea"/>
              <a:cs typeface="+mj-cs"/>
            </a:endParaRPr>
          </a:p>
        </p:txBody>
      </p:sp>
      <p:sp>
        <p:nvSpPr>
          <p:cNvPr id="46" name="Title 1">
            <a:extLst>
              <a:ext uri="{FF2B5EF4-FFF2-40B4-BE49-F238E27FC236}">
                <a16:creationId xmlns:a16="http://schemas.microsoft.com/office/drawing/2014/main" id="{D6341A84-152F-BB7A-4D8D-148CA51CF28D}"/>
              </a:ext>
            </a:extLst>
          </p:cNvPr>
          <p:cNvSpPr txBox="1">
            <a:spLocks/>
          </p:cNvSpPr>
          <p:nvPr/>
        </p:nvSpPr>
        <p:spPr>
          <a:xfrm>
            <a:off x="414608" y="229152"/>
            <a:ext cx="10549646" cy="61936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37546C"/>
                </a:solidFill>
                <a:latin typeface="Century Gothic" panose="020B0502020202020204" pitchFamily="34" charset="0"/>
              </a:rPr>
              <a:t>Conclusion</a:t>
            </a:r>
          </a:p>
        </p:txBody>
      </p:sp>
      <p:sp>
        <p:nvSpPr>
          <p:cNvPr id="2" name="Content Placeholder 2">
            <a:extLst>
              <a:ext uri="{FF2B5EF4-FFF2-40B4-BE49-F238E27FC236}">
                <a16:creationId xmlns:a16="http://schemas.microsoft.com/office/drawing/2014/main" id="{3F2C6343-A254-94D2-4F10-FA4E20C81D9E}"/>
              </a:ext>
            </a:extLst>
          </p:cNvPr>
          <p:cNvSpPr txBox="1">
            <a:spLocks/>
          </p:cNvSpPr>
          <p:nvPr/>
        </p:nvSpPr>
        <p:spPr>
          <a:xfrm>
            <a:off x="407987" y="1264806"/>
            <a:ext cx="11520487" cy="5164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We are at a </a:t>
            </a:r>
            <a:r>
              <a:rPr lang="en-US" sz="1700" b="1" dirty="0">
                <a:solidFill>
                  <a:srgbClr val="37546C"/>
                </a:solidFill>
                <a:latin typeface="Century Gothic" panose="020B0502020202020204" pitchFamily="34" charset="0"/>
                <a:ea typeface="+mj-ea"/>
                <a:cs typeface="+mj-cs"/>
              </a:rPr>
              <a:t>critical moment for the future of people and planet</a:t>
            </a:r>
            <a:r>
              <a:rPr lang="en-US" sz="1700" dirty="0">
                <a:solidFill>
                  <a:srgbClr val="37546C"/>
                </a:solidFill>
                <a:latin typeface="Century Gothic" panose="020B0502020202020204" pitchFamily="34" charset="0"/>
                <a:ea typeface="+mj-ea"/>
                <a:cs typeface="+mj-cs"/>
              </a:rPr>
              <a:t>.</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A </a:t>
            </a:r>
            <a:r>
              <a:rPr lang="en-US" sz="1700" b="1" dirty="0">
                <a:solidFill>
                  <a:srgbClr val="37546C"/>
                </a:solidFill>
                <a:latin typeface="Century Gothic" panose="020B0502020202020204" pitchFamily="34" charset="0"/>
                <a:ea typeface="+mj-ea"/>
                <a:cs typeface="+mj-cs"/>
              </a:rPr>
              <a:t>big push on investment for development, climate and nature</a:t>
            </a:r>
            <a:r>
              <a:rPr lang="en-US" sz="1700" dirty="0">
                <a:solidFill>
                  <a:srgbClr val="37546C"/>
                </a:solidFill>
                <a:latin typeface="Century Gothic" panose="020B0502020202020204" pitchFamily="34" charset="0"/>
                <a:ea typeface="+mj-ea"/>
                <a:cs typeface="+mj-cs"/>
              </a:rPr>
              <a:t>, together with innovation and a sharp focus on sustainability in all its dimensions, can drive a sustainable recovery from the present crisis, restore momentum on development and poverty reduction, and is the ONLY way to keep climate goals in reach.</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We have in our reach a much </a:t>
            </a:r>
            <a:r>
              <a:rPr lang="en-US" sz="1700" b="1" dirty="0">
                <a:solidFill>
                  <a:srgbClr val="37546C"/>
                </a:solidFill>
                <a:latin typeface="Century Gothic" panose="020B0502020202020204" pitchFamily="34" charset="0"/>
                <a:ea typeface="+mj-ea"/>
                <a:cs typeface="+mj-cs"/>
              </a:rPr>
              <a:t>more attractive form of growth</a:t>
            </a:r>
            <a:r>
              <a:rPr lang="en-US" sz="1700" dirty="0">
                <a:solidFill>
                  <a:srgbClr val="37546C"/>
                </a:solidFill>
                <a:latin typeface="Century Gothic" panose="020B0502020202020204" pitchFamily="34" charset="0"/>
                <a:ea typeface="+mj-ea"/>
                <a:cs typeface="+mj-cs"/>
              </a:rPr>
              <a:t>—more sustainable, inclusive and resilient.</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Such a </a:t>
            </a:r>
            <a:r>
              <a:rPr lang="en-US" sz="1700" b="1" dirty="0">
                <a:solidFill>
                  <a:srgbClr val="37546C"/>
                </a:solidFill>
                <a:latin typeface="Century Gothic" panose="020B0502020202020204" pitchFamily="34" charset="0"/>
                <a:ea typeface="+mj-ea"/>
                <a:cs typeface="+mj-cs"/>
              </a:rPr>
              <a:t>big push will be challenging but feasible.  Delay is deeply dangerous</a:t>
            </a:r>
            <a:r>
              <a:rPr lang="en-US" sz="1700" dirty="0">
                <a:solidFill>
                  <a:srgbClr val="37546C"/>
                </a:solidFill>
                <a:latin typeface="Century Gothic" panose="020B0502020202020204" pitchFamily="34" charset="0"/>
                <a:ea typeface="+mj-ea"/>
                <a:cs typeface="+mj-cs"/>
              </a:rPr>
              <a:t>.</a:t>
            </a:r>
          </a:p>
          <a:p>
            <a:pPr>
              <a:lnSpc>
                <a:spcPct val="100000"/>
              </a:lnSpc>
              <a:spcBef>
                <a:spcPct val="0"/>
              </a:spcBef>
              <a:spcAft>
                <a:spcPts val="600"/>
              </a:spcAft>
            </a:pPr>
            <a:r>
              <a:rPr lang="en-US" sz="1700" b="1" dirty="0">
                <a:solidFill>
                  <a:srgbClr val="37546C"/>
                </a:solidFill>
                <a:latin typeface="Century Gothic" panose="020B0502020202020204" pitchFamily="34" charset="0"/>
                <a:ea typeface="+mj-ea"/>
                <a:cs typeface="+mj-cs"/>
              </a:rPr>
              <a:t>Domestic leadership and action </a:t>
            </a:r>
            <a:r>
              <a:rPr lang="en-US" sz="1700" dirty="0">
                <a:solidFill>
                  <a:srgbClr val="37546C"/>
                </a:solidFill>
                <a:latin typeface="Century Gothic" panose="020B0502020202020204" pitchFamily="34" charset="0"/>
                <a:ea typeface="+mj-ea"/>
                <a:cs typeface="+mj-cs"/>
              </a:rPr>
              <a:t>on policies and resource mobilization will be foundational to such a scaled-up effort. </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But will </a:t>
            </a:r>
            <a:r>
              <a:rPr lang="en-US" sz="1700" b="1" dirty="0">
                <a:solidFill>
                  <a:srgbClr val="37546C"/>
                </a:solidFill>
                <a:latin typeface="Century Gothic" panose="020B0502020202020204" pitchFamily="34" charset="0"/>
                <a:ea typeface="+mj-ea"/>
                <a:cs typeface="+mj-cs"/>
              </a:rPr>
              <a:t>need to mobilize substantial external resources and support </a:t>
            </a:r>
            <a:r>
              <a:rPr lang="en-US" sz="1700" dirty="0">
                <a:solidFill>
                  <a:srgbClr val="37546C"/>
                </a:solidFill>
                <a:latin typeface="Century Gothic" panose="020B0502020202020204" pitchFamily="34" charset="0"/>
                <a:ea typeface="+mj-ea"/>
                <a:cs typeface="+mj-cs"/>
              </a:rPr>
              <a:t>given the scale and urgency of the challenge.  Three main pillars of such finance:</a:t>
            </a:r>
          </a:p>
          <a:p>
            <a:pPr lvl="1">
              <a:lnSpc>
                <a:spcPct val="100000"/>
              </a:lnSpc>
              <a:spcBef>
                <a:spcPct val="0"/>
              </a:spcBef>
              <a:spcAft>
                <a:spcPts val="600"/>
              </a:spcAft>
            </a:pPr>
            <a:r>
              <a:rPr lang="en-US" sz="1600" dirty="0">
                <a:solidFill>
                  <a:srgbClr val="37546C"/>
                </a:solidFill>
                <a:latin typeface="Century Gothic" panose="020B0502020202020204" pitchFamily="34" charset="0"/>
                <a:ea typeface="+mj-ea"/>
                <a:cs typeface="+mj-cs"/>
              </a:rPr>
              <a:t>A </a:t>
            </a:r>
            <a:r>
              <a:rPr lang="en-US" sz="1600" b="1" dirty="0">
                <a:solidFill>
                  <a:srgbClr val="37546C"/>
                </a:solidFill>
                <a:latin typeface="Century Gothic" panose="020B0502020202020204" pitchFamily="34" charset="0"/>
                <a:ea typeface="+mj-ea"/>
                <a:cs typeface="+mj-cs"/>
              </a:rPr>
              <a:t>major revamp of the MDB and broader DFI system</a:t>
            </a:r>
            <a:r>
              <a:rPr lang="en-US" sz="1600" dirty="0">
                <a:solidFill>
                  <a:srgbClr val="37546C"/>
                </a:solidFill>
                <a:latin typeface="Century Gothic" panose="020B0502020202020204" pitchFamily="34" charset="0"/>
                <a:ea typeface="+mj-ea"/>
                <a:cs typeface="+mj-cs"/>
              </a:rPr>
              <a:t>.</a:t>
            </a:r>
          </a:p>
          <a:p>
            <a:pPr lvl="1">
              <a:lnSpc>
                <a:spcPct val="100000"/>
              </a:lnSpc>
              <a:spcBef>
                <a:spcPct val="0"/>
              </a:spcBef>
              <a:spcAft>
                <a:spcPts val="600"/>
              </a:spcAft>
            </a:pPr>
            <a:r>
              <a:rPr lang="en-US" sz="1600" dirty="0">
                <a:solidFill>
                  <a:srgbClr val="37546C"/>
                </a:solidFill>
                <a:latin typeface="Century Gothic" panose="020B0502020202020204" pitchFamily="34" charset="0"/>
                <a:ea typeface="+mj-ea"/>
                <a:cs typeface="+mj-cs"/>
              </a:rPr>
              <a:t>Creating a </a:t>
            </a:r>
            <a:r>
              <a:rPr lang="en-US" sz="1600" b="1" dirty="0">
                <a:solidFill>
                  <a:srgbClr val="37546C"/>
                </a:solidFill>
                <a:latin typeface="Century Gothic" panose="020B0502020202020204" pitchFamily="34" charset="0"/>
                <a:ea typeface="+mj-ea"/>
                <a:cs typeface="+mj-cs"/>
              </a:rPr>
              <a:t>new highway for private finance</a:t>
            </a:r>
            <a:r>
              <a:rPr lang="en-US" sz="1600" dirty="0">
                <a:solidFill>
                  <a:srgbClr val="37546C"/>
                </a:solidFill>
                <a:latin typeface="Century Gothic" panose="020B0502020202020204" pitchFamily="34" charset="0"/>
                <a:ea typeface="+mj-ea"/>
                <a:cs typeface="+mj-cs"/>
              </a:rPr>
              <a:t>.</a:t>
            </a:r>
          </a:p>
          <a:p>
            <a:pPr lvl="1">
              <a:lnSpc>
                <a:spcPct val="100000"/>
              </a:lnSpc>
              <a:spcBef>
                <a:spcPct val="0"/>
              </a:spcBef>
              <a:spcAft>
                <a:spcPts val="600"/>
              </a:spcAft>
            </a:pPr>
            <a:r>
              <a:rPr lang="en-US" sz="1600" b="1" dirty="0">
                <a:solidFill>
                  <a:srgbClr val="37546C"/>
                </a:solidFill>
                <a:latin typeface="Century Gothic" panose="020B0502020202020204" pitchFamily="34" charset="0"/>
                <a:ea typeface="+mj-ea"/>
                <a:cs typeface="+mj-cs"/>
              </a:rPr>
              <a:t>Mobilizing the necessary scale of concessional financing </a:t>
            </a:r>
            <a:r>
              <a:rPr lang="en-US" sz="1600" dirty="0">
                <a:solidFill>
                  <a:srgbClr val="37546C"/>
                </a:solidFill>
                <a:latin typeface="Century Gothic" panose="020B0502020202020204" pitchFamily="34" charset="0"/>
                <a:ea typeface="+mj-ea"/>
                <a:cs typeface="+mj-cs"/>
              </a:rPr>
              <a:t>through sustained commitment of donors and expanding the envelope through innovative options.</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Cooperation and coordination on this big push can be accelerated through </a:t>
            </a:r>
            <a:r>
              <a:rPr lang="en-US" sz="1700" b="1" dirty="0">
                <a:solidFill>
                  <a:srgbClr val="37546C"/>
                </a:solidFill>
                <a:latin typeface="Century Gothic" panose="020B0502020202020204" pitchFamily="34" charset="0"/>
                <a:ea typeface="+mj-ea"/>
                <a:cs typeface="+mj-cs"/>
              </a:rPr>
              <a:t>country/sector, regional and global platforms </a:t>
            </a:r>
            <a:r>
              <a:rPr lang="en-US" sz="1700" dirty="0">
                <a:solidFill>
                  <a:srgbClr val="37546C"/>
                </a:solidFill>
                <a:latin typeface="Century Gothic" panose="020B0502020202020204" pitchFamily="34" charset="0"/>
                <a:ea typeface="+mj-ea"/>
                <a:cs typeface="+mj-cs"/>
              </a:rPr>
              <a:t>with buy-in of all stakeholders.</a:t>
            </a:r>
          </a:p>
          <a:p>
            <a:pPr>
              <a:lnSpc>
                <a:spcPct val="100000"/>
              </a:lnSpc>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endParaRPr lang="en-US" sz="1800" b="1" dirty="0">
              <a:solidFill>
                <a:srgbClr val="37546C"/>
              </a:solidFill>
              <a:latin typeface="Century Gothic" panose="020B0502020202020204" pitchFamily="34" charset="0"/>
              <a:ea typeface="+mj-ea"/>
              <a:cs typeface="+mj-cs"/>
            </a:endParaRPr>
          </a:p>
          <a:p>
            <a:endParaRPr lang="en-US" sz="1800" dirty="0"/>
          </a:p>
        </p:txBody>
      </p:sp>
    </p:spTree>
    <p:extLst>
      <p:ext uri="{BB962C8B-B14F-4D97-AF65-F5344CB8AC3E}">
        <p14:creationId xmlns:p14="http://schemas.microsoft.com/office/powerpoint/2010/main" val="2655444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BB32C7B-E374-E3F5-D8DB-0997486B260E}"/>
              </a:ext>
            </a:extLst>
          </p:cNvPr>
          <p:cNvSpPr txBox="1">
            <a:spLocks noChangeArrowheads="1"/>
          </p:cNvSpPr>
          <p:nvPr/>
        </p:nvSpPr>
        <p:spPr bwMode="auto">
          <a:xfrm>
            <a:off x="699714" y="353160"/>
            <a:ext cx="7091300" cy="898581"/>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b="1" dirty="0">
                <a:solidFill>
                  <a:srgbClr val="FFFFFF"/>
                </a:solidFill>
                <a:latin typeface="+mj-lt"/>
                <a:ea typeface="+mj-ea"/>
                <a:cs typeface="+mj-cs"/>
                <a:sym typeface="Roboto Slab"/>
              </a:rPr>
              <a:t>Members of the Independent High-Level Expert Group on Climate Finance</a:t>
            </a:r>
            <a:endParaRPr kumimoji="0" lang="en-US" altLang="en-US" sz="2800" b="1" i="0" u="none" strike="noStrike" cap="none" spc="0" normalizeH="0" baseline="0" noProof="0" dirty="0">
              <a:ln>
                <a:noFill/>
              </a:ln>
              <a:solidFill>
                <a:srgbClr val="FFFFFF"/>
              </a:solidFill>
              <a:effectLst/>
              <a:uLnTx/>
              <a:uFillTx/>
              <a:latin typeface="+mj-lt"/>
              <a:ea typeface="+mj-ea"/>
              <a:cs typeface="+mj-cs"/>
            </a:endParaRPr>
          </a:p>
        </p:txBody>
      </p:sp>
      <p:sp>
        <p:nvSpPr>
          <p:cNvPr id="46" name="Title 1">
            <a:extLst>
              <a:ext uri="{FF2B5EF4-FFF2-40B4-BE49-F238E27FC236}">
                <a16:creationId xmlns:a16="http://schemas.microsoft.com/office/drawing/2014/main" id="{D6341A84-152F-BB7A-4D8D-148CA51CF28D}"/>
              </a:ext>
            </a:extLst>
          </p:cNvPr>
          <p:cNvSpPr txBox="1">
            <a:spLocks/>
          </p:cNvSpPr>
          <p:nvPr/>
        </p:nvSpPr>
        <p:spPr>
          <a:xfrm>
            <a:off x="414608" y="229152"/>
            <a:ext cx="10549646" cy="61936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37546C"/>
                </a:solidFill>
                <a:latin typeface="Century Gothic" panose="020B0502020202020204" pitchFamily="34" charset="0"/>
              </a:rPr>
              <a:t>Implications for MIGA</a:t>
            </a:r>
          </a:p>
        </p:txBody>
      </p:sp>
      <p:sp>
        <p:nvSpPr>
          <p:cNvPr id="2" name="Content Placeholder 2">
            <a:extLst>
              <a:ext uri="{FF2B5EF4-FFF2-40B4-BE49-F238E27FC236}">
                <a16:creationId xmlns:a16="http://schemas.microsoft.com/office/drawing/2014/main" id="{3F2C6343-A254-94D2-4F10-FA4E20C81D9E}"/>
              </a:ext>
            </a:extLst>
          </p:cNvPr>
          <p:cNvSpPr txBox="1">
            <a:spLocks/>
          </p:cNvSpPr>
          <p:nvPr/>
        </p:nvSpPr>
        <p:spPr>
          <a:xfrm>
            <a:off x="407987" y="1264806"/>
            <a:ext cx="11520487" cy="5164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The role of </a:t>
            </a:r>
            <a:r>
              <a:rPr lang="en-US" sz="1700" b="1" dirty="0">
                <a:solidFill>
                  <a:srgbClr val="37546C"/>
                </a:solidFill>
                <a:latin typeface="Century Gothic" panose="020B0502020202020204" pitchFamily="34" charset="0"/>
                <a:ea typeface="+mj-ea"/>
                <a:cs typeface="+mj-cs"/>
              </a:rPr>
              <a:t>private investment and finance is critical for a successful green transformation</a:t>
            </a:r>
            <a:r>
              <a:rPr lang="en-US" sz="1700" dirty="0">
                <a:solidFill>
                  <a:srgbClr val="37546C"/>
                </a:solidFill>
                <a:latin typeface="Century Gothic" panose="020B0502020202020204" pitchFamily="34" charset="0"/>
                <a:ea typeface="+mj-ea"/>
                <a:cs typeface="+mj-cs"/>
              </a:rPr>
              <a:t>.</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The </a:t>
            </a:r>
            <a:r>
              <a:rPr lang="en-US" sz="1700" b="1" dirty="0">
                <a:solidFill>
                  <a:srgbClr val="37546C"/>
                </a:solidFill>
                <a:latin typeface="Century Gothic" panose="020B0502020202020204" pitchFamily="34" charset="0"/>
                <a:ea typeface="+mj-ea"/>
                <a:cs typeface="+mj-cs"/>
              </a:rPr>
              <a:t>scale of this investment opportunity is immense </a:t>
            </a:r>
            <a:r>
              <a:rPr lang="en-US" sz="1700" dirty="0">
                <a:solidFill>
                  <a:srgbClr val="37546C"/>
                </a:solidFill>
                <a:latin typeface="Century Gothic" panose="020B0502020202020204" pitchFamily="34" charset="0"/>
                <a:ea typeface="+mj-ea"/>
                <a:cs typeface="+mj-cs"/>
              </a:rPr>
              <a:t>but the </a:t>
            </a:r>
            <a:r>
              <a:rPr lang="en-US" sz="1700" b="1" dirty="0">
                <a:solidFill>
                  <a:srgbClr val="37546C"/>
                </a:solidFill>
                <a:latin typeface="Century Gothic" panose="020B0502020202020204" pitchFamily="34" charset="0"/>
                <a:ea typeface="+mj-ea"/>
                <a:cs typeface="+mj-cs"/>
              </a:rPr>
              <a:t>nature of the investments different </a:t>
            </a:r>
            <a:r>
              <a:rPr lang="en-US" sz="1700" dirty="0">
                <a:solidFill>
                  <a:srgbClr val="37546C"/>
                </a:solidFill>
                <a:latin typeface="Century Gothic" panose="020B0502020202020204" pitchFamily="34" charset="0"/>
                <a:ea typeface="+mj-ea"/>
                <a:cs typeface="+mj-cs"/>
              </a:rPr>
              <a:t>from the past.</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To unleash these investments, must </a:t>
            </a:r>
            <a:r>
              <a:rPr lang="en-US" sz="1700" b="1" dirty="0">
                <a:solidFill>
                  <a:srgbClr val="37546C"/>
                </a:solidFill>
                <a:latin typeface="Century Gothic" panose="020B0502020202020204" pitchFamily="34" charset="0"/>
                <a:ea typeface="+mj-ea"/>
                <a:cs typeface="+mj-cs"/>
              </a:rPr>
              <a:t>tackle impediments to investment and the high cost of capital</a:t>
            </a:r>
            <a:r>
              <a:rPr lang="en-US" sz="1700" dirty="0">
                <a:solidFill>
                  <a:srgbClr val="37546C"/>
                </a:solidFill>
                <a:latin typeface="Century Gothic" panose="020B0502020202020204" pitchFamily="34" charset="0"/>
                <a:ea typeface="+mj-ea"/>
                <a:cs typeface="+mj-cs"/>
              </a:rPr>
              <a:t>.</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A </a:t>
            </a:r>
            <a:r>
              <a:rPr lang="en-US" sz="1700" b="1" dirty="0">
                <a:solidFill>
                  <a:srgbClr val="37546C"/>
                </a:solidFill>
                <a:latin typeface="Century Gothic" panose="020B0502020202020204" pitchFamily="34" charset="0"/>
                <a:ea typeface="+mj-ea"/>
                <a:cs typeface="+mj-cs"/>
              </a:rPr>
              <a:t>sound approach to </a:t>
            </a:r>
            <a:r>
              <a:rPr lang="en-US" sz="1700" b="1" dirty="0" err="1">
                <a:solidFill>
                  <a:srgbClr val="37546C"/>
                </a:solidFill>
                <a:latin typeface="Century Gothic" panose="020B0502020202020204" pitchFamily="34" charset="0"/>
                <a:ea typeface="+mj-ea"/>
                <a:cs typeface="+mj-cs"/>
              </a:rPr>
              <a:t>derisking</a:t>
            </a:r>
            <a:r>
              <a:rPr lang="en-US" sz="1700" b="1" dirty="0">
                <a:solidFill>
                  <a:srgbClr val="37546C"/>
                </a:solidFill>
                <a:latin typeface="Century Gothic" panose="020B0502020202020204" pitchFamily="34" charset="0"/>
                <a:ea typeface="+mj-ea"/>
                <a:cs typeface="+mj-cs"/>
              </a:rPr>
              <a:t> from end-to-end </a:t>
            </a:r>
            <a:r>
              <a:rPr lang="en-US" sz="1700" dirty="0">
                <a:solidFill>
                  <a:srgbClr val="37546C"/>
                </a:solidFill>
                <a:latin typeface="Century Gothic" panose="020B0502020202020204" pitchFamily="34" charset="0"/>
                <a:ea typeface="+mj-ea"/>
                <a:cs typeface="+mj-cs"/>
              </a:rPr>
              <a:t>is the only way to unlock private finance at scale.</a:t>
            </a:r>
          </a:p>
          <a:p>
            <a:pPr>
              <a:lnSpc>
                <a:spcPct val="100000"/>
              </a:lnSpc>
              <a:spcBef>
                <a:spcPct val="0"/>
              </a:spcBef>
              <a:spcAft>
                <a:spcPts val="600"/>
              </a:spcAft>
            </a:pPr>
            <a:r>
              <a:rPr lang="en-US" sz="1700" b="1" dirty="0">
                <a:solidFill>
                  <a:srgbClr val="37546C"/>
                </a:solidFill>
                <a:latin typeface="Century Gothic" panose="020B0502020202020204" pitchFamily="34" charset="0"/>
                <a:ea typeface="+mj-ea"/>
                <a:cs typeface="+mj-cs"/>
              </a:rPr>
              <a:t>MIGA is well suited to mitigating some critical risks</a:t>
            </a:r>
            <a:r>
              <a:rPr lang="en-US" sz="1700" dirty="0">
                <a:solidFill>
                  <a:srgbClr val="37546C"/>
                </a:solidFill>
                <a:latin typeface="Century Gothic" panose="020B0502020202020204" pitchFamily="34" charset="0"/>
                <a:ea typeface="+mj-ea"/>
                <a:cs typeface="+mj-cs"/>
              </a:rPr>
              <a:t>, but not ALL of the risks.</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MIGA will need </a:t>
            </a:r>
            <a:r>
              <a:rPr lang="en-US" sz="1700" b="1" dirty="0">
                <a:solidFill>
                  <a:srgbClr val="37546C"/>
                </a:solidFill>
                <a:latin typeface="Century Gothic" panose="020B0502020202020204" pitchFamily="34" charset="0"/>
                <a:ea typeface="+mj-ea"/>
                <a:cs typeface="+mj-cs"/>
              </a:rPr>
              <a:t>to move from a transaction to a system approach </a:t>
            </a:r>
            <a:r>
              <a:rPr lang="en-US" sz="1700" dirty="0">
                <a:solidFill>
                  <a:srgbClr val="37546C"/>
                </a:solidFill>
                <a:latin typeface="Century Gothic" panose="020B0502020202020204" pitchFamily="34" charset="0"/>
                <a:ea typeface="+mj-ea"/>
                <a:cs typeface="+mj-cs"/>
              </a:rPr>
              <a:t>within the framework of country-led energy transition and infrastructure development strategies.</a:t>
            </a:r>
          </a:p>
          <a:p>
            <a:pPr>
              <a:lnSpc>
                <a:spcPct val="100000"/>
              </a:lnSpc>
              <a:spcBef>
                <a:spcPct val="0"/>
              </a:spcBef>
              <a:spcAft>
                <a:spcPts val="600"/>
              </a:spcAft>
            </a:pPr>
            <a:r>
              <a:rPr lang="en-US" sz="1700" b="1" dirty="0">
                <a:solidFill>
                  <a:srgbClr val="37546C"/>
                </a:solidFill>
                <a:latin typeface="Century Gothic" panose="020B0502020202020204" pitchFamily="34" charset="0"/>
                <a:ea typeface="+mj-ea"/>
                <a:cs typeface="+mj-cs"/>
              </a:rPr>
              <a:t>Country platforms </a:t>
            </a:r>
            <a:r>
              <a:rPr lang="en-US" sz="1700" dirty="0">
                <a:solidFill>
                  <a:srgbClr val="37546C"/>
                </a:solidFill>
                <a:latin typeface="Century Gothic" panose="020B0502020202020204" pitchFamily="34" charset="0"/>
                <a:ea typeface="+mj-ea"/>
                <a:cs typeface="+mj-cs"/>
              </a:rPr>
              <a:t>can play an important coordinating role.</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Where these are not fully articulated, MDBs will need to </a:t>
            </a:r>
            <a:r>
              <a:rPr lang="en-US" sz="1700" b="1" dirty="0">
                <a:solidFill>
                  <a:srgbClr val="37546C"/>
                </a:solidFill>
                <a:latin typeface="Century Gothic" panose="020B0502020202020204" pitchFamily="34" charset="0"/>
                <a:ea typeface="+mj-ea"/>
                <a:cs typeface="+mj-cs"/>
              </a:rPr>
              <a:t>work with governments, the MDBs and the private sector.</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MIGA should </a:t>
            </a:r>
            <a:r>
              <a:rPr lang="en-US" sz="1700" b="1" dirty="0">
                <a:solidFill>
                  <a:srgbClr val="37546C"/>
                </a:solidFill>
                <a:latin typeface="Century Gothic" panose="020B0502020202020204" pitchFamily="34" charset="0"/>
                <a:ea typeface="+mj-ea"/>
                <a:cs typeface="+mj-cs"/>
              </a:rPr>
              <a:t>engage more systematically with the private sector</a:t>
            </a:r>
            <a:r>
              <a:rPr lang="en-US" sz="1700" dirty="0">
                <a:solidFill>
                  <a:srgbClr val="37546C"/>
                </a:solidFill>
                <a:latin typeface="Century Gothic" panose="020B0502020202020204" pitchFamily="34" charset="0"/>
                <a:ea typeface="+mj-ea"/>
                <a:cs typeface="+mj-cs"/>
              </a:rPr>
              <a:t> on possible </a:t>
            </a:r>
            <a:r>
              <a:rPr lang="en-US" sz="1700" dirty="0" err="1">
                <a:solidFill>
                  <a:srgbClr val="37546C"/>
                </a:solidFill>
                <a:latin typeface="Century Gothic" panose="020B0502020202020204" pitchFamily="34" charset="0"/>
                <a:ea typeface="+mj-ea"/>
                <a:cs typeface="+mj-cs"/>
              </a:rPr>
              <a:t>derisking</a:t>
            </a:r>
            <a:r>
              <a:rPr lang="en-US" sz="1700" dirty="0">
                <a:solidFill>
                  <a:srgbClr val="37546C"/>
                </a:solidFill>
                <a:latin typeface="Century Gothic" panose="020B0502020202020204" pitchFamily="34" charset="0"/>
                <a:ea typeface="+mj-ea"/>
                <a:cs typeface="+mj-cs"/>
              </a:rPr>
              <a:t> instruments and platforms.</a:t>
            </a:r>
          </a:p>
          <a:p>
            <a:pPr>
              <a:lnSpc>
                <a:spcPct val="100000"/>
              </a:lnSpc>
              <a:spcBef>
                <a:spcPct val="0"/>
              </a:spcBef>
              <a:spcAft>
                <a:spcPts val="600"/>
              </a:spcAft>
            </a:pPr>
            <a:r>
              <a:rPr lang="en-US" sz="1700" dirty="0">
                <a:solidFill>
                  <a:srgbClr val="37546C"/>
                </a:solidFill>
                <a:latin typeface="Century Gothic" panose="020B0502020202020204" pitchFamily="34" charset="0"/>
                <a:ea typeface="+mj-ea"/>
                <a:cs typeface="+mj-cs"/>
              </a:rPr>
              <a:t>If MIGA does not step into this role, the international community will look to </a:t>
            </a:r>
            <a:r>
              <a:rPr lang="en-US" sz="1700" b="1" dirty="0">
                <a:solidFill>
                  <a:srgbClr val="37546C"/>
                </a:solidFill>
                <a:latin typeface="Century Gothic" panose="020B0502020202020204" pitchFamily="34" charset="0"/>
                <a:ea typeface="+mj-ea"/>
                <a:cs typeface="+mj-cs"/>
              </a:rPr>
              <a:t>other structures and mechanisms.</a:t>
            </a:r>
          </a:p>
          <a:p>
            <a:pPr>
              <a:lnSpc>
                <a:spcPct val="100000"/>
              </a:lnSpc>
              <a:spcBef>
                <a:spcPct val="0"/>
              </a:spcBef>
              <a:spcAft>
                <a:spcPts val="1200"/>
              </a:spcAft>
            </a:pPr>
            <a:endParaRPr lang="en-US" sz="17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pPr>
              <a:spcBef>
                <a:spcPct val="0"/>
              </a:spcBef>
            </a:pPr>
            <a:endParaRPr lang="en-US" sz="1800" dirty="0">
              <a:solidFill>
                <a:srgbClr val="37546C"/>
              </a:solidFill>
              <a:latin typeface="Century Gothic" panose="020B0502020202020204" pitchFamily="34" charset="0"/>
              <a:ea typeface="+mj-ea"/>
              <a:cs typeface="+mj-cs"/>
            </a:endParaRPr>
          </a:p>
          <a:p>
            <a:endParaRPr lang="en-US" sz="1800" b="1" dirty="0">
              <a:solidFill>
                <a:srgbClr val="37546C"/>
              </a:solidFill>
              <a:latin typeface="Century Gothic" panose="020B0502020202020204" pitchFamily="34" charset="0"/>
              <a:ea typeface="+mj-ea"/>
              <a:cs typeface="+mj-cs"/>
            </a:endParaRPr>
          </a:p>
          <a:p>
            <a:endParaRPr lang="en-US" sz="1800" dirty="0"/>
          </a:p>
        </p:txBody>
      </p:sp>
    </p:spTree>
    <p:extLst>
      <p:ext uri="{BB962C8B-B14F-4D97-AF65-F5344CB8AC3E}">
        <p14:creationId xmlns:p14="http://schemas.microsoft.com/office/powerpoint/2010/main" val="15469831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WBDocument" ma:contentTypeID="0x010100F4C63C3BD852AE468EAEFD0E6C57C64F0200242493469E2B554F910929E515B8617A" ma:contentTypeVersion="11" ma:contentTypeDescription="" ma:contentTypeScope="" ma:versionID="329f3f45535c75e87314dad962535356">
  <xsd:schema xmlns:xsd="http://www.w3.org/2001/XMLSchema" xmlns:xs="http://www.w3.org/2001/XMLSchema" xmlns:p="http://schemas.microsoft.com/office/2006/metadata/properties" xmlns:ns3="3e02667f-0271-471b-bd6e-11a2e16def1d" targetNamespace="http://schemas.microsoft.com/office/2006/metadata/properties" ma:root="true" ma:fieldsID="7d2f7a6e40de0cb874b2e8a286bcf272" ns3:_="">
    <xsd:import namespace="3e02667f-0271-471b-bd6e-11a2e16def1d"/>
    <xsd:element name="properties">
      <xsd:complexType>
        <xsd:sequence>
          <xsd:element name="documentManagement">
            <xsd:complexType>
              <xsd:all>
                <xsd:element ref="ns3:WBDocs_Document_Date" minOccurs="0"/>
                <xsd:element ref="ns3:WBDocs_Information_Classification"/>
                <xsd:element ref="ns3:TaxCatchAll" minOccurs="0"/>
                <xsd:element ref="ns3:TaxCatchAllLabel" minOccurs="0"/>
                <xsd:element ref="ns3:_dlc_DocId" minOccurs="0"/>
                <xsd:element ref="ns3:_dlc_DocIdUrl" minOccurs="0"/>
                <xsd:element ref="ns3:_dlc_DocIdPersistId" minOccurs="0"/>
                <xsd:element ref="ns3:WBDocs_Access_To_Info_Exception" minOccurs="0"/>
                <xsd:element ref="ns3:o1cb080a3dca4eb8a0fd03c7cc8bf8f7" minOccurs="0"/>
                <xsd:element ref="ns3:i008215bacac45029ee8cafff4c8e93b" minOccurs="0"/>
                <xsd:element ref="ns3:OneCMS_Subcategory" minOccurs="0"/>
                <xsd:element ref="ns3:OneCMS_Category" minOccurs="0"/>
                <xsd:element ref="ns3:Abstrac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02667f-0271-471b-bd6e-11a2e16def1d" elementFormDefault="qualified">
    <xsd:import namespace="http://schemas.microsoft.com/office/2006/documentManagement/types"/>
    <xsd:import namespace="http://schemas.microsoft.com/office/infopath/2007/PartnerControls"/>
    <xsd:element name="WBDocs_Document_Date" ma:index="3" nillable="true" ma:displayName="Document Date" ma:default="[today]" ma:format="DateTime" ma:internalName="WBDocs_Document_Date" ma:readOnly="false">
      <xsd:simpleType>
        <xsd:restriction base="dms:DateTime"/>
      </xsd:simpleType>
    </xsd:element>
    <xsd:element name="WBDocs_Information_Classification" ma:index="4" ma:displayName="Information Classification" ma:default="Official Use Only" ma:format="Dropdown" ma:internalName="WBDocs_Information_Classification" ma:readOnly="false">
      <xsd:simpleType>
        <xsd:restriction base="dms:Choice">
          <xsd:enumeration value="Public"/>
          <xsd:enumeration value="Official Use Only"/>
          <xsd:enumeration value="Confidential"/>
          <xsd:enumeration value="Strictly Confidential"/>
        </xsd:restriction>
      </xsd:simpleType>
    </xsd:element>
    <xsd:element name="TaxCatchAll" ma:index="6" nillable="true" ma:displayName="Taxonomy Catch All Column" ma:hidden="true" ma:list="{08162467-2776-42ba-90d2-7bccafcbe720}" ma:internalName="TaxCatchAll" ma:showField="CatchAllData" ma:web="304d04f7-c8bb-44dd-9b87-14feabc65008">
      <xsd:complexType>
        <xsd:complexContent>
          <xsd:extension base="dms:MultiChoiceLookup">
            <xsd:sequence>
              <xsd:element name="Value" type="dms:Lookup" maxOccurs="unbounded" minOccurs="0" nillable="true"/>
            </xsd:sequence>
          </xsd:extension>
        </xsd:complexContent>
      </xsd:complexType>
    </xsd:element>
    <xsd:element name="TaxCatchAllLabel" ma:index="7" nillable="true" ma:displayName="Taxonomy Catch All Column1" ma:hidden="true" ma:list="{08162467-2776-42ba-90d2-7bccafcbe720}" ma:internalName="TaxCatchAllLabel" ma:readOnly="true" ma:showField="CatchAllDataLabel" ma:web="304d04f7-c8bb-44dd-9b87-14feabc65008">
      <xsd:complexType>
        <xsd:complexContent>
          <xsd:extension base="dms:MultiChoiceLookup">
            <xsd:sequence>
              <xsd:element name="Value" type="dms:Lookup" maxOccurs="unbounded" minOccurs="0" nillable="true"/>
            </xsd:sequence>
          </xsd:extension>
        </xsd:complexContent>
      </xsd:complexType>
    </xsd:element>
    <xsd:element name="_dlc_DocId" ma:index="10" nillable="true" ma:displayName="Document ID Value" ma:description="The value of the document ID assigned to this item." ma:internalName="_dlc_DocId" ma:readOnly="true">
      <xsd:simpleType>
        <xsd:restriction base="dms:Text"/>
      </xsd:simpleType>
    </xsd:element>
    <xsd:element name="_dlc_DocIdUrl" ma:index="11"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Persist ID" ma:description="Keep ID on add." ma:hidden="true" ma:internalName="_dlc_DocIdPersistId" ma:readOnly="true">
      <xsd:simpleType>
        <xsd:restriction base="dms:Boolean"/>
      </xsd:simpleType>
    </xsd:element>
    <xsd:element name="WBDocs_Access_To_Info_Exception" ma:index="13" nillable="true" ma:displayName="Access to Info Exception" ma:default="12. Not Assessed" ma:format="Dropdown" ma:internalName="WBDocs_Access_To_Info_Exception">
      <xsd:simpleType>
        <xsd:restriction base="dms:Choice">
          <xsd:enumeration value="1. Personal"/>
          <xsd:enumeration value="2. Executive Director's Communications"/>
          <xsd:enumeration value="3. Board Ethics Committee"/>
          <xsd:enumeration value="4. Attorney-Client Privilege"/>
          <xsd:enumeration value="5. Security &amp; Safety"/>
          <xsd:enumeration value="6. Other Disclosure Regimes"/>
          <xsd:enumeration value="7. Client / Third Party Confidence"/>
          <xsd:enumeration value="8. Corporate/Administrative"/>
          <xsd:enumeration value="9. Deliberative"/>
          <xsd:enumeration value="10a-c. Financial - Forecast/Analysis/Transactions"/>
          <xsd:enumeration value="10d. Financial - Banking &amp; Billing"/>
          <xsd:enumeration value="11. Bank's Prerogative to Restrict"/>
          <xsd:enumeration value="12. Not Assessed"/>
          <xsd:enumeration value="13. Not Applicable"/>
          <xsd:enumeration value="Unknown Policy Restriction"/>
        </xsd:restriction>
      </xsd:simpleType>
    </xsd:element>
    <xsd:element name="o1cb080a3dca4eb8a0fd03c7cc8bf8f7" ma:index="15" nillable="true" ma:taxonomy="true" ma:internalName="o1cb080a3dca4eb8a0fd03c7cc8bf8f7" ma:taxonomyFieldName="WBDocs_Local_Document_Type" ma:displayName="Local Document Type" ma:readOnly="false" ma:default="" ma:fieldId="{81cb080a-3dca-4eb8-a0fd-03c7cc8bf8f7}" ma:taxonomyMulti="true" ma:sspId="2a6c10d7-b926-4fc0-945e-3cbf5049f6bd" ma:termSetId="ec380048-e675-43f7-9194-41567bcb0af6" ma:anchorId="00000000-0000-0000-0000-000000000000" ma:open="false" ma:isKeyword="false">
      <xsd:complexType>
        <xsd:sequence>
          <xsd:element ref="pc:Terms" minOccurs="0" maxOccurs="1"/>
        </xsd:sequence>
      </xsd:complexType>
    </xsd:element>
    <xsd:element name="i008215bacac45029ee8cafff4c8e93b" ma:index="17" nillable="true" ma:taxonomy="true" ma:internalName="i008215bacac45029ee8cafff4c8e93b" ma:taxonomyFieldName="WBDocs_Originating_Unit" ma:displayName="Originating unit" ma:readOnly="false" ma:default="-1;#MIGA|517d21c9-c1ac-47fd-a1a9-3064bb638737" ma:fieldId="{2008215b-acac-4502-9ee8-cafff4c8e93b}" ma:taxonomyMulti="true" ma:sspId="2a6c10d7-b926-4fc0-945e-3cbf5049f6bd" ma:termSetId="806c0147-d557-463e-8bb0-983f4f318bd5" ma:anchorId="00000000-0000-0000-0000-000000000000" ma:open="false" ma:isKeyword="false">
      <xsd:complexType>
        <xsd:sequence>
          <xsd:element ref="pc:Terms" minOccurs="0" maxOccurs="1"/>
        </xsd:sequence>
      </xsd:complexType>
    </xsd:element>
    <xsd:element name="OneCMS_Subcategory" ma:index="21" nillable="true" ma:displayName="Subcategory" ma:hidden="true" ma:internalName="OneCMS_Subcategory" ma:readOnly="false">
      <xsd:simpleType>
        <xsd:restriction base="dms:Text"/>
      </xsd:simpleType>
    </xsd:element>
    <xsd:element name="OneCMS_Category" ma:index="22" nillable="true" ma:displayName="Category" ma:hidden="true" ma:internalName="OneCMS_Category" ma:readOnly="false">
      <xsd:simpleType>
        <xsd:restriction base="dms:Text"/>
      </xsd:simpleType>
    </xsd:element>
    <xsd:element name="Abstract" ma:index="23" nillable="true" ma:displayName="Abstract" ma:hidden="true" ma:internalName="Abstract" ma:readOnly="fals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2" ma:displayName="Author"/>
        <xsd:element ref="dcterms:created" minOccurs="0" maxOccurs="1"/>
        <xsd:element ref="dc:identifier" minOccurs="0" maxOccurs="1"/>
        <xsd:element name="contentType" minOccurs="0" maxOccurs="1" type="xsd:string" ma:index="19"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2a6c10d7-b926-4fc0-945e-3cbf5049f6bd" ContentTypeId="0x010100F4C63C3BD852AE468EAEFD0E6C57C64F02" PreviousValue="false"/>
</file>

<file path=customXml/item3.xml><?xml version="1.0" encoding="utf-8"?>
<?mso-contentType ?>
<spe:Receivers xmlns:spe="http://schemas.microsoft.com/sharepoint/event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p:properties xmlns:p="http://schemas.microsoft.com/office/2006/metadata/properties" xmlns:xsi="http://www.w3.org/2001/XMLSchema-instance" xmlns:pc="http://schemas.microsoft.com/office/infopath/2007/PartnerControls">
  <documentManagement>
    <o1cb080a3dca4eb8a0fd03c7cc8bf8f7 xmlns="3e02667f-0271-471b-bd6e-11a2e16def1d">
      <Terms xmlns="http://schemas.microsoft.com/office/infopath/2007/PartnerControls"/>
    </o1cb080a3dca4eb8a0fd03c7cc8bf8f7>
    <Abstract xmlns="3e02667f-0271-471b-bd6e-11a2e16def1d" xsi:nil="true"/>
    <WBDocs_Access_To_Info_Exception xmlns="3e02667f-0271-471b-bd6e-11a2e16def1d">12. Not Assessed</WBDocs_Access_To_Info_Exception>
    <WBDocs_Document_Date xmlns="3e02667f-0271-471b-bd6e-11a2e16def1d">2023-02-08T16:07:38+00:00</WBDocs_Document_Date>
    <TaxCatchAll xmlns="3e02667f-0271-471b-bd6e-11a2e16def1d">
      <Value>-1</Value>
    </TaxCatchAll>
    <OneCMS_Subcategory xmlns="3e02667f-0271-471b-bd6e-11a2e16def1d" xsi:nil="true"/>
    <i008215bacac45029ee8cafff4c8e93b xmlns="3e02667f-0271-471b-bd6e-11a2e16def1d">
      <Terms xmlns="http://schemas.microsoft.com/office/infopath/2007/PartnerControls">
        <TermInfo xmlns="http://schemas.microsoft.com/office/infopath/2007/PartnerControls">
          <TermName xmlns="http://schemas.microsoft.com/office/infopath/2007/PartnerControls">MIGA</TermName>
          <TermId xmlns="http://schemas.microsoft.com/office/infopath/2007/PartnerControls">517d21c9-c1ac-47fd-a1a9-3064bb638737</TermId>
        </TermInfo>
      </Terms>
    </i008215bacac45029ee8cafff4c8e93b>
    <WBDocs_Information_Classification xmlns="3e02667f-0271-471b-bd6e-11a2e16def1d">Official Use Only</WBDocs_Information_Classification>
    <OneCMS_Category xmlns="3e02667f-0271-471b-bd6e-11a2e16def1d" xsi:nil="true"/>
  </documentManagement>
</p:properties>
</file>

<file path=customXml/itemProps1.xml><?xml version="1.0" encoding="utf-8"?>
<ds:datastoreItem xmlns:ds="http://schemas.openxmlformats.org/officeDocument/2006/customXml" ds:itemID="{C73C1B9B-6407-4A84-BE4B-5B86E7F73038}"/>
</file>

<file path=customXml/itemProps2.xml><?xml version="1.0" encoding="utf-8"?>
<ds:datastoreItem xmlns:ds="http://schemas.openxmlformats.org/officeDocument/2006/customXml" ds:itemID="{01225691-77CE-46AB-8C36-86FE9416C632}"/>
</file>

<file path=customXml/itemProps3.xml><?xml version="1.0" encoding="utf-8"?>
<ds:datastoreItem xmlns:ds="http://schemas.openxmlformats.org/officeDocument/2006/customXml" ds:itemID="{3AF05944-361F-43A2-94FC-283ACFF99699}"/>
</file>

<file path=customXml/itemProps4.xml><?xml version="1.0" encoding="utf-8"?>
<ds:datastoreItem xmlns:ds="http://schemas.openxmlformats.org/officeDocument/2006/customXml" ds:itemID="{8EBC55BD-4246-4148-93B7-F59FCF317681}"/>
</file>

<file path=customXml/itemProps5.xml><?xml version="1.0" encoding="utf-8"?>
<ds:datastoreItem xmlns:ds="http://schemas.openxmlformats.org/officeDocument/2006/customXml" ds:itemID="{626190BE-C3FF-4F15-977C-555A7632A325}"/>
</file>

<file path=docProps/app.xml><?xml version="1.0" encoding="utf-8"?>
<Properties xmlns="http://schemas.openxmlformats.org/officeDocument/2006/extended-properties" xmlns:vt="http://schemas.openxmlformats.org/officeDocument/2006/docPropsVTypes">
  <Template>Office Theme</Template>
  <TotalTime>14235</TotalTime>
  <Words>2567</Words>
  <Application>Microsoft Office PowerPoint</Application>
  <PresentationFormat>Widescreen</PresentationFormat>
  <Paragraphs>319</Paragraphs>
  <Slides>17</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Brown</vt:lpstr>
      <vt:lpstr>Calibri</vt:lpstr>
      <vt:lpstr>Calibri Light</vt:lpstr>
      <vt:lpstr>Century Gothic</vt:lpstr>
      <vt:lpstr>Wingdings</vt:lpstr>
      <vt:lpstr>Office Theme</vt:lpstr>
      <vt:lpstr>PowerPoint Presentation</vt:lpstr>
      <vt:lpstr>PowerPoint Presentation</vt:lpstr>
      <vt:lpstr>Tipping points for green transformation by sector</vt:lpstr>
      <vt:lpstr>Investment must scale up by several points of GDP</vt:lpstr>
      <vt:lpstr>PowerPoint Presentation</vt:lpstr>
      <vt:lpstr>PowerPoint Presentation</vt:lpstr>
      <vt:lpstr>PowerPoint Presentation</vt:lpstr>
      <vt:lpstr>An additional $1 trillion per year is needed in external finance from different sources</vt:lpstr>
      <vt:lpstr>Addressing the debt challenge </vt:lpstr>
      <vt:lpstr>PowerPoint Presentation</vt:lpstr>
      <vt:lpstr>The cost of capital must be tackled</vt:lpstr>
      <vt:lpstr>PowerPoint Presentation</vt:lpstr>
      <vt:lpstr>PowerPoint Presentation</vt:lpstr>
      <vt:lpstr>PowerPoint Presentation</vt:lpstr>
      <vt:lpstr>A “Grand Match” to deliver on scale of finance needed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Accelerating climate action and sustainable development in Africa</dc:title>
  <dc:creator>Soubeyran,E</dc:creator>
  <cp:lastModifiedBy>Paul Antony Barbour</cp:lastModifiedBy>
  <cp:revision>28</cp:revision>
  <dcterms:created xsi:type="dcterms:W3CDTF">2022-11-18T17:14:07Z</dcterms:created>
  <dcterms:modified xsi:type="dcterms:W3CDTF">2023-02-08T16:07:33Z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0x010100F4C63C3BD852AE468EAEFD0E6C57C64F0200242493469E2B554F910929E515B8617A</vt:lpwstr>
  </property>
</Properties>
</file>