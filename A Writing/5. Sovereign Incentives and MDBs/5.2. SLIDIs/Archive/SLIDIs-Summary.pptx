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4553" r:id="rId4"/>
  </p:sldMasterIdLst>
  <p:notesMasterIdLst>
    <p:notesMasterId r:id="rId12"/>
  </p:notesMasterIdLst>
  <p:sldIdLst>
    <p:sldId id="350" r:id="rId5"/>
    <p:sldId id="332" r:id="rId6"/>
    <p:sldId id="302" r:id="rId7"/>
    <p:sldId id="267" r:id="rId8"/>
    <p:sldId id="270" r:id="rId9"/>
    <p:sldId id="338" r:id="rId10"/>
    <p:sldId id="355" r:id="rId11"/>
  </p:sldIdLst>
  <p:sldSz cx="9144000" cy="5143500" type="screen16x9"/>
  <p:notesSz cx="6858000" cy="9144000"/>
  <p:embeddedFontLst>
    <p:embeddedFont>
      <p:font typeface="Merriweather" pitchFamily="2" charset="77"/>
      <p:regular r:id="rId13"/>
      <p:bold r:id="rId14"/>
      <p:italic r:id="rId15"/>
      <p:boldItalic r:id="rId16"/>
    </p:embeddedFont>
    <p:embeddedFont>
      <p:font typeface="Roboto" panose="02000000000000000000" pitchFamily="2" charset="0"/>
      <p:regular r:id="rId17"/>
      <p:bold r:id="rId18"/>
      <p:italic r:id="rId19"/>
      <p:boldItalic r:id="rId20"/>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205F30B-DBA9-B108-89CA-A7CC2A3B6867}" name="Stephen John Stretton" initials="SS" userId="S::sstretton@worldbank.org::da8c780b-1aa2-4e36-94fb-871dc8111504" providerId="AD"/>
  <p188:author id="{F1613D9F-A197-850F-AE93-A634A7B4F7E2}" name="Nils Burkhard Patrik Zimmermann" initials="NBPZ" userId="S::nzimmermann@worldbank.org::ff02bda6-aa1d-49f9-bc1c-920e1083daef" providerId="AD"/>
  <p188:author id="{E0C990E1-2261-E0F6-54FB-973D4E73BA73}" name="Marcello Estevao" initials="ME" userId="S::mestevao@worldbank.org::3eb6c5ce-2aa9-4828-8ac9-dd7e4220b49e" providerId="AD"/>
  <p188:author id="{C7E0E7ED-2EB3-C63C-569F-637E32197C19}" name="Evie Davey" initials="ED" userId="08f35b59f79c2c7e"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85641"/>
    <a:srgbClr val="042F4A"/>
    <a:srgbClr val="039384"/>
    <a:srgbClr val="99CCFF"/>
    <a:srgbClr val="203617"/>
    <a:srgbClr val="FFFFFF"/>
    <a:srgbClr val="5FAD01"/>
    <a:srgbClr val="B85741"/>
    <a:srgbClr val="A72A1E"/>
    <a:srgbClr val="002F4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756"/>
    <p:restoredTop sz="94709"/>
  </p:normalViewPr>
  <p:slideViewPr>
    <p:cSldViewPr snapToGrid="0">
      <p:cViewPr varScale="1">
        <p:scale>
          <a:sx n="142" d="100"/>
          <a:sy n="142" d="100"/>
        </p:scale>
        <p:origin x="1096" y="16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font" Target="fonts/font7.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Let me venture a paraphrase of what President Kennedy said in 1962, when he announced the US would go to the moon, updated for today. He might now say:</a:t>
            </a:r>
          </a:p>
          <a:p>
            <a:r>
              <a:rPr lang="en-US" dirty="0"/>
              <a:t>We choose to go to net zero emissions in every country on Earth, in the coming quarter century, by 2050 or sooner, and do the other things that have to be done to protect the stability of our climate and biosphere even as we deliver clean energy in abundance to everyone on Earth, leaving no-one behind, not because these things are easy, but because they are necessary, and because we know that we can.</a:t>
            </a:r>
            <a:br>
              <a:rPr lang="en-US" dirty="0"/>
            </a:br>
            <a:r>
              <a:rPr lang="en-US" dirty="0"/>
              <a:t>Let’s look at how this might be financed. We already have the technologies we need in hand. What about the financial engineering?</a:t>
            </a:r>
          </a:p>
        </p:txBody>
      </p:sp>
    </p:spTree>
    <p:extLst>
      <p:ext uri="{BB962C8B-B14F-4D97-AF65-F5344CB8AC3E}">
        <p14:creationId xmlns:p14="http://schemas.microsoft.com/office/powerpoint/2010/main" val="39808296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core question of our time is how we can increase private investment flows to developing countries to fully finance sustainable development, leaving no-one behind, and making sure as we do so that we return within the global envelope of safety, within the crucial planetary boundaries that define sustainability. We have to redirect vast flows of financial savings in the direction of sustainability. How can we do that? Here’s a hypothesis: We can do it by de-risking sustainability-linked bonds and loans in ways that allow us to scale them up to trillions of dollars a year. Let’s look at how that could perhaps be done. </a:t>
            </a:r>
          </a:p>
        </p:txBody>
      </p:sp>
    </p:spTree>
    <p:extLst>
      <p:ext uri="{BB962C8B-B14F-4D97-AF65-F5344CB8AC3E}">
        <p14:creationId xmlns:p14="http://schemas.microsoft.com/office/powerpoint/2010/main" val="31030970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2a23badba93_1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2a23badba93_1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This presentation looks at how developing country sovereigns could best borrow large volumes of money cheaply from private sources to finance their transitions to clean energy abundance within a global transition to net zero greenhouse gas emissions. As populations and prosperity rise, most future emissions will come from developing economies. A big challenge is that developing countries generally have to pay high interest rates, due to foreign exchange and other country risks. One answer that has been offered to incentivize policy shifts toward lower emissions are “sustainability-linked bonds,” or SLBs, in which a sovereign pays a lower interest rate on bonds to the bond buyers if the country meets some key performance indicators, such as a target level of emissions per unit of GDP, and a higher rate if it fails to meet the target specified in the bond covenants, the bond’s terms and conditions. To date, sustainability-linked bonds have mostly been issued by corporations, not sovereigns. SLBs are a good idea and a step in the right direction, but we think this idea can be improved upon, and applied to sovereign borrowing. In our paper, we present two different possible ways SLBs could be adapted and improved to help developing-country sovereigns access lower-cost financing in exchange for sustainability-enhancing policy changes and infrastructure investments. For reasons that will become clear, we refer to these instruments as SLIDIs, or sustainability-linked intermediated debt instruments. SLIDIs are designed to de-risk lending to developing country sovereigns and at the same time, reward developing country sovereigns for achieving measurable improvements in agreed sustainability indicators. </a:t>
            </a:r>
          </a:p>
        </p:txBody>
      </p:sp>
    </p:spTree>
    <p:extLst>
      <p:ext uri="{BB962C8B-B14F-4D97-AF65-F5344CB8AC3E}">
        <p14:creationId xmlns:p14="http://schemas.microsoft.com/office/powerpoint/2010/main" val="22900286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2a0897977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2a0897977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Investors:</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Activist investors are uncomfortable with </a:t>
            </a:r>
            <a:r>
              <a:rPr lang="en-GB" sz="1100" b="1" dirty="0">
                <a:solidFill>
                  <a:srgbClr val="002F4A"/>
                </a:solidFill>
                <a:latin typeface="Roboto"/>
                <a:ea typeface="Roboto"/>
                <a:cs typeface="Roboto"/>
                <a:sym typeface="Roboto"/>
              </a:rPr>
              <a:t>higher</a:t>
            </a:r>
            <a:r>
              <a:rPr lang="en-GB" sz="1100" dirty="0">
                <a:solidFill>
                  <a:srgbClr val="002F4A"/>
                </a:solidFill>
                <a:latin typeface="Roboto"/>
                <a:ea typeface="Roboto"/>
                <a:cs typeface="Roboto"/>
                <a:sym typeface="Roboto"/>
              </a:rPr>
              <a:t> coupon payments linked to </a:t>
            </a:r>
            <a:r>
              <a:rPr lang="en-GB" sz="1100" b="1" dirty="0">
                <a:solidFill>
                  <a:srgbClr val="002F4A"/>
                </a:solidFill>
                <a:latin typeface="Roboto"/>
                <a:ea typeface="Roboto"/>
                <a:cs typeface="Roboto"/>
                <a:sym typeface="Roboto"/>
              </a:rPr>
              <a:t>failure</a:t>
            </a:r>
            <a:r>
              <a:rPr lang="en-GB" sz="1100" dirty="0">
                <a:solidFill>
                  <a:srgbClr val="002F4A"/>
                </a:solidFill>
                <a:latin typeface="Roboto"/>
                <a:ea typeface="Roboto"/>
                <a:cs typeface="Roboto"/>
                <a:sym typeface="Roboto"/>
              </a:rPr>
              <a:t> to achieve climate objectives</a:t>
            </a:r>
          </a:p>
          <a:p>
            <a:pPr marL="457200" lvl="0"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Investors are exposed to </a:t>
            </a:r>
            <a:r>
              <a:rPr lang="en-GB" sz="1100" b="1" dirty="0">
                <a:solidFill>
                  <a:srgbClr val="002F4A"/>
                </a:solidFill>
                <a:latin typeface="Roboto"/>
                <a:ea typeface="Roboto"/>
                <a:cs typeface="Roboto"/>
                <a:sym typeface="Roboto"/>
              </a:rPr>
              <a:t>risks</a:t>
            </a:r>
            <a:r>
              <a:rPr lang="en-GB" sz="1100" dirty="0">
                <a:solidFill>
                  <a:srgbClr val="002F4A"/>
                </a:solidFill>
                <a:latin typeface="Roboto"/>
                <a:ea typeface="Roboto"/>
                <a:cs typeface="Roboto"/>
                <a:sym typeface="Roboto"/>
              </a:rPr>
              <a:t> related to non-payments</a:t>
            </a:r>
          </a:p>
          <a:p>
            <a:pPr marL="0" lvl="0" indent="0" algn="l" rtl="0">
              <a:lnSpc>
                <a:spcPct val="115000"/>
              </a:lnSpc>
              <a:spcBef>
                <a:spcPts val="0"/>
              </a:spcBef>
              <a:spcAft>
                <a:spcPts val="0"/>
              </a:spcAft>
              <a:buNone/>
            </a:pPr>
            <a:r>
              <a:rPr lang="en-GB" sz="1200" b="1" dirty="0">
                <a:latin typeface="Roboto"/>
                <a:ea typeface="Roboto"/>
                <a:cs typeface="Roboto"/>
                <a:sym typeface="Roboto"/>
              </a:rPr>
              <a:t>Disincentives for Sovereign:</a:t>
            </a:r>
          </a:p>
          <a:p>
            <a:pPr marL="457200" lvl="0" indent="-298450" algn="l" rtl="0">
              <a:lnSpc>
                <a:spcPct val="115000"/>
              </a:lnSpc>
              <a:spcBef>
                <a:spcPts val="120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Nearly 95% of SLBs employ a step-up coupon structure (</a:t>
            </a:r>
            <a:r>
              <a:rPr lang="en-GB" sz="1100" dirty="0" err="1">
                <a:solidFill>
                  <a:srgbClr val="002F4A"/>
                </a:solidFill>
                <a:latin typeface="Roboto"/>
                <a:ea typeface="Roboto"/>
                <a:cs typeface="Roboto"/>
                <a:sym typeface="Roboto"/>
              </a:rPr>
              <a:t>Berrada</a:t>
            </a:r>
            <a:r>
              <a:rPr lang="en-GB" sz="1100" dirty="0">
                <a:solidFill>
                  <a:srgbClr val="002F4A"/>
                </a:solidFill>
                <a:latin typeface="Roboto"/>
                <a:ea typeface="Roboto"/>
                <a:cs typeface="Roboto"/>
                <a:sym typeface="Roboto"/>
              </a:rPr>
              <a:t> et al., 2022)</a:t>
            </a:r>
          </a:p>
          <a:p>
            <a:pPr marL="914400" lvl="1" indent="-298450" algn="l" rtl="0">
              <a:lnSpc>
                <a:spcPct val="115000"/>
              </a:lnSpc>
              <a:spcBef>
                <a:spcPts val="0"/>
              </a:spcBef>
              <a:spcAft>
                <a:spcPts val="0"/>
              </a:spcAft>
              <a:buClr>
                <a:schemeClr val="dk1"/>
              </a:buClr>
              <a:buSzPts val="1100"/>
              <a:buFont typeface="Roboto"/>
              <a:buChar char="○"/>
            </a:pPr>
            <a:r>
              <a:rPr lang="en-GB" sz="1100" dirty="0">
                <a:solidFill>
                  <a:srgbClr val="002F4A"/>
                </a:solidFill>
                <a:latin typeface="Roboto"/>
                <a:ea typeface="Roboto"/>
                <a:cs typeface="Roboto"/>
                <a:sym typeface="Roboto"/>
              </a:rPr>
              <a:t>Sovereigns are financially </a:t>
            </a:r>
            <a:r>
              <a:rPr lang="en-GB" sz="1100" b="1" dirty="0">
                <a:solidFill>
                  <a:srgbClr val="002F4A"/>
                </a:solidFill>
                <a:latin typeface="Roboto"/>
                <a:ea typeface="Roboto"/>
                <a:cs typeface="Roboto"/>
                <a:sym typeface="Roboto"/>
              </a:rPr>
              <a:t>penalized</a:t>
            </a:r>
            <a:r>
              <a:rPr lang="en-GB" sz="1100" dirty="0">
                <a:solidFill>
                  <a:srgbClr val="002F4A"/>
                </a:solidFill>
                <a:latin typeface="Roboto"/>
                <a:ea typeface="Roboto"/>
                <a:cs typeface="Roboto"/>
                <a:sym typeface="Roboto"/>
              </a:rPr>
              <a:t> for not achieving KPI targets, rather than being </a:t>
            </a:r>
            <a:r>
              <a:rPr lang="en-GB" sz="1100" b="1" dirty="0">
                <a:solidFill>
                  <a:srgbClr val="002F4A"/>
                </a:solidFill>
                <a:latin typeface="Roboto"/>
                <a:ea typeface="Roboto"/>
                <a:cs typeface="Roboto"/>
                <a:sym typeface="Roboto"/>
              </a:rPr>
              <a:t>rewarded</a:t>
            </a:r>
            <a:r>
              <a:rPr lang="en-GB" sz="1100" dirty="0">
                <a:solidFill>
                  <a:srgbClr val="002F4A"/>
                </a:solidFill>
                <a:latin typeface="Roboto"/>
                <a:ea typeface="Roboto"/>
                <a:cs typeface="Roboto"/>
                <a:sym typeface="Roboto"/>
              </a:rPr>
              <a:t> for outperforming</a:t>
            </a:r>
          </a:p>
          <a:p>
            <a:pPr marL="0" lvl="0" indent="0" algn="l" rtl="0">
              <a:lnSpc>
                <a:spcPct val="115000"/>
              </a:lnSpc>
              <a:spcBef>
                <a:spcPts val="0"/>
              </a:spcBef>
              <a:spcAft>
                <a:spcPts val="0"/>
              </a:spcAft>
              <a:buNone/>
            </a:pPr>
            <a:r>
              <a:rPr lang="en-GB" sz="1200" b="1" dirty="0">
                <a:latin typeface="Roboto"/>
                <a:ea typeface="Roboto"/>
                <a:cs typeface="Roboto"/>
                <a:sym typeface="Roboto"/>
              </a:rPr>
              <a:t>Complexity:</a:t>
            </a:r>
          </a:p>
          <a:p>
            <a:pPr marL="457200" lvl="0" indent="-298450" algn="l" rtl="0">
              <a:lnSpc>
                <a:spcPct val="115000"/>
              </a:lnSpc>
              <a:spcBef>
                <a:spcPts val="120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While SLBs hold great potential, they have not seen widespread adoption from sovereigns or financial institutions </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Perceived </a:t>
            </a:r>
            <a:r>
              <a:rPr lang="en-GB" sz="1100" b="1" dirty="0">
                <a:solidFill>
                  <a:srgbClr val="002F4A"/>
                </a:solidFill>
                <a:latin typeface="Roboto"/>
                <a:ea typeface="Roboto"/>
                <a:cs typeface="Roboto"/>
                <a:sym typeface="Roboto"/>
              </a:rPr>
              <a:t>complexity</a:t>
            </a:r>
            <a:r>
              <a:rPr lang="en-GB" sz="1100" dirty="0">
                <a:solidFill>
                  <a:srgbClr val="002F4A"/>
                </a:solidFill>
                <a:latin typeface="Roboto"/>
                <a:ea typeface="Roboto"/>
                <a:cs typeface="Roboto"/>
                <a:sym typeface="Roboto"/>
              </a:rPr>
              <a:t> is a key deterrent</a:t>
            </a:r>
          </a:p>
          <a:p>
            <a:pPr marL="914400" lvl="1" indent="-298450" algn="l" rtl="0">
              <a:lnSpc>
                <a:spcPct val="115000"/>
              </a:lnSpc>
              <a:spcBef>
                <a:spcPts val="0"/>
              </a:spcBef>
              <a:spcAft>
                <a:spcPts val="0"/>
              </a:spcAft>
              <a:buClr>
                <a:schemeClr val="accent1"/>
              </a:buClr>
              <a:buSzPts val="1100"/>
              <a:buFont typeface="Roboto"/>
              <a:buChar char="○"/>
            </a:pPr>
            <a:r>
              <a:rPr lang="en-GB" sz="1100" dirty="0">
                <a:solidFill>
                  <a:srgbClr val="002F4A"/>
                </a:solidFill>
                <a:latin typeface="Roboto"/>
                <a:ea typeface="Roboto"/>
                <a:cs typeface="Roboto"/>
                <a:sym typeface="Roboto"/>
              </a:rPr>
              <a:t>Uptake of </a:t>
            </a:r>
            <a:r>
              <a:rPr lang="en-GB" sz="1100" b="1" dirty="0">
                <a:solidFill>
                  <a:srgbClr val="002F4A"/>
                </a:solidFill>
                <a:latin typeface="Roboto"/>
                <a:ea typeface="Roboto"/>
                <a:cs typeface="Roboto"/>
                <a:sym typeface="Roboto"/>
              </a:rPr>
              <a:t>uniform standards </a:t>
            </a:r>
            <a:r>
              <a:rPr lang="en-GB" sz="1100" dirty="0">
                <a:solidFill>
                  <a:srgbClr val="002F4A"/>
                </a:solidFill>
                <a:latin typeface="Roboto"/>
                <a:ea typeface="Roboto"/>
                <a:cs typeface="Roboto"/>
                <a:sym typeface="Roboto"/>
              </a:rPr>
              <a:t>for targets</a:t>
            </a:r>
            <a:r>
              <a:rPr lang="en-GB" sz="1100" b="1" dirty="0">
                <a:solidFill>
                  <a:srgbClr val="002F4A"/>
                </a:solidFill>
                <a:latin typeface="Roboto"/>
                <a:ea typeface="Roboto"/>
                <a:cs typeface="Roboto"/>
                <a:sym typeface="Roboto"/>
              </a:rPr>
              <a:t> </a:t>
            </a:r>
            <a:r>
              <a:rPr lang="en-GB" sz="1100" dirty="0">
                <a:solidFill>
                  <a:srgbClr val="002F4A"/>
                </a:solidFill>
                <a:latin typeface="Roboto"/>
                <a:ea typeface="Roboto"/>
                <a:cs typeface="Roboto"/>
                <a:sym typeface="Roboto"/>
              </a:rPr>
              <a:t>has been slow</a:t>
            </a:r>
            <a:endParaRPr lang="en-GB" sz="1100" dirty="0">
              <a:solidFill>
                <a:srgbClr val="002F4A"/>
              </a:solidFill>
              <a:latin typeface="Roboto"/>
              <a:ea typeface="Roboto"/>
              <a:cs typeface="Roboto"/>
            </a:endParaRPr>
          </a:p>
          <a:p>
            <a:pPr marL="914400" lvl="1" indent="-298450" algn="l" rtl="0">
              <a:lnSpc>
                <a:spcPct val="115000"/>
              </a:lnSpc>
              <a:spcBef>
                <a:spcPts val="0"/>
              </a:spcBef>
              <a:spcAft>
                <a:spcPts val="0"/>
              </a:spcAft>
              <a:buClr>
                <a:schemeClr val="dk1"/>
              </a:buClr>
              <a:buSzPts val="1100"/>
              <a:buFont typeface="Roboto"/>
              <a:buChar char="○"/>
            </a:pPr>
            <a:endParaRPr lang="en-GB" sz="1100" dirty="0">
              <a:solidFill>
                <a:srgbClr val="002F4A"/>
              </a:solidFill>
              <a:latin typeface="Roboto"/>
              <a:ea typeface="Roboto"/>
              <a:cs typeface="Roboto"/>
              <a:sym typeface="Roboto"/>
            </a:endParaRPr>
          </a:p>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donor might be a coalition including several oil-rich nations and the European Union, for example </a:t>
            </a:r>
            <a:endParaRPr dirty="0"/>
          </a:p>
        </p:txBody>
      </p:sp>
    </p:spTree>
    <p:extLst>
      <p:ext uri="{BB962C8B-B14F-4D97-AF65-F5344CB8AC3E}">
        <p14:creationId xmlns:p14="http://schemas.microsoft.com/office/powerpoint/2010/main" val="39592286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a:extLst>
            <a:ext uri="{FF2B5EF4-FFF2-40B4-BE49-F238E27FC236}">
              <a16:creationId xmlns:a16="http://schemas.microsoft.com/office/drawing/2014/main" id="{60185898-FDCB-90C1-32A7-42D82CEC58ED}"/>
            </a:ext>
          </a:extLst>
        </p:cNvPr>
        <p:cNvGrpSpPr/>
        <p:nvPr/>
      </p:nvGrpSpPr>
      <p:grpSpPr>
        <a:xfrm>
          <a:off x="0" y="0"/>
          <a:ext cx="0" cy="0"/>
          <a:chOff x="0" y="0"/>
          <a:chExt cx="0" cy="0"/>
        </a:xfrm>
      </p:grpSpPr>
      <p:sp>
        <p:nvSpPr>
          <p:cNvPr id="242" name="Google Shape;242;g2a0ac66233e_1_3533:notes">
            <a:extLst>
              <a:ext uri="{FF2B5EF4-FFF2-40B4-BE49-F238E27FC236}">
                <a16:creationId xmlns:a16="http://schemas.microsoft.com/office/drawing/2014/main" id="{836516CF-9E7A-6FB2-4502-3BE56A4B65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3" name="Google Shape;243;g2a0ac66233e_1_3533:notes">
            <a:extLst>
              <a:ext uri="{FF2B5EF4-FFF2-40B4-BE49-F238E27FC236}">
                <a16:creationId xmlns:a16="http://schemas.microsoft.com/office/drawing/2014/main" id="{E748E527-D8F1-E2B1-4A9A-5F0E6E15FF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key points here are that we know development banks are a proven model, and that the reason we might need a separate vehicle with its own balance sheet for this purpose is that it’s unlikely that all shareholders of the World Bank or other existing development banks will agree to increase the size of the existing banks’ balance sheets to the extent required, so instead, it might be possible to create a separate balance sheet backed by a coalition of willing wealthy sovereigns, yet managed by an existing development bank. I’ll emphasize again that my co-authors and I are floating ideas here in a purely personal capacity, this is not a policy under development in the World Bank or any other development bank, and we’re not speaking for any existing institution!</a:t>
            </a:r>
            <a:endParaRPr dirty="0"/>
          </a:p>
        </p:txBody>
      </p:sp>
    </p:spTree>
    <p:extLst>
      <p:ext uri="{BB962C8B-B14F-4D97-AF65-F5344CB8AC3E}">
        <p14:creationId xmlns:p14="http://schemas.microsoft.com/office/powerpoint/2010/main" val="53542443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descr="Looking up at the sky through the trees&#10;&#10;Description automatically generated">
            <a:extLst>
              <a:ext uri="{FF2B5EF4-FFF2-40B4-BE49-F238E27FC236}">
                <a16:creationId xmlns:a16="http://schemas.microsoft.com/office/drawing/2014/main" id="{93E89D5A-95FC-C9B6-1B0C-99FF0E10BC1A}"/>
              </a:ext>
            </a:extLst>
          </p:cNvPr>
          <p:cNvPicPr>
            <a:picLocks noChangeAspect="1"/>
          </p:cNvPicPr>
          <p:nvPr userDrawn="1"/>
        </p:nvPicPr>
        <p:blipFill>
          <a:blip r:embed="rId2"/>
          <a:stretch>
            <a:fillRect/>
          </a:stretch>
        </p:blipFill>
        <p:spPr>
          <a:xfrm>
            <a:off x="0" y="200440"/>
            <a:ext cx="9144000" cy="4943060"/>
          </a:xfrm>
          <a:prstGeom prst="rect">
            <a:avLst/>
          </a:prstGeom>
        </p:spPr>
      </p:pic>
      <p:sp>
        <p:nvSpPr>
          <p:cNvPr id="28" name="Google Shape;10;p2">
            <a:extLst>
              <a:ext uri="{FF2B5EF4-FFF2-40B4-BE49-F238E27FC236}">
                <a16:creationId xmlns:a16="http://schemas.microsoft.com/office/drawing/2014/main" id="{5228A903-53C0-8F47-64A3-A47C5B74A222}"/>
              </a:ext>
            </a:extLst>
          </p:cNvPr>
          <p:cNvSpPr/>
          <p:nvPr userDrawn="1"/>
        </p:nvSpPr>
        <p:spPr>
          <a:xfrm>
            <a:off x="0" y="0"/>
            <a:ext cx="9144000" cy="4857750"/>
          </a:xfrm>
          <a:custGeom>
            <a:avLst/>
            <a:gdLst/>
            <a:ahLst/>
            <a:cxnLst/>
            <a:rect l="l" t="t" r="r" b="b"/>
            <a:pathLst>
              <a:path w="365770" h="175924" extrusionOk="0">
                <a:moveTo>
                  <a:pt x="0" y="0"/>
                </a:moveTo>
                <a:lnTo>
                  <a:pt x="365770" y="0"/>
                </a:lnTo>
                <a:lnTo>
                  <a:pt x="365760" y="70914"/>
                </a:lnTo>
                <a:lnTo>
                  <a:pt x="0" y="175924"/>
                </a:lnTo>
                <a:close/>
              </a:path>
            </a:pathLst>
          </a:custGeom>
          <a:solidFill>
            <a:schemeClr val="bg1"/>
          </a:solidFill>
          <a:ln>
            <a:noFill/>
          </a:ln>
        </p:spPr>
      </p:sp>
      <p:sp>
        <p:nvSpPr>
          <p:cNvPr id="2" name="Title 1">
            <a:extLst>
              <a:ext uri="{FF2B5EF4-FFF2-40B4-BE49-F238E27FC236}">
                <a16:creationId xmlns:a16="http://schemas.microsoft.com/office/drawing/2014/main" id="{568529B4-9A66-3967-93D1-B1E1D764EED2}"/>
              </a:ext>
            </a:extLst>
          </p:cNvPr>
          <p:cNvSpPr>
            <a:spLocks noGrp="1"/>
          </p:cNvSpPr>
          <p:nvPr>
            <p:ph type="ctrTitle"/>
          </p:nvPr>
        </p:nvSpPr>
        <p:spPr>
          <a:xfrm>
            <a:off x="420053" y="481076"/>
            <a:ext cx="7823835" cy="1790700"/>
          </a:xfrm>
          <a:prstGeom prst="rect">
            <a:avLst/>
          </a:prstGeom>
        </p:spPr>
        <p:txBody>
          <a:bodyPr anchor="b"/>
          <a:lstStyle>
            <a:lvl1pPr algn="l">
              <a:defRPr sz="3600" b="1" i="0">
                <a:solidFill>
                  <a:srgbClr val="042245"/>
                </a:solidFill>
                <a:latin typeface="Merriweather" pitchFamily="2" charset="77"/>
                <a:cs typeface="Arial Hebrew" pitchFamily="2" charset="-79"/>
              </a:defRPr>
            </a:lvl1pPr>
          </a:lstStyle>
          <a:p>
            <a:r>
              <a:rPr lang="en-GB"/>
              <a:t>Click to edit Master title style</a:t>
            </a:r>
            <a:endParaRPr lang="en-US"/>
          </a:p>
        </p:txBody>
      </p:sp>
      <p:sp>
        <p:nvSpPr>
          <p:cNvPr id="3" name="Subtitle 2">
            <a:extLst>
              <a:ext uri="{FF2B5EF4-FFF2-40B4-BE49-F238E27FC236}">
                <a16:creationId xmlns:a16="http://schemas.microsoft.com/office/drawing/2014/main" id="{58D037B6-4255-92E8-A047-EA43DE80A014}"/>
              </a:ext>
            </a:extLst>
          </p:cNvPr>
          <p:cNvSpPr>
            <a:spLocks noGrp="1"/>
          </p:cNvSpPr>
          <p:nvPr>
            <p:ph type="subTitle" idx="1"/>
          </p:nvPr>
        </p:nvSpPr>
        <p:spPr>
          <a:xfrm>
            <a:off x="420053" y="2428875"/>
            <a:ext cx="4629150" cy="481076"/>
          </a:xfrm>
          <a:prstGeom prst="rect">
            <a:avLst/>
          </a:prstGeom>
        </p:spPr>
        <p:txBody>
          <a:bodyPr/>
          <a:lstStyle>
            <a:lvl1pPr marL="0" indent="0" algn="l">
              <a:buNone/>
              <a:defRPr sz="1800" b="0" i="0">
                <a:solidFill>
                  <a:srgbClr val="B8564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Master subtitle style</a:t>
            </a:r>
            <a:endParaRPr lang="en-US"/>
          </a:p>
        </p:txBody>
      </p:sp>
      <p:sp>
        <p:nvSpPr>
          <p:cNvPr id="12" name="Text Placeholder 11">
            <a:extLst>
              <a:ext uri="{FF2B5EF4-FFF2-40B4-BE49-F238E27FC236}">
                <a16:creationId xmlns:a16="http://schemas.microsoft.com/office/drawing/2014/main" id="{C305172B-6733-BD95-91C3-40B44DC1B93D}"/>
              </a:ext>
            </a:extLst>
          </p:cNvPr>
          <p:cNvSpPr>
            <a:spLocks noGrp="1"/>
          </p:cNvSpPr>
          <p:nvPr>
            <p:ph type="body" sz="quarter" idx="10"/>
          </p:nvPr>
        </p:nvSpPr>
        <p:spPr>
          <a:xfrm>
            <a:off x="6827745" y="3761815"/>
            <a:ext cx="2047175" cy="1181660"/>
          </a:xfrm>
          <a:prstGeom prst="rect">
            <a:avLst/>
          </a:prstGeom>
        </p:spPr>
        <p:txBody>
          <a:bodyPr/>
          <a:lstStyle>
            <a:lvl1pPr marL="0" indent="0" algn="r">
              <a:lnSpc>
                <a:spcPct val="150000"/>
              </a:lnSpc>
              <a:spcBef>
                <a:spcPts val="0"/>
              </a:spcBef>
              <a:buNone/>
              <a:defRPr sz="1200">
                <a:solidFill>
                  <a:schemeClr val="bg1"/>
                </a:solidFill>
                <a:latin typeface="Merriweather" pitchFamily="2" charset="77"/>
                <a:ea typeface="Roboto" panose="02000000000000000000" pitchFamily="2" charset="0"/>
                <a:cs typeface="Roboto" panose="02000000000000000000" pitchFamily="2" charset="0"/>
              </a:defRPr>
            </a:lvl1pPr>
          </a:lstStyle>
          <a:p>
            <a:pPr lvl="0"/>
            <a:r>
              <a:rPr lang="en-GB"/>
              <a:t>Click to edit Master text styles</a:t>
            </a:r>
            <a:endParaRPr lang="en-US"/>
          </a:p>
        </p:txBody>
      </p:sp>
    </p:spTree>
    <p:extLst>
      <p:ext uri="{BB962C8B-B14F-4D97-AF65-F5344CB8AC3E}">
        <p14:creationId xmlns:p14="http://schemas.microsoft.com/office/powerpoint/2010/main" val="124596304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5"/>
            <a:ext cx="3684662" cy="481076"/>
          </a:xfrm>
          <a:prstGeom prst="rect">
            <a:avLst/>
          </a:prstGeom>
        </p:spPr>
        <p:txBody>
          <a:bodyPr/>
          <a:lstStyle>
            <a:lvl1pPr marL="0" indent="0" algn="l">
              <a:buNone/>
              <a:defRPr sz="2100" b="0" i="0">
                <a:solidFill>
                  <a:srgbClr val="002F4A"/>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Contents</a:t>
            </a:r>
            <a:endParaRPr lang="en-US" dirty="0"/>
          </a:p>
        </p:txBody>
      </p:sp>
      <p:sp>
        <p:nvSpPr>
          <p:cNvPr id="8" name="Text Placeholder 10">
            <a:extLst>
              <a:ext uri="{FF2B5EF4-FFF2-40B4-BE49-F238E27FC236}">
                <a16:creationId xmlns:a16="http://schemas.microsoft.com/office/drawing/2014/main" id="{C162F2BA-E0FC-F567-87AA-D8D8A4C92F20}"/>
              </a:ext>
            </a:extLst>
          </p:cNvPr>
          <p:cNvSpPr>
            <a:spLocks noGrp="1"/>
          </p:cNvSpPr>
          <p:nvPr>
            <p:ph type="body" sz="quarter" idx="11"/>
          </p:nvPr>
        </p:nvSpPr>
        <p:spPr>
          <a:xfrm>
            <a:off x="5012393" y="1007877"/>
            <a:ext cx="3953434" cy="3984344"/>
          </a:xfrm>
          <a:prstGeom prst="rect">
            <a:avLst/>
          </a:prstGeom>
        </p:spPr>
        <p:txBody>
          <a:bodyPr>
            <a:normAutofit/>
          </a:bodyPr>
          <a:lstStyle>
            <a:lvl1pPr marL="214313" indent="-385763">
              <a:lnSpc>
                <a:spcPct val="150000"/>
              </a:lnSpc>
              <a:spcBef>
                <a:spcPts val="0"/>
              </a:spcBef>
              <a:buFont typeface="+mj-lt"/>
              <a:buAutoNum type="romanUcPeriod"/>
              <a:defRPr sz="1500" b="0" i="0">
                <a:solidFill>
                  <a:srgbClr val="B85641"/>
                </a:solidFill>
                <a:latin typeface="Merriweather" pitchFamily="2" charset="77"/>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Merriweather" pitchFamily="2" charset="77"/>
                <a:ea typeface="Roboto" panose="02000000000000000000" pitchFamily="2" charset="0"/>
                <a:cs typeface="Roboto" panose="02000000000000000000" pitchFamily="2" charset="0"/>
              </a:defRPr>
            </a:lvl2pPr>
            <a:lvl3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3pPr>
            <a:lvl4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4pPr>
            <a:lvl5pPr>
              <a:lnSpc>
                <a:spcPct val="150000"/>
              </a:lnSpc>
              <a:spcBef>
                <a:spcPts val="0"/>
              </a:spcBef>
              <a:buClr>
                <a:schemeClr val="tx1"/>
              </a:buClr>
              <a:defRPr sz="1200" b="0" i="0">
                <a:latin typeface="Merriweather" pitchFamily="2" charset="77"/>
                <a:ea typeface="Roboto" panose="02000000000000000000" pitchFamily="2" charset="0"/>
                <a:cs typeface="Roboto" panose="02000000000000000000"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a:p>
            <a:pPr lvl="0"/>
            <a:r>
              <a:rPr lang="en-GB" dirty="0"/>
              <a:t>Click to edit </a:t>
            </a:r>
          </a:p>
          <a:p>
            <a:pPr lvl="1"/>
            <a:r>
              <a:rPr lang="en-GB" dirty="0"/>
              <a:t>c</a:t>
            </a:r>
          </a:p>
          <a:p>
            <a:pPr lvl="0"/>
            <a:endParaRPr lang="en-US" dirty="0"/>
          </a:p>
        </p:txBody>
      </p:sp>
      <p:pic>
        <p:nvPicPr>
          <p:cNvPr id="11" name="Picture 10" descr="Looking up view of trees in the forest&#10;&#10;Description automatically generated">
            <a:extLst>
              <a:ext uri="{FF2B5EF4-FFF2-40B4-BE49-F238E27FC236}">
                <a16:creationId xmlns:a16="http://schemas.microsoft.com/office/drawing/2014/main" id="{7180AF91-3BD3-C1B3-02C5-FD0B8796D1C9}"/>
              </a:ext>
            </a:extLst>
          </p:cNvPr>
          <p:cNvPicPr>
            <a:picLocks noChangeAspect="1"/>
          </p:cNvPicPr>
          <p:nvPr userDrawn="1"/>
        </p:nvPicPr>
        <p:blipFill rotWithShape="1">
          <a:blip r:embed="rId2"/>
          <a:srcRect l="18347" r="19585"/>
          <a:stretch/>
        </p:blipFill>
        <p:spPr>
          <a:xfrm>
            <a:off x="0" y="1"/>
            <a:ext cx="4901454" cy="5159582"/>
          </a:xfrm>
          <a:prstGeom prst="rect">
            <a:avLst/>
          </a:prstGeom>
        </p:spPr>
      </p:pic>
    </p:spTree>
    <p:extLst>
      <p:ext uri="{BB962C8B-B14F-4D97-AF65-F5344CB8AC3E}">
        <p14:creationId xmlns:p14="http://schemas.microsoft.com/office/powerpoint/2010/main" val="3887618070"/>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tents">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58D037B6-4255-92E8-A047-EA43DE80A014}"/>
              </a:ext>
            </a:extLst>
          </p:cNvPr>
          <p:cNvSpPr>
            <a:spLocks noGrp="1"/>
          </p:cNvSpPr>
          <p:nvPr>
            <p:ph type="subTitle" idx="1" hasCustomPrompt="1"/>
          </p:nvPr>
        </p:nvSpPr>
        <p:spPr>
          <a:xfrm>
            <a:off x="5012393" y="396344"/>
            <a:ext cx="3684662" cy="4416815"/>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Contents</a:t>
            </a:r>
            <a:endParaRPr lang="en-US"/>
          </a:p>
        </p:txBody>
      </p:sp>
      <p:pic>
        <p:nvPicPr>
          <p:cNvPr id="4" name="Picture 3">
            <a:extLst>
              <a:ext uri="{FF2B5EF4-FFF2-40B4-BE49-F238E27FC236}">
                <a16:creationId xmlns:a16="http://schemas.microsoft.com/office/drawing/2014/main" id="{9D0D0BCD-F44D-1706-7F89-A5A6E788B453}"/>
              </a:ext>
            </a:extLst>
          </p:cNvPr>
          <p:cNvPicPr>
            <a:picLocks noChangeAspect="1"/>
          </p:cNvPicPr>
          <p:nvPr userDrawn="1"/>
        </p:nvPicPr>
        <p:blipFill rotWithShape="1">
          <a:blip r:embed="rId2"/>
          <a:srcRect l="-48841" t="-25532" r="-9973" b="-9433"/>
          <a:stretch/>
        </p:blipFill>
        <p:spPr>
          <a:xfrm>
            <a:off x="-4479010" y="-1657282"/>
            <a:ext cx="14521911" cy="8524066"/>
          </a:xfrm>
          <a:prstGeom prst="diagStripe">
            <a:avLst/>
          </a:prstGeom>
        </p:spPr>
      </p:pic>
    </p:spTree>
    <p:extLst>
      <p:ext uri="{BB962C8B-B14F-4D97-AF65-F5344CB8AC3E}">
        <p14:creationId xmlns:p14="http://schemas.microsoft.com/office/powerpoint/2010/main" val="4147021562"/>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Text">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644A956F-8D9E-730A-8ED4-70AE9CAF9BFF}"/>
              </a:ext>
            </a:extLst>
          </p:cNvPr>
          <p:cNvSpPr/>
          <p:nvPr userDrawn="1"/>
        </p:nvSpPr>
        <p:spPr>
          <a:xfrm>
            <a:off x="0" y="4369000"/>
            <a:ext cx="9144000" cy="774300"/>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1065AF75-8151-A814-B641-45A094F28D43}"/>
              </a:ext>
            </a:extLst>
          </p:cNvPr>
          <p:cNvSpPr>
            <a:spLocks noGrp="1"/>
          </p:cNvSpPr>
          <p:nvPr>
            <p:ph type="subTitle" idx="1"/>
          </p:nvPr>
        </p:nvSpPr>
        <p:spPr>
          <a:xfrm>
            <a:off x="251837" y="4662424"/>
            <a:ext cx="8560046"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a:t>
            </a:r>
            <a:endParaRPr lang="en-US"/>
          </a:p>
        </p:txBody>
      </p:sp>
      <p:sp>
        <p:nvSpPr>
          <p:cNvPr id="5" name="Text Placeholder 10">
            <a:extLst>
              <a:ext uri="{FF2B5EF4-FFF2-40B4-BE49-F238E27FC236}">
                <a16:creationId xmlns:a16="http://schemas.microsoft.com/office/drawing/2014/main" id="{A8B43B10-DBFB-A02C-5C8F-67E30474F3B2}"/>
              </a:ext>
            </a:extLst>
          </p:cNvPr>
          <p:cNvSpPr>
            <a:spLocks noGrp="1"/>
          </p:cNvSpPr>
          <p:nvPr>
            <p:ph type="body" sz="quarter" idx="11"/>
          </p:nvPr>
        </p:nvSpPr>
        <p:spPr>
          <a:xfrm>
            <a:off x="299661" y="386775"/>
            <a:ext cx="8512222" cy="3792723"/>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Tree>
    <p:extLst>
      <p:ext uri="{BB962C8B-B14F-4D97-AF65-F5344CB8AC3E}">
        <p14:creationId xmlns:p14="http://schemas.microsoft.com/office/powerpoint/2010/main" val="251375046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ingle Column Text 2">
    <p:spTree>
      <p:nvGrpSpPr>
        <p:cNvPr id="1" name=""/>
        <p:cNvGrpSpPr/>
        <p:nvPr/>
      </p:nvGrpSpPr>
      <p:grpSpPr>
        <a:xfrm>
          <a:off x="0" y="0"/>
          <a:ext cx="0" cy="0"/>
          <a:chOff x="0" y="0"/>
          <a:chExt cx="0" cy="0"/>
        </a:xfrm>
      </p:grpSpPr>
      <p:sp>
        <p:nvSpPr>
          <p:cNvPr id="6" name="Google Shape;51;p10">
            <a:extLst>
              <a:ext uri="{FF2B5EF4-FFF2-40B4-BE49-F238E27FC236}">
                <a16:creationId xmlns:a16="http://schemas.microsoft.com/office/drawing/2014/main" id="{225E250B-4C8B-406B-CF64-6E0549C0FFAB}"/>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5" name="Text Placeholder 10">
            <a:extLst>
              <a:ext uri="{FF2B5EF4-FFF2-40B4-BE49-F238E27FC236}">
                <a16:creationId xmlns:a16="http://schemas.microsoft.com/office/drawing/2014/main" id="{6E9B70A4-430C-DC78-7F41-725E8EED92F7}"/>
              </a:ext>
            </a:extLst>
          </p:cNvPr>
          <p:cNvSpPr>
            <a:spLocks noGrp="1"/>
          </p:cNvSpPr>
          <p:nvPr>
            <p:ph type="body" sz="quarter" idx="11"/>
          </p:nvPr>
        </p:nvSpPr>
        <p:spPr>
          <a:xfrm>
            <a:off x="293300" y="1273628"/>
            <a:ext cx="8534811" cy="3698045"/>
          </a:xfrm>
          <a:prstGeom prst="rect">
            <a:avLst/>
          </a:prstGeom>
        </p:spPr>
        <p:txBody>
          <a:bodyPr>
            <a:normAutofit/>
          </a:bodyPr>
          <a:lstStyle>
            <a:lvl1pPr marL="0">
              <a:lnSpc>
                <a:spcPct val="150000"/>
              </a:lnSpc>
              <a:spcBef>
                <a:spcPts val="0"/>
              </a:spcBef>
              <a:defRPr sz="1500" b="0" i="0">
                <a:solidFill>
                  <a:srgbClr val="B85641"/>
                </a:solidFill>
                <a:latin typeface="Roboto" panose="02000000000000000000" pitchFamily="2" charset="0"/>
                <a:ea typeface="Roboto" panose="02000000000000000000" pitchFamily="2" charset="0"/>
                <a:cs typeface="Roboto" panose="02000000000000000000" pitchFamily="2" charset="0"/>
              </a:defRPr>
            </a:lvl1pPr>
            <a:lvl2pPr marL="557213" indent="-214313">
              <a:lnSpc>
                <a:spcPct val="150000"/>
              </a:lnSpc>
              <a:spcBef>
                <a:spcPts val="0"/>
              </a:spcBef>
              <a:buClr>
                <a:schemeClr val="tx1"/>
              </a:buClr>
              <a:buFont typeface="Arial" panose="020B0604020202020204" pitchFamily="34" charset="0"/>
              <a:buChar char="•"/>
              <a:defRPr sz="1350" b="0" i="0">
                <a:latin typeface="Roboto" panose="02000000000000000000" pitchFamily="2" charset="0"/>
                <a:ea typeface="Roboto" panose="02000000000000000000" pitchFamily="2" charset="0"/>
                <a:cs typeface="Roboto" panose="02000000000000000000" pitchFamily="2" charset="0"/>
              </a:defRPr>
            </a:lvl2pPr>
            <a:lvl3pPr marL="1371600" indent="-298450">
              <a:lnSpc>
                <a:spcPct val="150000"/>
              </a:lnSpc>
              <a:spcBef>
                <a:spcPts val="0"/>
              </a:spcBef>
              <a:buClr>
                <a:schemeClr val="tx1"/>
              </a:buClr>
              <a:buFont typeface="Courier New" panose="02070309020205020404" pitchFamily="49" charset="0"/>
              <a:buChar char="o"/>
              <a:defRPr sz="1350" b="0" i="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buClr>
                <a:schemeClr val="tx1"/>
              </a:buClr>
              <a:defRPr sz="1350" b="0" i="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a:p>
            <a:pPr lvl="0"/>
            <a:r>
              <a:rPr lang="en-GB"/>
              <a:t>Click to edit </a:t>
            </a:r>
          </a:p>
          <a:p>
            <a:pPr lvl="1"/>
            <a:r>
              <a:rPr lang="en-GB"/>
              <a:t>c</a:t>
            </a:r>
          </a:p>
          <a:p>
            <a:pPr lvl="0"/>
            <a:endParaRPr lang="en-US"/>
          </a:p>
        </p:txBody>
      </p:sp>
      <p:sp>
        <p:nvSpPr>
          <p:cNvPr id="7" name="Subtitle 2">
            <a:extLst>
              <a:ext uri="{FF2B5EF4-FFF2-40B4-BE49-F238E27FC236}">
                <a16:creationId xmlns:a16="http://schemas.microsoft.com/office/drawing/2014/main" id="{2EE527EC-1F3E-4121-D1F7-3658ED913FBE}"/>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285324727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lide">
    <p:spTree>
      <p:nvGrpSpPr>
        <p:cNvPr id="1" name=""/>
        <p:cNvGrpSpPr/>
        <p:nvPr/>
      </p:nvGrpSpPr>
      <p:grpSpPr>
        <a:xfrm>
          <a:off x="0" y="0"/>
          <a:ext cx="0" cy="0"/>
          <a:chOff x="0" y="0"/>
          <a:chExt cx="0" cy="0"/>
        </a:xfrm>
      </p:grpSpPr>
      <p:sp>
        <p:nvSpPr>
          <p:cNvPr id="3" name="Google Shape;51;p10">
            <a:extLst>
              <a:ext uri="{FF2B5EF4-FFF2-40B4-BE49-F238E27FC236}">
                <a16:creationId xmlns:a16="http://schemas.microsoft.com/office/drawing/2014/main" id="{8E1BF2F3-06A5-4050-31FC-FE51036B6ABC}"/>
              </a:ext>
            </a:extLst>
          </p:cNvPr>
          <p:cNvSpPr/>
          <p:nvPr userDrawn="1"/>
        </p:nvSpPr>
        <p:spPr>
          <a:xfrm>
            <a:off x="0" y="-1761"/>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4" name="Subtitle 2">
            <a:extLst>
              <a:ext uri="{FF2B5EF4-FFF2-40B4-BE49-F238E27FC236}">
                <a16:creationId xmlns:a16="http://schemas.microsoft.com/office/drawing/2014/main" id="{BB3B0D6B-886D-9A9D-79B9-5E1327DDC699}"/>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
        <p:nvSpPr>
          <p:cNvPr id="5" name="Text Placeholder 3">
            <a:extLst>
              <a:ext uri="{FF2B5EF4-FFF2-40B4-BE49-F238E27FC236}">
                <a16:creationId xmlns:a16="http://schemas.microsoft.com/office/drawing/2014/main" id="{8607CD20-8558-BEBC-3934-70E89D829B82}"/>
              </a:ext>
            </a:extLst>
          </p:cNvPr>
          <p:cNvSpPr>
            <a:spLocks noGrp="1"/>
          </p:cNvSpPr>
          <p:nvPr>
            <p:ph type="body" sz="quarter" idx="10"/>
          </p:nvPr>
        </p:nvSpPr>
        <p:spPr>
          <a:xfrm>
            <a:off x="293300" y="1298122"/>
            <a:ext cx="4008680" cy="3465738"/>
          </a:xfrm>
          <a:prstGeom prst="rect">
            <a:avLst/>
          </a:prstGeom>
        </p:spPr>
        <p:txBody>
          <a:bodyPr/>
          <a:lstStyle>
            <a:lvl1pPr>
              <a:lnSpc>
                <a:spcPct val="150000"/>
              </a:lnSpc>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Text Placeholder 3">
            <a:extLst>
              <a:ext uri="{FF2B5EF4-FFF2-40B4-BE49-F238E27FC236}">
                <a16:creationId xmlns:a16="http://schemas.microsoft.com/office/drawing/2014/main" id="{B4A3D92E-6B42-22AE-27F2-4AFA182C9474}"/>
              </a:ext>
            </a:extLst>
          </p:cNvPr>
          <p:cNvSpPr>
            <a:spLocks noGrp="1"/>
          </p:cNvSpPr>
          <p:nvPr>
            <p:ph type="body" sz="quarter" idx="11"/>
          </p:nvPr>
        </p:nvSpPr>
        <p:spPr>
          <a:xfrm>
            <a:off x="4572000" y="1298122"/>
            <a:ext cx="4278701" cy="3465738"/>
          </a:xfrm>
          <a:prstGeom prst="rect">
            <a:avLst/>
          </a:prstGeom>
        </p:spPr>
        <p:txBody>
          <a:bodyPr/>
          <a:lstStyle>
            <a:lvl1pPr marL="0">
              <a:lnSpc>
                <a:spcPct val="150000"/>
              </a:lnSpc>
              <a:spcBef>
                <a:spcPts val="0"/>
              </a:spcBef>
              <a:defRPr sz="1350">
                <a:solidFill>
                  <a:srgbClr val="B85641"/>
                </a:solidFill>
                <a:latin typeface="Roboto" panose="02000000000000000000" pitchFamily="2" charset="0"/>
                <a:ea typeface="Roboto" panose="02000000000000000000" pitchFamily="2" charset="0"/>
                <a:cs typeface="Roboto" panose="02000000000000000000" pitchFamily="2" charset="0"/>
              </a:defRPr>
            </a:lvl1pPr>
            <a:lvl2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2pPr>
            <a:lvl3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3pPr>
            <a:lvl4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4pPr>
            <a:lvl5pPr>
              <a:lnSpc>
                <a:spcPct val="150000"/>
              </a:lnSpc>
              <a:spcBef>
                <a:spcPts val="0"/>
              </a:spcBef>
              <a:defRPr sz="1200">
                <a:latin typeface="Roboto" panose="02000000000000000000" pitchFamily="2" charset="0"/>
                <a:ea typeface="Roboto" panose="02000000000000000000" pitchFamily="2" charset="0"/>
                <a:cs typeface="Roboto" panose="02000000000000000000" pitchFamily="2"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3309163443"/>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pen Graphics Slide">
    <p:spTree>
      <p:nvGrpSpPr>
        <p:cNvPr id="1" name=""/>
        <p:cNvGrpSpPr/>
        <p:nvPr/>
      </p:nvGrpSpPr>
      <p:grpSpPr>
        <a:xfrm>
          <a:off x="0" y="0"/>
          <a:ext cx="0" cy="0"/>
          <a:chOff x="0" y="0"/>
          <a:chExt cx="0" cy="0"/>
        </a:xfrm>
      </p:grpSpPr>
      <p:sp>
        <p:nvSpPr>
          <p:cNvPr id="7" name="Google Shape;51;p10">
            <a:extLst>
              <a:ext uri="{FF2B5EF4-FFF2-40B4-BE49-F238E27FC236}">
                <a16:creationId xmlns:a16="http://schemas.microsoft.com/office/drawing/2014/main" id="{B3002143-DCE6-53A9-16FF-F111AAE27700}"/>
              </a:ext>
            </a:extLst>
          </p:cNvPr>
          <p:cNvSpPr/>
          <p:nvPr userDrawn="1"/>
        </p:nvSpPr>
        <p:spPr>
          <a:xfrm>
            <a:off x="0" y="0"/>
            <a:ext cx="9156940" cy="1036931"/>
          </a:xfrm>
          <a:prstGeom prst="rect">
            <a:avLst/>
          </a:prstGeom>
          <a:solidFill>
            <a:srgbClr val="04224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800"/>
          </a:p>
        </p:txBody>
      </p:sp>
      <p:sp>
        <p:nvSpPr>
          <p:cNvPr id="15" name="Subtitle 2">
            <a:extLst>
              <a:ext uri="{FF2B5EF4-FFF2-40B4-BE49-F238E27FC236}">
                <a16:creationId xmlns:a16="http://schemas.microsoft.com/office/drawing/2014/main" id="{AC99EF0C-07B5-DCEF-C6E0-59F8EEAC98C3}"/>
              </a:ext>
            </a:extLst>
          </p:cNvPr>
          <p:cNvSpPr>
            <a:spLocks noGrp="1"/>
          </p:cNvSpPr>
          <p:nvPr>
            <p:ph type="subTitle" idx="1"/>
          </p:nvPr>
        </p:nvSpPr>
        <p:spPr>
          <a:xfrm>
            <a:off x="293300" y="554416"/>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spTree>
    <p:extLst>
      <p:ext uri="{BB962C8B-B14F-4D97-AF65-F5344CB8AC3E}">
        <p14:creationId xmlns:p14="http://schemas.microsoft.com/office/powerpoint/2010/main" val="330674927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492197"/>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pic>
        <p:nvPicPr>
          <p:cNvPr id="2" name="Picture 1" descr="Wind turbines on a green hill&#10;&#10;Description automatically generated">
            <a:extLst>
              <a:ext uri="{FF2B5EF4-FFF2-40B4-BE49-F238E27FC236}">
                <a16:creationId xmlns:a16="http://schemas.microsoft.com/office/drawing/2014/main" id="{85C7152A-6F5F-551F-1C8C-B28EDA48E25F}"/>
              </a:ext>
            </a:extLst>
          </p:cNvPr>
          <p:cNvPicPr>
            <a:picLocks noChangeAspect="1"/>
          </p:cNvPicPr>
          <p:nvPr userDrawn="1"/>
        </p:nvPicPr>
        <p:blipFill rotWithShape="1">
          <a:blip r:embed="rId2"/>
          <a:srcRect t="13167"/>
          <a:stretch/>
        </p:blipFill>
        <p:spPr>
          <a:xfrm>
            <a:off x="0" y="0"/>
            <a:ext cx="9144000" cy="5143500"/>
          </a:xfrm>
          <a:prstGeom prst="rect">
            <a:avLst/>
          </a:prstGeom>
        </p:spPr>
      </p:pic>
    </p:spTree>
    <p:extLst>
      <p:ext uri="{BB962C8B-B14F-4D97-AF65-F5344CB8AC3E}">
        <p14:creationId xmlns:p14="http://schemas.microsoft.com/office/powerpoint/2010/main" val="3352233219"/>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cean slide">
    <p:spTree>
      <p:nvGrpSpPr>
        <p:cNvPr id="1" name=""/>
        <p:cNvGrpSpPr/>
        <p:nvPr/>
      </p:nvGrpSpPr>
      <p:grpSpPr>
        <a:xfrm>
          <a:off x="0" y="0"/>
          <a:ext cx="0" cy="0"/>
          <a:chOff x="0" y="0"/>
          <a:chExt cx="0" cy="0"/>
        </a:xfrm>
      </p:grpSpPr>
      <p:sp>
        <p:nvSpPr>
          <p:cNvPr id="27" name="Subtitle 2">
            <a:extLst>
              <a:ext uri="{FF2B5EF4-FFF2-40B4-BE49-F238E27FC236}">
                <a16:creationId xmlns:a16="http://schemas.microsoft.com/office/drawing/2014/main" id="{CF06B36E-CD52-C4E6-313F-9E502C53051D}"/>
              </a:ext>
            </a:extLst>
          </p:cNvPr>
          <p:cNvSpPr>
            <a:spLocks noGrp="1"/>
          </p:cNvSpPr>
          <p:nvPr>
            <p:ph type="subTitle" idx="1"/>
          </p:nvPr>
        </p:nvSpPr>
        <p:spPr>
          <a:xfrm>
            <a:off x="293298" y="351215"/>
            <a:ext cx="2678501" cy="3441851"/>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a:t>Click to edit </a:t>
            </a:r>
            <a:endParaRPr lang="en-US"/>
          </a:p>
        </p:txBody>
      </p:sp>
      <p:pic>
        <p:nvPicPr>
          <p:cNvPr id="19" name="Picture 18" descr="A close-up of a body of water&#10;&#10;Description automatically generated">
            <a:extLst>
              <a:ext uri="{FF2B5EF4-FFF2-40B4-BE49-F238E27FC236}">
                <a16:creationId xmlns:a16="http://schemas.microsoft.com/office/drawing/2014/main" id="{96E07C89-F09E-C692-7568-CBB3DEDBD5EC}"/>
              </a:ext>
            </a:extLst>
          </p:cNvPr>
          <p:cNvPicPr>
            <a:picLocks noChangeAspect="1"/>
          </p:cNvPicPr>
          <p:nvPr userDrawn="1"/>
        </p:nvPicPr>
        <p:blipFill>
          <a:blip r:embed="rId2"/>
          <a:srcRect r="22703"/>
          <a:stretch/>
        </p:blipFill>
        <p:spPr>
          <a:xfrm>
            <a:off x="3136129" y="6615"/>
            <a:ext cx="6007871" cy="5136885"/>
          </a:xfrm>
          <a:prstGeom prst="rect">
            <a:avLst/>
          </a:prstGeom>
        </p:spPr>
      </p:pic>
    </p:spTree>
    <p:extLst>
      <p:ext uri="{BB962C8B-B14F-4D97-AF65-F5344CB8AC3E}">
        <p14:creationId xmlns:p14="http://schemas.microsoft.com/office/powerpoint/2010/main" val="1555171966"/>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plit slide">
    <p:spTree>
      <p:nvGrpSpPr>
        <p:cNvPr id="1" name=""/>
        <p:cNvGrpSpPr/>
        <p:nvPr/>
      </p:nvGrpSpPr>
      <p:grpSpPr>
        <a:xfrm>
          <a:off x="0" y="0"/>
          <a:ext cx="0" cy="0"/>
          <a:chOff x="0" y="0"/>
          <a:chExt cx="0" cy="0"/>
        </a:xfrm>
      </p:grpSpPr>
      <p:pic>
        <p:nvPicPr>
          <p:cNvPr id="28" name="Picture 27" descr="A road through a forest&#10;&#10;Description automatically generated">
            <a:extLst>
              <a:ext uri="{FF2B5EF4-FFF2-40B4-BE49-F238E27FC236}">
                <a16:creationId xmlns:a16="http://schemas.microsoft.com/office/drawing/2014/main" id="{DDDCA30F-C73B-7792-5A30-082600B0103A}"/>
              </a:ext>
            </a:extLst>
          </p:cNvPr>
          <p:cNvPicPr>
            <a:picLocks noChangeAspect="1"/>
          </p:cNvPicPr>
          <p:nvPr userDrawn="1"/>
        </p:nvPicPr>
        <p:blipFill rotWithShape="1">
          <a:blip r:embed="rId2"/>
          <a:srcRect t="36321" b="9757"/>
          <a:stretch/>
        </p:blipFill>
        <p:spPr>
          <a:xfrm>
            <a:off x="0" y="0"/>
            <a:ext cx="9144000" cy="3236232"/>
          </a:xfrm>
          <a:prstGeom prst="rect">
            <a:avLst/>
          </a:prstGeom>
        </p:spPr>
      </p:pic>
      <p:sp>
        <p:nvSpPr>
          <p:cNvPr id="29" name="Subtitle 2">
            <a:extLst>
              <a:ext uri="{FF2B5EF4-FFF2-40B4-BE49-F238E27FC236}">
                <a16:creationId xmlns:a16="http://schemas.microsoft.com/office/drawing/2014/main" id="{D1DEBF63-1364-A7A9-80BB-0D563116DEC5}"/>
              </a:ext>
            </a:extLst>
          </p:cNvPr>
          <p:cNvSpPr>
            <a:spLocks noGrp="1"/>
          </p:cNvSpPr>
          <p:nvPr>
            <p:ph type="subTitle" idx="1"/>
          </p:nvPr>
        </p:nvSpPr>
        <p:spPr>
          <a:xfrm>
            <a:off x="293299" y="478215"/>
            <a:ext cx="8557402" cy="481076"/>
          </a:xfrm>
          <a:prstGeom prst="rect">
            <a:avLst/>
          </a:prstGeom>
        </p:spPr>
        <p:txBody>
          <a:bodyPr/>
          <a:lstStyle>
            <a:lvl1pPr marL="0" indent="0" algn="l">
              <a:buNone/>
              <a:defRPr sz="2100" b="0" i="0">
                <a:solidFill>
                  <a:schemeClr val="bg1"/>
                </a:solidFill>
                <a:latin typeface="Merriweather" pitchFamily="2" charset="77"/>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GB" dirty="0"/>
              <a:t>Click to edit </a:t>
            </a:r>
            <a:endParaRPr lang="en-US" dirty="0"/>
          </a:p>
        </p:txBody>
      </p:sp>
    </p:spTree>
    <p:extLst>
      <p:ext uri="{BB962C8B-B14F-4D97-AF65-F5344CB8AC3E}">
        <p14:creationId xmlns:p14="http://schemas.microsoft.com/office/powerpoint/2010/main" val="3250635135"/>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30000"/>
          </a:schemeClr>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marL="914400" lvl="1"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marL="1371600" lvl="2"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marL="1828800" lvl="3"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marL="2286000" lvl="4"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marL="2743200" lvl="5"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marL="3200400" lvl="6"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marL="3657600" lvl="7"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marL="4114800" lvl="8" indent="-298450">
              <a:lnSpc>
                <a:spcPct val="115000"/>
              </a:lnSpc>
              <a:spcBef>
                <a:spcPts val="0"/>
              </a:spcBef>
              <a:spcAft>
                <a:spcPts val="0"/>
              </a:spcAft>
              <a:buClr>
                <a:schemeClr val="dk2"/>
              </a:buClr>
              <a:buSzPts val="1100"/>
              <a:buFont typeface="Roboto"/>
              <a:buChar char="■"/>
              <a:defRPr sz="1100">
                <a:solidFill>
                  <a:schemeClr val="dk2"/>
                </a:solidFill>
                <a:latin typeface="Roboto"/>
                <a:ea typeface="Roboto"/>
                <a:cs typeface="Roboto"/>
                <a:sym typeface="Roboto"/>
              </a:defRPr>
            </a:lvl9pPr>
          </a:lstStyle>
          <a:p>
            <a:endParaRPr dirty="0"/>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2333241784"/>
      </p:ext>
    </p:extLst>
  </p:cSld>
  <p:clrMap bg1="lt1" tx1="dk1" bg2="dk2" tx2="lt2" accent1="accent1" accent2="accent2" accent3="accent3" accent4="accent4" accent5="accent5" accent6="accent6" hlink="hlink" folHlink="folHlink"/>
  <p:sldLayoutIdLst>
    <p:sldLayoutId id="2147484554" r:id="rId1"/>
    <p:sldLayoutId id="2147484556" r:id="rId2"/>
    <p:sldLayoutId id="2147484567" r:id="rId3"/>
    <p:sldLayoutId id="2147484557" r:id="rId4"/>
    <p:sldLayoutId id="2147484558" r:id="rId5"/>
    <p:sldLayoutId id="2147484559" r:id="rId6"/>
    <p:sldLayoutId id="2147484560" r:id="rId7"/>
    <p:sldLayoutId id="2147484561" r:id="rId8"/>
    <p:sldLayoutId id="2147484562" r:id="rId9"/>
    <p:sldLayoutId id="2147484564" r:id="rId10"/>
    <p:sldLayoutId id="2147484565" r:id="rId11"/>
  </p:sldLayoutIdLst>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Merriweather" pitchFamily="2" charset="77"/>
          <a:ea typeface="Merriweather" pitchFamily="2" charset="77"/>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8" Type="http://schemas.microsoft.com/office/2007/relationships/hdphoto" Target="../media/hdphoto3.wdp"/><Relationship Id="rId13" Type="http://schemas.openxmlformats.org/officeDocument/2006/relationships/image" Target="../media/image14.png"/><Relationship Id="rId18" Type="http://schemas.openxmlformats.org/officeDocument/2006/relationships/image" Target="../media/image17.sv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svg"/><Relationship Id="rId17" Type="http://schemas.openxmlformats.org/officeDocument/2006/relationships/image" Target="../media/image16.png"/><Relationship Id="rId2" Type="http://schemas.openxmlformats.org/officeDocument/2006/relationships/notesSlide" Target="../notesSlides/notesSlide2.xml"/><Relationship Id="rId16" Type="http://schemas.microsoft.com/office/2007/relationships/hdphoto" Target="../media/hdphoto6.wdp"/><Relationship Id="rId1" Type="http://schemas.openxmlformats.org/officeDocument/2006/relationships/slideLayout" Target="../slideLayouts/slideLayout9.xml"/><Relationship Id="rId6" Type="http://schemas.microsoft.com/office/2007/relationships/hdphoto" Target="../media/hdphoto2.wdp"/><Relationship Id="rId11" Type="http://schemas.openxmlformats.org/officeDocument/2006/relationships/image" Target="../media/image12.png"/><Relationship Id="rId5" Type="http://schemas.openxmlformats.org/officeDocument/2006/relationships/image" Target="../media/image9.png"/><Relationship Id="rId15" Type="http://schemas.openxmlformats.org/officeDocument/2006/relationships/image" Target="../media/image15.png"/><Relationship Id="rId10" Type="http://schemas.microsoft.com/office/2007/relationships/hdphoto" Target="../media/hdphoto4.wdp"/><Relationship Id="rId4" Type="http://schemas.microsoft.com/office/2007/relationships/hdphoto" Target="../media/hdphoto1.wdp"/><Relationship Id="rId9" Type="http://schemas.openxmlformats.org/officeDocument/2006/relationships/image" Target="../media/image11.png"/><Relationship Id="rId14" Type="http://schemas.microsoft.com/office/2007/relationships/hdphoto" Target="../media/hdphoto5.wdp"/></Relationships>
</file>

<file path=ppt/slides/_rels/slide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17.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09CB928B-050B-2534-B9B3-48BCEC522DD5}"/>
              </a:ext>
            </a:extLst>
          </p:cNvPr>
          <p:cNvSpPr>
            <a:spLocks noGrp="1"/>
          </p:cNvSpPr>
          <p:nvPr>
            <p:ph type="subTitle" idx="4294967295"/>
          </p:nvPr>
        </p:nvSpPr>
        <p:spPr>
          <a:xfrm>
            <a:off x="5510587" y="425450"/>
            <a:ext cx="3525837" cy="4416425"/>
          </a:xfrm>
        </p:spPr>
        <p:txBody>
          <a:bodyPr>
            <a:normAutofit fontScale="70000" lnSpcReduction="20000"/>
          </a:bodyPr>
          <a:lstStyle/>
          <a:p>
            <a:pPr marL="146050" indent="0" algn="ctr">
              <a:buNone/>
            </a:pPr>
            <a:r>
              <a:rPr lang="en-US" sz="2800" i="1" dirty="0">
                <a:solidFill>
                  <a:srgbClr val="002F4A"/>
                </a:solidFill>
              </a:rPr>
              <a:t>“We choose to go to the moon in this decade and do the other things not because they are easy, but because they are hard. Because that goal will serve to organize and measure the best of our energies and skills, because that challenge is one that we’re willing to accept. One we are unwilling to postpone.”</a:t>
            </a:r>
          </a:p>
          <a:p>
            <a:endParaRPr lang="en-US" sz="2000" dirty="0">
              <a:solidFill>
                <a:srgbClr val="002F4A"/>
              </a:solidFill>
            </a:endParaRPr>
          </a:p>
          <a:p>
            <a:pPr marL="146050" indent="0" algn="ctr">
              <a:buNone/>
            </a:pPr>
            <a:br>
              <a:rPr lang="en-US" sz="2000" dirty="0">
                <a:solidFill>
                  <a:srgbClr val="B85741"/>
                </a:solidFill>
              </a:rPr>
            </a:br>
            <a:r>
              <a:rPr lang="en-US" sz="2300" dirty="0">
                <a:solidFill>
                  <a:srgbClr val="B85741"/>
                </a:solidFill>
              </a:rPr>
              <a:t>What would JFK say today? </a:t>
            </a:r>
            <a:endParaRPr lang="en-US" sz="2000" dirty="0">
              <a:solidFill>
                <a:srgbClr val="B85741"/>
              </a:solidFill>
            </a:endParaRPr>
          </a:p>
        </p:txBody>
      </p:sp>
      <p:pic>
        <p:nvPicPr>
          <p:cNvPr id="4098" name="Picture 2" descr="60 Years Ago, JFK Delivered His 'We Choose to Go to the Moon' Speech -  Business Insider">
            <a:extLst>
              <a:ext uri="{FF2B5EF4-FFF2-40B4-BE49-F238E27FC236}">
                <a16:creationId xmlns:a16="http://schemas.microsoft.com/office/drawing/2014/main" id="{020F9294-8EBE-F1D9-36E3-726E85B2F0C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411" t="-31" r="37381" b="31"/>
          <a:stretch/>
        </p:blipFill>
        <p:spPr bwMode="auto">
          <a:xfrm>
            <a:off x="-3344" y="1"/>
            <a:ext cx="5417317"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713211"/>
      </p:ext>
    </p:extLst>
  </p:cSld>
  <p:clrMapOvr>
    <a:masterClrMapping/>
  </p:clrMapOvr>
  <mc:AlternateContent xmlns:mc="http://schemas.openxmlformats.org/markup-compatibility/2006" xmlns:p14="http://schemas.microsoft.com/office/powerpoint/2010/main">
    <mc:Choice Requires="p14">
      <p:transition spd="slow" p14:dur="1700">
        <p:push/>
      </p:transition>
    </mc:Choice>
    <mc:Fallback xmlns="">
      <p:transition spd="slow">
        <p:push/>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Google Shape;64;p13">
            <a:extLst>
              <a:ext uri="{FF2B5EF4-FFF2-40B4-BE49-F238E27FC236}">
                <a16:creationId xmlns:a16="http://schemas.microsoft.com/office/drawing/2014/main" id="{7F312E0E-26F3-02C5-20AB-A640EBF08C2C}"/>
              </a:ext>
            </a:extLst>
          </p:cNvPr>
          <p:cNvSpPr txBox="1">
            <a:spLocks/>
          </p:cNvSpPr>
          <p:nvPr/>
        </p:nvSpPr>
        <p:spPr>
          <a:xfrm>
            <a:off x="4419598" y="417012"/>
            <a:ext cx="4629150" cy="2983811"/>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 sz="2400" dirty="0">
                <a:latin typeface="Merriweather" pitchFamily="2" charset="77"/>
                <a:sym typeface="Merriweather"/>
              </a:rPr>
              <a:t>Unlocking Private Capital to Incentivize Global Public Goods Provision:</a:t>
            </a:r>
          </a:p>
          <a:p>
            <a:pPr algn="r"/>
            <a:r>
              <a:rPr lang="en" sz="2400" dirty="0">
                <a:latin typeface="Merriweather" pitchFamily="2" charset="77"/>
                <a:sym typeface="Merriweather"/>
              </a:rPr>
              <a:t>Climate and Clean Energy Finance</a:t>
            </a:r>
            <a:endParaRPr lang="en" sz="2400" dirty="0">
              <a:latin typeface="Merriweather" pitchFamily="2" charset="77"/>
            </a:endParaRPr>
          </a:p>
        </p:txBody>
      </p:sp>
      <p:grpSp>
        <p:nvGrpSpPr>
          <p:cNvPr id="5" name="Group 4">
            <a:extLst>
              <a:ext uri="{FF2B5EF4-FFF2-40B4-BE49-F238E27FC236}">
                <a16:creationId xmlns:a16="http://schemas.microsoft.com/office/drawing/2014/main" id="{ED1B694F-8C07-BA11-02BA-618EACD161DC}"/>
              </a:ext>
            </a:extLst>
          </p:cNvPr>
          <p:cNvGrpSpPr/>
          <p:nvPr/>
        </p:nvGrpSpPr>
        <p:grpSpPr>
          <a:xfrm>
            <a:off x="350929" y="464278"/>
            <a:ext cx="3871249" cy="4212986"/>
            <a:chOff x="421113" y="509396"/>
            <a:chExt cx="3871249" cy="4212986"/>
          </a:xfrm>
        </p:grpSpPr>
        <p:sp>
          <p:nvSpPr>
            <p:cNvPr id="8" name="Rectangle 7">
              <a:extLst>
                <a:ext uri="{FF2B5EF4-FFF2-40B4-BE49-F238E27FC236}">
                  <a16:creationId xmlns:a16="http://schemas.microsoft.com/office/drawing/2014/main" id="{4DD9FAB5-6609-9A3B-A7D5-F1632BC3E50A}"/>
                </a:ext>
              </a:extLst>
            </p:cNvPr>
            <p:cNvSpPr/>
            <p:nvPr/>
          </p:nvSpPr>
          <p:spPr>
            <a:xfrm>
              <a:off x="423176" y="522984"/>
              <a:ext cx="3869186" cy="4199398"/>
            </a:xfrm>
            <a:prstGeom prst="rect">
              <a:avLst/>
            </a:prstGeom>
            <a:solidFill>
              <a:srgbClr val="FFFFFF">
                <a:alpha val="76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566FA0F4-1539-CD12-9E11-4CBC1DEB9EA3}"/>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3354" b="96037" l="10000" r="90000">
                          <a14:foregroundMark x1="47097" y1="24085" x2="47097" y2="24085"/>
                          <a14:foregroundMark x1="46774" y1="6250" x2="46774" y2="6250"/>
                          <a14:foregroundMark x1="46290" y1="3354" x2="46290" y2="3354"/>
                          <a14:foregroundMark x1="45645" y1="39787" x2="45645" y2="39787"/>
                          <a14:foregroundMark x1="31290" y1="50762" x2="31290" y2="50762"/>
                          <a14:foregroundMark x1="64194" y1="55945" x2="64194" y2="55945"/>
                          <a14:foregroundMark x1="60968" y1="63872" x2="60968" y2="63872"/>
                          <a14:foregroundMark x1="70323" y1="91311" x2="70323" y2="91311"/>
                          <a14:foregroundMark x1="59032" y1="96037" x2="59032" y2="96037"/>
                          <a14:foregroundMark x1="45645" y1="69055" x2="45645" y2="69055"/>
                          <a14:foregroundMark x1="31290" y1="65701" x2="31290" y2="65701"/>
                          <a14:foregroundMark x1="23226" y1="87348" x2="23226" y2="87348"/>
                          <a14:foregroundMark x1="46774" y1="80335" x2="46774" y2="80335"/>
                          <a14:foregroundMark x1="45968" y1="87957" x2="45968" y2="87957"/>
                          <a14:foregroundMark x1="45968" y1="95274" x2="45968" y2="95274"/>
                        </a14:backgroundRemoval>
                      </a14:imgEffect>
                    </a14:imgLayer>
                  </a14:imgProps>
                </a:ext>
              </a:extLst>
            </a:blip>
            <a:stretch>
              <a:fillRect/>
            </a:stretch>
          </p:blipFill>
          <p:spPr>
            <a:xfrm>
              <a:off x="421113" y="1561951"/>
              <a:ext cx="925854" cy="979613"/>
            </a:xfrm>
            <a:prstGeom prst="rect">
              <a:avLst/>
            </a:prstGeom>
          </p:spPr>
        </p:pic>
        <p:pic>
          <p:nvPicPr>
            <p:cNvPr id="11" name="Picture 10">
              <a:extLst>
                <a:ext uri="{FF2B5EF4-FFF2-40B4-BE49-F238E27FC236}">
                  <a16:creationId xmlns:a16="http://schemas.microsoft.com/office/drawing/2014/main" id="{7B575B5D-D1DB-3090-7B98-D4982208092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4684" b="90000" l="5962" r="91058">
                          <a14:foregroundMark x1="35865" y1="20886" x2="35865" y2="20886"/>
                          <a14:foregroundMark x1="50481" y1="4810" x2="50481" y2="4810"/>
                          <a14:foregroundMark x1="19904" y1="13165" x2="19904" y2="13165"/>
                          <a14:foregroundMark x1="12308" y1="35443" x2="12308" y2="35443"/>
                          <a14:foregroundMark x1="28654" y1="38987" x2="28654" y2="38987"/>
                          <a14:foregroundMark x1="11442" y1="45696" x2="11442" y2="45696"/>
                          <a14:foregroundMark x1="5962" y1="44557" x2="5962" y2="44557"/>
                          <a14:foregroundMark x1="72596" y1="34177" x2="72596" y2="34177"/>
                          <a14:foregroundMark x1="91058" y1="42152" x2="91058" y2="42152"/>
                          <a14:foregroundMark x1="78942" y1="41266" x2="78942" y2="41266"/>
                        </a14:backgroundRemoval>
                      </a14:imgEffect>
                    </a14:imgLayer>
                  </a14:imgProps>
                </a:ext>
              </a:extLst>
            </a:blip>
            <a:stretch>
              <a:fillRect/>
            </a:stretch>
          </p:blipFill>
          <p:spPr>
            <a:xfrm>
              <a:off x="2885187" y="1536533"/>
              <a:ext cx="1399533" cy="1063106"/>
            </a:xfrm>
            <a:prstGeom prst="rect">
              <a:avLst/>
            </a:prstGeom>
          </p:spPr>
        </p:pic>
        <p:sp>
          <p:nvSpPr>
            <p:cNvPr id="39" name="Bent Arrow 38">
              <a:extLst>
                <a:ext uri="{FF2B5EF4-FFF2-40B4-BE49-F238E27FC236}">
                  <a16:creationId xmlns:a16="http://schemas.microsoft.com/office/drawing/2014/main" id="{E98313EB-3E7D-F58F-DC35-6D8161F05F5E}"/>
                </a:ext>
              </a:extLst>
            </p:cNvPr>
            <p:cNvSpPr/>
            <p:nvPr/>
          </p:nvSpPr>
          <p:spPr>
            <a:xfrm flipH="1">
              <a:off x="2874913" y="1094578"/>
              <a:ext cx="1074457" cy="38268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1" name="Bent Arrow 40">
              <a:extLst>
                <a:ext uri="{FF2B5EF4-FFF2-40B4-BE49-F238E27FC236}">
                  <a16:creationId xmlns:a16="http://schemas.microsoft.com/office/drawing/2014/main" id="{693A9ECA-9D9B-A913-5A22-1CB5A4ACCAEA}"/>
                </a:ext>
              </a:extLst>
            </p:cNvPr>
            <p:cNvSpPr/>
            <p:nvPr/>
          </p:nvSpPr>
          <p:spPr>
            <a:xfrm rot="16200000" flipH="1">
              <a:off x="1114672" y="786627"/>
              <a:ext cx="382684" cy="1093005"/>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Left Arrow 42">
              <a:extLst>
                <a:ext uri="{FF2B5EF4-FFF2-40B4-BE49-F238E27FC236}">
                  <a16:creationId xmlns:a16="http://schemas.microsoft.com/office/drawing/2014/main" id="{C021C4DE-1D76-8316-5BD3-1546495099DC}"/>
                </a:ext>
              </a:extLst>
            </p:cNvPr>
            <p:cNvSpPr/>
            <p:nvPr/>
          </p:nvSpPr>
          <p:spPr>
            <a:xfrm rot="10800000">
              <a:off x="1240120" y="2263689"/>
              <a:ext cx="794253" cy="187108"/>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6" name="Picture 45">
              <a:extLst>
                <a:ext uri="{FF2B5EF4-FFF2-40B4-BE49-F238E27FC236}">
                  <a16:creationId xmlns:a16="http://schemas.microsoft.com/office/drawing/2014/main" id="{FEB03725-53A5-45E6-D0B1-9448AF4934FD}"/>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3404" b="98474" l="8753" r="94092">
                          <a14:foregroundMark x1="33589" y1="20892" x2="33589" y2="20892"/>
                          <a14:foregroundMark x1="69037" y1="21244" x2="69037" y2="21244"/>
                          <a14:foregroundMark x1="69475" y1="6338" x2="69475" y2="6338"/>
                          <a14:foregroundMark x1="54048" y1="15141" x2="54048" y2="15141"/>
                          <a14:foregroundMark x1="48687" y1="30634" x2="48687" y2="30634"/>
                          <a14:foregroundMark x1="86761" y1="12089" x2="86761" y2="12089"/>
                          <a14:foregroundMark x1="68818" y1="3638" x2="68818" y2="3638"/>
                          <a14:foregroundMark x1="91357" y1="30869" x2="91357" y2="30869"/>
                          <a14:foregroundMark x1="94201" y1="30869" x2="94201" y2="30869"/>
                          <a14:foregroundMark x1="55142" y1="15493" x2="55142" y2="15493"/>
                          <a14:foregroundMark x1="83370" y1="45775" x2="83370" y2="45775"/>
                          <a14:foregroundMark x1="69037" y1="51526" x2="69037" y2="51526"/>
                          <a14:foregroundMark x1="8862" y1="46831" x2="8862" y2="46831"/>
                          <a14:foregroundMark x1="33260" y1="92371" x2="33260" y2="92371"/>
                          <a14:foregroundMark x1="38621" y1="98474" x2="38621" y2="98474"/>
                        </a14:backgroundRemoval>
                      </a14:imgEffect>
                    </a14:imgLayer>
                  </a14:imgProps>
                </a:ext>
              </a:extLst>
            </a:blip>
            <a:stretch>
              <a:fillRect/>
            </a:stretch>
          </p:blipFill>
          <p:spPr>
            <a:xfrm>
              <a:off x="494298" y="3575827"/>
              <a:ext cx="1050898" cy="979612"/>
            </a:xfrm>
            <a:prstGeom prst="rect">
              <a:avLst/>
            </a:prstGeom>
          </p:spPr>
        </p:pic>
        <p:pic>
          <p:nvPicPr>
            <p:cNvPr id="47" name="Picture 46">
              <a:extLst>
                <a:ext uri="{FF2B5EF4-FFF2-40B4-BE49-F238E27FC236}">
                  <a16:creationId xmlns:a16="http://schemas.microsoft.com/office/drawing/2014/main" id="{151AE048-3E74-1DA2-E6D7-B1F9C298884B}"/>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3802" b="96198" l="9954" r="89931">
                          <a14:foregroundMark x1="49537" y1="3917" x2="49537" y2="3917"/>
                          <a14:foregroundMark x1="39699" y1="21889" x2="39699" y2="21889"/>
                          <a14:foregroundMark x1="63194" y1="23272" x2="63194" y2="23272"/>
                          <a14:foregroundMark x1="52315" y1="35945" x2="52315" y2="35945"/>
                          <a14:foregroundMark x1="65162" y1="54954" x2="65162" y2="54954"/>
                          <a14:foregroundMark x1="33796" y1="54954" x2="33796" y2="54954"/>
                          <a14:foregroundMark x1="50231" y1="65438" x2="50231" y2="65438"/>
                          <a14:foregroundMark x1="48958" y1="90323" x2="48958" y2="90323"/>
                          <a14:foregroundMark x1="34838" y1="96198" x2="34838" y2="96198"/>
                        </a14:backgroundRemoval>
                      </a14:imgEffect>
                    </a14:imgLayer>
                  </a14:imgProps>
                </a:ext>
              </a:extLst>
            </a:blip>
            <a:stretch>
              <a:fillRect/>
            </a:stretch>
          </p:blipFill>
          <p:spPr>
            <a:xfrm>
              <a:off x="1946028" y="1908180"/>
              <a:ext cx="1005534" cy="1010189"/>
            </a:xfrm>
            <a:prstGeom prst="rect">
              <a:avLst/>
            </a:prstGeom>
          </p:spPr>
        </p:pic>
        <p:sp>
          <p:nvSpPr>
            <p:cNvPr id="49" name="Left Arrow 48">
              <a:extLst>
                <a:ext uri="{FF2B5EF4-FFF2-40B4-BE49-F238E27FC236}">
                  <a16:creationId xmlns:a16="http://schemas.microsoft.com/office/drawing/2014/main" id="{0B228882-3438-1D04-D4C7-44A6BBBE9681}"/>
                </a:ext>
              </a:extLst>
            </p:cNvPr>
            <p:cNvSpPr/>
            <p:nvPr/>
          </p:nvSpPr>
          <p:spPr>
            <a:xfrm rot="16200000">
              <a:off x="398686" y="2953029"/>
              <a:ext cx="979611" cy="199315"/>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Graphic 51" descr="Dollar with solid fill">
              <a:extLst>
                <a:ext uri="{FF2B5EF4-FFF2-40B4-BE49-F238E27FC236}">
                  <a16:creationId xmlns:a16="http://schemas.microsoft.com/office/drawing/2014/main" id="{A8F531AF-6AAF-9A98-2EED-7E9F09C3605E}"/>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198462" y="963368"/>
              <a:ext cx="457200" cy="457200"/>
            </a:xfrm>
            <a:prstGeom prst="rect">
              <a:avLst/>
            </a:prstGeom>
          </p:spPr>
        </p:pic>
        <p:pic>
          <p:nvPicPr>
            <p:cNvPr id="54" name="Graphic 53" descr="Dollar with solid fill">
              <a:extLst>
                <a:ext uri="{FF2B5EF4-FFF2-40B4-BE49-F238E27FC236}">
                  <a16:creationId xmlns:a16="http://schemas.microsoft.com/office/drawing/2014/main" id="{A3B1C39B-E485-374F-0499-8ABAA07940B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413476" y="963368"/>
              <a:ext cx="457200" cy="457200"/>
            </a:xfrm>
            <a:prstGeom prst="rect">
              <a:avLst/>
            </a:prstGeom>
          </p:spPr>
        </p:pic>
        <p:pic>
          <p:nvPicPr>
            <p:cNvPr id="55" name="Graphic 54" descr="Dollar with solid fill">
              <a:extLst>
                <a:ext uri="{FF2B5EF4-FFF2-40B4-BE49-F238E27FC236}">
                  <a16:creationId xmlns:a16="http://schemas.microsoft.com/office/drawing/2014/main" id="{9E78C8DB-D9CE-12A8-1E31-EAF518B339A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60246" y="958713"/>
              <a:ext cx="457200" cy="457200"/>
            </a:xfrm>
            <a:prstGeom prst="rect">
              <a:avLst/>
            </a:prstGeom>
          </p:spPr>
        </p:pic>
        <p:pic>
          <p:nvPicPr>
            <p:cNvPr id="56" name="Graphic 55" descr="Dollar with solid fill">
              <a:extLst>
                <a:ext uri="{FF2B5EF4-FFF2-40B4-BE49-F238E27FC236}">
                  <a16:creationId xmlns:a16="http://schemas.microsoft.com/office/drawing/2014/main" id="{A907563B-8E64-A694-FBB2-7F7F42097FC0}"/>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89767" y="963368"/>
              <a:ext cx="457200" cy="457200"/>
            </a:xfrm>
            <a:prstGeom prst="rect">
              <a:avLst/>
            </a:prstGeom>
          </p:spPr>
        </p:pic>
        <p:pic>
          <p:nvPicPr>
            <p:cNvPr id="58" name="Graphic 57" descr="Dollar with solid fill">
              <a:extLst>
                <a:ext uri="{FF2B5EF4-FFF2-40B4-BE49-F238E27FC236}">
                  <a16:creationId xmlns:a16="http://schemas.microsoft.com/office/drawing/2014/main" id="{1B1CEDF2-EA88-6580-CD0C-4431E573F436}"/>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85163" y="2114845"/>
              <a:ext cx="457200" cy="457200"/>
            </a:xfrm>
            <a:prstGeom prst="rect">
              <a:avLst/>
            </a:prstGeom>
          </p:spPr>
        </p:pic>
        <p:pic>
          <p:nvPicPr>
            <p:cNvPr id="59" name="Graphic 58" descr="Dollar with solid fill">
              <a:extLst>
                <a:ext uri="{FF2B5EF4-FFF2-40B4-BE49-F238E27FC236}">
                  <a16:creationId xmlns:a16="http://schemas.microsoft.com/office/drawing/2014/main" id="{50189246-675B-B16A-FAC1-966E896D8645}"/>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648288" y="2747093"/>
              <a:ext cx="457200" cy="457200"/>
            </a:xfrm>
            <a:prstGeom prst="rect">
              <a:avLst/>
            </a:prstGeom>
          </p:spPr>
        </p:pic>
        <p:pic>
          <p:nvPicPr>
            <p:cNvPr id="62" name="Picture 61">
              <a:extLst>
                <a:ext uri="{FF2B5EF4-FFF2-40B4-BE49-F238E27FC236}">
                  <a16:creationId xmlns:a16="http://schemas.microsoft.com/office/drawing/2014/main" id="{BF3BB0D3-893A-2876-6C8C-410549858BA3}"/>
                </a:ext>
              </a:extLst>
            </p:cNvPr>
            <p:cNvPicPr>
              <a:picLocks noChangeAspect="1"/>
            </p:cNvPicPr>
            <p:nvPr/>
          </p:nvPicPr>
          <p:blipFill>
            <a:blip r:embed="rId13">
              <a:extLst>
                <a:ext uri="{BEBA8EAE-BF5A-486C-A8C5-ECC9F3942E4B}">
                  <a14:imgProps xmlns:a14="http://schemas.microsoft.com/office/drawing/2010/main">
                    <a14:imgLayer r:embed="rId14">
                      <a14:imgEffect>
                        <a14:backgroundRemoval t="5913" b="96658" l="4961" r="96345">
                          <a14:foregroundMark x1="29373" y1="37018" x2="29373" y2="37018"/>
                          <a14:foregroundMark x1="96475" y1="6041" x2="96475" y2="6041"/>
                          <a14:foregroundMark x1="70366" y1="24165" x2="70366" y2="24165"/>
                          <a14:foregroundMark x1="58225" y1="39203" x2="58225" y2="39203"/>
                          <a14:foregroundMark x1="18016" y1="49229" x2="18016" y2="49229"/>
                          <a14:foregroundMark x1="18668" y1="47943" x2="18668" y2="47943"/>
                          <a14:foregroundMark x1="66580" y1="45887" x2="66580" y2="45887"/>
                          <a14:foregroundMark x1="5091" y1="88946" x2="5091" y2="88946"/>
                          <a14:foregroundMark x1="5483" y1="96658" x2="5483" y2="96658"/>
                        </a14:backgroundRemoval>
                      </a14:imgEffect>
                    </a14:imgLayer>
                  </a14:imgProps>
                </a:ext>
              </a:extLst>
            </a:blip>
            <a:stretch>
              <a:fillRect/>
            </a:stretch>
          </p:blipFill>
          <p:spPr>
            <a:xfrm>
              <a:off x="2451348" y="3619902"/>
              <a:ext cx="1016328" cy="990588"/>
            </a:xfrm>
            <a:prstGeom prst="rect">
              <a:avLst/>
            </a:prstGeom>
          </p:spPr>
        </p:pic>
        <p:sp>
          <p:nvSpPr>
            <p:cNvPr id="63" name="Bent Arrow 62">
              <a:extLst>
                <a:ext uri="{FF2B5EF4-FFF2-40B4-BE49-F238E27FC236}">
                  <a16:creationId xmlns:a16="http://schemas.microsoft.com/office/drawing/2014/main" id="{C546FA98-C57F-7885-CA27-2F6060083432}"/>
                </a:ext>
              </a:extLst>
            </p:cNvPr>
            <p:cNvSpPr/>
            <p:nvPr/>
          </p:nvSpPr>
          <p:spPr>
            <a:xfrm rot="5400000" flipH="1">
              <a:off x="2969568" y="3153571"/>
              <a:ext cx="1480522" cy="352607"/>
            </a:xfrm>
            <a:prstGeom prst="bentArrow">
              <a:avLst>
                <a:gd name="adj1" fmla="val 25000"/>
                <a:gd name="adj2" fmla="val 26641"/>
                <a:gd name="adj3" fmla="val 25000"/>
                <a:gd name="adj4" fmla="val 43750"/>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24" name="Graphic 1023" descr="Dollar with solid fill">
              <a:extLst>
                <a:ext uri="{FF2B5EF4-FFF2-40B4-BE49-F238E27FC236}">
                  <a16:creationId xmlns:a16="http://schemas.microsoft.com/office/drawing/2014/main" id="{4D272CA9-EA9B-9129-4B84-5B572E774B41}"/>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7467" y="2687839"/>
              <a:ext cx="457200" cy="457200"/>
            </a:xfrm>
            <a:prstGeom prst="rect">
              <a:avLst/>
            </a:prstGeom>
          </p:spPr>
        </p:pic>
        <p:pic>
          <p:nvPicPr>
            <p:cNvPr id="1025" name="Graphic 1024" descr="Dollar with solid fill">
              <a:extLst>
                <a:ext uri="{FF2B5EF4-FFF2-40B4-BE49-F238E27FC236}">
                  <a16:creationId xmlns:a16="http://schemas.microsoft.com/office/drawing/2014/main" id="{376DB6A0-07B1-DDD1-FFF3-3859E9A5972D}"/>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2988741"/>
              <a:ext cx="457200" cy="457200"/>
            </a:xfrm>
            <a:prstGeom prst="rect">
              <a:avLst/>
            </a:prstGeom>
          </p:spPr>
        </p:pic>
        <p:sp>
          <p:nvSpPr>
            <p:cNvPr id="1027" name="Left Arrow 1026">
              <a:extLst>
                <a:ext uri="{FF2B5EF4-FFF2-40B4-BE49-F238E27FC236}">
                  <a16:creationId xmlns:a16="http://schemas.microsoft.com/office/drawing/2014/main" id="{72AC7949-DC99-75C1-6B58-10695B9D7475}"/>
                </a:ext>
              </a:extLst>
            </p:cNvPr>
            <p:cNvSpPr/>
            <p:nvPr/>
          </p:nvSpPr>
          <p:spPr>
            <a:xfrm rot="10800000">
              <a:off x="1541442" y="4182223"/>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Graphic 1" descr="Dollar with solid fill">
              <a:extLst>
                <a:ext uri="{FF2B5EF4-FFF2-40B4-BE49-F238E27FC236}">
                  <a16:creationId xmlns:a16="http://schemas.microsoft.com/office/drawing/2014/main" id="{780FEBB9-A3A4-5FFA-CFFF-FD3A433F573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66838" y="3294048"/>
              <a:ext cx="457200" cy="457200"/>
            </a:xfrm>
            <a:prstGeom prst="rect">
              <a:avLst/>
            </a:prstGeom>
          </p:spPr>
        </p:pic>
        <p:pic>
          <p:nvPicPr>
            <p:cNvPr id="3" name="Picture 2">
              <a:extLst>
                <a:ext uri="{FF2B5EF4-FFF2-40B4-BE49-F238E27FC236}">
                  <a16:creationId xmlns:a16="http://schemas.microsoft.com/office/drawing/2014/main" id="{4F03F7BF-8314-20A6-0E78-6AF30A16F9C7}"/>
                </a:ext>
              </a:extLst>
            </p:cNvPr>
            <p:cNvPicPr>
              <a:picLocks noChangeAspect="1"/>
            </p:cNvPicPr>
            <p:nvPr/>
          </p:nvPicPr>
          <p:blipFill>
            <a:blip r:embed="rId15">
              <a:extLst>
                <a:ext uri="{BEBA8EAE-BF5A-486C-A8C5-ECC9F3942E4B}">
                  <a14:imgProps xmlns:a14="http://schemas.microsoft.com/office/drawing/2010/main">
                    <a14:imgLayer r:embed="rId16">
                      <a14:imgEffect>
                        <a14:backgroundRemoval t="5598" b="96947" l="6595" r="92326">
                          <a14:foregroundMark x1="36451" y1="13486" x2="36451" y2="13486"/>
                          <a14:foregroundMark x1="27218" y1="5598" x2="27218" y2="5598"/>
                          <a14:foregroundMark x1="87530" y1="36768" x2="87530" y2="36768"/>
                          <a14:foregroundMark x1="10312" y1="35751" x2="10312" y2="35751"/>
                          <a14:foregroundMark x1="6595" y1="31934" x2="6595" y2="31934"/>
                          <a14:foregroundMark x1="92446" y1="33079" x2="92446" y2="33079"/>
                          <a14:foregroundMark x1="53717" y1="96947" x2="53717" y2="96947"/>
                          <a14:foregroundMark x1="41607" y1="64377" x2="41607" y2="64377"/>
                          <a14:foregroundMark x1="34053" y1="61196" x2="34053" y2="61196"/>
                          <a14:foregroundMark x1="31415" y1="61196" x2="31415" y2="61196"/>
                          <a14:foregroundMark x1="30815" y1="52672" x2="30815" y2="52672"/>
                          <a14:foregroundMark x1="68585" y1="50509" x2="68585" y2="50509"/>
                          <a14:foregroundMark x1="68465" y1="59033" x2="68465" y2="59033"/>
                          <a14:foregroundMark x1="67866" y1="68066" x2="67866" y2="68066"/>
                          <a14:foregroundMark x1="67626" y1="76209" x2="67626" y2="76209"/>
                          <a14:foregroundMark x1="19664" y1="44784" x2="19664" y2="44784"/>
                          <a14:backgroundMark x1="39329" y1="56616" x2="39329" y2="56616"/>
                          <a14:backgroundMark x1="39928" y1="63486" x2="39928" y2="63486"/>
                          <a14:backgroundMark x1="46043" y1="62977" x2="46043" y2="62977"/>
                          <a14:backgroundMark x1="40288" y1="69720" x2="40288" y2="69720"/>
                          <a14:backgroundMark x1="27458" y1="85242" x2="27458" y2="85242"/>
                          <a14:backgroundMark x1="71343" y1="85496" x2="71343" y2="85496"/>
                          <a14:backgroundMark x1="33333" y1="63995" x2="33333" y2="63995"/>
                        </a14:backgroundRemoval>
                      </a14:imgEffect>
                    </a14:imgLayer>
                  </a14:imgProps>
                </a:ext>
              </a:extLst>
            </a:blip>
            <a:stretch>
              <a:fillRect/>
            </a:stretch>
          </p:blipFill>
          <p:spPr>
            <a:xfrm>
              <a:off x="1626616" y="3057986"/>
              <a:ext cx="777092" cy="732367"/>
            </a:xfrm>
            <a:prstGeom prst="rect">
              <a:avLst/>
            </a:prstGeom>
          </p:spPr>
        </p:pic>
        <p:sp>
          <p:nvSpPr>
            <p:cNvPr id="4" name="Left Arrow 3">
              <a:extLst>
                <a:ext uri="{FF2B5EF4-FFF2-40B4-BE49-F238E27FC236}">
                  <a16:creationId xmlns:a16="http://schemas.microsoft.com/office/drawing/2014/main" id="{4BA73D33-C7D5-4048-4ACA-4905AB1E2F9D}"/>
                </a:ext>
              </a:extLst>
            </p:cNvPr>
            <p:cNvSpPr/>
            <p:nvPr/>
          </p:nvSpPr>
          <p:spPr>
            <a:xfrm rot="13829328">
              <a:off x="1031524" y="2781264"/>
              <a:ext cx="754242" cy="161574"/>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descr="Dollar with solid fill">
              <a:extLst>
                <a:ext uri="{FF2B5EF4-FFF2-40B4-BE49-F238E27FC236}">
                  <a16:creationId xmlns:a16="http://schemas.microsoft.com/office/drawing/2014/main" id="{0A74C8DE-496B-430E-D32F-B0EF37F64B19}"/>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3165798">
              <a:off x="1160419" y="2576541"/>
              <a:ext cx="457200" cy="457200"/>
            </a:xfrm>
            <a:prstGeom prst="rect">
              <a:avLst/>
            </a:prstGeom>
          </p:spPr>
        </p:pic>
        <p:sp>
          <p:nvSpPr>
            <p:cNvPr id="13" name="Left Arrow 12">
              <a:extLst>
                <a:ext uri="{FF2B5EF4-FFF2-40B4-BE49-F238E27FC236}">
                  <a16:creationId xmlns:a16="http://schemas.microsoft.com/office/drawing/2014/main" id="{AC01B8E9-7BEF-3075-65F8-068A34831BCA}"/>
                </a:ext>
              </a:extLst>
            </p:cNvPr>
            <p:cNvSpPr/>
            <p:nvPr/>
          </p:nvSpPr>
          <p:spPr>
            <a:xfrm rot="10800000">
              <a:off x="1545196" y="4342236"/>
              <a:ext cx="827704" cy="103079"/>
            </a:xfrm>
            <a:prstGeom prst="leftArrow">
              <a:avLst/>
            </a:prstGeom>
            <a:solidFill>
              <a:srgbClr val="002F4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Graphic 16" descr="Unlock with solid fill">
              <a:extLst>
                <a:ext uri="{FF2B5EF4-FFF2-40B4-BE49-F238E27FC236}">
                  <a16:creationId xmlns:a16="http://schemas.microsoft.com/office/drawing/2014/main" id="{1289E1F2-52B9-F750-F2E0-DC3BDAF3ECE2}"/>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703224" y="509396"/>
              <a:ext cx="1334611" cy="1334611"/>
            </a:xfrm>
            <a:prstGeom prst="rect">
              <a:avLst/>
            </a:prstGeom>
          </p:spPr>
        </p:pic>
        <p:pic>
          <p:nvPicPr>
            <p:cNvPr id="18" name="Graphic 17" descr="Dollar with solid fill">
              <a:extLst>
                <a:ext uri="{FF2B5EF4-FFF2-40B4-BE49-F238E27FC236}">
                  <a16:creationId xmlns:a16="http://schemas.microsoft.com/office/drawing/2014/main" id="{74DB2BFB-1A5A-C60F-B97E-3F98BD30712F}"/>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rot="16200000">
              <a:off x="3575152" y="3575827"/>
              <a:ext cx="457200" cy="457200"/>
            </a:xfrm>
            <a:prstGeom prst="rect">
              <a:avLst/>
            </a:prstGeom>
          </p:spPr>
        </p:pic>
      </p:grpSp>
    </p:spTree>
    <p:extLst>
      <p:ext uri="{BB962C8B-B14F-4D97-AF65-F5344CB8AC3E}">
        <p14:creationId xmlns:p14="http://schemas.microsoft.com/office/powerpoint/2010/main" val="22692826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grpSp>
        <p:nvGrpSpPr>
          <p:cNvPr id="106" name="Google Shape;106;p17"/>
          <p:cNvGrpSpPr/>
          <p:nvPr/>
        </p:nvGrpSpPr>
        <p:grpSpPr>
          <a:xfrm>
            <a:off x="3303553" y="981942"/>
            <a:ext cx="2674737" cy="2788108"/>
            <a:chOff x="3071454" y="2013875"/>
            <a:chExt cx="2154300" cy="1569600"/>
          </a:xfrm>
          <a:solidFill>
            <a:srgbClr val="FFFFFF">
              <a:alpha val="83137"/>
            </a:srgbClr>
          </a:solidFill>
        </p:grpSpPr>
        <p:sp>
          <p:nvSpPr>
            <p:cNvPr id="107" name="Google Shape;107;p17"/>
            <p:cNvSpPr/>
            <p:nvPr/>
          </p:nvSpPr>
          <p:spPr>
            <a:xfrm rot="10800000" flipH="1">
              <a:off x="3071454" y="2013875"/>
              <a:ext cx="21543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7"/>
            <p:cNvSpPr txBox="1"/>
            <p:nvPr/>
          </p:nvSpPr>
          <p:spPr>
            <a:xfrm>
              <a:off x="3321734" y="2374420"/>
              <a:ext cx="1647300" cy="848510"/>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a:lnSpc>
                  <a:spcPct val="115000"/>
                </a:lnSpc>
                <a:spcAft>
                  <a:spcPts val="1600"/>
                </a:spcAft>
              </a:pPr>
              <a:r>
                <a:rPr lang="en" sz="1200" b="1" dirty="0">
                  <a:solidFill>
                    <a:srgbClr val="A72A1E"/>
                  </a:solidFill>
                  <a:latin typeface="Merriweather" pitchFamily="2" charset="77"/>
                  <a:ea typeface="Roboto"/>
                  <a:cs typeface="Roboto"/>
                  <a:sym typeface="Roboto"/>
                </a:rPr>
                <a:t>Sustainability Linked Bonds (SLBs) and Sustainability-Linked Loans (SLLs) are useful innovations to achieve these goals, but have not achieved necessary </a:t>
              </a:r>
              <a:r>
                <a:rPr lang="en" sz="1400" b="1" dirty="0">
                  <a:solidFill>
                    <a:srgbClr val="A72A1E"/>
                  </a:solidFill>
                  <a:latin typeface="Merriweather" pitchFamily="2" charset="77"/>
                  <a:ea typeface="Roboto"/>
                  <a:cs typeface="Roboto"/>
                  <a:sym typeface="Roboto"/>
                </a:rPr>
                <a:t>scale</a:t>
              </a:r>
              <a:endParaRPr lang="en" sz="1200" b="1" dirty="0">
                <a:solidFill>
                  <a:srgbClr val="A72A1E"/>
                </a:solidFill>
                <a:latin typeface="Merriweather" pitchFamily="2" charset="77"/>
                <a:ea typeface="Roboto"/>
                <a:cs typeface="Roboto"/>
              </a:endParaRPr>
            </a:p>
          </p:txBody>
        </p:sp>
      </p:grpSp>
      <p:grpSp>
        <p:nvGrpSpPr>
          <p:cNvPr id="110" name="Google Shape;110;p17"/>
          <p:cNvGrpSpPr/>
          <p:nvPr/>
        </p:nvGrpSpPr>
        <p:grpSpPr>
          <a:xfrm>
            <a:off x="413057" y="488886"/>
            <a:ext cx="2890495" cy="2717973"/>
            <a:chOff x="1126863" y="2013875"/>
            <a:chExt cx="1944600" cy="1569600"/>
          </a:xfrm>
        </p:grpSpPr>
        <p:sp>
          <p:nvSpPr>
            <p:cNvPr id="111" name="Google Shape;111;p17"/>
            <p:cNvSpPr/>
            <p:nvPr/>
          </p:nvSpPr>
          <p:spPr>
            <a:xfrm>
              <a:off x="1126863" y="2013875"/>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7"/>
            <p:cNvSpPr txBox="1"/>
            <p:nvPr/>
          </p:nvSpPr>
          <p:spPr>
            <a:xfrm>
              <a:off x="1322866" y="2176136"/>
              <a:ext cx="1573478" cy="464643"/>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Bef>
                  <a:spcPts val="600"/>
                </a:spcBef>
              </a:pPr>
              <a:r>
                <a:rPr lang="en" sz="1200" b="1" dirty="0">
                  <a:solidFill>
                    <a:schemeClr val="bg1"/>
                  </a:solidFill>
                  <a:latin typeface="Merriweather" pitchFamily="2" charset="77"/>
                  <a:ea typeface="Roboto"/>
                  <a:cs typeface="Roboto"/>
                </a:rPr>
                <a:t>The world needs stronger policy action to achieve global GHG emissions </a:t>
              </a:r>
              <a:r>
                <a:rPr lang="en" sz="1400" b="1" dirty="0">
                  <a:solidFill>
                    <a:schemeClr val="bg1"/>
                  </a:solidFill>
                  <a:latin typeface="Merriweather" pitchFamily="2" charset="77"/>
                  <a:ea typeface="Roboto"/>
                  <a:cs typeface="Roboto"/>
                </a:rPr>
                <a:t>mitigation</a:t>
              </a:r>
              <a:endParaRPr lang="en" sz="2000" dirty="0">
                <a:solidFill>
                  <a:schemeClr val="bg1"/>
                </a:solidFill>
                <a:latin typeface="Merriweather" pitchFamily="2" charset="77"/>
                <a:ea typeface="Roboto"/>
              </a:endParaRPr>
            </a:p>
          </p:txBody>
        </p:sp>
        <p:sp>
          <p:nvSpPr>
            <p:cNvPr id="113" name="Google Shape;113;p17"/>
            <p:cNvSpPr txBox="1"/>
            <p:nvPr/>
          </p:nvSpPr>
          <p:spPr>
            <a:xfrm>
              <a:off x="1306705" y="2895849"/>
              <a:ext cx="1605799" cy="359577"/>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a:spcAft>
                  <a:spcPts val="600"/>
                </a:spcAft>
              </a:pPr>
              <a:r>
                <a:rPr lang="en" sz="1200" b="1" dirty="0">
                  <a:solidFill>
                    <a:schemeClr val="bg1"/>
                  </a:solidFill>
                  <a:latin typeface="Merriweather" pitchFamily="2" charset="77"/>
                  <a:ea typeface="Roboto"/>
                  <a:cs typeface="Roboto"/>
                  <a:sym typeface="Roboto"/>
                </a:rPr>
                <a:t>Developing countries are in critical need of </a:t>
              </a:r>
              <a:r>
                <a:rPr lang="en" sz="1400" b="1" dirty="0">
                  <a:solidFill>
                    <a:schemeClr val="bg1"/>
                  </a:solidFill>
                  <a:latin typeface="Merriweather" pitchFamily="2" charset="77"/>
                  <a:ea typeface="Roboto"/>
                  <a:cs typeface="Roboto"/>
                  <a:sym typeface="Roboto"/>
                </a:rPr>
                <a:t>cheap finance </a:t>
              </a:r>
              <a:r>
                <a:rPr lang="en" sz="1200" b="1" dirty="0">
                  <a:solidFill>
                    <a:schemeClr val="bg1"/>
                  </a:solidFill>
                  <a:latin typeface="Merriweather" pitchFamily="2" charset="77"/>
                  <a:ea typeface="Roboto"/>
                  <a:cs typeface="Roboto"/>
                  <a:sym typeface="Roboto"/>
                </a:rPr>
                <a:t>to build clean energy abundance</a:t>
              </a:r>
              <a:endParaRPr lang="en-US" sz="2000" dirty="0">
                <a:solidFill>
                  <a:schemeClr val="bg1"/>
                </a:solidFill>
                <a:latin typeface="Merriweather" pitchFamily="2" charset="77"/>
              </a:endParaRPr>
            </a:p>
            <a:p>
              <a:pPr>
                <a:spcAft>
                  <a:spcPts val="600"/>
                </a:spcAft>
              </a:pPr>
              <a:endParaRPr lang="en" sz="1000" dirty="0">
                <a:solidFill>
                  <a:srgbClr val="FFFFFF"/>
                </a:solidFill>
                <a:latin typeface="Roboto"/>
                <a:ea typeface="Roboto"/>
                <a:cs typeface="Roboto"/>
              </a:endParaRPr>
            </a:p>
            <a:p>
              <a:pPr>
                <a:lnSpc>
                  <a:spcPct val="114999"/>
                </a:lnSpc>
                <a:spcAft>
                  <a:spcPts val="1600"/>
                </a:spcAft>
              </a:pPr>
              <a:endParaRPr lang="en" sz="1100" b="1" dirty="0">
                <a:solidFill>
                  <a:srgbClr val="FFFFFF"/>
                </a:solidFill>
                <a:latin typeface="Roboto"/>
                <a:ea typeface="Roboto"/>
                <a:cs typeface="Roboto"/>
              </a:endParaRPr>
            </a:p>
          </p:txBody>
        </p:sp>
      </p:grpSp>
      <p:grpSp>
        <p:nvGrpSpPr>
          <p:cNvPr id="114" name="Google Shape;114;p17"/>
          <p:cNvGrpSpPr/>
          <p:nvPr/>
        </p:nvGrpSpPr>
        <p:grpSpPr>
          <a:xfrm>
            <a:off x="5978291" y="1963483"/>
            <a:ext cx="2752652" cy="2791280"/>
            <a:chOff x="5015938" y="2013875"/>
            <a:chExt cx="3001200" cy="1569600"/>
          </a:xfrm>
        </p:grpSpPr>
        <p:sp>
          <p:nvSpPr>
            <p:cNvPr id="115" name="Google Shape;115;p17"/>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116" name="Google Shape;116;p17"/>
            <p:cNvSpPr txBox="1"/>
            <p:nvPr/>
          </p:nvSpPr>
          <p:spPr>
            <a:xfrm>
              <a:off x="5379285" y="2423121"/>
              <a:ext cx="2417100" cy="803869"/>
            </a:xfrm>
            <a:prstGeom prst="rect">
              <a:avLst/>
            </a:prstGeom>
            <a:no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US" sz="1200" b="1" dirty="0">
                  <a:solidFill>
                    <a:srgbClr val="FFFFFF"/>
                  </a:solidFill>
                  <a:latin typeface="Merriweather" pitchFamily="2" charset="77"/>
                  <a:ea typeface="Roboto"/>
                  <a:cs typeface="Roboto"/>
                  <a:sym typeface="Roboto"/>
                </a:rPr>
                <a:t>Sustainability-Linked Intermediated Debt Instruments (</a:t>
              </a:r>
              <a:r>
                <a:rPr lang="en-US" sz="1400" b="1" dirty="0">
                  <a:solidFill>
                    <a:srgbClr val="FFFFFF"/>
                  </a:solidFill>
                  <a:latin typeface="Merriweather" pitchFamily="2" charset="77"/>
                  <a:ea typeface="Roboto"/>
                  <a:cs typeface="Roboto"/>
                  <a:sym typeface="Roboto"/>
                </a:rPr>
                <a:t>SLIDIs</a:t>
              </a:r>
              <a:r>
                <a:rPr lang="en-US" sz="1200" b="1" dirty="0">
                  <a:solidFill>
                    <a:srgbClr val="FFFFFF"/>
                  </a:solidFill>
                  <a:latin typeface="Merriweather" pitchFamily="2" charset="77"/>
                  <a:ea typeface="Roboto"/>
                  <a:cs typeface="Roboto"/>
                  <a:sym typeface="Roboto"/>
                </a:rPr>
                <a:t>) </a:t>
              </a:r>
              <a:r>
                <a:rPr lang="en" sz="1200" b="1" dirty="0">
                  <a:solidFill>
                    <a:srgbClr val="FFFFFF"/>
                  </a:solidFill>
                  <a:latin typeface="Merriweather" pitchFamily="2" charset="77"/>
                  <a:ea typeface="Roboto"/>
                  <a:cs typeface="Roboto"/>
                  <a:sym typeface="Roboto"/>
                </a:rPr>
                <a:t>build on SLBs and SLLs to </a:t>
              </a:r>
              <a:r>
                <a:rPr lang="en-AU" sz="1400" b="1" dirty="0">
                  <a:solidFill>
                    <a:srgbClr val="FFFFFF"/>
                  </a:solidFill>
                  <a:latin typeface="Merriweather" pitchFamily="2" charset="77"/>
                  <a:ea typeface="Roboto"/>
                  <a:cs typeface="Roboto"/>
                  <a:sym typeface="Roboto"/>
                </a:rPr>
                <a:t>unlock</a:t>
              </a:r>
              <a:r>
                <a:rPr lang="en-AU" sz="1200" b="1" dirty="0">
                  <a:solidFill>
                    <a:srgbClr val="FFFFFF"/>
                  </a:solidFill>
                  <a:latin typeface="Merriweather" pitchFamily="2" charset="77"/>
                  <a:ea typeface="Roboto"/>
                  <a:cs typeface="Roboto"/>
                  <a:sym typeface="Roboto"/>
                </a:rPr>
                <a:t> </a:t>
              </a:r>
              <a:r>
                <a:rPr lang="en" sz="1200" b="1" dirty="0">
                  <a:solidFill>
                    <a:srgbClr val="FFFFFF"/>
                  </a:solidFill>
                  <a:latin typeface="Merriweather" pitchFamily="2" charset="77"/>
                  <a:ea typeface="Roboto"/>
                  <a:cs typeface="Roboto"/>
                  <a:sym typeface="Roboto"/>
                </a:rPr>
                <a:t>climate and clean energy finance flows</a:t>
              </a:r>
              <a:endParaRPr sz="1200" dirty="0">
                <a:solidFill>
                  <a:srgbClr val="FFFFFF"/>
                </a:solidFill>
                <a:latin typeface="Merriweather" pitchFamily="2" charset="77"/>
                <a:ea typeface="Roboto"/>
                <a:cs typeface="Roboto"/>
                <a:sym typeface="Roboto"/>
              </a:endParaRPr>
            </a:p>
          </p:txBody>
        </p:sp>
      </p:grpSp>
      <p:grpSp>
        <p:nvGrpSpPr>
          <p:cNvPr id="118" name="Google Shape;118;p17"/>
          <p:cNvGrpSpPr/>
          <p:nvPr/>
        </p:nvGrpSpPr>
        <p:grpSpPr>
          <a:xfrm>
            <a:off x="5847505" y="2704050"/>
            <a:ext cx="261571" cy="260379"/>
            <a:chOff x="4858109" y="2631368"/>
            <a:chExt cx="316442" cy="315000"/>
          </a:xfrm>
        </p:grpSpPr>
        <p:sp>
          <p:nvSpPr>
            <p:cNvPr id="119" name="Google Shape;119;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7"/>
            <p:cNvSpPr/>
            <p:nvPr/>
          </p:nvSpPr>
          <p:spPr>
            <a:xfrm>
              <a:off x="4858109" y="2739300"/>
              <a:ext cx="239100" cy="99000"/>
            </a:xfrm>
            <a:prstGeom prst="rightArrow">
              <a:avLst>
                <a:gd name="adj1" fmla="val 32020"/>
                <a:gd name="adj2" fmla="val 66970"/>
              </a:avLst>
            </a:prstGeom>
            <a:solidFill>
              <a:srgbClr val="0D5D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grpSp>
        <p:nvGrpSpPr>
          <p:cNvPr id="121" name="Google Shape;121;p17"/>
          <p:cNvGrpSpPr/>
          <p:nvPr/>
        </p:nvGrpSpPr>
        <p:grpSpPr>
          <a:xfrm>
            <a:off x="3172766" y="1369372"/>
            <a:ext cx="261571" cy="260379"/>
            <a:chOff x="4858109" y="2631368"/>
            <a:chExt cx="316442" cy="315000"/>
          </a:xfrm>
        </p:grpSpPr>
        <p:sp>
          <p:nvSpPr>
            <p:cNvPr id="122" name="Google Shape;122;p17"/>
            <p:cNvSpPr/>
            <p:nvPr/>
          </p:nvSpPr>
          <p:spPr>
            <a:xfrm>
              <a:off x="4859551" y="2631368"/>
              <a:ext cx="315000" cy="315000"/>
            </a:xfrm>
            <a:prstGeom prst="ellipse">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7"/>
            <p:cNvSpPr/>
            <p:nvPr/>
          </p:nvSpPr>
          <p:spPr>
            <a:xfrm>
              <a:off x="4858109" y="2739300"/>
              <a:ext cx="239100" cy="99000"/>
            </a:xfrm>
            <a:prstGeom prst="rightArrow">
              <a:avLst>
                <a:gd name="adj1" fmla="val 32020"/>
                <a:gd name="adj2" fmla="val 66970"/>
              </a:avLst>
            </a:prstGeom>
            <a:solidFill>
              <a:srgbClr val="A72A1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br>
                <a:rPr lang="en"/>
              </a:br>
              <a:endParaRPr/>
            </a:p>
          </p:txBody>
        </p:sp>
      </p:grpSp>
      <p:sp>
        <p:nvSpPr>
          <p:cNvPr id="3" name="TextBox 2">
            <a:extLst>
              <a:ext uri="{FF2B5EF4-FFF2-40B4-BE49-F238E27FC236}">
                <a16:creationId xmlns:a16="http://schemas.microsoft.com/office/drawing/2014/main" id="{559D59A1-924E-E3F9-6A67-5B361A008533}"/>
              </a:ext>
            </a:extLst>
          </p:cNvPr>
          <p:cNvSpPr txBox="1"/>
          <p:nvPr/>
        </p:nvSpPr>
        <p:spPr>
          <a:xfrm>
            <a:off x="1590813" y="1695663"/>
            <a:ext cx="769545" cy="400110"/>
          </a:xfrm>
          <a:prstGeom prst="rect">
            <a:avLst/>
          </a:prstGeom>
          <a:noFill/>
        </p:spPr>
        <p:txBody>
          <a:bodyPr wrap="square" rtlCol="0">
            <a:spAutoFit/>
          </a:bodyPr>
          <a:lstStyle/>
          <a:p>
            <a:r>
              <a:rPr lang="en-US" sz="2000" dirty="0">
                <a:solidFill>
                  <a:schemeClr val="bg1"/>
                </a:solidFill>
                <a:latin typeface="Merriweather" pitchFamily="2" charset="77"/>
              </a:rPr>
              <a:t>&amp;</a:t>
            </a:r>
            <a:endParaRPr lang="en-US" dirty="0">
              <a:solidFill>
                <a:schemeClr val="bg1"/>
              </a:solidFill>
              <a:latin typeface="Merriweather" pitchFamily="2" charset="77"/>
            </a:endParaRPr>
          </a:p>
        </p:txBody>
      </p:sp>
      <p:pic>
        <p:nvPicPr>
          <p:cNvPr id="4" name="Graphic 3" descr="Unlock with solid fill">
            <a:extLst>
              <a:ext uri="{FF2B5EF4-FFF2-40B4-BE49-F238E27FC236}">
                <a16:creationId xmlns:a16="http://schemas.microsoft.com/office/drawing/2014/main" id="{A20DEB00-9260-1A2D-1896-71B7950FAE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42455" y="515560"/>
            <a:ext cx="1334611" cy="1334611"/>
          </a:xfrm>
          <a:prstGeom prst="rect">
            <a:avLst/>
          </a:prstGeom>
        </p:spPr>
      </p:pic>
    </p:spTree>
    <p:extLst>
      <p:ext uri="{BB962C8B-B14F-4D97-AF65-F5344CB8AC3E}">
        <p14:creationId xmlns:p14="http://schemas.microsoft.com/office/powerpoint/2010/main" val="3497004109"/>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24"/>
          <p:cNvSpPr txBox="1">
            <a:spLocks noGrp="1"/>
          </p:cNvSpPr>
          <p:nvPr>
            <p:ph type="title" idx="4294967295"/>
          </p:nvPr>
        </p:nvSpPr>
        <p:spPr>
          <a:xfrm>
            <a:off x="437226" y="437143"/>
            <a:ext cx="3705225" cy="2049463"/>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500" dirty="0">
                <a:solidFill>
                  <a:srgbClr val="042F4A"/>
                </a:solidFill>
                <a:latin typeface="Merriweather" pitchFamily="2" charset="77"/>
                <a:ea typeface="Roboto" panose="02000000000000000000" pitchFamily="2" charset="0"/>
              </a:rPr>
              <a:t>Existing SLBs’</a:t>
            </a:r>
            <a:endParaRPr sz="2500" dirty="0">
              <a:solidFill>
                <a:srgbClr val="042F4A"/>
              </a:solidFill>
              <a:latin typeface="Merriweather" pitchFamily="2" charset="77"/>
              <a:ea typeface="Roboto" panose="02000000000000000000" pitchFamily="2" charset="0"/>
            </a:endParaRPr>
          </a:p>
          <a:p>
            <a:pPr marL="0" lvl="0" indent="0" algn="l" rtl="0">
              <a:spcBef>
                <a:spcPts val="0"/>
              </a:spcBef>
              <a:spcAft>
                <a:spcPts val="0"/>
              </a:spcAft>
              <a:buNone/>
            </a:pPr>
            <a:r>
              <a:rPr lang="en-AU" sz="2500" dirty="0">
                <a:solidFill>
                  <a:srgbClr val="042F4A"/>
                </a:solidFill>
                <a:latin typeface="Merriweather" pitchFamily="2" charset="77"/>
                <a:ea typeface="Roboto" panose="02000000000000000000" pitchFamily="2" charset="0"/>
              </a:rPr>
              <a:t>Limitations</a:t>
            </a:r>
            <a:endParaRPr sz="2500" dirty="0">
              <a:solidFill>
                <a:srgbClr val="042F4A"/>
              </a:solidFill>
              <a:latin typeface="Merriweather" pitchFamily="2" charset="77"/>
              <a:ea typeface="Roboto" panose="02000000000000000000" pitchFamily="2" charset="0"/>
            </a:endParaRPr>
          </a:p>
          <a:p>
            <a:pPr marL="0" lvl="0" indent="0" algn="l" rtl="0">
              <a:spcBef>
                <a:spcPts val="0"/>
              </a:spcBef>
              <a:spcAft>
                <a:spcPts val="0"/>
              </a:spcAft>
              <a:buNone/>
            </a:pPr>
            <a:endParaRPr dirty="0"/>
          </a:p>
          <a:p>
            <a:pPr marL="0" lvl="0" indent="0" algn="l" rtl="0">
              <a:spcBef>
                <a:spcPts val="0"/>
              </a:spcBef>
              <a:spcAft>
                <a:spcPts val="0"/>
              </a:spcAft>
              <a:buNone/>
            </a:pPr>
            <a:endParaRPr dirty="0"/>
          </a:p>
        </p:txBody>
      </p:sp>
      <p:sp>
        <p:nvSpPr>
          <p:cNvPr id="209" name="Google Shape;209;p24"/>
          <p:cNvSpPr txBox="1"/>
          <p:nvPr/>
        </p:nvSpPr>
        <p:spPr>
          <a:xfrm>
            <a:off x="5228350" y="2118388"/>
            <a:ext cx="36048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a:p>
        </p:txBody>
      </p:sp>
      <p:sp>
        <p:nvSpPr>
          <p:cNvPr id="210" name="Google Shape;210;p24"/>
          <p:cNvSpPr txBox="1"/>
          <p:nvPr/>
        </p:nvSpPr>
        <p:spPr>
          <a:xfrm>
            <a:off x="5228350" y="3431000"/>
            <a:ext cx="3402000" cy="384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200"/>
              </a:spcAft>
              <a:buNone/>
            </a:pPr>
            <a:endParaRPr sz="1300" b="1"/>
          </a:p>
        </p:txBody>
      </p:sp>
      <p:sp>
        <p:nvSpPr>
          <p:cNvPr id="212" name="Google Shape;212;p24"/>
          <p:cNvSpPr/>
          <p:nvPr/>
        </p:nvSpPr>
        <p:spPr>
          <a:xfrm>
            <a:off x="3150604" y="597659"/>
            <a:ext cx="1698313" cy="462147"/>
          </a:xfrm>
          <a:prstGeom prst="rightArrow">
            <a:avLst>
              <a:gd name="adj1" fmla="val 42312"/>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14" name="Google Shape;214;p24"/>
          <p:cNvSpPr txBox="1"/>
          <p:nvPr/>
        </p:nvSpPr>
        <p:spPr>
          <a:xfrm>
            <a:off x="5429350" y="3604500"/>
            <a:ext cx="3000000" cy="115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0"/>
              </a:spcAft>
              <a:buNone/>
            </a:pPr>
            <a:endParaRPr sz="1300">
              <a:solidFill>
                <a:schemeClr val="accent1"/>
              </a:solidFill>
              <a:latin typeface="Roboto"/>
              <a:ea typeface="Roboto"/>
              <a:cs typeface="Roboto"/>
              <a:sym typeface="Roboto"/>
            </a:endParaRPr>
          </a:p>
          <a:p>
            <a:pPr marL="0" lvl="0" indent="0" algn="l" rtl="0">
              <a:lnSpc>
                <a:spcPct val="115000"/>
              </a:lnSpc>
              <a:spcBef>
                <a:spcPts val="1200"/>
              </a:spcBef>
              <a:spcAft>
                <a:spcPts val="1200"/>
              </a:spcAft>
              <a:buNone/>
            </a:pPr>
            <a:endParaRPr sz="1300">
              <a:solidFill>
                <a:schemeClr val="accent1"/>
              </a:solidFill>
              <a:latin typeface="Roboto"/>
              <a:ea typeface="Roboto"/>
              <a:cs typeface="Roboto"/>
              <a:sym typeface="Roboto"/>
            </a:endParaRPr>
          </a:p>
        </p:txBody>
      </p:sp>
      <p:sp>
        <p:nvSpPr>
          <p:cNvPr id="7" name="Rectangle 6">
            <a:extLst>
              <a:ext uri="{FF2B5EF4-FFF2-40B4-BE49-F238E27FC236}">
                <a16:creationId xmlns:a16="http://schemas.microsoft.com/office/drawing/2014/main" id="{8ECB144B-9D03-6B48-2904-EC8BFF2D9B92}"/>
              </a:ext>
            </a:extLst>
          </p:cNvPr>
          <p:cNvSpPr/>
          <p:nvPr/>
        </p:nvSpPr>
        <p:spPr>
          <a:xfrm>
            <a:off x="5001550" y="351353"/>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Investors (Risks)</a:t>
            </a:r>
          </a:p>
        </p:txBody>
      </p:sp>
      <p:sp>
        <p:nvSpPr>
          <p:cNvPr id="8" name="Google Shape;212;p24">
            <a:extLst>
              <a:ext uri="{FF2B5EF4-FFF2-40B4-BE49-F238E27FC236}">
                <a16:creationId xmlns:a16="http://schemas.microsoft.com/office/drawing/2014/main" id="{EFE7CFA3-C869-CFC3-AC73-2602FA86639C}"/>
              </a:ext>
            </a:extLst>
          </p:cNvPr>
          <p:cNvSpPr/>
          <p:nvPr/>
        </p:nvSpPr>
        <p:spPr>
          <a:xfrm>
            <a:off x="3150604" y="2255532"/>
            <a:ext cx="1698313" cy="462147"/>
          </a:xfrm>
          <a:prstGeom prst="rightArrow">
            <a:avLst>
              <a:gd name="adj1" fmla="val 42312"/>
              <a:gd name="adj2" fmla="val 50000"/>
            </a:avLst>
          </a:prstGeom>
          <a:solidFill>
            <a:srgbClr val="042F4A"/>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9" name="Rectangle 8">
            <a:extLst>
              <a:ext uri="{FF2B5EF4-FFF2-40B4-BE49-F238E27FC236}">
                <a16:creationId xmlns:a16="http://schemas.microsoft.com/office/drawing/2014/main" id="{FB1623D5-D4AA-E83E-1422-ACE96418045A}"/>
              </a:ext>
            </a:extLst>
          </p:cNvPr>
          <p:cNvSpPr/>
          <p:nvPr/>
        </p:nvSpPr>
        <p:spPr>
          <a:xfrm>
            <a:off x="5001550" y="2009225"/>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Disincentives for Sovereign (Step-Up Mechanism)</a:t>
            </a:r>
          </a:p>
        </p:txBody>
      </p:sp>
      <p:sp>
        <p:nvSpPr>
          <p:cNvPr id="10" name="Rectangle 9">
            <a:extLst>
              <a:ext uri="{FF2B5EF4-FFF2-40B4-BE49-F238E27FC236}">
                <a16:creationId xmlns:a16="http://schemas.microsoft.com/office/drawing/2014/main" id="{98376A1D-7D5E-7CF8-80F0-4833D4603103}"/>
              </a:ext>
            </a:extLst>
          </p:cNvPr>
          <p:cNvSpPr/>
          <p:nvPr/>
        </p:nvSpPr>
        <p:spPr>
          <a:xfrm>
            <a:off x="5001550" y="3667097"/>
            <a:ext cx="3728101" cy="954760"/>
          </a:xfrm>
          <a:prstGeom prst="rect">
            <a:avLst/>
          </a:prstGeom>
          <a:solidFill>
            <a:srgbClr val="FFFFFF">
              <a:alpha val="7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rgbClr val="042F4A"/>
                </a:solidFill>
                <a:latin typeface="Merriweather" pitchFamily="2" charset="77"/>
              </a:rPr>
              <a:t>Market Resistance</a:t>
            </a:r>
          </a:p>
        </p:txBody>
      </p:sp>
      <p:sp>
        <p:nvSpPr>
          <p:cNvPr id="11" name="Google Shape;212;p24">
            <a:extLst>
              <a:ext uri="{FF2B5EF4-FFF2-40B4-BE49-F238E27FC236}">
                <a16:creationId xmlns:a16="http://schemas.microsoft.com/office/drawing/2014/main" id="{1C6ED594-E7E5-6982-EC0B-ECC6212941E1}"/>
              </a:ext>
            </a:extLst>
          </p:cNvPr>
          <p:cNvSpPr/>
          <p:nvPr/>
        </p:nvSpPr>
        <p:spPr>
          <a:xfrm>
            <a:off x="3146568" y="3913405"/>
            <a:ext cx="1698313" cy="462147"/>
          </a:xfrm>
          <a:prstGeom prst="rightArrow">
            <a:avLst>
              <a:gd name="adj1" fmla="val 42312"/>
              <a:gd name="adj2" fmla="val 50000"/>
            </a:avLst>
          </a:prstGeom>
          <a:solidFill>
            <a:schemeClr val="bg1"/>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157555" y="4401019"/>
            <a:ext cx="8557402" cy="481076"/>
          </a:xfrm>
        </p:spPr>
        <p:txBody>
          <a:bodyPr spcFirstLastPara="1" wrap="square" lIns="91425" tIns="91425" rIns="91425" bIns="91425" anchor="t" anchorCtr="0">
            <a:normAutofit fontScale="92500" lnSpcReduction="20000"/>
          </a:bodyPr>
          <a:lstStyle/>
          <a:p>
            <a:pPr lvl="0" algn="ctr"/>
            <a:r>
              <a:rPr lang="en-GB" dirty="0">
                <a:solidFill>
                  <a:srgbClr val="042F4A"/>
                </a:solidFill>
              </a:rPr>
              <a:t>SLIDI Model 1: Subsidy-Providing Intermediary</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86675" y="3700135"/>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dirty="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776218" y="1976213"/>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985482" y="3167575"/>
            <a:ext cx="5047205" cy="245719"/>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1403660" y="951573"/>
            <a:ext cx="1564042" cy="1335773"/>
            <a:chOff x="986523" y="2181585"/>
            <a:chExt cx="1944600" cy="1569600"/>
          </a:xfrm>
          <a:solidFill>
            <a:srgbClr val="99CCFF"/>
          </a:solidFill>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81585"/>
              <a:ext cx="1944600" cy="1569600"/>
            </a:xfrm>
            <a:prstGeom prst="round2DiagRect">
              <a:avLst>
                <a:gd name="adj1" fmla="val 0"/>
                <a:gd name="adj2" fmla="val 17764"/>
              </a:avLst>
            </a:prstGeom>
            <a:grp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2973" y="2342017"/>
              <a:ext cx="1451699" cy="553500"/>
            </a:xfrm>
            <a:prstGeom prst="rect">
              <a:avLst/>
            </a:prstGeom>
            <a:grpFill/>
            <a:ln w="9525" cap="flat" cmpd="sng">
              <a:no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US" sz="1500" b="1" dirty="0">
                  <a:solidFill>
                    <a:srgbClr val="042F4A"/>
                  </a:solidFill>
                  <a:latin typeface="Merriweather"/>
                  <a:ea typeface="Merriweather"/>
                  <a:cs typeface="Merriweather"/>
                  <a:sym typeface="Merriweather"/>
                </a:rPr>
                <a:t>Donor</a:t>
              </a:r>
              <a:endParaRPr sz="1500" b="1" dirty="0">
                <a:solidFill>
                  <a:srgbClr val="042F4A"/>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689859" y="653143"/>
            <a:ext cx="2309007" cy="1939543"/>
            <a:chOff x="3071454" y="1829661"/>
            <a:chExt cx="2154300" cy="1753814"/>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1829661"/>
              <a:ext cx="2154300" cy="1753814"/>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1454" y="1971805"/>
              <a:ext cx="2149987" cy="453441"/>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Intermediary/WB</a:t>
              </a:r>
              <a:endParaRPr sz="1500" dirty="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4197" y="2345378"/>
              <a:ext cx="1864500" cy="1030918"/>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chemeClr val="bg1"/>
                  </a:solidFill>
                  <a:latin typeface="Merriweather" pitchFamily="2" charset="77"/>
                  <a:ea typeface="Roboto"/>
                  <a:cs typeface="Roboto"/>
                  <a:sym typeface="Roboto"/>
                </a:rPr>
                <a:t>Pays out subsidy (RBP, results-based payments), e.g., 2%, from WB-managed trust fund </a:t>
              </a:r>
            </a:p>
            <a:p>
              <a:pPr marL="0" lvl="0" indent="0" algn="l" rtl="0">
                <a:lnSpc>
                  <a:spcPct val="115000"/>
                </a:lnSpc>
                <a:spcBef>
                  <a:spcPts val="0"/>
                </a:spcBef>
                <a:spcAft>
                  <a:spcPts val="0"/>
                </a:spcAft>
                <a:buNone/>
              </a:pPr>
              <a:r>
                <a:rPr lang="en" sz="1000" b="1" i="1" dirty="0">
                  <a:solidFill>
                    <a:srgbClr val="FFFFFF"/>
                  </a:solidFill>
                  <a:latin typeface="Merriweather" pitchFamily="2" charset="77"/>
                  <a:ea typeface="Roboto"/>
                  <a:cs typeface="Roboto"/>
                  <a:sym typeface="Roboto"/>
                </a:rPr>
                <a:t>if sustainability KPI targets are met</a:t>
              </a:r>
              <a:endParaRPr sz="1000" b="1" i="1" dirty="0">
                <a:solidFill>
                  <a:srgbClr val="FFFFFF"/>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082135" y="26009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507804"/>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Investor</a:t>
              </a:r>
              <a:endParaRPr sz="1500" dirty="0">
                <a:solidFill>
                  <a:srgbClr val="FFFFFF"/>
                </a:solidFill>
                <a:latin typeface="Merriweather"/>
                <a:ea typeface="Merriweather"/>
                <a:cs typeface="Merriweather"/>
                <a:sym typeface="Merriweather"/>
              </a:endParaRPr>
            </a:p>
          </p:txBody>
        </p:sp>
      </p:grpSp>
      <p:grpSp>
        <p:nvGrpSpPr>
          <p:cNvPr id="6" name="Google Shape;257;p27">
            <a:extLst>
              <a:ext uri="{FF2B5EF4-FFF2-40B4-BE49-F238E27FC236}">
                <a16:creationId xmlns:a16="http://schemas.microsoft.com/office/drawing/2014/main" id="{F8F0B23A-7E15-17C4-9770-CB6958162A60}"/>
              </a:ext>
            </a:extLst>
          </p:cNvPr>
          <p:cNvGrpSpPr/>
          <p:nvPr/>
        </p:nvGrpSpPr>
        <p:grpSpPr>
          <a:xfrm>
            <a:off x="424770" y="2562137"/>
            <a:ext cx="1564042" cy="1501636"/>
            <a:chOff x="986523" y="2110718"/>
            <a:chExt cx="1944600" cy="1569600"/>
          </a:xfrm>
        </p:grpSpPr>
        <p:sp>
          <p:nvSpPr>
            <p:cNvPr id="7" name="Google Shape;258;p27">
              <a:extLst>
                <a:ext uri="{FF2B5EF4-FFF2-40B4-BE49-F238E27FC236}">
                  <a16:creationId xmlns:a16="http://schemas.microsoft.com/office/drawing/2014/main" id="{6DE0AC99-4FFC-467E-49E7-2F8D0919F606}"/>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259;p27">
              <a:extLst>
                <a:ext uri="{FF2B5EF4-FFF2-40B4-BE49-F238E27FC236}">
                  <a16:creationId xmlns:a16="http://schemas.microsoft.com/office/drawing/2014/main" id="{F24C5235-C0E2-9D3C-C3D1-0C3E683302DE}"/>
                </a:ext>
              </a:extLst>
            </p:cNvPr>
            <p:cNvSpPr txBox="1"/>
            <p:nvPr/>
          </p:nvSpPr>
          <p:spPr>
            <a:xfrm>
              <a:off x="1230917" y="230095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dirty="0">
                  <a:solidFill>
                    <a:srgbClr val="FFFFFF"/>
                  </a:solidFill>
                  <a:latin typeface="Merriweather"/>
                  <a:ea typeface="Merriweather"/>
                  <a:cs typeface="Merriweather"/>
                  <a:sym typeface="Merriweather"/>
                </a:rPr>
                <a:t>Sovereign</a:t>
              </a:r>
              <a:endParaRPr sz="1500" b="1" dirty="0">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dirty="0">
                <a:solidFill>
                  <a:srgbClr val="FFFFFF"/>
                </a:solidFill>
                <a:latin typeface="Roboto"/>
                <a:ea typeface="Roboto"/>
                <a:cs typeface="Roboto"/>
                <a:sym typeface="Roboto"/>
              </a:endParaRPr>
            </a:p>
          </p:txBody>
        </p:sp>
      </p:grpSp>
      <p:sp>
        <p:nvSpPr>
          <p:cNvPr id="12" name="TextBox 11">
            <a:extLst>
              <a:ext uri="{FF2B5EF4-FFF2-40B4-BE49-F238E27FC236}">
                <a16:creationId xmlns:a16="http://schemas.microsoft.com/office/drawing/2014/main" id="{160D60F1-71D3-C6E2-2411-B19864E001C3}"/>
              </a:ext>
            </a:extLst>
          </p:cNvPr>
          <p:cNvSpPr txBox="1"/>
          <p:nvPr/>
        </p:nvSpPr>
        <p:spPr>
          <a:xfrm>
            <a:off x="1543727" y="1434710"/>
            <a:ext cx="1303273" cy="707886"/>
          </a:xfrm>
          <a:prstGeom prst="rect">
            <a:avLst/>
          </a:prstGeom>
          <a:noFill/>
        </p:spPr>
        <p:txBody>
          <a:bodyPr wrap="square" rtlCol="0">
            <a:spAutoFit/>
          </a:bodyPr>
          <a:lstStyle/>
          <a:p>
            <a:r>
              <a:rPr lang="en-US" sz="1000" dirty="0">
                <a:solidFill>
                  <a:srgbClr val="042F4A"/>
                </a:solidFill>
                <a:latin typeface="Merriweather" pitchFamily="2" charset="77"/>
                <a:ea typeface="Roboto" panose="02000000000000000000" pitchFamily="2" charset="0"/>
              </a:rPr>
              <a:t>Raises money for trust fund for RBPs, e.g., via carbon tax</a:t>
            </a:r>
          </a:p>
        </p:txBody>
      </p:sp>
      <p:sp>
        <p:nvSpPr>
          <p:cNvPr id="13" name="Arrow: Right 12">
            <a:extLst>
              <a:ext uri="{FF2B5EF4-FFF2-40B4-BE49-F238E27FC236}">
                <a16:creationId xmlns:a16="http://schemas.microsoft.com/office/drawing/2014/main" id="{3E6CA0CD-2BCF-AFD3-7026-515BD9ED8BFF}"/>
              </a:ext>
            </a:extLst>
          </p:cNvPr>
          <p:cNvSpPr/>
          <p:nvPr/>
        </p:nvSpPr>
        <p:spPr>
          <a:xfrm>
            <a:off x="2967702" y="1633642"/>
            <a:ext cx="641896" cy="245400"/>
          </a:xfrm>
          <a:prstGeom prst="rightArrow">
            <a:avLst/>
          </a:prstGeom>
          <a:solidFill>
            <a:srgbClr val="99CC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85D3CAAB-EC43-152C-B65A-93995A064109}"/>
              </a:ext>
            </a:extLst>
          </p:cNvPr>
          <p:cNvSpPr txBox="1"/>
          <p:nvPr/>
        </p:nvSpPr>
        <p:spPr>
          <a:xfrm>
            <a:off x="523246" y="3167113"/>
            <a:ext cx="1348608" cy="707886"/>
          </a:xfrm>
          <a:prstGeom prst="rect">
            <a:avLst/>
          </a:prstGeom>
          <a:noFill/>
        </p:spPr>
        <p:txBody>
          <a:bodyPr wrap="square" rtlCol="0">
            <a:spAutoFit/>
          </a:bodyPr>
          <a:lstStyle/>
          <a:p>
            <a:r>
              <a:rPr lang="en-US" sz="1000" dirty="0">
                <a:solidFill>
                  <a:schemeClr val="bg1"/>
                </a:solidFill>
                <a:latin typeface="Merriweather" pitchFamily="2" charset="77"/>
                <a:ea typeface="Roboto" panose="02000000000000000000" pitchFamily="2" charset="0"/>
              </a:rPr>
              <a:t>Issues bonds to financial markets at fixed interest rate, e.g., 7%</a:t>
            </a:r>
          </a:p>
        </p:txBody>
      </p:sp>
    </p:spTree>
    <p:extLst>
      <p:ext uri="{BB962C8B-B14F-4D97-AF65-F5344CB8AC3E}">
        <p14:creationId xmlns:p14="http://schemas.microsoft.com/office/powerpoint/2010/main" val="36077788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4">
          <a:extLst>
            <a:ext uri="{FF2B5EF4-FFF2-40B4-BE49-F238E27FC236}">
              <a16:creationId xmlns:a16="http://schemas.microsoft.com/office/drawing/2014/main" id="{6DC69604-7F71-ADDE-262F-9C0E39FDFAA0}"/>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E9AFE57C-1AF0-3D4D-4924-4A94F41442D4}"/>
              </a:ext>
            </a:extLst>
          </p:cNvPr>
          <p:cNvSpPr/>
          <p:nvPr/>
        </p:nvSpPr>
        <p:spPr>
          <a:xfrm>
            <a:off x="0" y="2000816"/>
            <a:ext cx="9144000" cy="31426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7" name="Google Shape;247;p27">
            <a:extLst>
              <a:ext uri="{FF2B5EF4-FFF2-40B4-BE49-F238E27FC236}">
                <a16:creationId xmlns:a16="http://schemas.microsoft.com/office/drawing/2014/main" id="{BDA15AB4-6F1E-81D8-9C61-4CDC3094B5C3}"/>
              </a:ext>
            </a:extLst>
          </p:cNvPr>
          <p:cNvSpPr txBox="1">
            <a:spLocks noGrp="1"/>
          </p:cNvSpPr>
          <p:nvPr>
            <p:ph type="subTitle" idx="1"/>
          </p:nvPr>
        </p:nvSpPr>
        <p:spPr>
          <a:xfrm>
            <a:off x="0" y="249895"/>
            <a:ext cx="3064299" cy="1611449"/>
          </a:xfrm>
        </p:spPr>
        <p:txBody>
          <a:bodyPr spcFirstLastPara="1" wrap="square" lIns="91425" tIns="91425" rIns="91425" bIns="91425" anchor="t" anchorCtr="0">
            <a:normAutofit/>
          </a:bodyPr>
          <a:lstStyle/>
          <a:p>
            <a:pPr marL="146050" lvl="0" indent="0" algn="ctr">
              <a:buNone/>
            </a:pPr>
            <a:r>
              <a:rPr lang="en-GB" sz="1900" dirty="0">
                <a:solidFill>
                  <a:srgbClr val="042F4A"/>
                </a:solidFill>
                <a:latin typeface="Merriweather" pitchFamily="2" charset="77"/>
              </a:rPr>
              <a:t>SLIDI Model 2: Credit Intermediary (Specialized Development Bank) </a:t>
            </a:r>
          </a:p>
          <a:p>
            <a:pPr lvl="0"/>
            <a:endParaRPr lang="en-GB" dirty="0"/>
          </a:p>
          <a:p>
            <a:pPr lvl="0"/>
            <a:endParaRPr lang="en-GB" dirty="0"/>
          </a:p>
        </p:txBody>
      </p:sp>
      <p:sp>
        <p:nvSpPr>
          <p:cNvPr id="248" name="Google Shape;248;p27">
            <a:extLst>
              <a:ext uri="{FF2B5EF4-FFF2-40B4-BE49-F238E27FC236}">
                <a16:creationId xmlns:a16="http://schemas.microsoft.com/office/drawing/2014/main" id="{93ABDED8-3770-5B3E-F086-A48EE65839D3}"/>
              </a:ext>
            </a:extLst>
          </p:cNvPr>
          <p:cNvSpPr txBox="1"/>
          <p:nvPr/>
        </p:nvSpPr>
        <p:spPr>
          <a:xfrm>
            <a:off x="296724" y="4087364"/>
            <a:ext cx="1637700" cy="58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endParaRPr sz="1500">
              <a:solidFill>
                <a:schemeClr val="lt1"/>
              </a:solidFill>
              <a:latin typeface="Roboto"/>
              <a:ea typeface="Roboto"/>
              <a:cs typeface="Roboto"/>
              <a:sym typeface="Roboto"/>
            </a:endParaRPr>
          </a:p>
          <a:p>
            <a:pPr marL="0" lvl="0" indent="0" algn="l" rtl="0">
              <a:lnSpc>
                <a:spcPct val="115000"/>
              </a:lnSpc>
              <a:spcBef>
                <a:spcPts val="0"/>
              </a:spcBef>
              <a:spcAft>
                <a:spcPts val="0"/>
              </a:spcAft>
              <a:buNone/>
            </a:pPr>
            <a:endParaRPr sz="1300">
              <a:solidFill>
                <a:schemeClr val="dk1"/>
              </a:solidFill>
              <a:latin typeface="Roboto"/>
              <a:ea typeface="Roboto"/>
              <a:cs typeface="Roboto"/>
              <a:sym typeface="Roboto"/>
            </a:endParaRPr>
          </a:p>
          <a:p>
            <a:pPr marL="0" lvl="0" indent="0" algn="l" rtl="0">
              <a:spcBef>
                <a:spcPts val="1200"/>
              </a:spcBef>
              <a:spcAft>
                <a:spcPts val="0"/>
              </a:spcAft>
              <a:buNone/>
            </a:pPr>
            <a:endParaRPr sz="1300">
              <a:solidFill>
                <a:schemeClr val="lt1"/>
              </a:solidFill>
              <a:latin typeface="Roboto"/>
              <a:ea typeface="Roboto"/>
              <a:cs typeface="Roboto"/>
              <a:sym typeface="Roboto"/>
            </a:endParaRPr>
          </a:p>
        </p:txBody>
      </p:sp>
      <p:sp>
        <p:nvSpPr>
          <p:cNvPr id="249" name="Google Shape;249;p27">
            <a:extLst>
              <a:ext uri="{FF2B5EF4-FFF2-40B4-BE49-F238E27FC236}">
                <a16:creationId xmlns:a16="http://schemas.microsoft.com/office/drawing/2014/main" id="{D91044F1-ECF7-7969-85A3-68B776664B5B}"/>
              </a:ext>
            </a:extLst>
          </p:cNvPr>
          <p:cNvSpPr txBox="1"/>
          <p:nvPr/>
        </p:nvSpPr>
        <p:spPr>
          <a:xfrm rot="596">
            <a:off x="1958319" y="3435675"/>
            <a:ext cx="1729500" cy="1238192"/>
          </a:xfrm>
          <a:prstGeom prst="rect">
            <a:avLst/>
          </a:prstGeom>
          <a:noFill/>
          <a:ln>
            <a:noFill/>
          </a:ln>
        </p:spPr>
        <p:txBody>
          <a:bodyPr spcFirstLastPara="1" wrap="square" lIns="91425" tIns="91425" rIns="91425" bIns="91425" anchor="t" anchorCtr="0">
            <a:noAutofit/>
          </a:bodyPr>
          <a:lstStyle/>
          <a:p>
            <a:pPr algn="ctr">
              <a:lnSpc>
                <a:spcPct val="115000"/>
              </a:lnSpc>
            </a:pPr>
            <a:endParaRPr lang="en" sz="1000" dirty="0">
              <a:solidFill>
                <a:schemeClr val="dk1"/>
              </a:solidFill>
              <a:latin typeface="Roboto"/>
              <a:ea typeface="Roboto"/>
              <a:cs typeface="Roboto"/>
              <a:sym typeface="Roboto"/>
            </a:endParaRPr>
          </a:p>
          <a:p>
            <a:pPr algn="ctr">
              <a:lnSpc>
                <a:spcPct val="115000"/>
              </a:lnSpc>
            </a:pPr>
            <a:r>
              <a:rPr lang="en" sz="1000" dirty="0">
                <a:solidFill>
                  <a:schemeClr val="dk1"/>
                </a:solidFill>
                <a:latin typeface="Merriweather" pitchFamily="2" charset="77"/>
                <a:ea typeface="Roboto"/>
                <a:cs typeface="Roboto"/>
                <a:sym typeface="Roboto"/>
              </a:rPr>
              <a:t>Pays 5% until bond maturity if KPI targets are met and 4% or 3% if targets are subsequently exceeded</a:t>
            </a:r>
            <a:endParaRPr sz="1000" dirty="0">
              <a:solidFill>
                <a:schemeClr val="dk1"/>
              </a:solidFill>
              <a:latin typeface="Merriweather" pitchFamily="2" charset="77"/>
              <a:ea typeface="Roboto"/>
              <a:cs typeface="Roboto"/>
              <a:sym typeface="Roboto"/>
            </a:endParaRPr>
          </a:p>
          <a:p>
            <a:pPr marL="0" lvl="0" indent="0" algn="l" rtl="0">
              <a:lnSpc>
                <a:spcPct val="115000"/>
              </a:lnSpc>
              <a:spcBef>
                <a:spcPts val="1200"/>
              </a:spcBef>
              <a:spcAft>
                <a:spcPts val="0"/>
              </a:spcAft>
              <a:buNone/>
            </a:pPr>
            <a:endParaRPr sz="1300" dirty="0">
              <a:solidFill>
                <a:schemeClr val="dk1"/>
              </a:solidFill>
              <a:latin typeface="Roboto"/>
              <a:ea typeface="Roboto"/>
              <a:cs typeface="Roboto"/>
              <a:sym typeface="Roboto"/>
            </a:endParaRPr>
          </a:p>
          <a:p>
            <a:pPr marL="0" lvl="0" indent="0" algn="l" rtl="0">
              <a:spcBef>
                <a:spcPts val="1200"/>
              </a:spcBef>
              <a:spcAft>
                <a:spcPts val="0"/>
              </a:spcAft>
              <a:buNone/>
            </a:pPr>
            <a:endParaRPr sz="1300" dirty="0">
              <a:solidFill>
                <a:schemeClr val="lt1"/>
              </a:solidFill>
              <a:latin typeface="Roboto"/>
              <a:ea typeface="Roboto"/>
              <a:cs typeface="Roboto"/>
              <a:sym typeface="Roboto"/>
            </a:endParaRPr>
          </a:p>
        </p:txBody>
      </p:sp>
      <p:sp>
        <p:nvSpPr>
          <p:cNvPr id="250" name="Google Shape;250;p27">
            <a:extLst>
              <a:ext uri="{FF2B5EF4-FFF2-40B4-BE49-F238E27FC236}">
                <a16:creationId xmlns:a16="http://schemas.microsoft.com/office/drawing/2014/main" id="{3B39E47E-1B11-4125-1827-9AB3984F90BF}"/>
              </a:ext>
            </a:extLst>
          </p:cNvPr>
          <p:cNvSpPr txBox="1"/>
          <p:nvPr/>
        </p:nvSpPr>
        <p:spPr>
          <a:xfrm rot="1354299">
            <a:off x="5402663" y="2695527"/>
            <a:ext cx="2358024" cy="338631"/>
          </a:xfrm>
          <a:prstGeom prst="rect">
            <a:avLst/>
          </a:prstGeom>
          <a:noFill/>
          <a:ln>
            <a:noFill/>
          </a:ln>
        </p:spPr>
        <p:txBody>
          <a:bodyPr spcFirstLastPara="1" wrap="square" lIns="91425" tIns="91425" rIns="91425" bIns="91425" anchor="t" anchorCtr="0">
            <a:spAutoFit/>
          </a:bodyPr>
          <a:lstStyle/>
          <a:p>
            <a:pPr algn="ctr"/>
            <a:r>
              <a:rPr lang="en" sz="1000" dirty="0">
                <a:solidFill>
                  <a:schemeClr val="dk1"/>
                </a:solidFill>
                <a:latin typeface="Merriweather" pitchFamily="2" charset="77"/>
                <a:ea typeface="Roboto"/>
                <a:cs typeface="Roboto"/>
                <a:sym typeface="Roboto"/>
              </a:rPr>
              <a:t>Pays constant 4% p.a. </a:t>
            </a:r>
            <a:endParaRPr sz="1000" dirty="0">
              <a:solidFill>
                <a:schemeClr val="dk1"/>
              </a:solidFill>
              <a:latin typeface="Merriweather" pitchFamily="2" charset="77"/>
            </a:endParaRPr>
          </a:p>
        </p:txBody>
      </p:sp>
      <p:sp>
        <p:nvSpPr>
          <p:cNvPr id="251" name="Google Shape;251;p27">
            <a:extLst>
              <a:ext uri="{FF2B5EF4-FFF2-40B4-BE49-F238E27FC236}">
                <a16:creationId xmlns:a16="http://schemas.microsoft.com/office/drawing/2014/main" id="{4025B442-8C74-8501-5949-776B18584C5C}"/>
              </a:ext>
            </a:extLst>
          </p:cNvPr>
          <p:cNvSpPr/>
          <p:nvPr/>
        </p:nvSpPr>
        <p:spPr>
          <a:xfrm rot="1342973">
            <a:off x="5497896" y="2923243"/>
            <a:ext cx="1882093" cy="181904"/>
          </a:xfrm>
          <a:prstGeom prst="rightArrow">
            <a:avLst>
              <a:gd name="adj1" fmla="val 50000"/>
              <a:gd name="adj2" fmla="val 50000"/>
            </a:avLst>
          </a:prstGeom>
          <a:solidFill>
            <a:srgbClr val="039384"/>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2" name="Google Shape;252;p27">
            <a:extLst>
              <a:ext uri="{FF2B5EF4-FFF2-40B4-BE49-F238E27FC236}">
                <a16:creationId xmlns:a16="http://schemas.microsoft.com/office/drawing/2014/main" id="{2699E0C9-4AB9-6C4C-37F9-00E71A56980E}"/>
              </a:ext>
            </a:extLst>
          </p:cNvPr>
          <p:cNvSpPr txBox="1"/>
          <p:nvPr/>
        </p:nvSpPr>
        <p:spPr>
          <a:xfrm rot="-1154369">
            <a:off x="1359335" y="2602127"/>
            <a:ext cx="2357995" cy="49241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Pays 7% p.a. until KPI performance assessment deadline.</a:t>
            </a:r>
            <a:endParaRPr sz="1000" dirty="0">
              <a:solidFill>
                <a:schemeClr val="dk1"/>
              </a:solidFill>
              <a:latin typeface="Merriweather" pitchFamily="2" charset="77"/>
            </a:endParaRPr>
          </a:p>
        </p:txBody>
      </p:sp>
      <p:sp>
        <p:nvSpPr>
          <p:cNvPr id="253" name="Google Shape;253;p27">
            <a:extLst>
              <a:ext uri="{FF2B5EF4-FFF2-40B4-BE49-F238E27FC236}">
                <a16:creationId xmlns:a16="http://schemas.microsoft.com/office/drawing/2014/main" id="{72CD6DF1-9F6B-4A4E-0BCC-09A91EE0D856}"/>
              </a:ext>
            </a:extLst>
          </p:cNvPr>
          <p:cNvSpPr/>
          <p:nvPr/>
        </p:nvSpPr>
        <p:spPr>
          <a:xfrm rot="-1090328">
            <a:off x="1164231" y="3088121"/>
            <a:ext cx="2513654" cy="198435"/>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4" name="Google Shape;254;p27">
            <a:extLst>
              <a:ext uri="{FF2B5EF4-FFF2-40B4-BE49-F238E27FC236}">
                <a16:creationId xmlns:a16="http://schemas.microsoft.com/office/drawing/2014/main" id="{C70D270B-86A1-11CA-8345-9C2314B6CC1A}"/>
              </a:ext>
            </a:extLst>
          </p:cNvPr>
          <p:cNvSpPr/>
          <p:nvPr/>
        </p:nvSpPr>
        <p:spPr>
          <a:xfrm rot="-5400000" flipH="1">
            <a:off x="2815774" y="3103689"/>
            <a:ext cx="1161900" cy="2609700"/>
          </a:xfrm>
          <a:prstGeom prst="bentUpArrow">
            <a:avLst>
              <a:gd name="adj1" fmla="val 7599"/>
              <a:gd name="adj2" fmla="val 10711"/>
              <a:gd name="adj3" fmla="val 16698"/>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sp>
        <p:nvSpPr>
          <p:cNvPr id="255" name="Google Shape;255;p27">
            <a:extLst>
              <a:ext uri="{FF2B5EF4-FFF2-40B4-BE49-F238E27FC236}">
                <a16:creationId xmlns:a16="http://schemas.microsoft.com/office/drawing/2014/main" id="{72CA3842-9998-06D5-C624-760E77C3E486}"/>
              </a:ext>
            </a:extLst>
          </p:cNvPr>
          <p:cNvSpPr txBox="1"/>
          <p:nvPr/>
        </p:nvSpPr>
        <p:spPr>
          <a:xfrm rot="-2169">
            <a:off x="4710491" y="3881074"/>
            <a:ext cx="1426200" cy="1107965"/>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000" dirty="0">
                <a:solidFill>
                  <a:schemeClr val="dk1"/>
                </a:solidFill>
                <a:latin typeface="Merriweather" pitchFamily="2" charset="77"/>
                <a:ea typeface="Roboto"/>
                <a:cs typeface="Roboto"/>
                <a:sym typeface="Roboto"/>
              </a:rPr>
              <a:t>Verifies KPI targets are ambitious and relevant and tracks progress; on-lends money to EMDE sovereign via SLL</a:t>
            </a:r>
            <a:endParaRPr sz="1000" dirty="0">
              <a:solidFill>
                <a:schemeClr val="dk1"/>
              </a:solidFill>
              <a:latin typeface="Merriweather" pitchFamily="2" charset="77"/>
            </a:endParaRPr>
          </a:p>
        </p:txBody>
      </p:sp>
      <p:sp>
        <p:nvSpPr>
          <p:cNvPr id="256" name="Google Shape;256;p27">
            <a:extLst>
              <a:ext uri="{FF2B5EF4-FFF2-40B4-BE49-F238E27FC236}">
                <a16:creationId xmlns:a16="http://schemas.microsoft.com/office/drawing/2014/main" id="{6779A3D0-9C0A-0A4A-D467-FFD952AE80FB}"/>
              </a:ext>
            </a:extLst>
          </p:cNvPr>
          <p:cNvSpPr/>
          <p:nvPr/>
        </p:nvSpPr>
        <p:spPr>
          <a:xfrm rot="-630">
            <a:off x="1344068" y="3502855"/>
            <a:ext cx="2283351" cy="154381"/>
          </a:xfrm>
          <a:prstGeom prst="rightArrow">
            <a:avLst>
              <a:gd name="adj1" fmla="val 50000"/>
              <a:gd name="adj2" fmla="val 50000"/>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Roboto"/>
              <a:ea typeface="Roboto"/>
              <a:cs typeface="Roboto"/>
              <a:sym typeface="Roboto"/>
            </a:endParaRPr>
          </a:p>
        </p:txBody>
      </p:sp>
      <p:grpSp>
        <p:nvGrpSpPr>
          <p:cNvPr id="257" name="Google Shape;257;p27">
            <a:extLst>
              <a:ext uri="{FF2B5EF4-FFF2-40B4-BE49-F238E27FC236}">
                <a16:creationId xmlns:a16="http://schemas.microsoft.com/office/drawing/2014/main" id="{DB7D8D23-D48D-DF54-A5FE-ABC14E7055DE}"/>
              </a:ext>
            </a:extLst>
          </p:cNvPr>
          <p:cNvGrpSpPr/>
          <p:nvPr/>
        </p:nvGrpSpPr>
        <p:grpSpPr>
          <a:xfrm>
            <a:off x="311926" y="3537213"/>
            <a:ext cx="1564042" cy="1501636"/>
            <a:chOff x="986523" y="2110718"/>
            <a:chExt cx="1944600" cy="1569600"/>
          </a:xfrm>
        </p:grpSpPr>
        <p:sp>
          <p:nvSpPr>
            <p:cNvPr id="258" name="Google Shape;258;p27">
              <a:extLst>
                <a:ext uri="{FF2B5EF4-FFF2-40B4-BE49-F238E27FC236}">
                  <a16:creationId xmlns:a16="http://schemas.microsoft.com/office/drawing/2014/main" id="{C34814DE-F803-ADE5-8BE6-DB539D931612}"/>
                </a:ext>
              </a:extLst>
            </p:cNvPr>
            <p:cNvSpPr/>
            <p:nvPr/>
          </p:nvSpPr>
          <p:spPr>
            <a:xfrm>
              <a:off x="986523" y="2110718"/>
              <a:ext cx="1944600" cy="1569600"/>
            </a:xfrm>
            <a:prstGeom prst="round2DiagRect">
              <a:avLst>
                <a:gd name="adj1" fmla="val 0"/>
                <a:gd name="adj2" fmla="val 17764"/>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7">
              <a:extLst>
                <a:ext uri="{FF2B5EF4-FFF2-40B4-BE49-F238E27FC236}">
                  <a16:creationId xmlns:a16="http://schemas.microsoft.com/office/drawing/2014/main" id="{6522F11D-71AE-7BA5-6888-AA326CC2559E}"/>
                </a:ext>
              </a:extLst>
            </p:cNvPr>
            <p:cNvSpPr txBox="1"/>
            <p:nvPr/>
          </p:nvSpPr>
          <p:spPr>
            <a:xfrm>
              <a:off x="1231001" y="2659316"/>
              <a:ext cx="1451699" cy="553500"/>
            </a:xfrm>
            <a:prstGeom prst="rect">
              <a:avLst/>
            </a:prstGeom>
            <a:solidFill>
              <a:schemeClr val="accent4"/>
            </a:solidFill>
            <a:ln w="9525" cap="flat" cmpd="sng">
              <a:solidFill>
                <a:schemeClr val="accent4"/>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Sovereign</a:t>
              </a:r>
              <a:endParaRPr sz="1500" b="1">
                <a:solidFill>
                  <a:srgbClr val="FFFFFF"/>
                </a:solidFill>
                <a:latin typeface="Merriweather"/>
                <a:ea typeface="Merriweather"/>
                <a:cs typeface="Merriweather"/>
                <a:sym typeface="Merriweather"/>
              </a:endParaRPr>
            </a:p>
            <a:p>
              <a:pPr marL="0" lvl="0" indent="0" algn="l" rtl="0">
                <a:spcBef>
                  <a:spcPts val="0"/>
                </a:spcBef>
                <a:spcAft>
                  <a:spcPts val="0"/>
                </a:spcAft>
                <a:buNone/>
              </a:pPr>
              <a:endParaRPr sz="1100" b="1">
                <a:solidFill>
                  <a:srgbClr val="FFFFFF"/>
                </a:solidFill>
                <a:latin typeface="Roboto"/>
                <a:ea typeface="Roboto"/>
                <a:cs typeface="Roboto"/>
                <a:sym typeface="Roboto"/>
              </a:endParaRPr>
            </a:p>
          </p:txBody>
        </p:sp>
      </p:grpSp>
      <p:grpSp>
        <p:nvGrpSpPr>
          <p:cNvPr id="260" name="Google Shape;260;p27">
            <a:extLst>
              <a:ext uri="{FF2B5EF4-FFF2-40B4-BE49-F238E27FC236}">
                <a16:creationId xmlns:a16="http://schemas.microsoft.com/office/drawing/2014/main" id="{268CB901-463F-A805-6126-91F1097B3FB8}"/>
              </a:ext>
            </a:extLst>
          </p:cNvPr>
          <p:cNvGrpSpPr/>
          <p:nvPr/>
        </p:nvGrpSpPr>
        <p:grpSpPr>
          <a:xfrm>
            <a:off x="3730047" y="2000815"/>
            <a:ext cx="1876395" cy="1826773"/>
            <a:chOff x="3071454" y="2013875"/>
            <a:chExt cx="2154300" cy="1569600"/>
          </a:xfrm>
        </p:grpSpPr>
        <p:sp>
          <p:nvSpPr>
            <p:cNvPr id="261" name="Google Shape;261;p27">
              <a:extLst>
                <a:ext uri="{FF2B5EF4-FFF2-40B4-BE49-F238E27FC236}">
                  <a16:creationId xmlns:a16="http://schemas.microsoft.com/office/drawing/2014/main" id="{94BA8BB4-A2B5-A809-4EFD-795CEA2A048C}"/>
                </a:ext>
              </a:extLst>
            </p:cNvPr>
            <p:cNvSpPr/>
            <p:nvPr/>
          </p:nvSpPr>
          <p:spPr>
            <a:xfrm rot="10800000" flipH="1">
              <a:off x="3071454" y="2013875"/>
              <a:ext cx="2154300" cy="1569600"/>
            </a:xfrm>
            <a:prstGeom prst="round2DiagRect">
              <a:avLst>
                <a:gd name="adj1" fmla="val 0"/>
                <a:gd name="adj2" fmla="val 17764"/>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7">
              <a:extLst>
                <a:ext uri="{FF2B5EF4-FFF2-40B4-BE49-F238E27FC236}">
                  <a16:creationId xmlns:a16="http://schemas.microsoft.com/office/drawing/2014/main" id="{46784332-3030-2A91-83FF-AB28AB0C05B1}"/>
                </a:ext>
              </a:extLst>
            </p:cNvPr>
            <p:cNvSpPr txBox="1"/>
            <p:nvPr/>
          </p:nvSpPr>
          <p:spPr>
            <a:xfrm>
              <a:off x="3073412" y="2262827"/>
              <a:ext cx="2149987" cy="453441"/>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spcBef>
                  <a:spcPts val="0"/>
                </a:spcBef>
                <a:spcAft>
                  <a:spcPts val="0"/>
                </a:spcAft>
                <a:buNone/>
              </a:pPr>
              <a:r>
                <a:rPr lang="en" sz="1500" b="1">
                  <a:solidFill>
                    <a:srgbClr val="FFFFFF"/>
                  </a:solidFill>
                  <a:latin typeface="Merriweather"/>
                  <a:ea typeface="Merriweather"/>
                  <a:cs typeface="Merriweather"/>
                  <a:sym typeface="Merriweather"/>
                </a:rPr>
                <a:t>Intermediary/WB</a:t>
              </a:r>
              <a:endParaRPr sz="1500">
                <a:solidFill>
                  <a:srgbClr val="FFFFFF"/>
                </a:solidFill>
                <a:latin typeface="Merriweather"/>
                <a:ea typeface="Merriweather"/>
                <a:cs typeface="Merriweather"/>
                <a:sym typeface="Merriweather"/>
              </a:endParaRPr>
            </a:p>
          </p:txBody>
        </p:sp>
        <p:sp>
          <p:nvSpPr>
            <p:cNvPr id="263" name="Google Shape;263;p27">
              <a:extLst>
                <a:ext uri="{FF2B5EF4-FFF2-40B4-BE49-F238E27FC236}">
                  <a16:creationId xmlns:a16="http://schemas.microsoft.com/office/drawing/2014/main" id="{D538F370-E39E-480D-860B-966741F57112}"/>
                </a:ext>
              </a:extLst>
            </p:cNvPr>
            <p:cNvSpPr txBox="1"/>
            <p:nvPr/>
          </p:nvSpPr>
          <p:spPr>
            <a:xfrm>
              <a:off x="3216097" y="2537357"/>
              <a:ext cx="1864500" cy="512400"/>
            </a:xfrm>
            <a:prstGeom prst="rect">
              <a:avLst/>
            </a:pr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1000" dirty="0">
                  <a:solidFill>
                    <a:srgbClr val="FFFFFF"/>
                  </a:solidFill>
                  <a:latin typeface="Merriweather" pitchFamily="2" charset="77"/>
                  <a:ea typeface="Roboto"/>
                  <a:cs typeface="Roboto"/>
                  <a:sym typeface="Roboto"/>
                </a:rPr>
                <a:t>Issues bonds in the market at 4% (if investment threshold is met) and then on-lends to the sovereign</a:t>
              </a:r>
              <a:endParaRPr sz="1000" dirty="0">
                <a:solidFill>
                  <a:srgbClr val="FFFFFF"/>
                </a:solidFill>
                <a:latin typeface="Merriweather" pitchFamily="2" charset="77"/>
                <a:ea typeface="Roboto"/>
                <a:cs typeface="Roboto"/>
                <a:sym typeface="Roboto"/>
              </a:endParaRPr>
            </a:p>
            <a:p>
              <a:pPr marL="0" lvl="0" indent="0" algn="l" rtl="0">
                <a:lnSpc>
                  <a:spcPct val="115000"/>
                </a:lnSpc>
                <a:spcBef>
                  <a:spcPts val="1600"/>
                </a:spcBef>
                <a:spcAft>
                  <a:spcPts val="1600"/>
                </a:spcAft>
                <a:buNone/>
              </a:pPr>
              <a:endParaRPr sz="1000" dirty="0">
                <a:solidFill>
                  <a:srgbClr val="FFFFFF"/>
                </a:solidFill>
                <a:latin typeface="Roboto"/>
                <a:ea typeface="Roboto"/>
                <a:cs typeface="Roboto"/>
                <a:sym typeface="Roboto"/>
              </a:endParaRPr>
            </a:p>
          </p:txBody>
        </p:sp>
      </p:grpSp>
      <p:grpSp>
        <p:nvGrpSpPr>
          <p:cNvPr id="264" name="Google Shape;264;p27">
            <a:extLst>
              <a:ext uri="{FF2B5EF4-FFF2-40B4-BE49-F238E27FC236}">
                <a16:creationId xmlns:a16="http://schemas.microsoft.com/office/drawing/2014/main" id="{25D97BB0-5CC9-F1BD-4E59-268BC4E6B294}"/>
              </a:ext>
            </a:extLst>
          </p:cNvPr>
          <p:cNvGrpSpPr/>
          <p:nvPr/>
        </p:nvGrpSpPr>
        <p:grpSpPr>
          <a:xfrm>
            <a:off x="7141957" y="3541629"/>
            <a:ext cx="1637755" cy="1501636"/>
            <a:chOff x="5015938" y="2013875"/>
            <a:chExt cx="3001200" cy="1569600"/>
          </a:xfrm>
        </p:grpSpPr>
        <p:sp>
          <p:nvSpPr>
            <p:cNvPr id="265" name="Google Shape;265;p27">
              <a:extLst>
                <a:ext uri="{FF2B5EF4-FFF2-40B4-BE49-F238E27FC236}">
                  <a16:creationId xmlns:a16="http://schemas.microsoft.com/office/drawing/2014/main" id="{34FD2A1A-EF8C-4A92-EE8D-9D6C2DAFB4CE}"/>
                </a:ext>
              </a:extLst>
            </p:cNvPr>
            <p:cNvSpPr/>
            <p:nvPr/>
          </p:nvSpPr>
          <p:spPr>
            <a:xfrm>
              <a:off x="5015938" y="2013875"/>
              <a:ext cx="3001200" cy="1569600"/>
            </a:xfrm>
            <a:prstGeom prst="round2DiagRect">
              <a:avLst>
                <a:gd name="adj1" fmla="val 0"/>
                <a:gd name="adj2" fmla="val 17764"/>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
          <p:nvSpPr>
            <p:cNvPr id="266" name="Google Shape;266;p27">
              <a:extLst>
                <a:ext uri="{FF2B5EF4-FFF2-40B4-BE49-F238E27FC236}">
                  <a16:creationId xmlns:a16="http://schemas.microsoft.com/office/drawing/2014/main" id="{D966B4E8-ABA0-DBAF-7BF8-BBF71294674B}"/>
                </a:ext>
              </a:extLst>
            </p:cNvPr>
            <p:cNvSpPr txBox="1"/>
            <p:nvPr/>
          </p:nvSpPr>
          <p:spPr>
            <a:xfrm>
              <a:off x="5307987" y="2604657"/>
              <a:ext cx="2417101" cy="459900"/>
            </a:xfrm>
            <a:prstGeom prst="rect">
              <a:avLst/>
            </a:pr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t" anchorCtr="0">
              <a:noAutofit/>
            </a:bodyPr>
            <a:lstStyle/>
            <a:p>
              <a:pPr marL="0" lvl="0" indent="0" algn="ctr" rtl="0">
                <a:spcBef>
                  <a:spcPts val="0"/>
                </a:spcBef>
                <a:spcAft>
                  <a:spcPts val="0"/>
                </a:spcAft>
                <a:buNone/>
              </a:pPr>
              <a:r>
                <a:rPr lang="en" sz="1500" b="1">
                  <a:solidFill>
                    <a:srgbClr val="FFFFFF"/>
                  </a:solidFill>
                  <a:latin typeface="Merriweather"/>
                  <a:ea typeface="Merriweather"/>
                  <a:cs typeface="Merriweather"/>
                  <a:sym typeface="Merriweather"/>
                </a:rPr>
                <a:t>Investor</a:t>
              </a:r>
              <a:endParaRPr sz="1500">
                <a:solidFill>
                  <a:srgbClr val="FFFFFF"/>
                </a:solidFill>
                <a:latin typeface="Merriweather"/>
                <a:ea typeface="Merriweather"/>
                <a:cs typeface="Merriweather"/>
                <a:sym typeface="Merriweather"/>
              </a:endParaRPr>
            </a:p>
          </p:txBody>
        </p:sp>
      </p:grpSp>
      <p:sp>
        <p:nvSpPr>
          <p:cNvPr id="2" name="TextBox 1">
            <a:extLst>
              <a:ext uri="{FF2B5EF4-FFF2-40B4-BE49-F238E27FC236}">
                <a16:creationId xmlns:a16="http://schemas.microsoft.com/office/drawing/2014/main" id="{8D9D2E7C-D1E0-E23C-5E23-678656C6148E}"/>
              </a:ext>
            </a:extLst>
          </p:cNvPr>
          <p:cNvSpPr txBox="1"/>
          <p:nvPr/>
        </p:nvSpPr>
        <p:spPr>
          <a:xfrm>
            <a:off x="2964581" y="120315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59856808"/>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A086C78A-FBA3-64A1-E79B-C57B6C305373}"/>
              </a:ext>
            </a:extLst>
          </p:cNvPr>
          <p:cNvSpPr>
            <a:spLocks noGrp="1"/>
          </p:cNvSpPr>
          <p:nvPr>
            <p:ph type="subTitle" idx="1"/>
          </p:nvPr>
        </p:nvSpPr>
        <p:spPr>
          <a:xfrm>
            <a:off x="207627" y="850900"/>
            <a:ext cx="2678112" cy="3441700"/>
          </a:xfrm>
        </p:spPr>
        <p:txBody>
          <a:bodyPr>
            <a:normAutofit/>
          </a:bodyPr>
          <a:lstStyle/>
          <a:p>
            <a:r>
              <a:rPr lang="en" dirty="0">
                <a:solidFill>
                  <a:srgbClr val="B85641"/>
                </a:solidFill>
              </a:rPr>
              <a:t>Next Steps:</a:t>
            </a:r>
          </a:p>
          <a:p>
            <a:endParaRPr lang="en" dirty="0">
              <a:solidFill>
                <a:srgbClr val="042F4A"/>
              </a:solidFill>
            </a:endParaRPr>
          </a:p>
          <a:p>
            <a:pPr marL="457200" indent="-457200">
              <a:buAutoNum type="arabicPeriod"/>
            </a:pPr>
            <a:r>
              <a:rPr lang="en" dirty="0">
                <a:solidFill>
                  <a:srgbClr val="042F4A"/>
                </a:solidFill>
                <a:sym typeface="Roboto"/>
              </a:rPr>
              <a:t>Refinement &amp; Exploration </a:t>
            </a:r>
          </a:p>
          <a:p>
            <a:pPr marL="457200" indent="-457200">
              <a:buAutoNum type="arabicPeriod"/>
            </a:pPr>
            <a:r>
              <a:rPr lang="en" dirty="0">
                <a:solidFill>
                  <a:srgbClr val="042F4A"/>
                </a:solidFill>
                <a:sym typeface="Roboto"/>
              </a:rPr>
              <a:t>Feedback &amp; Collaboration</a:t>
            </a:r>
          </a:p>
          <a:p>
            <a:pPr marL="457200" indent="-457200">
              <a:buAutoNum type="arabicPeriod"/>
            </a:pPr>
            <a:r>
              <a:rPr lang="en" dirty="0">
                <a:solidFill>
                  <a:srgbClr val="042F4A"/>
                </a:solidFill>
                <a:sym typeface="Roboto"/>
              </a:rPr>
              <a:t>Scaling Impact</a:t>
            </a:r>
            <a:endParaRPr lang="en" dirty="0">
              <a:solidFill>
                <a:srgbClr val="042F4A"/>
              </a:solidFill>
            </a:endParaRPr>
          </a:p>
          <a:p>
            <a:endParaRPr lang="en-US" dirty="0"/>
          </a:p>
        </p:txBody>
      </p:sp>
    </p:spTree>
    <p:extLst>
      <p:ext uri="{BB962C8B-B14F-4D97-AF65-F5344CB8AC3E}">
        <p14:creationId xmlns:p14="http://schemas.microsoft.com/office/powerpoint/2010/main" val="2850505559"/>
      </p:ext>
    </p:extLst>
  </p:cSld>
  <p:clrMapOvr>
    <a:masterClrMapping/>
  </p:clrMapOvr>
  <p:transition spd="slow">
    <p:wipe/>
  </p:transition>
</p:sld>
</file>

<file path=ppt/theme/theme1.xml><?xml version="1.0" encoding="utf-8"?>
<a:theme xmlns:a="http://schemas.openxmlformats.org/drawingml/2006/main" name="1_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AB9018FA3249548A5BDA34FD45E4298" ma:contentTypeVersion="20" ma:contentTypeDescription="Create a new document." ma:contentTypeScope="" ma:versionID="7be92835e16f41697ccac75a263c081e">
  <xsd:schema xmlns:xsd="http://www.w3.org/2001/XMLSchema" xmlns:xs="http://www.w3.org/2001/XMLSchema" xmlns:p="http://schemas.microsoft.com/office/2006/metadata/properties" xmlns:ns1="http://schemas.microsoft.com/sharepoint/v3" xmlns:ns3="a2575f19-ccfc-4947-a811-9b717af3c709" xmlns:ns4="404e9e9c-15d8-4aca-92ae-5f86d37582cd" targetNamespace="http://schemas.microsoft.com/office/2006/metadata/properties" ma:root="true" ma:fieldsID="7ad49b465ab6f4fc995392a8b7010ed0" ns1:_="" ns3:_="" ns4:_="">
    <xsd:import namespace="http://schemas.microsoft.com/sharepoint/v3"/>
    <xsd:import namespace="a2575f19-ccfc-4947-a811-9b717af3c709"/>
    <xsd:import namespace="404e9e9c-15d8-4aca-92ae-5f86d37582cd"/>
    <xsd:element name="properties">
      <xsd:complexType>
        <xsd:sequence>
          <xsd:element name="documentManagement">
            <xsd:complexType>
              <xsd:all>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MediaServiceDateTaken" minOccurs="0"/>
                <xsd:element ref="ns3:MediaServiceLocation" minOccurs="0"/>
                <xsd:element ref="ns4:SharedWithUsers" minOccurs="0"/>
                <xsd:element ref="ns4:SharedWithDetails" minOccurs="0"/>
                <xsd:element ref="ns4:SharingHintHash" minOccurs="0"/>
                <xsd:element ref="ns3:MediaLengthInSeconds" minOccurs="0"/>
                <xsd:element ref="ns3:_activity" minOccurs="0"/>
                <xsd:element ref="ns3:MediaServiceObjectDetectorVersions" minOccurs="0"/>
                <xsd:element ref="ns3:MediaServiceSystemTag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575f19-ccfc-4947-a811-9b717af3c7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2" nillable="true" ma:displayName="Tags" ma:internalName="MediaServiceAutoTag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DateTaken" ma:index="16" nillable="true" ma:displayName="MediaServiceDateTaken" ma:hidden="true" ma:internalName="MediaServiceDateTaken"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1" nillable="true" ma:displayName="Length (seconds)" ma:internalName="MediaLengthInSeconds" ma:readOnly="true">
      <xsd:simpleType>
        <xsd:restriction base="dms:Unknown"/>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04e9e9c-15d8-4aca-92ae-5f86d37582cd"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SharingHintHash" ma:index="20"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_activity xmlns="a2575f19-ccfc-4947-a811-9b717af3c709"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A035E8A-9DE3-4785-AF76-F1078CBCC57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a2575f19-ccfc-4947-a811-9b717af3c709"/>
    <ds:schemaRef ds:uri="404e9e9c-15d8-4aca-92ae-5f86d37582c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7D7837-F8D7-4813-A753-AD88A8236BF1}">
  <ds:schemaRefs>
    <ds:schemaRef ds:uri="http://purl.org/dc/dcmitype/"/>
    <ds:schemaRef ds:uri="http://www.w3.org/XML/1998/namespace"/>
    <ds:schemaRef ds:uri="http://purl.org/dc/elements/1.1/"/>
    <ds:schemaRef ds:uri="a2575f19-ccfc-4947-a811-9b717af3c709"/>
    <ds:schemaRef ds:uri="404e9e9c-15d8-4aca-92ae-5f86d37582cd"/>
    <ds:schemaRef ds:uri="http://schemas.microsoft.com/office/2006/metadata/properties"/>
    <ds:schemaRef ds:uri="http://schemas.openxmlformats.org/package/2006/metadata/core-properties"/>
    <ds:schemaRef ds:uri="http://schemas.microsoft.com/office/2006/documentManagement/types"/>
    <ds:schemaRef ds:uri="http://schemas.microsoft.com/sharepoint/v3"/>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95F9D67E-8A72-4093-BAEB-50D662CD2AC4}">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TM03090434[[fn=Wood Type]]</Template>
  <TotalTime>872</TotalTime>
  <Words>1151</Words>
  <Application>Microsoft Macintosh PowerPoint</Application>
  <PresentationFormat>On-screen Show (16:9)</PresentationFormat>
  <Paragraphs>66</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Roboto</vt:lpstr>
      <vt:lpstr>Courier New</vt:lpstr>
      <vt:lpstr>Merriweather</vt:lpstr>
      <vt:lpstr>Arial</vt:lpstr>
      <vt:lpstr>1_Paradigm</vt:lpstr>
      <vt:lpstr>PowerPoint Presentation</vt:lpstr>
      <vt:lpstr>PowerPoint Presentation</vt:lpstr>
      <vt:lpstr>PowerPoint Presentation</vt:lpstr>
      <vt:lpstr>Existing SLBs’ Limitations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KPI Bonds</dc:title>
  <dc:creator>Nils Burkhard Patrik Zimmermann</dc:creator>
  <cp:lastModifiedBy>Evie Davey</cp:lastModifiedBy>
  <cp:revision>41</cp:revision>
  <dcterms:modified xsi:type="dcterms:W3CDTF">2024-10-04T05:10:08Z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0x0101006AB9018FA3249548A5BDA34FD45E4298</vt:lpwstr>
  </property>
</Properties>
</file>