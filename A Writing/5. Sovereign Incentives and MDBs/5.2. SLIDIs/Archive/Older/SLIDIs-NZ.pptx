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4"/>
  </p:sldMasterIdLst>
  <p:notesMasterIdLst>
    <p:notesMasterId r:id="rId48"/>
  </p:notesMasterIdLst>
  <p:sldIdLst>
    <p:sldId id="256" r:id="rId5"/>
    <p:sldId id="332" r:id="rId6"/>
    <p:sldId id="257" r:id="rId7"/>
    <p:sldId id="295" r:id="rId8"/>
    <p:sldId id="334" r:id="rId9"/>
    <p:sldId id="270" r:id="rId10"/>
    <p:sldId id="302" r:id="rId11"/>
    <p:sldId id="335" r:id="rId12"/>
    <p:sldId id="259" r:id="rId13"/>
    <p:sldId id="260" r:id="rId14"/>
    <p:sldId id="261" r:id="rId15"/>
    <p:sldId id="262" r:id="rId16"/>
    <p:sldId id="263" r:id="rId17"/>
    <p:sldId id="264" r:id="rId18"/>
    <p:sldId id="320" r:id="rId19"/>
    <p:sldId id="313" r:id="rId20"/>
    <p:sldId id="312" r:id="rId21"/>
    <p:sldId id="278" r:id="rId22"/>
    <p:sldId id="267" r:id="rId23"/>
    <p:sldId id="268" r:id="rId24"/>
    <p:sldId id="331" r:id="rId25"/>
    <p:sldId id="314" r:id="rId26"/>
    <p:sldId id="325" r:id="rId27"/>
    <p:sldId id="280" r:id="rId28"/>
    <p:sldId id="276" r:id="rId29"/>
    <p:sldId id="317" r:id="rId30"/>
    <p:sldId id="329" r:id="rId31"/>
    <p:sldId id="323" r:id="rId32"/>
    <p:sldId id="281" r:id="rId33"/>
    <p:sldId id="336" r:id="rId34"/>
    <p:sldId id="337" r:id="rId35"/>
    <p:sldId id="328" r:id="rId36"/>
    <p:sldId id="330" r:id="rId37"/>
    <p:sldId id="315" r:id="rId38"/>
    <p:sldId id="326" r:id="rId39"/>
    <p:sldId id="324" r:id="rId40"/>
    <p:sldId id="316" r:id="rId41"/>
    <p:sldId id="318" r:id="rId42"/>
    <p:sldId id="309" r:id="rId43"/>
    <p:sldId id="274" r:id="rId44"/>
    <p:sldId id="275" r:id="rId45"/>
    <p:sldId id="319" r:id="rId46"/>
    <p:sldId id="297" r:id="rId47"/>
  </p:sldIdLst>
  <p:sldSz cx="9144000" cy="5143500" type="screen16x9"/>
  <p:notesSz cx="6858000" cy="9144000"/>
  <p:embeddedFontLst>
    <p:embeddedFont>
      <p:font typeface="Merriweather" panose="00000500000000000000" pitchFamily="2" charset="0"/>
      <p:regular r:id="rId49"/>
      <p:bold r:id="rId50"/>
      <p:italic r:id="rId51"/>
      <p:boldItalic r:id="rId52"/>
    </p:embeddedFont>
    <p:embeddedFont>
      <p:font typeface="Roboto" panose="020000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05F30B-DBA9-B108-89CA-A7CC2A3B6867}" name="Stephen John Stretton" initials="SS" userId="S::sstretton@worldbank.org::da8c780b-1aa2-4e36-94fb-871dc8111504" providerId="AD"/>
  <p188:author id="{F1613D9F-A197-850F-AE93-A634A7B4F7E2}" name="Nils Burkhard Patrik Zimmermann" initials="NBPZ" userId="S::nzimmermann@worldbank.org::ff02bda6-aa1d-49f9-bc1c-920e1083daef" providerId="AD"/>
  <p188:author id="{E0C990E1-2261-E0F6-54FB-973D4E73BA73}" name="Marcello Estevao" initials="ME" userId="S::mestevao@worldbank.org::3eb6c5ce-2aa9-4828-8ac9-dd7e4220b49e" providerId="AD"/>
  <p188:author id="{C7E0E7ED-2EB3-C63C-569F-637E32197C19}" name="Evie Davey" initials="ED" userId="08f35b59f79c2c7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B8E52"/>
    <a:srgbClr val="002F4A"/>
    <a:srgbClr val="A72A1E"/>
    <a:srgbClr val="B85741"/>
    <a:srgbClr val="203617"/>
    <a:srgbClr val="FEFAF1"/>
    <a:srgbClr val="BBBE1E"/>
    <a:srgbClr val="8E9300"/>
    <a:srgbClr val="176A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5.fntdata"/><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6.fntdata"/><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ls Burkhard Patrik Zimmermann" userId="ff02bda6-aa1d-49f9-bc1c-920e1083daef" providerId="ADAL" clId="{6C720432-AFCC-493B-8D79-AE5D430E4640}"/>
    <pc:docChg chg="undo custSel addSld delSld modSld sldOrd">
      <pc:chgData name="Nils Burkhard Patrik Zimmermann" userId="ff02bda6-aa1d-49f9-bc1c-920e1083daef" providerId="ADAL" clId="{6C720432-AFCC-493B-8D79-AE5D430E4640}" dt="2024-10-03T04:37:34.443" v="7467"/>
      <pc:docMkLst>
        <pc:docMk/>
      </pc:docMkLst>
      <pc:sldChg chg="modSp mod">
        <pc:chgData name="Nils Burkhard Patrik Zimmermann" userId="ff02bda6-aa1d-49f9-bc1c-920e1083daef" providerId="ADAL" clId="{6C720432-AFCC-493B-8D79-AE5D430E4640}" dt="2024-10-02T19:43:38.263" v="3514" actId="20577"/>
        <pc:sldMkLst>
          <pc:docMk/>
          <pc:sldMk cId="0" sldId="256"/>
        </pc:sldMkLst>
        <pc:spChg chg="mod">
          <ac:chgData name="Nils Burkhard Patrik Zimmermann" userId="ff02bda6-aa1d-49f9-bc1c-920e1083daef" providerId="ADAL" clId="{6C720432-AFCC-493B-8D79-AE5D430E4640}" dt="2024-10-02T19:43:38.263" v="3514" actId="20577"/>
          <ac:spMkLst>
            <pc:docMk/>
            <pc:sldMk cId="0" sldId="256"/>
            <ac:spMk id="2" creationId="{EFB93CF6-86BA-4E2F-028D-059A6CA63C41}"/>
          </ac:spMkLst>
        </pc:spChg>
      </pc:sldChg>
      <pc:sldChg chg="modSp mod">
        <pc:chgData name="Nils Burkhard Patrik Zimmermann" userId="ff02bda6-aa1d-49f9-bc1c-920e1083daef" providerId="ADAL" clId="{6C720432-AFCC-493B-8D79-AE5D430E4640}" dt="2024-10-02T19:58:42.856" v="4467" actId="20577"/>
        <pc:sldMkLst>
          <pc:docMk/>
          <pc:sldMk cId="0" sldId="257"/>
        </pc:sldMkLst>
        <pc:spChg chg="mod">
          <ac:chgData name="Nils Burkhard Patrik Zimmermann" userId="ff02bda6-aa1d-49f9-bc1c-920e1083daef" providerId="ADAL" clId="{6C720432-AFCC-493B-8D79-AE5D430E4640}" dt="2024-10-02T19:58:42.856" v="4467" actId="20577"/>
          <ac:spMkLst>
            <pc:docMk/>
            <pc:sldMk cId="0" sldId="257"/>
            <ac:spMk id="72" creationId="{00000000-0000-0000-0000-000000000000}"/>
          </ac:spMkLst>
        </pc:spChg>
      </pc:sldChg>
      <pc:sldChg chg="modSp mod modNotesTx">
        <pc:chgData name="Nils Burkhard Patrik Zimmermann" userId="ff02bda6-aa1d-49f9-bc1c-920e1083daef" providerId="ADAL" clId="{6C720432-AFCC-493B-8D79-AE5D430E4640}" dt="2024-10-02T19:35:04.033" v="3299" actId="20577"/>
        <pc:sldMkLst>
          <pc:docMk/>
          <pc:sldMk cId="0" sldId="259"/>
        </pc:sldMkLst>
        <pc:spChg chg="mod">
          <ac:chgData name="Nils Burkhard Patrik Zimmermann" userId="ff02bda6-aa1d-49f9-bc1c-920e1083daef" providerId="ADAL" clId="{6C720432-AFCC-493B-8D79-AE5D430E4640}" dt="2024-10-02T19:24:17.952" v="2905" actId="20577"/>
          <ac:spMkLst>
            <pc:docMk/>
            <pc:sldMk cId="0" sldId="259"/>
            <ac:spMk id="2" creationId="{287A8F82-B25E-90F1-3E69-B3AF4802A80D}"/>
          </ac:spMkLst>
        </pc:spChg>
        <pc:spChg chg="mod">
          <ac:chgData name="Nils Burkhard Patrik Zimmermann" userId="ff02bda6-aa1d-49f9-bc1c-920e1083daef" providerId="ADAL" clId="{6C720432-AFCC-493B-8D79-AE5D430E4640}" dt="2024-10-02T19:35:04.033" v="3299" actId="20577"/>
          <ac:spMkLst>
            <pc:docMk/>
            <pc:sldMk cId="0" sldId="259"/>
            <ac:spMk id="96" creationId="{00000000-0000-0000-0000-000000000000}"/>
          </ac:spMkLst>
        </pc:spChg>
      </pc:sldChg>
      <pc:sldChg chg="modSp mod modNotesTx">
        <pc:chgData name="Nils Burkhard Patrik Zimmermann" userId="ff02bda6-aa1d-49f9-bc1c-920e1083daef" providerId="ADAL" clId="{6C720432-AFCC-493B-8D79-AE5D430E4640}" dt="2024-10-02T20:33:46.178" v="5975" actId="20577"/>
        <pc:sldMkLst>
          <pc:docMk/>
          <pc:sldMk cId="0" sldId="260"/>
        </pc:sldMkLst>
        <pc:spChg chg="mod">
          <ac:chgData name="Nils Burkhard Patrik Zimmermann" userId="ff02bda6-aa1d-49f9-bc1c-920e1083daef" providerId="ADAL" clId="{6C720432-AFCC-493B-8D79-AE5D430E4640}" dt="2024-10-02T19:25:04.780" v="2937" actId="20577"/>
          <ac:spMkLst>
            <pc:docMk/>
            <pc:sldMk cId="0" sldId="260"/>
            <ac:spMk id="2" creationId="{37D934D5-FEEB-7364-729F-E82BAC43B12E}"/>
          </ac:spMkLst>
        </pc:spChg>
        <pc:spChg chg="mod">
          <ac:chgData name="Nils Burkhard Patrik Zimmermann" userId="ff02bda6-aa1d-49f9-bc1c-920e1083daef" providerId="ADAL" clId="{6C720432-AFCC-493B-8D79-AE5D430E4640}" dt="2024-10-02T20:33:46.178" v="5975" actId="20577"/>
          <ac:spMkLst>
            <pc:docMk/>
            <pc:sldMk cId="0" sldId="260"/>
            <ac:spMk id="3" creationId="{C8290A0F-8970-0842-6C4F-1972E55D81F7}"/>
          </ac:spMkLst>
        </pc:spChg>
        <pc:spChg chg="mod">
          <ac:chgData name="Nils Burkhard Patrik Zimmermann" userId="ff02bda6-aa1d-49f9-bc1c-920e1083daef" providerId="ADAL" clId="{6C720432-AFCC-493B-8D79-AE5D430E4640}" dt="2024-10-02T19:22:34.845" v="2842" actId="20577"/>
          <ac:spMkLst>
            <pc:docMk/>
            <pc:sldMk cId="0" sldId="260"/>
            <ac:spMk id="104" creationId="{00000000-0000-0000-0000-000000000000}"/>
          </ac:spMkLst>
        </pc:spChg>
      </pc:sldChg>
      <pc:sldChg chg="modSp mod">
        <pc:chgData name="Nils Burkhard Patrik Zimmermann" userId="ff02bda6-aa1d-49f9-bc1c-920e1083daef" providerId="ADAL" clId="{6C720432-AFCC-493B-8D79-AE5D430E4640}" dt="2024-10-02T20:35:15.190" v="6010" actId="20577"/>
        <pc:sldMkLst>
          <pc:docMk/>
          <pc:sldMk cId="0" sldId="261"/>
        </pc:sldMkLst>
        <pc:spChg chg="mod">
          <ac:chgData name="Nils Burkhard Patrik Zimmermann" userId="ff02bda6-aa1d-49f9-bc1c-920e1083daef" providerId="ADAL" clId="{6C720432-AFCC-493B-8D79-AE5D430E4640}" dt="2024-10-02T19:37:29.564" v="3345" actId="20577"/>
          <ac:spMkLst>
            <pc:docMk/>
            <pc:sldMk cId="0" sldId="261"/>
            <ac:spMk id="3" creationId="{D27783D5-6437-7EEC-573E-954525A6FEB9}"/>
          </ac:spMkLst>
        </pc:spChg>
        <pc:spChg chg="mod">
          <ac:chgData name="Nils Burkhard Patrik Zimmermann" userId="ff02bda6-aa1d-49f9-bc1c-920e1083daef" providerId="ADAL" clId="{6C720432-AFCC-493B-8D79-AE5D430E4640}" dt="2024-10-02T20:35:15.190" v="6010" actId="20577"/>
          <ac:spMkLst>
            <pc:docMk/>
            <pc:sldMk cId="0" sldId="261"/>
            <ac:spMk id="129" creationId="{00000000-0000-0000-0000-000000000000}"/>
          </ac:spMkLst>
        </pc:spChg>
      </pc:sldChg>
      <pc:sldChg chg="modSp mod ord modNotesTx">
        <pc:chgData name="Nils Burkhard Patrik Zimmermann" userId="ff02bda6-aa1d-49f9-bc1c-920e1083daef" providerId="ADAL" clId="{6C720432-AFCC-493B-8D79-AE5D430E4640}" dt="2024-10-02T20:36:13.278" v="6014" actId="20577"/>
        <pc:sldMkLst>
          <pc:docMk/>
          <pc:sldMk cId="0" sldId="262"/>
        </pc:sldMkLst>
        <pc:spChg chg="mod">
          <ac:chgData name="Nils Burkhard Patrik Zimmermann" userId="ff02bda6-aa1d-49f9-bc1c-920e1083daef" providerId="ADAL" clId="{6C720432-AFCC-493B-8D79-AE5D430E4640}" dt="2024-10-02T19:40:20.552" v="3413" actId="20577"/>
          <ac:spMkLst>
            <pc:docMk/>
            <pc:sldMk cId="0" sldId="262"/>
            <ac:spMk id="5" creationId="{122AF2CE-415D-0FD5-153F-B2941238B327}"/>
          </ac:spMkLst>
        </pc:spChg>
        <pc:spChg chg="mod">
          <ac:chgData name="Nils Burkhard Patrik Zimmermann" userId="ff02bda6-aa1d-49f9-bc1c-920e1083daef" providerId="ADAL" clId="{6C720432-AFCC-493B-8D79-AE5D430E4640}" dt="2024-10-02T20:35:45.807" v="6013" actId="20577"/>
          <ac:spMkLst>
            <pc:docMk/>
            <pc:sldMk cId="0" sldId="262"/>
            <ac:spMk id="142" creationId="{00000000-0000-0000-0000-000000000000}"/>
          </ac:spMkLst>
        </pc:spChg>
        <pc:spChg chg="mod">
          <ac:chgData name="Nils Burkhard Patrik Zimmermann" userId="ff02bda6-aa1d-49f9-bc1c-920e1083daef" providerId="ADAL" clId="{6C720432-AFCC-493B-8D79-AE5D430E4640}" dt="2024-10-02T19:41:20.465" v="3468" actId="20577"/>
          <ac:spMkLst>
            <pc:docMk/>
            <pc:sldMk cId="0" sldId="262"/>
            <ac:spMk id="145" creationId="{00000000-0000-0000-0000-000000000000}"/>
          </ac:spMkLst>
        </pc:spChg>
        <pc:spChg chg="mod">
          <ac:chgData name="Nils Burkhard Patrik Zimmermann" userId="ff02bda6-aa1d-49f9-bc1c-920e1083daef" providerId="ADAL" clId="{6C720432-AFCC-493B-8D79-AE5D430E4640}" dt="2024-10-02T19:40:44.425" v="3431" actId="20577"/>
          <ac:spMkLst>
            <pc:docMk/>
            <pc:sldMk cId="0" sldId="262"/>
            <ac:spMk id="147" creationId="{00000000-0000-0000-0000-000000000000}"/>
          </ac:spMkLst>
        </pc:spChg>
        <pc:spChg chg="mod">
          <ac:chgData name="Nils Burkhard Patrik Zimmermann" userId="ff02bda6-aa1d-49f9-bc1c-920e1083daef" providerId="ADAL" clId="{6C720432-AFCC-493B-8D79-AE5D430E4640}" dt="2024-10-02T20:36:13.278" v="6014" actId="20577"/>
          <ac:spMkLst>
            <pc:docMk/>
            <pc:sldMk cId="0" sldId="262"/>
            <ac:spMk id="148" creationId="{00000000-0000-0000-0000-000000000000}"/>
          </ac:spMkLst>
        </pc:spChg>
      </pc:sldChg>
      <pc:sldChg chg="modSp mod">
        <pc:chgData name="Nils Burkhard Patrik Zimmermann" userId="ff02bda6-aa1d-49f9-bc1c-920e1083daef" providerId="ADAL" clId="{6C720432-AFCC-493B-8D79-AE5D430E4640}" dt="2024-10-02T20:41:14.044" v="6193" actId="20577"/>
        <pc:sldMkLst>
          <pc:docMk/>
          <pc:sldMk cId="0" sldId="264"/>
        </pc:sldMkLst>
        <pc:spChg chg="mod">
          <ac:chgData name="Nils Burkhard Patrik Zimmermann" userId="ff02bda6-aa1d-49f9-bc1c-920e1083daef" providerId="ADAL" clId="{6C720432-AFCC-493B-8D79-AE5D430E4640}" dt="2024-10-02T20:37:18.694" v="6053" actId="20577"/>
          <ac:spMkLst>
            <pc:docMk/>
            <pc:sldMk cId="0" sldId="264"/>
            <ac:spMk id="160" creationId="{00000000-0000-0000-0000-000000000000}"/>
          </ac:spMkLst>
        </pc:spChg>
        <pc:spChg chg="mod">
          <ac:chgData name="Nils Burkhard Patrik Zimmermann" userId="ff02bda6-aa1d-49f9-bc1c-920e1083daef" providerId="ADAL" clId="{6C720432-AFCC-493B-8D79-AE5D430E4640}" dt="2024-10-02T20:41:14.044" v="6193" actId="20577"/>
          <ac:spMkLst>
            <pc:docMk/>
            <pc:sldMk cId="0" sldId="264"/>
            <ac:spMk id="164" creationId="{00000000-0000-0000-0000-000000000000}"/>
          </ac:spMkLst>
        </pc:spChg>
        <pc:spChg chg="mod">
          <ac:chgData name="Nils Burkhard Patrik Zimmermann" userId="ff02bda6-aa1d-49f9-bc1c-920e1083daef" providerId="ADAL" clId="{6C720432-AFCC-493B-8D79-AE5D430E4640}" dt="2024-10-02T20:39:17.792" v="6132" actId="20577"/>
          <ac:spMkLst>
            <pc:docMk/>
            <pc:sldMk cId="0" sldId="264"/>
            <ac:spMk id="165" creationId="{00000000-0000-0000-0000-000000000000}"/>
          </ac:spMkLst>
        </pc:spChg>
        <pc:spChg chg="mod">
          <ac:chgData name="Nils Burkhard Patrik Zimmermann" userId="ff02bda6-aa1d-49f9-bc1c-920e1083daef" providerId="ADAL" clId="{6C720432-AFCC-493B-8D79-AE5D430E4640}" dt="2024-10-02T20:40:35.430" v="6180" actId="14100"/>
          <ac:spMkLst>
            <pc:docMk/>
            <pc:sldMk cId="0" sldId="264"/>
            <ac:spMk id="171" creationId="{00000000-0000-0000-0000-000000000000}"/>
          </ac:spMkLst>
        </pc:spChg>
      </pc:sldChg>
      <pc:sldChg chg="modSp mod">
        <pc:chgData name="Nils Burkhard Patrik Zimmermann" userId="ff02bda6-aa1d-49f9-bc1c-920e1083daef" providerId="ADAL" clId="{6C720432-AFCC-493B-8D79-AE5D430E4640}" dt="2024-10-02T20:51:05.800" v="6480" actId="20577"/>
        <pc:sldMkLst>
          <pc:docMk/>
          <pc:sldMk cId="0" sldId="267"/>
        </pc:sldMkLst>
        <pc:spChg chg="mod">
          <ac:chgData name="Nils Burkhard Patrik Zimmermann" userId="ff02bda6-aa1d-49f9-bc1c-920e1083daef" providerId="ADAL" clId="{6C720432-AFCC-493B-8D79-AE5D430E4640}" dt="2024-10-02T20:50:32.850" v="6474" actId="20577"/>
          <ac:spMkLst>
            <pc:docMk/>
            <pc:sldMk cId="0" sldId="267"/>
            <ac:spMk id="208" creationId="{00000000-0000-0000-0000-000000000000}"/>
          </ac:spMkLst>
        </pc:spChg>
        <pc:spChg chg="mod">
          <ac:chgData name="Nils Burkhard Patrik Zimmermann" userId="ff02bda6-aa1d-49f9-bc1c-920e1083daef" providerId="ADAL" clId="{6C720432-AFCC-493B-8D79-AE5D430E4640}" dt="2024-10-02T20:50:46.379" v="6477" actId="113"/>
          <ac:spMkLst>
            <pc:docMk/>
            <pc:sldMk cId="0" sldId="267"/>
            <ac:spMk id="216" creationId="{00000000-0000-0000-0000-000000000000}"/>
          </ac:spMkLst>
        </pc:spChg>
        <pc:spChg chg="mod">
          <ac:chgData name="Nils Burkhard Patrik Zimmermann" userId="ff02bda6-aa1d-49f9-bc1c-920e1083daef" providerId="ADAL" clId="{6C720432-AFCC-493B-8D79-AE5D430E4640}" dt="2024-10-02T20:51:05.800" v="6480" actId="20577"/>
          <ac:spMkLst>
            <pc:docMk/>
            <pc:sldMk cId="0" sldId="267"/>
            <ac:spMk id="217" creationId="{00000000-0000-0000-0000-000000000000}"/>
          </ac:spMkLst>
        </pc:spChg>
      </pc:sldChg>
      <pc:sldChg chg="modSp mod ord">
        <pc:chgData name="Nils Burkhard Patrik Zimmermann" userId="ff02bda6-aa1d-49f9-bc1c-920e1083daef" providerId="ADAL" clId="{6C720432-AFCC-493B-8D79-AE5D430E4640}" dt="2024-10-02T21:18:56.020" v="7206" actId="20577"/>
        <pc:sldMkLst>
          <pc:docMk/>
          <pc:sldMk cId="360777889" sldId="270"/>
        </pc:sldMkLst>
        <pc:spChg chg="mod">
          <ac:chgData name="Nils Burkhard Patrik Zimmermann" userId="ff02bda6-aa1d-49f9-bc1c-920e1083daef" providerId="ADAL" clId="{6C720432-AFCC-493B-8D79-AE5D430E4640}" dt="2024-10-02T21:18:56.020" v="7206" actId="20577"/>
          <ac:spMkLst>
            <pc:docMk/>
            <pc:sldMk cId="360777889" sldId="270"/>
            <ac:spMk id="247" creationId="{BDA15AB4-6F1E-81D8-9C61-4CDC3094B5C3}"/>
          </ac:spMkLst>
        </pc:spChg>
      </pc:sldChg>
      <pc:sldChg chg="modSp mod">
        <pc:chgData name="Nils Burkhard Patrik Zimmermann" userId="ff02bda6-aa1d-49f9-bc1c-920e1083daef" providerId="ADAL" clId="{6C720432-AFCC-493B-8D79-AE5D430E4640}" dt="2024-10-02T21:24:09.297" v="7282" actId="20577"/>
        <pc:sldMkLst>
          <pc:docMk/>
          <pc:sldMk cId="2071028296" sldId="274"/>
        </pc:sldMkLst>
        <pc:spChg chg="mod">
          <ac:chgData name="Nils Burkhard Patrik Zimmermann" userId="ff02bda6-aa1d-49f9-bc1c-920e1083daef" providerId="ADAL" clId="{6C720432-AFCC-493B-8D79-AE5D430E4640}" dt="2024-10-02T21:24:09.297" v="7282" actId="20577"/>
          <ac:spMkLst>
            <pc:docMk/>
            <pc:sldMk cId="2071028296" sldId="274"/>
            <ac:spMk id="305" creationId="{184374F4-2765-C19C-3A80-E954CB5449F1}"/>
          </ac:spMkLst>
        </pc:spChg>
      </pc:sldChg>
      <pc:sldChg chg="delSp modSp mod modNotesTx">
        <pc:chgData name="Nils Burkhard Patrik Zimmermann" userId="ff02bda6-aa1d-49f9-bc1c-920e1083daef" providerId="ADAL" clId="{6C720432-AFCC-493B-8D79-AE5D430E4640}" dt="2024-10-02T21:15:59.913" v="7156" actId="20577"/>
        <pc:sldMkLst>
          <pc:docMk/>
          <pc:sldMk cId="640958448" sldId="281"/>
        </pc:sldMkLst>
        <pc:spChg chg="del mod">
          <ac:chgData name="Nils Burkhard Patrik Zimmermann" userId="ff02bda6-aa1d-49f9-bc1c-920e1083daef" providerId="ADAL" clId="{6C720432-AFCC-493B-8D79-AE5D430E4640}" dt="2024-10-02T21:13:44.773" v="7077" actId="478"/>
          <ac:spMkLst>
            <pc:docMk/>
            <pc:sldMk cId="640958448" sldId="281"/>
            <ac:spMk id="3" creationId="{481EDFEE-BC04-5CB9-7C5D-4CCDD26D19F1}"/>
          </ac:spMkLst>
        </pc:spChg>
        <pc:spChg chg="mod">
          <ac:chgData name="Nils Burkhard Patrik Zimmermann" userId="ff02bda6-aa1d-49f9-bc1c-920e1083daef" providerId="ADAL" clId="{6C720432-AFCC-493B-8D79-AE5D430E4640}" dt="2024-10-02T21:15:59.913" v="7156" actId="20577"/>
          <ac:spMkLst>
            <pc:docMk/>
            <pc:sldMk cId="640958448" sldId="281"/>
            <ac:spMk id="380" creationId="{E44FADED-FE6F-4AA7-151A-12E1228BDACB}"/>
          </ac:spMkLst>
        </pc:spChg>
      </pc:sldChg>
      <pc:sldChg chg="delSp modSp mod modNotesTx">
        <pc:chgData name="Nils Burkhard Patrik Zimmermann" userId="ff02bda6-aa1d-49f9-bc1c-920e1083daef" providerId="ADAL" clId="{6C720432-AFCC-493B-8D79-AE5D430E4640}" dt="2024-10-02T20:32:00.464" v="5963" actId="20577"/>
        <pc:sldMkLst>
          <pc:docMk/>
          <pc:sldMk cId="3497004109" sldId="302"/>
        </pc:sldMkLst>
        <pc:spChg chg="mod">
          <ac:chgData name="Nils Burkhard Patrik Zimmermann" userId="ff02bda6-aa1d-49f9-bc1c-920e1083daef" providerId="ADAL" clId="{6C720432-AFCC-493B-8D79-AE5D430E4640}" dt="2024-10-02T19:23:41.354" v="2864" actId="20577"/>
          <ac:spMkLst>
            <pc:docMk/>
            <pc:sldMk cId="3497004109" sldId="302"/>
            <ac:spMk id="11" creationId="{A7C5783E-BE0C-DC39-55D3-4BACE04F9D80}"/>
          </ac:spMkLst>
        </pc:spChg>
        <pc:spChg chg="del">
          <ac:chgData name="Nils Burkhard Patrik Zimmermann" userId="ff02bda6-aa1d-49f9-bc1c-920e1083daef" providerId="ADAL" clId="{6C720432-AFCC-493B-8D79-AE5D430E4640}" dt="2024-10-02T19:48:41.675" v="3976" actId="478"/>
          <ac:spMkLst>
            <pc:docMk/>
            <pc:sldMk cId="3497004109" sldId="302"/>
            <ac:spMk id="108" creationId="{00000000-0000-0000-0000-000000000000}"/>
          </ac:spMkLst>
        </pc:spChg>
        <pc:spChg chg="mod">
          <ac:chgData name="Nils Burkhard Patrik Zimmermann" userId="ff02bda6-aa1d-49f9-bc1c-920e1083daef" providerId="ADAL" clId="{6C720432-AFCC-493B-8D79-AE5D430E4640}" dt="2024-10-02T20:29:56.837" v="5879" actId="1076"/>
          <ac:spMkLst>
            <pc:docMk/>
            <pc:sldMk cId="3497004109" sldId="302"/>
            <ac:spMk id="109" creationId="{00000000-0000-0000-0000-000000000000}"/>
          </ac:spMkLst>
        </pc:spChg>
        <pc:spChg chg="mod">
          <ac:chgData name="Nils Burkhard Patrik Zimmermann" userId="ff02bda6-aa1d-49f9-bc1c-920e1083daef" providerId="ADAL" clId="{6C720432-AFCC-493B-8D79-AE5D430E4640}" dt="2024-10-02T20:32:00.464" v="5963" actId="20577"/>
          <ac:spMkLst>
            <pc:docMk/>
            <pc:sldMk cId="3497004109" sldId="302"/>
            <ac:spMk id="112" creationId="{00000000-0000-0000-0000-000000000000}"/>
          </ac:spMkLst>
        </pc:spChg>
        <pc:spChg chg="mod">
          <ac:chgData name="Nils Burkhard Patrik Zimmermann" userId="ff02bda6-aa1d-49f9-bc1c-920e1083daef" providerId="ADAL" clId="{6C720432-AFCC-493B-8D79-AE5D430E4640}" dt="2024-10-02T19:55:18.876" v="4226" actId="20577"/>
          <ac:spMkLst>
            <pc:docMk/>
            <pc:sldMk cId="3497004109" sldId="302"/>
            <ac:spMk id="113" creationId="{00000000-0000-0000-0000-000000000000}"/>
          </ac:spMkLst>
        </pc:spChg>
        <pc:spChg chg="mod">
          <ac:chgData name="Nils Burkhard Patrik Zimmermann" userId="ff02bda6-aa1d-49f9-bc1c-920e1083daef" providerId="ADAL" clId="{6C720432-AFCC-493B-8D79-AE5D430E4640}" dt="2024-10-02T20:30:06.260" v="5880" actId="1076"/>
          <ac:spMkLst>
            <pc:docMk/>
            <pc:sldMk cId="3497004109" sldId="302"/>
            <ac:spMk id="116" creationId="{00000000-0000-0000-0000-000000000000}"/>
          </ac:spMkLst>
        </pc:spChg>
        <pc:spChg chg="del mod">
          <ac:chgData name="Nils Burkhard Patrik Zimmermann" userId="ff02bda6-aa1d-49f9-bc1c-920e1083daef" providerId="ADAL" clId="{6C720432-AFCC-493B-8D79-AE5D430E4640}" dt="2024-10-02T19:56:37.347" v="4305" actId="478"/>
          <ac:spMkLst>
            <pc:docMk/>
            <pc:sldMk cId="3497004109" sldId="302"/>
            <ac:spMk id="117" creationId="{00000000-0000-0000-0000-000000000000}"/>
          </ac:spMkLst>
        </pc:spChg>
        <pc:grpChg chg="mod">
          <ac:chgData name="Nils Burkhard Patrik Zimmermann" userId="ff02bda6-aa1d-49f9-bc1c-920e1083daef" providerId="ADAL" clId="{6C720432-AFCC-493B-8D79-AE5D430E4640}" dt="2024-10-02T19:54:32.626" v="4187" actId="1076"/>
          <ac:grpSpMkLst>
            <pc:docMk/>
            <pc:sldMk cId="3497004109" sldId="302"/>
            <ac:grpSpMk id="114" creationId="{00000000-0000-0000-0000-000000000000}"/>
          </ac:grpSpMkLst>
        </pc:grpChg>
        <pc:grpChg chg="mod">
          <ac:chgData name="Nils Burkhard Patrik Zimmermann" userId="ff02bda6-aa1d-49f9-bc1c-920e1083daef" providerId="ADAL" clId="{6C720432-AFCC-493B-8D79-AE5D430E4640}" dt="2024-10-02T19:54:40.201" v="4188" actId="1076"/>
          <ac:grpSpMkLst>
            <pc:docMk/>
            <pc:sldMk cId="3497004109" sldId="302"/>
            <ac:grpSpMk id="118" creationId="{00000000-0000-0000-0000-000000000000}"/>
          </ac:grpSpMkLst>
        </pc:grpChg>
        <pc:grpChg chg="mod">
          <ac:chgData name="Nils Burkhard Patrik Zimmermann" userId="ff02bda6-aa1d-49f9-bc1c-920e1083daef" providerId="ADAL" clId="{6C720432-AFCC-493B-8D79-AE5D430E4640}" dt="2024-10-02T19:54:54.595" v="4190" actId="1076"/>
          <ac:grpSpMkLst>
            <pc:docMk/>
            <pc:sldMk cId="3497004109" sldId="302"/>
            <ac:grpSpMk id="121" creationId="{00000000-0000-0000-0000-000000000000}"/>
          </ac:grpSpMkLst>
        </pc:grpChg>
      </pc:sldChg>
      <pc:sldChg chg="modSp mod">
        <pc:chgData name="Nils Burkhard Patrik Zimmermann" userId="ff02bda6-aa1d-49f9-bc1c-920e1083daef" providerId="ADAL" clId="{6C720432-AFCC-493B-8D79-AE5D430E4640}" dt="2024-10-02T21:26:02.452" v="7288" actId="20577"/>
        <pc:sldMkLst>
          <pc:docMk/>
          <pc:sldMk cId="1750513697" sldId="309"/>
        </pc:sldMkLst>
        <pc:graphicFrameChg chg="modGraphic">
          <ac:chgData name="Nils Burkhard Patrik Zimmermann" userId="ff02bda6-aa1d-49f9-bc1c-920e1083daef" providerId="ADAL" clId="{6C720432-AFCC-493B-8D79-AE5D430E4640}" dt="2024-10-02T21:26:02.452" v="7288" actId="20577"/>
          <ac:graphicFrameMkLst>
            <pc:docMk/>
            <pc:sldMk cId="1750513697" sldId="309"/>
            <ac:graphicFrameMk id="7" creationId="{37EC8159-55F3-27C5-5844-9EB9B380591D}"/>
          </ac:graphicFrameMkLst>
        </pc:graphicFrameChg>
      </pc:sldChg>
      <pc:sldChg chg="modSp mod">
        <pc:chgData name="Nils Burkhard Patrik Zimmermann" userId="ff02bda6-aa1d-49f9-bc1c-920e1083daef" providerId="ADAL" clId="{6C720432-AFCC-493B-8D79-AE5D430E4640}" dt="2024-10-02T20:49:34.225" v="6469" actId="20577"/>
        <pc:sldMkLst>
          <pc:docMk/>
          <pc:sldMk cId="2917026604" sldId="312"/>
        </pc:sldMkLst>
        <pc:spChg chg="mod">
          <ac:chgData name="Nils Burkhard Patrik Zimmermann" userId="ff02bda6-aa1d-49f9-bc1c-920e1083daef" providerId="ADAL" clId="{6C720432-AFCC-493B-8D79-AE5D430E4640}" dt="2024-10-02T20:49:34.225" v="6469" actId="20577"/>
          <ac:spMkLst>
            <pc:docMk/>
            <pc:sldMk cId="2917026604" sldId="312"/>
            <ac:spMk id="2" creationId="{286B605E-731D-CCA2-00DD-67F883FBA44E}"/>
          </ac:spMkLst>
        </pc:spChg>
        <pc:spChg chg="mod">
          <ac:chgData name="Nils Burkhard Patrik Zimmermann" userId="ff02bda6-aa1d-49f9-bc1c-920e1083daef" providerId="ADAL" clId="{6C720432-AFCC-493B-8D79-AE5D430E4640}" dt="2024-10-02T20:49:15.614" v="6467" actId="20577"/>
          <ac:spMkLst>
            <pc:docMk/>
            <pc:sldMk cId="2917026604" sldId="312"/>
            <ac:spMk id="177" creationId="{E7BC11EF-F3DA-014B-AA2D-AF469B56BB14}"/>
          </ac:spMkLst>
        </pc:spChg>
      </pc:sldChg>
      <pc:sldChg chg="modSp mod">
        <pc:chgData name="Nils Burkhard Patrik Zimmermann" userId="ff02bda6-aa1d-49f9-bc1c-920e1083daef" providerId="ADAL" clId="{6C720432-AFCC-493B-8D79-AE5D430E4640}" dt="2024-10-02T20:48:30.345" v="6452" actId="20577"/>
        <pc:sldMkLst>
          <pc:docMk/>
          <pc:sldMk cId="379303731" sldId="313"/>
        </pc:sldMkLst>
        <pc:spChg chg="mod">
          <ac:chgData name="Nils Burkhard Patrik Zimmermann" userId="ff02bda6-aa1d-49f9-bc1c-920e1083daef" providerId="ADAL" clId="{6C720432-AFCC-493B-8D79-AE5D430E4640}" dt="2024-10-02T20:48:30.345" v="6452" actId="20577"/>
          <ac:spMkLst>
            <pc:docMk/>
            <pc:sldMk cId="379303731" sldId="313"/>
            <ac:spMk id="3" creationId="{6AD41387-31A5-7386-5094-9C8427939A0B}"/>
          </ac:spMkLst>
        </pc:spChg>
        <pc:spChg chg="mod">
          <ac:chgData name="Nils Burkhard Patrik Zimmermann" userId="ff02bda6-aa1d-49f9-bc1c-920e1083daef" providerId="ADAL" clId="{6C720432-AFCC-493B-8D79-AE5D430E4640}" dt="2024-10-02T20:47:06.483" v="6412" actId="20577"/>
          <ac:spMkLst>
            <pc:docMk/>
            <pc:sldMk cId="379303731" sldId="313"/>
            <ac:spMk id="194" creationId="{835DBB40-B165-A563-4ED6-385DF04352D2}"/>
          </ac:spMkLst>
        </pc:spChg>
      </pc:sldChg>
      <pc:sldChg chg="modSp mod modNotesTx">
        <pc:chgData name="Nils Burkhard Patrik Zimmermann" userId="ff02bda6-aa1d-49f9-bc1c-920e1083daef" providerId="ADAL" clId="{6C720432-AFCC-493B-8D79-AE5D430E4640}" dt="2024-10-02T21:08:32.306" v="6929"/>
        <pc:sldMkLst>
          <pc:docMk/>
          <pc:sldMk cId="4149906644" sldId="314"/>
        </pc:sldMkLst>
        <pc:spChg chg="mod">
          <ac:chgData name="Nils Burkhard Patrik Zimmermann" userId="ff02bda6-aa1d-49f9-bc1c-920e1083daef" providerId="ADAL" clId="{6C720432-AFCC-493B-8D79-AE5D430E4640}" dt="2024-10-02T21:08:27.462" v="6927" actId="5793"/>
          <ac:spMkLst>
            <pc:docMk/>
            <pc:sldMk cId="4149906644" sldId="314"/>
            <ac:spMk id="5" creationId="{607EBD93-C391-4EF8-BBE2-B9995925E2FD}"/>
          </ac:spMkLst>
        </pc:spChg>
        <pc:spChg chg="mod">
          <ac:chgData name="Nils Burkhard Patrik Zimmermann" userId="ff02bda6-aa1d-49f9-bc1c-920e1083daef" providerId="ADAL" clId="{6C720432-AFCC-493B-8D79-AE5D430E4640}" dt="2024-10-02T20:56:41.254" v="6701" actId="20577"/>
          <ac:spMkLst>
            <pc:docMk/>
            <pc:sldMk cId="4149906644" sldId="314"/>
            <ac:spMk id="231" creationId="{A85334DD-0A46-D8F7-16DF-3A6C90688376}"/>
          </ac:spMkLst>
        </pc:spChg>
        <pc:spChg chg="mod">
          <ac:chgData name="Nils Burkhard Patrik Zimmermann" userId="ff02bda6-aa1d-49f9-bc1c-920e1083daef" providerId="ADAL" clId="{6C720432-AFCC-493B-8D79-AE5D430E4640}" dt="2024-10-02T21:02:04.868" v="6713" actId="20577"/>
          <ac:spMkLst>
            <pc:docMk/>
            <pc:sldMk cId="4149906644" sldId="314"/>
            <ac:spMk id="234" creationId="{5362C647-7156-E40F-8ED7-2CDE802ABEC7}"/>
          </ac:spMkLst>
        </pc:spChg>
        <pc:spChg chg="mod">
          <ac:chgData name="Nils Burkhard Patrik Zimmermann" userId="ff02bda6-aa1d-49f9-bc1c-920e1083daef" providerId="ADAL" clId="{6C720432-AFCC-493B-8D79-AE5D430E4640}" dt="2024-10-02T21:02:11.690" v="6714" actId="20577"/>
          <ac:spMkLst>
            <pc:docMk/>
            <pc:sldMk cId="4149906644" sldId="314"/>
            <ac:spMk id="237" creationId="{115BCE6D-62A9-CE71-28B7-4DBDDA365977}"/>
          </ac:spMkLst>
        </pc:spChg>
      </pc:sldChg>
      <pc:sldChg chg="modSp mod">
        <pc:chgData name="Nils Burkhard Patrik Zimmermann" userId="ff02bda6-aa1d-49f9-bc1c-920e1083daef" providerId="ADAL" clId="{6C720432-AFCC-493B-8D79-AE5D430E4640}" dt="2024-10-02T21:36:18.994" v="7391" actId="20577"/>
        <pc:sldMkLst>
          <pc:docMk/>
          <pc:sldMk cId="1790245567" sldId="315"/>
        </pc:sldMkLst>
        <pc:spChg chg="mod">
          <ac:chgData name="Nils Burkhard Patrik Zimmermann" userId="ff02bda6-aa1d-49f9-bc1c-920e1083daef" providerId="ADAL" clId="{6C720432-AFCC-493B-8D79-AE5D430E4640}" dt="2024-10-02T21:36:18.994" v="7391" actId="20577"/>
          <ac:spMkLst>
            <pc:docMk/>
            <pc:sldMk cId="1790245567" sldId="315"/>
            <ac:spMk id="9" creationId="{A1304680-3F5D-CB03-186E-516B16E15090}"/>
          </ac:spMkLst>
        </pc:spChg>
      </pc:sldChg>
      <pc:sldChg chg="modSp mod">
        <pc:chgData name="Nils Burkhard Patrik Zimmermann" userId="ff02bda6-aa1d-49f9-bc1c-920e1083daef" providerId="ADAL" clId="{6C720432-AFCC-493B-8D79-AE5D430E4640}" dt="2024-10-03T04:18:14.541" v="7466" actId="20577"/>
        <pc:sldMkLst>
          <pc:docMk/>
          <pc:sldMk cId="3397061043" sldId="317"/>
        </pc:sldMkLst>
        <pc:spChg chg="mod">
          <ac:chgData name="Nils Burkhard Patrik Zimmermann" userId="ff02bda6-aa1d-49f9-bc1c-920e1083daef" providerId="ADAL" clId="{6C720432-AFCC-493B-8D79-AE5D430E4640}" dt="2024-10-03T04:18:14.541" v="7466" actId="20577"/>
          <ac:spMkLst>
            <pc:docMk/>
            <pc:sldMk cId="3397061043" sldId="317"/>
            <ac:spMk id="3" creationId="{C9CCFFA8-1FFA-B544-B19B-C119715DD60B}"/>
          </ac:spMkLst>
        </pc:spChg>
        <pc:spChg chg="mod">
          <ac:chgData name="Nils Burkhard Patrik Zimmermann" userId="ff02bda6-aa1d-49f9-bc1c-920e1083daef" providerId="ADAL" clId="{6C720432-AFCC-493B-8D79-AE5D430E4640}" dt="2024-10-03T04:17:29.465" v="7435" actId="20577"/>
          <ac:spMkLst>
            <pc:docMk/>
            <pc:sldMk cId="3397061043" sldId="317"/>
            <ac:spMk id="4" creationId="{F54D5858-A5D5-B73E-8F59-10343FDD2F07}"/>
          </ac:spMkLst>
        </pc:spChg>
        <pc:spChg chg="mod">
          <ac:chgData name="Nils Burkhard Patrik Zimmermann" userId="ff02bda6-aa1d-49f9-bc1c-920e1083daef" providerId="ADAL" clId="{6C720432-AFCC-493B-8D79-AE5D430E4640}" dt="2024-10-03T04:17:25.286" v="7433" actId="20577"/>
          <ac:spMkLst>
            <pc:docMk/>
            <pc:sldMk cId="3397061043" sldId="317"/>
            <ac:spMk id="15" creationId="{9AE14CCA-B710-C97D-39DC-1C507570F4E2}"/>
          </ac:spMkLst>
        </pc:spChg>
      </pc:sldChg>
      <pc:sldChg chg="modSp mod">
        <pc:chgData name="Nils Burkhard Patrik Zimmermann" userId="ff02bda6-aa1d-49f9-bc1c-920e1083daef" providerId="ADAL" clId="{6C720432-AFCC-493B-8D79-AE5D430E4640}" dt="2024-10-02T21:28:39.181" v="7294" actId="20577"/>
        <pc:sldMkLst>
          <pc:docMk/>
          <pc:sldMk cId="3403435879" sldId="318"/>
        </pc:sldMkLst>
        <pc:spChg chg="mod">
          <ac:chgData name="Nils Burkhard Patrik Zimmermann" userId="ff02bda6-aa1d-49f9-bc1c-920e1083daef" providerId="ADAL" clId="{6C720432-AFCC-493B-8D79-AE5D430E4640}" dt="2024-10-02T21:28:39.181" v="7294" actId="20577"/>
          <ac:spMkLst>
            <pc:docMk/>
            <pc:sldMk cId="3403435879" sldId="318"/>
            <ac:spMk id="2" creationId="{35AB4EE9-5840-B01D-3844-8CFDD1574828}"/>
          </ac:spMkLst>
        </pc:spChg>
        <pc:spChg chg="mod">
          <ac:chgData name="Nils Burkhard Patrik Zimmermann" userId="ff02bda6-aa1d-49f9-bc1c-920e1083daef" providerId="ADAL" clId="{6C720432-AFCC-493B-8D79-AE5D430E4640}" dt="2024-10-02T21:27:51.925" v="7291" actId="20577"/>
          <ac:spMkLst>
            <pc:docMk/>
            <pc:sldMk cId="3403435879" sldId="318"/>
            <ac:spMk id="4" creationId="{38417233-964A-D216-1969-F5A9C4FAF07B}"/>
          </ac:spMkLst>
        </pc:spChg>
      </pc:sldChg>
      <pc:sldChg chg="modSp mod">
        <pc:chgData name="Nils Burkhard Patrik Zimmermann" userId="ff02bda6-aa1d-49f9-bc1c-920e1083daef" providerId="ADAL" clId="{6C720432-AFCC-493B-8D79-AE5D430E4640}" dt="2024-10-02T21:20:02.774" v="7209" actId="20577"/>
        <pc:sldMkLst>
          <pc:docMk/>
          <pc:sldMk cId="1157802730" sldId="319"/>
        </pc:sldMkLst>
        <pc:spChg chg="mod">
          <ac:chgData name="Nils Burkhard Patrik Zimmermann" userId="ff02bda6-aa1d-49f9-bc1c-920e1083daef" providerId="ADAL" clId="{6C720432-AFCC-493B-8D79-AE5D430E4640}" dt="2024-10-02T21:20:02.774" v="7209" actId="20577"/>
          <ac:spMkLst>
            <pc:docMk/>
            <pc:sldMk cId="1157802730" sldId="319"/>
            <ac:spMk id="3" creationId="{DE15D7C1-76F1-CE4F-1FBE-D812132649B2}"/>
          </ac:spMkLst>
        </pc:spChg>
      </pc:sldChg>
      <pc:sldChg chg="modSp mod">
        <pc:chgData name="Nils Burkhard Patrik Zimmermann" userId="ff02bda6-aa1d-49f9-bc1c-920e1083daef" providerId="ADAL" clId="{6C720432-AFCC-493B-8D79-AE5D430E4640}" dt="2024-10-02T20:46:01.292" v="6362" actId="20577"/>
        <pc:sldMkLst>
          <pc:docMk/>
          <pc:sldMk cId="1807362010" sldId="320"/>
        </pc:sldMkLst>
        <pc:spChg chg="mod">
          <ac:chgData name="Nils Burkhard Patrik Zimmermann" userId="ff02bda6-aa1d-49f9-bc1c-920e1083daef" providerId="ADAL" clId="{6C720432-AFCC-493B-8D79-AE5D430E4640}" dt="2024-10-02T20:46:01.292" v="6362" actId="20577"/>
          <ac:spMkLst>
            <pc:docMk/>
            <pc:sldMk cId="1807362010" sldId="320"/>
            <ac:spMk id="160" creationId="{ACCC6BE3-957B-8FAF-2F72-8A479262EBA0}"/>
          </ac:spMkLst>
        </pc:spChg>
        <pc:spChg chg="mod">
          <ac:chgData name="Nils Burkhard Patrik Zimmermann" userId="ff02bda6-aa1d-49f9-bc1c-920e1083daef" providerId="ADAL" clId="{6C720432-AFCC-493B-8D79-AE5D430E4640}" dt="2024-10-02T20:41:37.108" v="6199" actId="20577"/>
          <ac:spMkLst>
            <pc:docMk/>
            <pc:sldMk cId="1807362010" sldId="320"/>
            <ac:spMk id="165" creationId="{BE80F45C-4E02-E087-C08A-F4FFC682A501}"/>
          </ac:spMkLst>
        </pc:spChg>
      </pc:sldChg>
      <pc:sldChg chg="modSp mod">
        <pc:chgData name="Nils Burkhard Patrik Zimmermann" userId="ff02bda6-aa1d-49f9-bc1c-920e1083daef" providerId="ADAL" clId="{6C720432-AFCC-493B-8D79-AE5D430E4640}" dt="2024-10-02T21:09:52.092" v="6972" actId="20577"/>
        <pc:sldMkLst>
          <pc:docMk/>
          <pc:sldMk cId="2083642290" sldId="323"/>
        </pc:sldMkLst>
        <pc:spChg chg="mod">
          <ac:chgData name="Nils Burkhard Patrik Zimmermann" userId="ff02bda6-aa1d-49f9-bc1c-920e1083daef" providerId="ADAL" clId="{6C720432-AFCC-493B-8D79-AE5D430E4640}" dt="2024-10-02T21:09:52.092" v="6972" actId="20577"/>
          <ac:spMkLst>
            <pc:docMk/>
            <pc:sldMk cId="2083642290" sldId="323"/>
            <ac:spMk id="19" creationId="{4EDB45CC-E118-1480-808D-484091FD5A79}"/>
          </ac:spMkLst>
        </pc:spChg>
      </pc:sldChg>
      <pc:sldChg chg="modSp mod">
        <pc:chgData name="Nils Burkhard Patrik Zimmermann" userId="ff02bda6-aa1d-49f9-bc1c-920e1083daef" providerId="ADAL" clId="{6C720432-AFCC-493B-8D79-AE5D430E4640}" dt="2024-10-02T21:33:21.602" v="7342" actId="20577"/>
        <pc:sldMkLst>
          <pc:docMk/>
          <pc:sldMk cId="4020773793" sldId="324"/>
        </pc:sldMkLst>
        <pc:spChg chg="mod">
          <ac:chgData name="Nils Burkhard Patrik Zimmermann" userId="ff02bda6-aa1d-49f9-bc1c-920e1083daef" providerId="ADAL" clId="{6C720432-AFCC-493B-8D79-AE5D430E4640}" dt="2024-10-02T21:32:38.231" v="7323" actId="20577"/>
          <ac:spMkLst>
            <pc:docMk/>
            <pc:sldMk cId="4020773793" sldId="324"/>
            <ac:spMk id="2" creationId="{3976B511-2DE4-2032-CB03-01621CE22CC9}"/>
          </ac:spMkLst>
        </pc:spChg>
        <pc:spChg chg="mod">
          <ac:chgData name="Nils Burkhard Patrik Zimmermann" userId="ff02bda6-aa1d-49f9-bc1c-920e1083daef" providerId="ADAL" clId="{6C720432-AFCC-493B-8D79-AE5D430E4640}" dt="2024-10-02T21:33:21.602" v="7342" actId="20577"/>
          <ac:spMkLst>
            <pc:docMk/>
            <pc:sldMk cId="4020773793" sldId="324"/>
            <ac:spMk id="3" creationId="{007FEF88-4CEC-1943-EB1E-7F0CC161CD06}"/>
          </ac:spMkLst>
        </pc:spChg>
      </pc:sldChg>
      <pc:sldChg chg="modSp mod">
        <pc:chgData name="Nils Burkhard Patrik Zimmermann" userId="ff02bda6-aa1d-49f9-bc1c-920e1083daef" providerId="ADAL" clId="{6C720432-AFCC-493B-8D79-AE5D430E4640}" dt="2024-10-02T21:39:19.757" v="7411" actId="20577"/>
        <pc:sldMkLst>
          <pc:docMk/>
          <pc:sldMk cId="83870014" sldId="328"/>
        </pc:sldMkLst>
        <pc:spChg chg="mod">
          <ac:chgData name="Nils Burkhard Patrik Zimmermann" userId="ff02bda6-aa1d-49f9-bc1c-920e1083daef" providerId="ADAL" clId="{6C720432-AFCC-493B-8D79-AE5D430E4640}" dt="2024-10-02T21:38:14.684" v="7403" actId="20577"/>
          <ac:spMkLst>
            <pc:docMk/>
            <pc:sldMk cId="83870014" sldId="328"/>
            <ac:spMk id="5" creationId="{836836A5-DF28-54B3-50B4-1E9ED31E0F65}"/>
          </ac:spMkLst>
        </pc:spChg>
        <pc:spChg chg="mod">
          <ac:chgData name="Nils Burkhard Patrik Zimmermann" userId="ff02bda6-aa1d-49f9-bc1c-920e1083daef" providerId="ADAL" clId="{6C720432-AFCC-493B-8D79-AE5D430E4640}" dt="2024-10-02T21:39:19.757" v="7411" actId="20577"/>
          <ac:spMkLst>
            <pc:docMk/>
            <pc:sldMk cId="83870014" sldId="328"/>
            <ac:spMk id="9" creationId="{F51CD341-7FC2-BE14-967D-4E506F7475A9}"/>
          </ac:spMkLst>
        </pc:spChg>
        <pc:spChg chg="mod">
          <ac:chgData name="Nils Burkhard Patrik Zimmermann" userId="ff02bda6-aa1d-49f9-bc1c-920e1083daef" providerId="ADAL" clId="{6C720432-AFCC-493B-8D79-AE5D430E4640}" dt="2024-10-02T21:37:56.077" v="7402" actId="20577"/>
          <ac:spMkLst>
            <pc:docMk/>
            <pc:sldMk cId="83870014" sldId="328"/>
            <ac:spMk id="16" creationId="{D1A98517-0668-0C13-AF6E-6B777E289284}"/>
          </ac:spMkLst>
        </pc:spChg>
        <pc:spChg chg="mod">
          <ac:chgData name="Nils Burkhard Patrik Zimmermann" userId="ff02bda6-aa1d-49f9-bc1c-920e1083daef" providerId="ADAL" clId="{6C720432-AFCC-493B-8D79-AE5D430E4640}" dt="2024-10-02T21:39:04.040" v="7407" actId="20577"/>
          <ac:spMkLst>
            <pc:docMk/>
            <pc:sldMk cId="83870014" sldId="328"/>
            <ac:spMk id="24" creationId="{77CD7E4A-3740-A876-9850-BF0671336A6F}"/>
          </ac:spMkLst>
        </pc:spChg>
        <pc:spChg chg="mod">
          <ac:chgData name="Nils Burkhard Patrik Zimmermann" userId="ff02bda6-aa1d-49f9-bc1c-920e1083daef" providerId="ADAL" clId="{6C720432-AFCC-493B-8D79-AE5D430E4640}" dt="2024-10-02T21:37:29.941" v="7401" actId="20577"/>
          <ac:spMkLst>
            <pc:docMk/>
            <pc:sldMk cId="83870014" sldId="328"/>
            <ac:spMk id="317" creationId="{31BC723C-9BD2-98D7-A391-0B8604C953F2}"/>
          </ac:spMkLst>
        </pc:spChg>
      </pc:sldChg>
      <pc:sldChg chg="modSp mod">
        <pc:chgData name="Nils Burkhard Patrik Zimmermann" userId="ff02bda6-aa1d-49f9-bc1c-920e1083daef" providerId="ADAL" clId="{6C720432-AFCC-493B-8D79-AE5D430E4640}" dt="2024-10-02T20:53:51.172" v="6571" actId="20577"/>
        <pc:sldMkLst>
          <pc:docMk/>
          <pc:sldMk cId="1174603827" sldId="331"/>
        </pc:sldMkLst>
        <pc:spChg chg="mod">
          <ac:chgData name="Nils Burkhard Patrik Zimmermann" userId="ff02bda6-aa1d-49f9-bc1c-920e1083daef" providerId="ADAL" clId="{6C720432-AFCC-493B-8D79-AE5D430E4640}" dt="2024-10-02T20:53:51.172" v="6571" actId="20577"/>
          <ac:spMkLst>
            <pc:docMk/>
            <pc:sldMk cId="1174603827" sldId="331"/>
            <ac:spMk id="5" creationId="{607EBD93-C391-4EF8-BBE2-B9995925E2FD}"/>
          </ac:spMkLst>
        </pc:spChg>
      </pc:sldChg>
      <pc:sldChg chg="modSp mod">
        <pc:chgData name="Nils Burkhard Patrik Zimmermann" userId="ff02bda6-aa1d-49f9-bc1c-920e1083daef" providerId="ADAL" clId="{6C720432-AFCC-493B-8D79-AE5D430E4640}" dt="2024-10-02T18:43:56.197" v="38" actId="255"/>
        <pc:sldMkLst>
          <pc:docMk/>
          <pc:sldMk cId="2269282609" sldId="332"/>
        </pc:sldMkLst>
        <pc:spChg chg="mod">
          <ac:chgData name="Nils Burkhard Patrik Zimmermann" userId="ff02bda6-aa1d-49f9-bc1c-920e1083daef" providerId="ADAL" clId="{6C720432-AFCC-493B-8D79-AE5D430E4640}" dt="2024-10-02T18:43:56.197" v="38" actId="255"/>
          <ac:spMkLst>
            <pc:docMk/>
            <pc:sldMk cId="2269282609" sldId="332"/>
            <ac:spMk id="7" creationId="{7F312E0E-26F3-02C5-20AB-A640EBF08C2C}"/>
          </ac:spMkLst>
        </pc:spChg>
      </pc:sldChg>
      <pc:sldChg chg="modSp new del mod">
        <pc:chgData name="Nils Burkhard Patrik Zimmermann" userId="ff02bda6-aa1d-49f9-bc1c-920e1083daef" providerId="ADAL" clId="{6C720432-AFCC-493B-8D79-AE5D430E4640}" dt="2024-10-02T19:57:55.065" v="4382" actId="47"/>
        <pc:sldMkLst>
          <pc:docMk/>
          <pc:sldMk cId="3084759777" sldId="333"/>
        </pc:sldMkLst>
        <pc:spChg chg="mod">
          <ac:chgData name="Nils Burkhard Patrik Zimmermann" userId="ff02bda6-aa1d-49f9-bc1c-920e1083daef" providerId="ADAL" clId="{6C720432-AFCC-493B-8D79-AE5D430E4640}" dt="2024-10-02T19:57:16.591" v="4380" actId="20577"/>
          <ac:spMkLst>
            <pc:docMk/>
            <pc:sldMk cId="3084759777" sldId="333"/>
            <ac:spMk id="2" creationId="{9C4C70BC-1A22-1E4C-53E2-DA95573A88BE}"/>
          </ac:spMkLst>
        </pc:spChg>
        <pc:spChg chg="mod">
          <ac:chgData name="Nils Burkhard Patrik Zimmermann" userId="ff02bda6-aa1d-49f9-bc1c-920e1083daef" providerId="ADAL" clId="{6C720432-AFCC-493B-8D79-AE5D430E4640}" dt="2024-10-02T19:56:27.746" v="4304"/>
          <ac:spMkLst>
            <pc:docMk/>
            <pc:sldMk cId="3084759777" sldId="333"/>
            <ac:spMk id="3" creationId="{CF252070-0C37-93EB-2EB5-05FF6B2B1B25}"/>
          </ac:spMkLst>
        </pc:spChg>
      </pc:sldChg>
      <pc:sldChg chg="modSp new mod ord">
        <pc:chgData name="Nils Burkhard Patrik Zimmermann" userId="ff02bda6-aa1d-49f9-bc1c-920e1083daef" providerId="ADAL" clId="{6C720432-AFCC-493B-8D79-AE5D430E4640}" dt="2024-10-02T21:19:14.667" v="7208"/>
        <pc:sldMkLst>
          <pc:docMk/>
          <pc:sldMk cId="2922263541" sldId="334"/>
        </pc:sldMkLst>
        <pc:spChg chg="mod">
          <ac:chgData name="Nils Burkhard Patrik Zimmermann" userId="ff02bda6-aa1d-49f9-bc1c-920e1083daef" providerId="ADAL" clId="{6C720432-AFCC-493B-8D79-AE5D430E4640}" dt="2024-10-02T19:58:13.340" v="4445" actId="20577"/>
          <ac:spMkLst>
            <pc:docMk/>
            <pc:sldMk cId="2922263541" sldId="334"/>
            <ac:spMk id="8" creationId="{1F390E43-11F6-B5BF-A57E-42F67C5B8FA4}"/>
          </ac:spMkLst>
        </pc:spChg>
      </pc:sldChg>
      <pc:sldChg chg="modSp new mod">
        <pc:chgData name="Nils Burkhard Patrik Zimmermann" userId="ff02bda6-aa1d-49f9-bc1c-920e1083daef" providerId="ADAL" clId="{6C720432-AFCC-493B-8D79-AE5D430E4640}" dt="2024-10-02T20:32:47.982" v="5967" actId="20577"/>
        <pc:sldMkLst>
          <pc:docMk/>
          <pc:sldMk cId="478583995" sldId="335"/>
        </pc:sldMkLst>
        <pc:spChg chg="mod">
          <ac:chgData name="Nils Burkhard Patrik Zimmermann" userId="ff02bda6-aa1d-49f9-bc1c-920e1083daef" providerId="ADAL" clId="{6C720432-AFCC-493B-8D79-AE5D430E4640}" dt="2024-10-02T20:20:47.728" v="5166" actId="20577"/>
          <ac:spMkLst>
            <pc:docMk/>
            <pc:sldMk cId="478583995" sldId="335"/>
            <ac:spMk id="2" creationId="{C819AA57-10FB-4179-8CEB-87BAD98FF9DD}"/>
          </ac:spMkLst>
        </pc:spChg>
        <pc:spChg chg="mod">
          <ac:chgData name="Nils Burkhard Patrik Zimmermann" userId="ff02bda6-aa1d-49f9-bc1c-920e1083daef" providerId="ADAL" clId="{6C720432-AFCC-493B-8D79-AE5D430E4640}" dt="2024-10-02T20:32:31.677" v="5965" actId="20577"/>
          <ac:spMkLst>
            <pc:docMk/>
            <pc:sldMk cId="478583995" sldId="335"/>
            <ac:spMk id="3" creationId="{C4E0E00C-B16D-1A48-3CCA-93B4EEC2985A}"/>
          </ac:spMkLst>
        </pc:spChg>
        <pc:spChg chg="mod">
          <ac:chgData name="Nils Burkhard Patrik Zimmermann" userId="ff02bda6-aa1d-49f9-bc1c-920e1083daef" providerId="ADAL" clId="{6C720432-AFCC-493B-8D79-AE5D430E4640}" dt="2024-10-02T20:32:47.982" v="5967" actId="20577"/>
          <ac:spMkLst>
            <pc:docMk/>
            <pc:sldMk cId="478583995" sldId="335"/>
            <ac:spMk id="4" creationId="{8A9DE0BD-15EA-69EB-097C-40AD18786BA8}"/>
          </ac:spMkLst>
        </pc:spChg>
      </pc:sldChg>
      <pc:sldChg chg="add">
        <pc:chgData name="Nils Burkhard Patrik Zimmermann" userId="ff02bda6-aa1d-49f9-bc1c-920e1083daef" providerId="ADAL" clId="{6C720432-AFCC-493B-8D79-AE5D430E4640}" dt="2024-10-03T04:37:34.443" v="7467"/>
        <pc:sldMkLst>
          <pc:docMk/>
          <pc:sldMk cId="3472530956" sldId="336"/>
        </pc:sldMkLst>
      </pc:sldChg>
      <pc:sldChg chg="add">
        <pc:chgData name="Nils Burkhard Patrik Zimmermann" userId="ff02bda6-aa1d-49f9-bc1c-920e1083daef" providerId="ADAL" clId="{6C720432-AFCC-493B-8D79-AE5D430E4640}" dt="2024-10-03T04:37:34.443" v="7467"/>
        <pc:sldMkLst>
          <pc:docMk/>
          <pc:sldMk cId="2382616249" sldId="337"/>
        </pc:sldMkLst>
      </pc:sldChg>
    </pc:docChg>
  </pc:docChgLst>
  <pc:docChgLst>
    <pc:chgData name="Stephen John Stretton" userId="da8c780b-1aa2-4e36-94fb-871dc8111504" providerId="ADAL" clId="{1D4EAE0F-88E8-42FC-81B7-8E27748C975C}"/>
    <pc:docChg chg="modSld">
      <pc:chgData name="Stephen John Stretton" userId="da8c780b-1aa2-4e36-94fb-871dc8111504" providerId="ADAL" clId="{1D4EAE0F-88E8-42FC-81B7-8E27748C975C}" dt="2024-10-29T23:04:21.758" v="5" actId="14100"/>
      <pc:docMkLst>
        <pc:docMk/>
      </pc:docMkLst>
      <pc:sldChg chg="modSp mod">
        <pc:chgData name="Stephen John Stretton" userId="da8c780b-1aa2-4e36-94fb-871dc8111504" providerId="ADAL" clId="{1D4EAE0F-88E8-42FC-81B7-8E27748C975C}" dt="2024-10-29T23:04:21.758" v="5" actId="14100"/>
        <pc:sldMkLst>
          <pc:docMk/>
          <pc:sldMk cId="0" sldId="276"/>
        </pc:sldMkLst>
        <pc:spChg chg="mod">
          <ac:chgData name="Stephen John Stretton" userId="da8c780b-1aa2-4e36-94fb-871dc8111504" providerId="ADAL" clId="{1D4EAE0F-88E8-42FC-81B7-8E27748C975C}" dt="2024-10-29T23:04:11.748" v="3" actId="1076"/>
          <ac:spMkLst>
            <pc:docMk/>
            <pc:sldMk cId="0" sldId="276"/>
            <ac:spMk id="2" creationId="{F70EB803-981C-19EA-EDFA-2A0543493A98}"/>
          </ac:spMkLst>
        </pc:spChg>
        <pc:spChg chg="mod">
          <ac:chgData name="Stephen John Stretton" userId="da8c780b-1aa2-4e36-94fb-871dc8111504" providerId="ADAL" clId="{1D4EAE0F-88E8-42FC-81B7-8E27748C975C}" dt="2024-10-29T23:04:21.758" v="5" actId="14100"/>
          <ac:spMkLst>
            <pc:docMk/>
            <pc:sldMk cId="0" sldId="276"/>
            <ac:spMk id="20" creationId="{36B0820F-9C6E-B9FE-E9A6-0FD5B4D8A48E}"/>
          </ac:spMkLst>
        </pc:spChg>
        <pc:spChg chg="mod">
          <ac:chgData name="Stephen John Stretton" userId="da8c780b-1aa2-4e36-94fb-871dc8111504" providerId="ADAL" clId="{1D4EAE0F-88E8-42FC-81B7-8E27748C975C}" dt="2024-10-29T23:04:08.787" v="2" actId="1076"/>
          <ac:spMkLst>
            <pc:docMk/>
            <pc:sldMk cId="0" sldId="276"/>
            <ac:spMk id="22" creationId="{CBBD8091-6535-11C7-F2AC-ADDE94C891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The key question is how to increase private investment flows to developing countries in order to finance sustainable development</a:t>
            </a:r>
          </a:p>
        </p:txBody>
      </p:sp>
    </p:spTree>
    <p:extLst>
      <p:ext uri="{BB962C8B-B14F-4D97-AF65-F5344CB8AC3E}">
        <p14:creationId xmlns:p14="http://schemas.microsoft.com/office/powerpoint/2010/main" val="3103097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a07d1cf7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a07d1cf7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67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9228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presentation looks at how developing country sovereigns could best borrow large volumes of money cheaply from private sources to finance their transitions to clean energy abundance within a global transition to net zero greenhouse gas emissions. As populations and prosperity rise, most future emissions will come from developing economies. A big challenge is that developing countries generally have to pay high interest rates, due to foreign exchange and other country risks. One answer that has been offered to incentivize policy shifts toward lower emissions are “sustainability-linked bonds,” or SLBs, in which a sovereign pays a lower interest rate on bonds to the bond buyers if the country meets some key performance indicators, such as a target level of emissions per unit of GDP, and a higher rate if it fails to meet the target specified in the bond covenants, the bond’s terms and conditions. To date, sustainability-linked bonds have mostly been issued by corporations, not sovereigns. SLBs are a good idea and a step in the right direction, but we think this idea can be improved upon, and applied to sovereign borrowing. In our paper, we present two different possible ways SLBs could be adapted and improved to help developing-country sovereigns access lower-cost financing in exchange for sustainability-enhancing policy changes and infrastructure investments. For reasons that will become clear, we refer to these instruments as SLIDIs, or sustainability-linked intermediated debt instruments. SLIDIs are designed to de-risk lending to developing country sovereigns and at the same time, reward developing country sovereigns for achieving measurable improvements in agreed sustainability indicators. </a:t>
            </a:r>
          </a:p>
        </p:txBody>
      </p:sp>
    </p:spTree>
    <p:extLst>
      <p:ext uri="{BB962C8B-B14F-4D97-AF65-F5344CB8AC3E}">
        <p14:creationId xmlns:p14="http://schemas.microsoft.com/office/powerpoint/2010/main" val="2290028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a0ac66233e_1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a0ac66233e_1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rgbClr val="002F4A"/>
                </a:solidFill>
              </a:rPr>
              <a:t>1. To achieve global net zero by 2050, annual investments from</a:t>
            </a:r>
            <a:r>
              <a:rPr lang="en-GB" sz="1100" dirty="0">
                <a:solidFill>
                  <a:srgbClr val="B85741"/>
                </a:solidFill>
              </a:rPr>
              <a:t> </a:t>
            </a:r>
            <a:r>
              <a:rPr lang="en-GB" sz="1100" b="1" dirty="0">
                <a:solidFill>
                  <a:srgbClr val="B85741"/>
                </a:solidFill>
              </a:rPr>
              <a:t>US$3.4 trillion to $8.1 trillion </a:t>
            </a:r>
            <a:r>
              <a:rPr lang="en-GB" sz="1100" dirty="0">
                <a:solidFill>
                  <a:srgbClr val="002F4A"/>
                </a:solidFill>
              </a:rPr>
              <a:t>are needed globally (Yilmaz et al. 2022)</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rgbClr val="002F4A"/>
                </a:solidFill>
                <a:latin typeface="Roboto"/>
                <a:ea typeface="Roboto"/>
                <a:cs typeface="Roboto"/>
                <a:sym typeface="Roboto"/>
              </a:rPr>
              <a:t>1. Countries with low financial development and less developed financial institutions are less able to attract private capital. 2. High cost of capital makes the initial investment requirements for many projects, like renewable energy, infeasible. 3. In many developing countries, dramatic reductions in the cost of capital and access to low-cost financing will be necessary to enable a boom in clean infrastructure projects</a:t>
            </a:r>
            <a:r>
              <a:rPr lang="en-GB" sz="1600" dirty="0">
                <a:solidFill>
                  <a:srgbClr val="002F4A"/>
                </a:solidFill>
                <a:latin typeface="Roboto"/>
                <a:ea typeface="Roboto"/>
                <a:cs typeface="Roboto"/>
                <a:sym typeface="Roboto"/>
              </a:rPr>
              <a:t>.</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a23badba93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a23badba93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a23badba93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a23badba93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0" dirty="0">
                <a:solidFill>
                  <a:srgbClr val="FFFFFF"/>
                </a:solidFill>
                <a:latin typeface="Roboto"/>
                <a:ea typeface="Roboto"/>
                <a:cs typeface="Roboto"/>
                <a:sym typeface="Roboto"/>
              </a:rPr>
              <a:t>1. To ensure a consistent flow of private investment to developing countries, it is crucial to streamline the investment process, aiming to optimize rewards and minimize risks.</a:t>
            </a:r>
            <a:endParaRPr b="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a07d1cf71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4F71B39A-0B0F-589F-F041-1342C87AC9F7}"/>
            </a:ext>
          </a:extLst>
        </p:cNvPr>
        <p:cNvGrpSpPr/>
        <p:nvPr/>
      </p:nvGrpSpPr>
      <p:grpSpPr>
        <a:xfrm>
          <a:off x="0" y="0"/>
          <a:ext cx="0" cy="0"/>
          <a:chOff x="0" y="0"/>
          <a:chExt cx="0" cy="0"/>
        </a:xfrm>
      </p:grpSpPr>
      <p:sp>
        <p:nvSpPr>
          <p:cNvPr id="156" name="Google Shape;156;g2a07d1cf71e_0_10:notes">
            <a:extLst>
              <a:ext uri="{FF2B5EF4-FFF2-40B4-BE49-F238E27FC236}">
                <a16:creationId xmlns:a16="http://schemas.microsoft.com/office/drawing/2014/main" id="{3E9A73F0-68D3-B87F-71E6-43F0834C73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a:extLst>
              <a:ext uri="{FF2B5EF4-FFF2-40B4-BE49-F238E27FC236}">
                <a16:creationId xmlns:a16="http://schemas.microsoft.com/office/drawing/2014/main" id="{4F79840C-54AA-395B-0840-C4DCE3A310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0084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C9D618D1-108A-8758-490D-F574A24777B7}"/>
            </a:ext>
          </a:extLst>
        </p:cNvPr>
        <p:cNvGrpSpPr/>
        <p:nvPr/>
      </p:nvGrpSpPr>
      <p:grpSpPr>
        <a:xfrm>
          <a:off x="0" y="0"/>
          <a:ext cx="0" cy="0"/>
          <a:chOff x="0" y="0"/>
          <a:chExt cx="0" cy="0"/>
        </a:xfrm>
      </p:grpSpPr>
      <p:sp>
        <p:nvSpPr>
          <p:cNvPr id="190" name="Google Shape;190;g2a182c65f66_0_7:notes">
            <a:extLst>
              <a:ext uri="{FF2B5EF4-FFF2-40B4-BE49-F238E27FC236}">
                <a16:creationId xmlns:a16="http://schemas.microsoft.com/office/drawing/2014/main" id="{7CB4F76A-38D3-E7F2-EDA2-69FC07FF88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a182c65f66_0_7:notes">
            <a:extLst>
              <a:ext uri="{FF2B5EF4-FFF2-40B4-BE49-F238E27FC236}">
                <a16:creationId xmlns:a16="http://schemas.microsoft.com/office/drawing/2014/main" id="{6A21197C-D011-A011-6D2D-2DF98BC595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1049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953822A4-5644-8365-D1A9-2D50C60AE9FC}"/>
            </a:ext>
          </a:extLst>
        </p:cNvPr>
        <p:cNvGrpSpPr/>
        <p:nvPr/>
      </p:nvGrpSpPr>
      <p:grpSpPr>
        <a:xfrm>
          <a:off x="0" y="0"/>
          <a:ext cx="0" cy="0"/>
          <a:chOff x="0" y="0"/>
          <a:chExt cx="0" cy="0"/>
        </a:xfrm>
      </p:grpSpPr>
      <p:sp>
        <p:nvSpPr>
          <p:cNvPr id="173" name="Google Shape;173;g2a0ac66233e_1_3551:notes">
            <a:extLst>
              <a:ext uri="{FF2B5EF4-FFF2-40B4-BE49-F238E27FC236}">
                <a16:creationId xmlns:a16="http://schemas.microsoft.com/office/drawing/2014/main" id="{F2FD7067-69C7-5C69-9CBC-F464C27AF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a0ac66233e_1_3551:notes">
            <a:extLst>
              <a:ext uri="{FF2B5EF4-FFF2-40B4-BE49-F238E27FC236}">
                <a16:creationId xmlns:a16="http://schemas.microsoft.com/office/drawing/2014/main" id="{DD2E1335-2CF5-1AD9-BB32-06A130F78B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9468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a23badba93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a23badba93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a0897977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a0897977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23badba93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6DB9FEDD-326A-3A68-B87B-008EE462278F}"/>
            </a:ext>
          </a:extLst>
        </p:cNvPr>
        <p:cNvGrpSpPr/>
        <p:nvPr/>
      </p:nvGrpSpPr>
      <p:grpSpPr>
        <a:xfrm>
          <a:off x="0" y="0"/>
          <a:ext cx="0" cy="0"/>
          <a:chOff x="0" y="0"/>
          <a:chExt cx="0" cy="0"/>
        </a:xfrm>
      </p:grpSpPr>
      <p:sp>
        <p:nvSpPr>
          <p:cNvPr id="225" name="Google Shape;225;g2a0ac66233e_1_335:notes">
            <a:extLst>
              <a:ext uri="{FF2B5EF4-FFF2-40B4-BE49-F238E27FC236}">
                <a16:creationId xmlns:a16="http://schemas.microsoft.com/office/drawing/2014/main" id="{90050527-D4CA-6BF7-4895-C575C24E5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a:extLst>
              <a:ext uri="{FF2B5EF4-FFF2-40B4-BE49-F238E27FC236}">
                <a16:creationId xmlns:a16="http://schemas.microsoft.com/office/drawing/2014/main" id="{C9C7E27B-8788-7994-B3E0-DB4846A8CA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2029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6DB9FEDD-326A-3A68-B87B-008EE462278F}"/>
            </a:ext>
          </a:extLst>
        </p:cNvPr>
        <p:cNvGrpSpPr/>
        <p:nvPr/>
      </p:nvGrpSpPr>
      <p:grpSpPr>
        <a:xfrm>
          <a:off x="0" y="0"/>
          <a:ext cx="0" cy="0"/>
          <a:chOff x="0" y="0"/>
          <a:chExt cx="0" cy="0"/>
        </a:xfrm>
      </p:grpSpPr>
      <p:sp>
        <p:nvSpPr>
          <p:cNvPr id="225" name="Google Shape;225;g2a0ac66233e_1_335:notes">
            <a:extLst>
              <a:ext uri="{FF2B5EF4-FFF2-40B4-BE49-F238E27FC236}">
                <a16:creationId xmlns:a16="http://schemas.microsoft.com/office/drawing/2014/main" id="{90050527-D4CA-6BF7-4895-C575C24E5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a:extLst>
              <a:ext uri="{FF2B5EF4-FFF2-40B4-BE49-F238E27FC236}">
                <a16:creationId xmlns:a16="http://schemas.microsoft.com/office/drawing/2014/main" id="{C9C7E27B-8788-7994-B3E0-DB4846A8CA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solidFill>
                  <a:schemeClr val="accent6">
                    <a:lumMod val="10000"/>
                  </a:schemeClr>
                </a:solidFill>
                <a:latin typeface="Roboto"/>
              </a:rPr>
              <a:t>Instead of an interest rate subsidy, SLIDI terms could use an MLDB managed fund to refinance the bond, adding duration to the repayment period ==&gt; effective coupon payments are lower from the sovereign point of view</a:t>
            </a:r>
            <a:endParaRPr dirty="0"/>
          </a:p>
        </p:txBody>
      </p:sp>
    </p:spTree>
    <p:extLst>
      <p:ext uri="{BB962C8B-B14F-4D97-AF65-F5344CB8AC3E}">
        <p14:creationId xmlns:p14="http://schemas.microsoft.com/office/powerpoint/2010/main" val="21696979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1B71328-1C0A-1D79-7FF8-C427661E6004}"/>
            </a:ext>
          </a:extLst>
        </p:cNvPr>
        <p:cNvGrpSpPr/>
        <p:nvPr/>
      </p:nvGrpSpPr>
      <p:grpSpPr>
        <a:xfrm>
          <a:off x="0" y="0"/>
          <a:ext cx="0" cy="0"/>
          <a:chOff x="0" y="0"/>
          <a:chExt cx="0" cy="0"/>
        </a:xfrm>
      </p:grpSpPr>
      <p:sp>
        <p:nvSpPr>
          <p:cNvPr id="219" name="Google Shape;219;g2a23badba93_1_69:notes">
            <a:extLst>
              <a:ext uri="{FF2B5EF4-FFF2-40B4-BE49-F238E27FC236}">
                <a16:creationId xmlns:a16="http://schemas.microsoft.com/office/drawing/2014/main" id="{5C1C8799-1FCA-DAD5-0E65-BC378C66CC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a:extLst>
              <a:ext uri="{FF2B5EF4-FFF2-40B4-BE49-F238E27FC236}">
                <a16:creationId xmlns:a16="http://schemas.microsoft.com/office/drawing/2014/main" id="{93232149-D764-16C8-B01D-FB73CFA556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90507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a:extLst>
            <a:ext uri="{FF2B5EF4-FFF2-40B4-BE49-F238E27FC236}">
              <a16:creationId xmlns:a16="http://schemas.microsoft.com/office/drawing/2014/main" id="{7EB321FD-3410-8E77-AD94-062804E6C1BE}"/>
            </a:ext>
          </a:extLst>
        </p:cNvPr>
        <p:cNvGrpSpPr/>
        <p:nvPr/>
      </p:nvGrpSpPr>
      <p:grpSpPr>
        <a:xfrm>
          <a:off x="0" y="0"/>
          <a:ext cx="0" cy="0"/>
          <a:chOff x="0" y="0"/>
          <a:chExt cx="0" cy="0"/>
        </a:xfrm>
      </p:grpSpPr>
      <p:sp>
        <p:nvSpPr>
          <p:cNvPr id="364" name="Google Shape;364;g2a573917329_0_11:notes">
            <a:extLst>
              <a:ext uri="{FF2B5EF4-FFF2-40B4-BE49-F238E27FC236}">
                <a16:creationId xmlns:a16="http://schemas.microsoft.com/office/drawing/2014/main" id="{C7942AC4-EF33-7027-BB94-2C0F97967F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a573917329_0_11:notes">
            <a:extLst>
              <a:ext uri="{FF2B5EF4-FFF2-40B4-BE49-F238E27FC236}">
                <a16:creationId xmlns:a16="http://schemas.microsoft.com/office/drawing/2014/main" id="{E6F743D2-CBD2-6340-2DB8-673840324D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0234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a23badba93_1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E01D8CB-4F95-EFE4-54A2-E74B98B896E8}"/>
            </a:ext>
          </a:extLst>
        </p:cNvPr>
        <p:cNvGrpSpPr/>
        <p:nvPr/>
      </p:nvGrpSpPr>
      <p:grpSpPr>
        <a:xfrm>
          <a:off x="0" y="0"/>
          <a:ext cx="0" cy="0"/>
          <a:chOff x="0" y="0"/>
          <a:chExt cx="0" cy="0"/>
        </a:xfrm>
      </p:grpSpPr>
      <p:sp>
        <p:nvSpPr>
          <p:cNvPr id="219" name="Google Shape;219;g2a23badba93_1_69:notes">
            <a:extLst>
              <a:ext uri="{FF2B5EF4-FFF2-40B4-BE49-F238E27FC236}">
                <a16:creationId xmlns:a16="http://schemas.microsoft.com/office/drawing/2014/main" id="{9922BE0A-C543-4095-2A18-F66B0C55B8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a:extLst>
              <a:ext uri="{FF2B5EF4-FFF2-40B4-BE49-F238E27FC236}">
                <a16:creationId xmlns:a16="http://schemas.microsoft.com/office/drawing/2014/main" id="{655C50DE-360C-C05C-9B6A-A7EF7F3CA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8177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8D2E-F8B4-66A5-AE2C-20AF076AB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4D429-8584-8F62-3AF4-FB0F4B0363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FE28EFE-13CB-8DCA-53A7-F099EC3ABE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902575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C41EBAA6-B394-57D1-3643-A67B943FABB0}"/>
            </a:ext>
          </a:extLst>
        </p:cNvPr>
        <p:cNvGrpSpPr/>
        <p:nvPr/>
      </p:nvGrpSpPr>
      <p:grpSpPr>
        <a:xfrm>
          <a:off x="0" y="0"/>
          <a:ext cx="0" cy="0"/>
          <a:chOff x="0" y="0"/>
          <a:chExt cx="0" cy="0"/>
        </a:xfrm>
      </p:grpSpPr>
      <p:sp>
        <p:nvSpPr>
          <p:cNvPr id="376" name="Google Shape;376;g2a08979779a_0_5:notes">
            <a:extLst>
              <a:ext uri="{FF2B5EF4-FFF2-40B4-BE49-F238E27FC236}">
                <a16:creationId xmlns:a16="http://schemas.microsoft.com/office/drawing/2014/main" id="{AD82A3A1-8329-C2D3-1BC3-CD73B87340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a08979779a_0_5:notes">
            <a:extLst>
              <a:ext uri="{FF2B5EF4-FFF2-40B4-BE49-F238E27FC236}">
                <a16:creationId xmlns:a16="http://schemas.microsoft.com/office/drawing/2014/main" id="{BBDADA87-35FA-2A64-27CC-AADA9691E7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indent="7620">
              <a:lnSpc>
                <a:spcPct val="150000"/>
              </a:lnSpc>
              <a:spcBef>
                <a:spcPts val="1200"/>
              </a:spcBef>
              <a:buSzPts val="1018"/>
            </a:pPr>
            <a:r>
              <a:rPr lang="en-US" sz="1100" dirty="0">
                <a:solidFill>
                  <a:schemeClr val="bg1"/>
                </a:solidFill>
              </a:rPr>
              <a:t>Here we use a trusted intermediary to borrow from financial markets at a lower rate than the developing-country sovereign. The </a:t>
            </a:r>
            <a:r>
              <a:rPr lang="en-US" sz="1100" b="1" dirty="0">
                <a:solidFill>
                  <a:schemeClr val="bg1"/>
                </a:solidFill>
              </a:rPr>
              <a:t>intermediary</a:t>
            </a:r>
            <a:r>
              <a:rPr lang="en-US" sz="1100" dirty="0">
                <a:solidFill>
                  <a:schemeClr val="bg1"/>
                </a:solidFill>
              </a:rPr>
              <a:t> then </a:t>
            </a:r>
            <a:r>
              <a:rPr lang="en-US" sz="1100" b="1" dirty="0">
                <a:solidFill>
                  <a:schemeClr val="bg1"/>
                </a:solidFill>
              </a:rPr>
              <a:t>on-lends</a:t>
            </a:r>
            <a:r>
              <a:rPr lang="en-US" sz="1100" dirty="0">
                <a:solidFill>
                  <a:schemeClr val="bg1"/>
                </a:solidFill>
              </a:rPr>
              <a:t> to the sovereign. The intermediary could be the WB itself or some other institution or special purpose vehicle</a:t>
            </a:r>
            <a:endParaRPr lang="en-US" dirty="0">
              <a:solidFill>
                <a:schemeClr val="bg1"/>
              </a:solidFill>
            </a:endParaRPr>
          </a:p>
          <a:p>
            <a:pPr indent="7620">
              <a:lnSpc>
                <a:spcPct val="150000"/>
              </a:lnSpc>
              <a:spcBef>
                <a:spcPts val="1200"/>
              </a:spcBef>
              <a:buSzPts val="1018"/>
            </a:pPr>
            <a:r>
              <a:rPr lang="en-US" sz="1100" dirty="0">
                <a:solidFill>
                  <a:schemeClr val="bg1"/>
                </a:solidFill>
              </a:rPr>
              <a:t>The </a:t>
            </a:r>
            <a:r>
              <a:rPr lang="en-US" sz="1100" b="1" dirty="0">
                <a:solidFill>
                  <a:schemeClr val="bg1"/>
                </a:solidFill>
              </a:rPr>
              <a:t>lower interest costs </a:t>
            </a:r>
            <a:r>
              <a:rPr lang="en-US" sz="1100" dirty="0">
                <a:solidFill>
                  <a:schemeClr val="bg1"/>
                </a:solidFill>
              </a:rPr>
              <a:t>of the intermediary/WB are (partially) </a:t>
            </a:r>
            <a:r>
              <a:rPr lang="en-US" sz="1100" b="1" dirty="0">
                <a:solidFill>
                  <a:schemeClr val="bg1"/>
                </a:solidFill>
              </a:rPr>
              <a:t>passed along </a:t>
            </a:r>
            <a:r>
              <a:rPr lang="en-US" sz="1100" dirty="0">
                <a:solidFill>
                  <a:schemeClr val="bg1"/>
                </a:solidFill>
              </a:rPr>
              <a:t>in reduced interest costs to the sovereign </a:t>
            </a:r>
            <a:r>
              <a:rPr lang="en-US" sz="1100" b="1" dirty="0">
                <a:solidFill>
                  <a:schemeClr val="bg1"/>
                </a:solidFill>
              </a:rPr>
              <a:t>only if sustainability performance targets are met</a:t>
            </a:r>
            <a:endParaRPr dirty="0"/>
          </a:p>
        </p:txBody>
      </p:sp>
    </p:spTree>
    <p:extLst>
      <p:ext uri="{BB962C8B-B14F-4D97-AF65-F5344CB8AC3E}">
        <p14:creationId xmlns:p14="http://schemas.microsoft.com/office/powerpoint/2010/main" val="26061629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C41EBAA6-B394-57D1-3643-A67B943FABB0}"/>
            </a:ext>
          </a:extLst>
        </p:cNvPr>
        <p:cNvGrpSpPr/>
        <p:nvPr/>
      </p:nvGrpSpPr>
      <p:grpSpPr>
        <a:xfrm>
          <a:off x="0" y="0"/>
          <a:ext cx="0" cy="0"/>
          <a:chOff x="0" y="0"/>
          <a:chExt cx="0" cy="0"/>
        </a:xfrm>
      </p:grpSpPr>
      <p:sp>
        <p:nvSpPr>
          <p:cNvPr id="376" name="Google Shape;376;g2a08979779a_0_5:notes">
            <a:extLst>
              <a:ext uri="{FF2B5EF4-FFF2-40B4-BE49-F238E27FC236}">
                <a16:creationId xmlns:a16="http://schemas.microsoft.com/office/drawing/2014/main" id="{AD82A3A1-8329-C2D3-1BC3-CD73B87340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a08979779a_0_5:notes">
            <a:extLst>
              <a:ext uri="{FF2B5EF4-FFF2-40B4-BE49-F238E27FC236}">
                <a16:creationId xmlns:a16="http://schemas.microsoft.com/office/drawing/2014/main" id="{BBDADA87-35FA-2A64-27CC-AADA9691E7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indent="7620">
              <a:lnSpc>
                <a:spcPct val="150000"/>
              </a:lnSpc>
              <a:spcBef>
                <a:spcPts val="1200"/>
              </a:spcBef>
              <a:buSzPts val="1018"/>
            </a:pPr>
            <a:r>
              <a:rPr lang="en-US" sz="1100" dirty="0">
                <a:solidFill>
                  <a:schemeClr val="bg1"/>
                </a:solidFill>
              </a:rPr>
              <a:t>Here we use a trusted intermediary to borrow from financial markets at a lower rate than the developing-country sovereign. The </a:t>
            </a:r>
            <a:r>
              <a:rPr lang="en-US" sz="1100" b="1" dirty="0">
                <a:solidFill>
                  <a:schemeClr val="bg1"/>
                </a:solidFill>
              </a:rPr>
              <a:t>intermediary</a:t>
            </a:r>
            <a:r>
              <a:rPr lang="en-US" sz="1100" dirty="0">
                <a:solidFill>
                  <a:schemeClr val="bg1"/>
                </a:solidFill>
              </a:rPr>
              <a:t> then </a:t>
            </a:r>
            <a:r>
              <a:rPr lang="en-US" sz="1100" b="1" dirty="0">
                <a:solidFill>
                  <a:schemeClr val="bg1"/>
                </a:solidFill>
              </a:rPr>
              <a:t>on-lends</a:t>
            </a:r>
            <a:r>
              <a:rPr lang="en-US" sz="1100" dirty="0">
                <a:solidFill>
                  <a:schemeClr val="bg1"/>
                </a:solidFill>
              </a:rPr>
              <a:t> to the sovereign. The intermediary could be the WB itself or some other institution or special purpose vehicle</a:t>
            </a:r>
            <a:endParaRPr lang="en-US" dirty="0">
              <a:solidFill>
                <a:schemeClr val="bg1"/>
              </a:solidFill>
            </a:endParaRPr>
          </a:p>
          <a:p>
            <a:pPr indent="7620">
              <a:lnSpc>
                <a:spcPct val="150000"/>
              </a:lnSpc>
              <a:spcBef>
                <a:spcPts val="1200"/>
              </a:spcBef>
              <a:buSzPts val="1018"/>
            </a:pPr>
            <a:r>
              <a:rPr lang="en-US" sz="1100" dirty="0">
                <a:solidFill>
                  <a:schemeClr val="bg1"/>
                </a:solidFill>
              </a:rPr>
              <a:t>The </a:t>
            </a:r>
            <a:r>
              <a:rPr lang="en-US" sz="1100" b="1" dirty="0">
                <a:solidFill>
                  <a:schemeClr val="bg1"/>
                </a:solidFill>
              </a:rPr>
              <a:t>lower interest costs </a:t>
            </a:r>
            <a:r>
              <a:rPr lang="en-US" sz="1100" dirty="0">
                <a:solidFill>
                  <a:schemeClr val="bg1"/>
                </a:solidFill>
              </a:rPr>
              <a:t>of the intermediary/WB are (partially) </a:t>
            </a:r>
            <a:r>
              <a:rPr lang="en-US" sz="1100" b="1" dirty="0">
                <a:solidFill>
                  <a:schemeClr val="bg1"/>
                </a:solidFill>
              </a:rPr>
              <a:t>passed along </a:t>
            </a:r>
            <a:r>
              <a:rPr lang="en-US" sz="1100" dirty="0">
                <a:solidFill>
                  <a:schemeClr val="bg1"/>
                </a:solidFill>
              </a:rPr>
              <a:t>in reduced interest costs to the sovereign </a:t>
            </a:r>
            <a:r>
              <a:rPr lang="en-US" sz="1100" b="1" dirty="0">
                <a:solidFill>
                  <a:schemeClr val="bg1"/>
                </a:solidFill>
              </a:rPr>
              <a:t>only if sustainability performance targets are met</a:t>
            </a:r>
            <a:endParaRPr dirty="0"/>
          </a:p>
        </p:txBody>
      </p:sp>
    </p:spTree>
    <p:extLst>
      <p:ext uri="{BB962C8B-B14F-4D97-AF65-F5344CB8AC3E}">
        <p14:creationId xmlns:p14="http://schemas.microsoft.com/office/powerpoint/2010/main" val="2450033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C568FB48-0316-4879-EF92-62730FF41C31}"/>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B629B9BF-4DC0-1B03-D03D-C57205CB67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CDD27D09-23B9-81F9-91BA-15A227712A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66029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C568FB48-0316-4879-EF92-62730FF41C31}"/>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B629B9BF-4DC0-1B03-D03D-C57205CB67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CDD27D09-23B9-81F9-91BA-15A227712A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2597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E01D8CB-4F95-EFE4-54A2-E74B98B896E8}"/>
            </a:ext>
          </a:extLst>
        </p:cNvPr>
        <p:cNvGrpSpPr/>
        <p:nvPr/>
      </p:nvGrpSpPr>
      <p:grpSpPr>
        <a:xfrm>
          <a:off x="0" y="0"/>
          <a:ext cx="0" cy="0"/>
          <a:chOff x="0" y="0"/>
          <a:chExt cx="0" cy="0"/>
        </a:xfrm>
      </p:grpSpPr>
      <p:sp>
        <p:nvSpPr>
          <p:cNvPr id="219" name="Google Shape;219;g2a23badba93_1_69:notes">
            <a:extLst>
              <a:ext uri="{FF2B5EF4-FFF2-40B4-BE49-F238E27FC236}">
                <a16:creationId xmlns:a16="http://schemas.microsoft.com/office/drawing/2014/main" id="{9922BE0A-C543-4095-2A18-F66B0C55B8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a:extLst>
              <a:ext uri="{FF2B5EF4-FFF2-40B4-BE49-F238E27FC236}">
                <a16:creationId xmlns:a16="http://schemas.microsoft.com/office/drawing/2014/main" id="{655C50DE-360C-C05C-9B6A-A7EF7F3CA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58663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2378D60B-DB74-57E6-C79C-87318AA0CDB5}"/>
            </a:ext>
          </a:extLst>
        </p:cNvPr>
        <p:cNvGrpSpPr/>
        <p:nvPr/>
      </p:nvGrpSpPr>
      <p:grpSpPr>
        <a:xfrm>
          <a:off x="0" y="0"/>
          <a:ext cx="0" cy="0"/>
          <a:chOff x="0" y="0"/>
          <a:chExt cx="0" cy="0"/>
        </a:xfrm>
      </p:grpSpPr>
      <p:sp>
        <p:nvSpPr>
          <p:cNvPr id="225" name="Google Shape;225;g2a0ac66233e_1_335:notes">
            <a:extLst>
              <a:ext uri="{FF2B5EF4-FFF2-40B4-BE49-F238E27FC236}">
                <a16:creationId xmlns:a16="http://schemas.microsoft.com/office/drawing/2014/main" id="{06203255-B3A4-3B39-90F3-5025716A56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a:extLst>
              <a:ext uri="{FF2B5EF4-FFF2-40B4-BE49-F238E27FC236}">
                <a16:creationId xmlns:a16="http://schemas.microsoft.com/office/drawing/2014/main" id="{B79F1C4D-398F-6B31-F02D-C8CFB28368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09350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25F62519-CE46-1685-1273-682E9116A7A4}"/>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5D60D3F8-BFF2-5F4E-E162-69A51A7DB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D00B91D6-7DDA-3998-65CB-F281DF7587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0692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AB74FB60-1BF6-2BEB-17F6-1488CA8A15AB}"/>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40807575-47C4-4F5F-1AA3-1445265EFD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F6B3E86F-935A-0785-089D-3BB90B65B8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96146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BD53A8BE-0C2B-51C4-400E-39D5C2D40766}"/>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BC96791B-C140-C999-7215-09AEA709A9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3EA04E1F-1429-B6F0-1602-DCEEF8D602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9897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a:extLst>
            <a:ext uri="{FF2B5EF4-FFF2-40B4-BE49-F238E27FC236}">
              <a16:creationId xmlns:a16="http://schemas.microsoft.com/office/drawing/2014/main" id="{27D82F59-4859-B4B4-361D-757A4A496885}"/>
            </a:ext>
          </a:extLst>
        </p:cNvPr>
        <p:cNvGrpSpPr/>
        <p:nvPr/>
      </p:nvGrpSpPr>
      <p:grpSpPr>
        <a:xfrm>
          <a:off x="0" y="0"/>
          <a:ext cx="0" cy="0"/>
          <a:chOff x="0" y="0"/>
          <a:chExt cx="0" cy="0"/>
        </a:xfrm>
      </p:grpSpPr>
      <p:sp>
        <p:nvSpPr>
          <p:cNvPr id="301" name="Google Shape;301;g2a23badba93_1_63:notes">
            <a:extLst>
              <a:ext uri="{FF2B5EF4-FFF2-40B4-BE49-F238E27FC236}">
                <a16:creationId xmlns:a16="http://schemas.microsoft.com/office/drawing/2014/main" id="{74788324-CA66-3F61-7786-D60F11F908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a:extLst>
              <a:ext uri="{FF2B5EF4-FFF2-40B4-BE49-F238E27FC236}">
                <a16:creationId xmlns:a16="http://schemas.microsoft.com/office/drawing/2014/main" id="{FA5D7473-5C82-5BC9-CA04-1282652B8B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6813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23badba93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3875D3C9-DAB3-BD49-6F81-A39238B9DA79}"/>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1DA32A00-E202-8C6E-49DA-2B35D4F837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629E94F8-6437-7B9C-D095-B685422A5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10225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83884ABB-810E-C931-7AEF-17D6F6B0553D}"/>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E743A473-E9C3-6A0D-682E-A1E873DA6D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6D02233D-0F7F-3A8A-73FD-CBFE5A8F6B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05952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140203473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pic>
        <p:nvPicPr>
          <p:cNvPr id="9" name="Picture 8" descr="Looking up at a bamboo forest&#10;&#10;Description automatically generated">
            <a:extLst>
              <a:ext uri="{FF2B5EF4-FFF2-40B4-BE49-F238E27FC236}">
                <a16:creationId xmlns:a16="http://schemas.microsoft.com/office/drawing/2014/main" id="{B8E34BA2-ED21-1C61-8CD5-90EE59955F83}"/>
              </a:ext>
            </a:extLst>
          </p:cNvPr>
          <p:cNvPicPr>
            <a:picLocks noChangeAspect="1"/>
          </p:cNvPicPr>
          <p:nvPr userDrawn="1"/>
        </p:nvPicPr>
        <p:blipFill rotWithShape="1">
          <a:blip r:embed="rId2"/>
          <a:srcRect t="7335" b="7335"/>
          <a:stretch/>
        </p:blipFill>
        <p:spPr>
          <a:xfrm>
            <a:off x="0" y="-74882"/>
            <a:ext cx="9144000" cy="5132318"/>
          </a:xfrm>
          <a:prstGeom prst="rect">
            <a:avLst/>
          </a:prstGeom>
        </p:spPr>
      </p:pic>
      <p:sp>
        <p:nvSpPr>
          <p:cNvPr id="12" name="Manual Input 11">
            <a:extLst>
              <a:ext uri="{FF2B5EF4-FFF2-40B4-BE49-F238E27FC236}">
                <a16:creationId xmlns:a16="http://schemas.microsoft.com/office/drawing/2014/main" id="{DEC40C85-5EF0-4AA0-7953-DB75EB19E6FF}"/>
              </a:ext>
            </a:extLst>
          </p:cNvPr>
          <p:cNvSpPr/>
          <p:nvPr userDrawn="1"/>
        </p:nvSpPr>
        <p:spPr>
          <a:xfrm>
            <a:off x="-2745" y="2167666"/>
            <a:ext cx="9146744" cy="297689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3 w 10000"/>
              <a:gd name="connsiteY0" fmla="*/ 6790 h 10000"/>
              <a:gd name="connsiteX1" fmla="*/ 10000 w 10000"/>
              <a:gd name="connsiteY1" fmla="*/ 0 h 10000"/>
              <a:gd name="connsiteX2" fmla="*/ 10000 w 10000"/>
              <a:gd name="connsiteY2" fmla="*/ 10000 h 10000"/>
              <a:gd name="connsiteX3" fmla="*/ 0 w 10000"/>
              <a:gd name="connsiteY3" fmla="*/ 10000 h 10000"/>
              <a:gd name="connsiteX4" fmla="*/ 13 w 10000"/>
              <a:gd name="connsiteY4" fmla="*/ 6790 h 10000"/>
              <a:gd name="connsiteX0" fmla="*/ 13 w 10000"/>
              <a:gd name="connsiteY0" fmla="*/ 7456 h 10666"/>
              <a:gd name="connsiteX1" fmla="*/ 10000 w 10000"/>
              <a:gd name="connsiteY1" fmla="*/ 0 h 10666"/>
              <a:gd name="connsiteX2" fmla="*/ 10000 w 10000"/>
              <a:gd name="connsiteY2" fmla="*/ 10666 h 10666"/>
              <a:gd name="connsiteX3" fmla="*/ 0 w 10000"/>
              <a:gd name="connsiteY3" fmla="*/ 10666 h 10666"/>
              <a:gd name="connsiteX4" fmla="*/ 13 w 10000"/>
              <a:gd name="connsiteY4" fmla="*/ 7456 h 10666"/>
              <a:gd name="connsiteX0" fmla="*/ 0 w 10014"/>
              <a:gd name="connsiteY0" fmla="*/ 8900 h 10666"/>
              <a:gd name="connsiteX1" fmla="*/ 10014 w 10014"/>
              <a:gd name="connsiteY1" fmla="*/ 0 h 10666"/>
              <a:gd name="connsiteX2" fmla="*/ 10014 w 10014"/>
              <a:gd name="connsiteY2" fmla="*/ 10666 h 10666"/>
              <a:gd name="connsiteX3" fmla="*/ 14 w 10014"/>
              <a:gd name="connsiteY3" fmla="*/ 10666 h 10666"/>
              <a:gd name="connsiteX4" fmla="*/ 0 w 10014"/>
              <a:gd name="connsiteY4" fmla="*/ 8900 h 10666"/>
              <a:gd name="connsiteX0" fmla="*/ 0 w 10068"/>
              <a:gd name="connsiteY0" fmla="*/ 9282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282 h 10666"/>
              <a:gd name="connsiteX0" fmla="*/ 0 w 10068"/>
              <a:gd name="connsiteY0" fmla="*/ 9537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537 h 10666"/>
              <a:gd name="connsiteX0" fmla="*/ 2 w 10003"/>
              <a:gd name="connsiteY0" fmla="*/ 9410 h 10666"/>
              <a:gd name="connsiteX1" fmla="*/ 10003 w 10003"/>
              <a:gd name="connsiteY1" fmla="*/ 0 h 10666"/>
              <a:gd name="connsiteX2" fmla="*/ 10003 w 10003"/>
              <a:gd name="connsiteY2" fmla="*/ 10666 h 10666"/>
              <a:gd name="connsiteX3" fmla="*/ 3 w 10003"/>
              <a:gd name="connsiteY3" fmla="*/ 10666 h 10666"/>
              <a:gd name="connsiteX4" fmla="*/ 2 w 10003"/>
              <a:gd name="connsiteY4" fmla="*/ 9410 h 10666"/>
              <a:gd name="connsiteX0" fmla="*/ 2 w 10003"/>
              <a:gd name="connsiteY0" fmla="*/ 10599 h 11855"/>
              <a:gd name="connsiteX1" fmla="*/ 10003 w 10003"/>
              <a:gd name="connsiteY1" fmla="*/ 0 h 11855"/>
              <a:gd name="connsiteX2" fmla="*/ 10003 w 10003"/>
              <a:gd name="connsiteY2" fmla="*/ 11855 h 11855"/>
              <a:gd name="connsiteX3" fmla="*/ 3 w 10003"/>
              <a:gd name="connsiteY3" fmla="*/ 11855 h 11855"/>
              <a:gd name="connsiteX4" fmla="*/ 2 w 10003"/>
              <a:gd name="connsiteY4" fmla="*/ 10599 h 11855"/>
              <a:gd name="connsiteX0" fmla="*/ 2 w 10003"/>
              <a:gd name="connsiteY0" fmla="*/ 9070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070 h 10326"/>
              <a:gd name="connsiteX0" fmla="*/ 2 w 10003"/>
              <a:gd name="connsiteY0" fmla="*/ 9537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537 h 10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3" h="10326">
                <a:moveTo>
                  <a:pt x="2" y="9537"/>
                </a:moveTo>
                <a:lnTo>
                  <a:pt x="9990" y="0"/>
                </a:lnTo>
                <a:cubicBezTo>
                  <a:pt x="9994" y="3442"/>
                  <a:pt x="9999" y="6884"/>
                  <a:pt x="10003" y="10326"/>
                </a:cubicBezTo>
                <a:lnTo>
                  <a:pt x="3" y="10326"/>
                </a:lnTo>
                <a:cubicBezTo>
                  <a:pt x="7" y="9256"/>
                  <a:pt x="-2" y="10607"/>
                  <a:pt x="2" y="9537"/>
                </a:cubicBezTo>
                <a:close/>
              </a:path>
            </a:pathLst>
          </a:custGeom>
          <a:solidFill>
            <a:srgbClr val="042245"/>
          </a:solidFill>
          <a:ln>
            <a:solidFill>
              <a:srgbClr val="0422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Subtitle 2">
            <a:extLst>
              <a:ext uri="{FF2B5EF4-FFF2-40B4-BE49-F238E27FC236}">
                <a16:creationId xmlns:a16="http://schemas.microsoft.com/office/drawing/2014/main" id="{E53A72F4-2836-DB33-734C-BBC784C2AEFB}"/>
              </a:ext>
            </a:extLst>
          </p:cNvPr>
          <p:cNvSpPr>
            <a:spLocks noGrp="1"/>
          </p:cNvSpPr>
          <p:nvPr>
            <p:ph type="subTitle" idx="1"/>
          </p:nvPr>
        </p:nvSpPr>
        <p:spPr>
          <a:xfrm>
            <a:off x="3318782" y="3951791"/>
            <a:ext cx="5825218" cy="794828"/>
          </a:xfrm>
          <a:prstGeom prst="rect">
            <a:avLst/>
          </a:prstGeom>
        </p:spPr>
        <p:txBody>
          <a:bodyPr/>
          <a:lstStyle>
            <a:lvl1pPr marL="0" indent="0" algn="ctr">
              <a:buNone/>
              <a:defRPr sz="27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Tree>
    <p:extLst>
      <p:ext uri="{BB962C8B-B14F-4D97-AF65-F5344CB8AC3E}">
        <p14:creationId xmlns:p14="http://schemas.microsoft.com/office/powerpoint/2010/main" val="335241234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9" name="Google Shape;51;p10">
            <a:extLst>
              <a:ext uri="{FF2B5EF4-FFF2-40B4-BE49-F238E27FC236}">
                <a16:creationId xmlns:a16="http://schemas.microsoft.com/office/drawing/2014/main" id="{948C60A9-87A5-CE5C-9845-FDB9E5ADEB71}"/>
              </a:ext>
            </a:extLst>
          </p:cNvPr>
          <p:cNvSpPr/>
          <p:nvPr userDrawn="1"/>
        </p:nvSpPr>
        <p:spPr>
          <a:xfrm>
            <a:off x="4901454" y="1"/>
            <a:ext cx="4255486" cy="907676"/>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334482226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342937719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51012369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2100469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192491898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04373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48260691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verview Graphics Slide">
    <p:spTree>
      <p:nvGrpSpPr>
        <p:cNvPr id="1" name=""/>
        <p:cNvGrpSpPr/>
        <p:nvPr/>
      </p:nvGrpSpPr>
      <p:grpSpPr>
        <a:xfrm>
          <a:off x="0" y="0"/>
          <a:ext cx="0" cy="0"/>
          <a:chOff x="0" y="0"/>
          <a:chExt cx="0" cy="0"/>
        </a:xfrm>
      </p:grpSpPr>
      <p:pic>
        <p:nvPicPr>
          <p:cNvPr id="17" name="Picture 16" descr="A road through a forest&#10;&#10;Description automatically generated">
            <a:extLst>
              <a:ext uri="{FF2B5EF4-FFF2-40B4-BE49-F238E27FC236}">
                <a16:creationId xmlns:a16="http://schemas.microsoft.com/office/drawing/2014/main" id="{CE1F6373-7F0A-A7C6-B928-1B3AAEF95F0E}"/>
              </a:ext>
            </a:extLst>
          </p:cNvPr>
          <p:cNvPicPr>
            <a:picLocks noChangeAspect="1"/>
          </p:cNvPicPr>
          <p:nvPr userDrawn="1"/>
        </p:nvPicPr>
        <p:blipFill rotWithShape="1">
          <a:blip r:embed="rId2"/>
          <a:srcRect t="14977"/>
          <a:stretch/>
        </p:blipFill>
        <p:spPr>
          <a:xfrm>
            <a:off x="0" y="0"/>
            <a:ext cx="9144000" cy="5113898"/>
          </a:xfrm>
          <a:prstGeom prst="rect">
            <a:avLst/>
          </a:prstGeom>
        </p:spPr>
      </p:pic>
      <p:sp>
        <p:nvSpPr>
          <p:cNvPr id="3" name="Text Placeholder 10">
            <a:extLst>
              <a:ext uri="{FF2B5EF4-FFF2-40B4-BE49-F238E27FC236}">
                <a16:creationId xmlns:a16="http://schemas.microsoft.com/office/drawing/2014/main" id="{03C0B19E-F837-676A-6CB4-58C990C911FD}"/>
              </a:ext>
            </a:extLst>
          </p:cNvPr>
          <p:cNvSpPr>
            <a:spLocks noGrp="1"/>
          </p:cNvSpPr>
          <p:nvPr>
            <p:ph type="body" sz="quarter" idx="10"/>
          </p:nvPr>
        </p:nvSpPr>
        <p:spPr>
          <a:xfrm>
            <a:off x="906235" y="1182548"/>
            <a:ext cx="2316491" cy="458880"/>
          </a:xfrm>
          <a:prstGeom prst="rect">
            <a:avLst/>
          </a:prstGeom>
          <a:solidFill>
            <a:srgbClr val="042245"/>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4" name="Text Placeholder 10">
            <a:extLst>
              <a:ext uri="{FF2B5EF4-FFF2-40B4-BE49-F238E27FC236}">
                <a16:creationId xmlns:a16="http://schemas.microsoft.com/office/drawing/2014/main" id="{A109A92A-AC3B-E974-C248-E4B16C9F8A7B}"/>
              </a:ext>
            </a:extLst>
          </p:cNvPr>
          <p:cNvSpPr>
            <a:spLocks noGrp="1"/>
          </p:cNvSpPr>
          <p:nvPr>
            <p:ph type="body" sz="quarter" idx="11"/>
          </p:nvPr>
        </p:nvSpPr>
        <p:spPr>
          <a:xfrm>
            <a:off x="906235" y="2069027"/>
            <a:ext cx="2316491" cy="458881"/>
          </a:xfrm>
          <a:prstGeom prst="rect">
            <a:avLst/>
          </a:prstGeom>
          <a:solidFill>
            <a:srgbClr val="039384"/>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5" name="Text Placeholder 10">
            <a:extLst>
              <a:ext uri="{FF2B5EF4-FFF2-40B4-BE49-F238E27FC236}">
                <a16:creationId xmlns:a16="http://schemas.microsoft.com/office/drawing/2014/main" id="{FFEF4454-697D-C5DA-CE32-FBD3E33B0C0E}"/>
              </a:ext>
            </a:extLst>
          </p:cNvPr>
          <p:cNvSpPr>
            <a:spLocks noGrp="1"/>
          </p:cNvSpPr>
          <p:nvPr>
            <p:ph type="body" sz="quarter" idx="12"/>
          </p:nvPr>
        </p:nvSpPr>
        <p:spPr>
          <a:xfrm>
            <a:off x="906235" y="2975097"/>
            <a:ext cx="2316491" cy="458881"/>
          </a:xfrm>
          <a:prstGeom prst="rect">
            <a:avLst/>
          </a:prstGeom>
          <a:solidFill>
            <a:srgbClr val="B85641"/>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6" name="Google Shape;80;p15">
            <a:extLst>
              <a:ext uri="{FF2B5EF4-FFF2-40B4-BE49-F238E27FC236}">
                <a16:creationId xmlns:a16="http://schemas.microsoft.com/office/drawing/2014/main" id="{8E00970D-6EFC-E822-CF8D-ADF868EC3CBA}"/>
              </a:ext>
            </a:extLst>
          </p:cNvPr>
          <p:cNvSpPr/>
          <p:nvPr userDrawn="1"/>
        </p:nvSpPr>
        <p:spPr>
          <a:xfrm>
            <a:off x="3425740" y="1029616"/>
            <a:ext cx="5237528" cy="703854"/>
          </a:xfrm>
          <a:prstGeom prst="rect">
            <a:avLst/>
          </a:prstGeom>
          <a:solidFill>
            <a:srgbClr val="042245"/>
          </a:solidFill>
          <a:ln>
            <a:solidFill>
              <a:srgbClr val="042245"/>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7" name="Google Shape;80;p15">
            <a:extLst>
              <a:ext uri="{FF2B5EF4-FFF2-40B4-BE49-F238E27FC236}">
                <a16:creationId xmlns:a16="http://schemas.microsoft.com/office/drawing/2014/main" id="{87E9B779-45A0-202D-7207-228FFC03B079}"/>
              </a:ext>
            </a:extLst>
          </p:cNvPr>
          <p:cNvSpPr/>
          <p:nvPr userDrawn="1"/>
        </p:nvSpPr>
        <p:spPr>
          <a:xfrm>
            <a:off x="3425741" y="1931318"/>
            <a:ext cx="4963862" cy="703853"/>
          </a:xfrm>
          <a:prstGeom prst="rect">
            <a:avLst/>
          </a:prstGeom>
          <a:solidFill>
            <a:srgbClr val="039384"/>
          </a:solidFill>
          <a:ln>
            <a:solidFill>
              <a:srgbClr val="039384"/>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8" name="Google Shape;80;p15">
            <a:extLst>
              <a:ext uri="{FF2B5EF4-FFF2-40B4-BE49-F238E27FC236}">
                <a16:creationId xmlns:a16="http://schemas.microsoft.com/office/drawing/2014/main" id="{9E10C2D6-B777-B6B1-B17D-D96869EBA49A}"/>
              </a:ext>
            </a:extLst>
          </p:cNvPr>
          <p:cNvSpPr/>
          <p:nvPr userDrawn="1"/>
        </p:nvSpPr>
        <p:spPr>
          <a:xfrm>
            <a:off x="3425740" y="2833020"/>
            <a:ext cx="4594460" cy="703853"/>
          </a:xfrm>
          <a:prstGeom prst="rect">
            <a:avLst/>
          </a:prstGeom>
          <a:solidFill>
            <a:srgbClr val="B85641"/>
          </a:solidFill>
          <a:ln>
            <a:solidFill>
              <a:srgbClr val="B85641"/>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9" name="Text Placeholder 22">
            <a:extLst>
              <a:ext uri="{FF2B5EF4-FFF2-40B4-BE49-F238E27FC236}">
                <a16:creationId xmlns:a16="http://schemas.microsoft.com/office/drawing/2014/main" id="{36021CDE-0D58-10A2-CF59-18E36D858B25}"/>
              </a:ext>
            </a:extLst>
          </p:cNvPr>
          <p:cNvSpPr>
            <a:spLocks noGrp="1"/>
          </p:cNvSpPr>
          <p:nvPr>
            <p:ph type="body" sz="quarter" idx="14"/>
          </p:nvPr>
        </p:nvSpPr>
        <p:spPr>
          <a:xfrm>
            <a:off x="3529309" y="1090507"/>
            <a:ext cx="4957106" cy="642963"/>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B91E61A1-147C-2650-D723-8AA20C13872A}"/>
              </a:ext>
            </a:extLst>
          </p:cNvPr>
          <p:cNvSpPr>
            <a:spLocks noGrp="1"/>
          </p:cNvSpPr>
          <p:nvPr>
            <p:ph type="body" sz="quarter" idx="15"/>
          </p:nvPr>
        </p:nvSpPr>
        <p:spPr>
          <a:xfrm>
            <a:off x="3529581" y="1976363"/>
            <a:ext cx="4698224" cy="646542"/>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395EE974-9A45-84E9-EB44-6AB3A513394F}"/>
              </a:ext>
            </a:extLst>
          </p:cNvPr>
          <p:cNvSpPr>
            <a:spLocks noGrp="1"/>
          </p:cNvSpPr>
          <p:nvPr>
            <p:ph type="body" sz="quarter" idx="16"/>
          </p:nvPr>
        </p:nvSpPr>
        <p:spPr>
          <a:xfrm>
            <a:off x="3529309" y="2881266"/>
            <a:ext cx="4390659" cy="646544"/>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Google Shape;51;p10">
            <a:extLst>
              <a:ext uri="{FF2B5EF4-FFF2-40B4-BE49-F238E27FC236}">
                <a16:creationId xmlns:a16="http://schemas.microsoft.com/office/drawing/2014/main" id="{06B9471A-7F37-57BD-6368-76E00F759D8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 name="Subtitle 2">
            <a:extLst>
              <a:ext uri="{FF2B5EF4-FFF2-40B4-BE49-F238E27FC236}">
                <a16:creationId xmlns:a16="http://schemas.microsoft.com/office/drawing/2014/main" id="{888858D8-EF37-1198-F97A-FE57CDE56CBF}"/>
              </a:ext>
            </a:extLst>
          </p:cNvPr>
          <p:cNvSpPr>
            <a:spLocks noGrp="1"/>
          </p:cNvSpPr>
          <p:nvPr>
            <p:ph type="subTitle" idx="1"/>
          </p:nvPr>
        </p:nvSpPr>
        <p:spPr>
          <a:xfrm>
            <a:off x="293300" y="464473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39436363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lationship Graphic Slide">
    <p:spTree>
      <p:nvGrpSpPr>
        <p:cNvPr id="1" name=""/>
        <p:cNvGrpSpPr/>
        <p:nvPr/>
      </p:nvGrpSpPr>
      <p:grpSpPr>
        <a:xfrm>
          <a:off x="0" y="0"/>
          <a:ext cx="0" cy="0"/>
          <a:chOff x="0" y="0"/>
          <a:chExt cx="0" cy="0"/>
        </a:xfrm>
      </p:grpSpPr>
      <p:pic>
        <p:nvPicPr>
          <p:cNvPr id="26" name="Picture 25" descr="A wooden walkway in a forest&#10;&#10;Description automatically generated">
            <a:extLst>
              <a:ext uri="{FF2B5EF4-FFF2-40B4-BE49-F238E27FC236}">
                <a16:creationId xmlns:a16="http://schemas.microsoft.com/office/drawing/2014/main" id="{A6A0CCE7-9BB8-A7F1-1AA3-CD5F3E80D886}"/>
              </a:ext>
            </a:extLst>
          </p:cNvPr>
          <p:cNvPicPr>
            <a:picLocks noChangeAspect="1"/>
          </p:cNvPicPr>
          <p:nvPr userDrawn="1"/>
        </p:nvPicPr>
        <p:blipFill rotWithShape="1">
          <a:blip r:embed="rId2"/>
          <a:srcRect b="8348"/>
          <a:stretch/>
        </p:blipFill>
        <p:spPr>
          <a:xfrm>
            <a:off x="0" y="207264"/>
            <a:ext cx="9156940" cy="4936237"/>
          </a:xfrm>
          <a:prstGeom prst="rect">
            <a:avLst/>
          </a:prstGeom>
        </p:spPr>
      </p:pic>
      <p:sp>
        <p:nvSpPr>
          <p:cNvPr id="3" name="Google Shape;107;p17">
            <a:extLst>
              <a:ext uri="{FF2B5EF4-FFF2-40B4-BE49-F238E27FC236}">
                <a16:creationId xmlns:a16="http://schemas.microsoft.com/office/drawing/2014/main" id="{FA46C4F8-4911-BF44-8805-B6ED7ECBBEC5}"/>
              </a:ext>
            </a:extLst>
          </p:cNvPr>
          <p:cNvSpPr/>
          <p:nvPr userDrawn="1"/>
        </p:nvSpPr>
        <p:spPr>
          <a:xfrm rot="10800000" flipH="1">
            <a:off x="3000930" y="1733891"/>
            <a:ext cx="2737971" cy="2536184"/>
          </a:xfrm>
          <a:prstGeom prst="round2DiagRect">
            <a:avLst>
              <a:gd name="adj1" fmla="val 0"/>
              <a:gd name="adj2" fmla="val 17764"/>
            </a:avLst>
          </a:prstGeom>
          <a:solidFill>
            <a:srgbClr val="039384"/>
          </a:solidFill>
          <a:ln w="9525" cap="flat" cmpd="sng">
            <a:solidFill>
              <a:srgbClr val="039384"/>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4" name="Google Shape;111;p17">
            <a:extLst>
              <a:ext uri="{FF2B5EF4-FFF2-40B4-BE49-F238E27FC236}">
                <a16:creationId xmlns:a16="http://schemas.microsoft.com/office/drawing/2014/main" id="{2CCDE042-AE20-0F5F-46FE-A11A8C7C13E9}"/>
              </a:ext>
            </a:extLst>
          </p:cNvPr>
          <p:cNvSpPr/>
          <p:nvPr userDrawn="1"/>
        </p:nvSpPr>
        <p:spPr>
          <a:xfrm>
            <a:off x="450588" y="1733891"/>
            <a:ext cx="2579676" cy="2536184"/>
          </a:xfrm>
          <a:prstGeom prst="round2DiagRect">
            <a:avLst>
              <a:gd name="adj1" fmla="val 0"/>
              <a:gd name="adj2" fmla="val 17764"/>
            </a:avLst>
          </a:prstGeom>
          <a:solidFill>
            <a:srgbClr val="B85641"/>
          </a:solidFill>
          <a:ln w="9525" cap="flat" cmpd="sng">
            <a:solidFill>
              <a:srgbClr val="B85641"/>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5" name="Google Shape;115;p17">
            <a:extLst>
              <a:ext uri="{FF2B5EF4-FFF2-40B4-BE49-F238E27FC236}">
                <a16:creationId xmlns:a16="http://schemas.microsoft.com/office/drawing/2014/main" id="{FB31FDF0-A2C9-8024-ACBC-D4FE78A1527F}"/>
              </a:ext>
            </a:extLst>
          </p:cNvPr>
          <p:cNvSpPr/>
          <p:nvPr userDrawn="1"/>
        </p:nvSpPr>
        <p:spPr>
          <a:xfrm>
            <a:off x="5411945" y="1733891"/>
            <a:ext cx="3251586" cy="2536184"/>
          </a:xfrm>
          <a:prstGeom prst="round2DiagRect">
            <a:avLst>
              <a:gd name="adj1" fmla="val 0"/>
              <a:gd name="adj2" fmla="val 17764"/>
            </a:avLst>
          </a:prstGeom>
          <a:solidFill>
            <a:srgbClr val="042245"/>
          </a:solidFill>
          <a:ln w="9525" cap="flat" cmpd="sng">
            <a:solidFill>
              <a:srgbClr val="042245"/>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p:txBody>
      </p:sp>
      <p:grpSp>
        <p:nvGrpSpPr>
          <p:cNvPr id="6" name="Google Shape;121;p17">
            <a:extLst>
              <a:ext uri="{FF2B5EF4-FFF2-40B4-BE49-F238E27FC236}">
                <a16:creationId xmlns:a16="http://schemas.microsoft.com/office/drawing/2014/main" id="{52CD9916-4CBE-0CC8-4C11-82CEE352802B}"/>
              </a:ext>
            </a:extLst>
          </p:cNvPr>
          <p:cNvGrpSpPr/>
          <p:nvPr userDrawn="1"/>
        </p:nvGrpSpPr>
        <p:grpSpPr>
          <a:xfrm>
            <a:off x="2852545" y="2351329"/>
            <a:ext cx="285074" cy="283091"/>
            <a:chOff x="4858109" y="2631368"/>
            <a:chExt cx="316442" cy="315000"/>
          </a:xfrm>
        </p:grpSpPr>
        <p:sp>
          <p:nvSpPr>
            <p:cNvPr id="7" name="Google Shape;122;p17">
              <a:extLst>
                <a:ext uri="{FF2B5EF4-FFF2-40B4-BE49-F238E27FC236}">
                  <a16:creationId xmlns:a16="http://schemas.microsoft.com/office/drawing/2014/main" id="{CDAA877C-35E2-8BF8-5BDA-1A511BAD183E}"/>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8" name="Google Shape;123;p17">
              <a:extLst>
                <a:ext uri="{FF2B5EF4-FFF2-40B4-BE49-F238E27FC236}">
                  <a16:creationId xmlns:a16="http://schemas.microsoft.com/office/drawing/2014/main" id="{E29E2E3D-032A-5B99-6F77-C88C49A2DFFA}"/>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9" name="Text Placeholder 22">
            <a:extLst>
              <a:ext uri="{FF2B5EF4-FFF2-40B4-BE49-F238E27FC236}">
                <a16:creationId xmlns:a16="http://schemas.microsoft.com/office/drawing/2014/main" id="{9D2C1FFD-944D-C199-7072-61BF41086E38}"/>
              </a:ext>
            </a:extLst>
          </p:cNvPr>
          <p:cNvSpPr>
            <a:spLocks noGrp="1"/>
          </p:cNvSpPr>
          <p:nvPr>
            <p:ph type="body" sz="quarter" idx="10"/>
          </p:nvPr>
        </p:nvSpPr>
        <p:spPr>
          <a:xfrm>
            <a:off x="574423" y="1940719"/>
            <a:ext cx="2235758"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6072F383-773F-93E3-F6C0-96D3B38752A5}"/>
              </a:ext>
            </a:extLst>
          </p:cNvPr>
          <p:cNvSpPr>
            <a:spLocks noGrp="1"/>
          </p:cNvSpPr>
          <p:nvPr>
            <p:ph type="body" sz="quarter" idx="11"/>
          </p:nvPr>
        </p:nvSpPr>
        <p:spPr>
          <a:xfrm>
            <a:off x="3171502" y="1940719"/>
            <a:ext cx="213308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8A634037-1AFA-B4BC-E51E-CEA312A2B24F}"/>
              </a:ext>
            </a:extLst>
          </p:cNvPr>
          <p:cNvSpPr>
            <a:spLocks noGrp="1"/>
          </p:cNvSpPr>
          <p:nvPr>
            <p:ph type="body" sz="quarter" idx="12"/>
          </p:nvPr>
        </p:nvSpPr>
        <p:spPr>
          <a:xfrm>
            <a:off x="5634527" y="1940719"/>
            <a:ext cx="293504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Text Placeholder 22">
            <a:extLst>
              <a:ext uri="{FF2B5EF4-FFF2-40B4-BE49-F238E27FC236}">
                <a16:creationId xmlns:a16="http://schemas.microsoft.com/office/drawing/2014/main" id="{3CB12DFD-FC12-E008-8D0B-CB9A8180FD9A}"/>
              </a:ext>
            </a:extLst>
          </p:cNvPr>
          <p:cNvSpPr>
            <a:spLocks noGrp="1"/>
          </p:cNvSpPr>
          <p:nvPr>
            <p:ph type="body" sz="quarter" idx="13"/>
          </p:nvPr>
        </p:nvSpPr>
        <p:spPr>
          <a:xfrm>
            <a:off x="574423" y="2669736"/>
            <a:ext cx="2250896"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371600" indent="0">
              <a:buNone/>
              <a:defRPr/>
            </a:lvl5pPr>
          </a:lstStyle>
          <a:p>
            <a:pPr lvl="0"/>
            <a:r>
              <a:rPr lang="en-GB"/>
              <a:t>Click to edit Master text styles</a:t>
            </a:r>
          </a:p>
          <a:p>
            <a:pPr lvl="1"/>
            <a:r>
              <a:rPr lang="en-GB"/>
              <a:t>F</a:t>
            </a:r>
          </a:p>
          <a:p>
            <a:pPr lvl="2"/>
            <a:r>
              <a:rPr lang="en-GB"/>
              <a:t>F</a:t>
            </a:r>
          </a:p>
          <a:p>
            <a:pPr lvl="3"/>
            <a:r>
              <a:rPr lang="en-GB"/>
              <a:t>F</a:t>
            </a:r>
          </a:p>
          <a:p>
            <a:pPr lvl="4"/>
            <a:endParaRPr lang="en-GB"/>
          </a:p>
          <a:p>
            <a:pPr lvl="1"/>
            <a:endParaRPr lang="en-GB"/>
          </a:p>
          <a:p>
            <a:pPr lvl="1"/>
            <a:endParaRPr lang="en-GB"/>
          </a:p>
          <a:p>
            <a:pPr lvl="8"/>
            <a:endParaRPr lang="en-GB"/>
          </a:p>
        </p:txBody>
      </p:sp>
      <p:sp>
        <p:nvSpPr>
          <p:cNvPr id="13" name="Text Placeholder 22">
            <a:extLst>
              <a:ext uri="{FF2B5EF4-FFF2-40B4-BE49-F238E27FC236}">
                <a16:creationId xmlns:a16="http://schemas.microsoft.com/office/drawing/2014/main" id="{9BDCB9F9-7B46-0612-EFD8-D3B0996EFEA4}"/>
              </a:ext>
            </a:extLst>
          </p:cNvPr>
          <p:cNvSpPr>
            <a:spLocks noGrp="1"/>
          </p:cNvSpPr>
          <p:nvPr>
            <p:ph type="body" sz="quarter" idx="14"/>
          </p:nvPr>
        </p:nvSpPr>
        <p:spPr>
          <a:xfrm>
            <a:off x="3171503" y="2669736"/>
            <a:ext cx="2133088"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S</a:t>
            </a:r>
          </a:p>
          <a:p>
            <a:pPr lvl="2"/>
            <a:r>
              <a:rPr lang="en-GB"/>
              <a:t>S</a:t>
            </a:r>
          </a:p>
          <a:p>
            <a:pPr lvl="3"/>
            <a:r>
              <a:rPr lang="en-GB"/>
              <a:t>S</a:t>
            </a:r>
          </a:p>
          <a:p>
            <a:pPr lvl="1"/>
            <a:endParaRPr lang="en-GB"/>
          </a:p>
        </p:txBody>
      </p:sp>
      <p:grpSp>
        <p:nvGrpSpPr>
          <p:cNvPr id="14" name="Google Shape;121;p17">
            <a:extLst>
              <a:ext uri="{FF2B5EF4-FFF2-40B4-BE49-F238E27FC236}">
                <a16:creationId xmlns:a16="http://schemas.microsoft.com/office/drawing/2014/main" id="{1C459823-5EA1-51BE-1272-55DCC417EE97}"/>
              </a:ext>
            </a:extLst>
          </p:cNvPr>
          <p:cNvGrpSpPr/>
          <p:nvPr userDrawn="1"/>
        </p:nvGrpSpPr>
        <p:grpSpPr>
          <a:xfrm>
            <a:off x="5307088" y="2351268"/>
            <a:ext cx="285074" cy="283091"/>
            <a:chOff x="4858109" y="2631368"/>
            <a:chExt cx="316442" cy="315000"/>
          </a:xfrm>
        </p:grpSpPr>
        <p:sp>
          <p:nvSpPr>
            <p:cNvPr id="15" name="Google Shape;122;p17">
              <a:extLst>
                <a:ext uri="{FF2B5EF4-FFF2-40B4-BE49-F238E27FC236}">
                  <a16:creationId xmlns:a16="http://schemas.microsoft.com/office/drawing/2014/main" id="{62CBE027-9459-EBBE-2B10-D35302965124}"/>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16" name="Google Shape;123;p17">
              <a:extLst>
                <a:ext uri="{FF2B5EF4-FFF2-40B4-BE49-F238E27FC236}">
                  <a16:creationId xmlns:a16="http://schemas.microsoft.com/office/drawing/2014/main" id="{B41D7853-8DA7-F9F2-44AE-2DA5E445F193}"/>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17" name="Text Placeholder 22">
            <a:extLst>
              <a:ext uri="{FF2B5EF4-FFF2-40B4-BE49-F238E27FC236}">
                <a16:creationId xmlns:a16="http://schemas.microsoft.com/office/drawing/2014/main" id="{8737CE3B-4AC9-C5F6-530D-15F5C07B2199}"/>
              </a:ext>
            </a:extLst>
          </p:cNvPr>
          <p:cNvSpPr>
            <a:spLocks noGrp="1"/>
          </p:cNvSpPr>
          <p:nvPr>
            <p:ph type="body" sz="quarter" idx="15"/>
          </p:nvPr>
        </p:nvSpPr>
        <p:spPr>
          <a:xfrm>
            <a:off x="5634527" y="2717789"/>
            <a:ext cx="2935050" cy="1358193"/>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D</a:t>
            </a:r>
          </a:p>
          <a:p>
            <a:pPr lvl="2"/>
            <a:r>
              <a:rPr lang="en-GB"/>
              <a:t>D</a:t>
            </a:r>
          </a:p>
          <a:p>
            <a:pPr lvl="3"/>
            <a:r>
              <a:rPr lang="en-GB"/>
              <a:t>D</a:t>
            </a:r>
          </a:p>
          <a:p>
            <a:pPr lvl="0"/>
            <a:endParaRPr lang="en-GB"/>
          </a:p>
        </p:txBody>
      </p:sp>
      <p:sp>
        <p:nvSpPr>
          <p:cNvPr id="18" name="Google Shape;51;p10">
            <a:extLst>
              <a:ext uri="{FF2B5EF4-FFF2-40B4-BE49-F238E27FC236}">
                <a16:creationId xmlns:a16="http://schemas.microsoft.com/office/drawing/2014/main" id="{F293C96B-3E37-5291-2DA6-404031F56228}"/>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53944193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ptions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4542" b="9757"/>
          <a:stretch/>
        </p:blipFill>
        <p:spPr>
          <a:xfrm>
            <a:off x="0" y="-1"/>
            <a:ext cx="9144000" cy="5143501"/>
          </a:xfrm>
          <a:prstGeom prst="rect">
            <a:avLst/>
          </a:prstGeom>
        </p:spPr>
      </p:pic>
      <p:sp>
        <p:nvSpPr>
          <p:cNvPr id="3" name="Google Shape;51;p10">
            <a:extLst>
              <a:ext uri="{FF2B5EF4-FFF2-40B4-BE49-F238E27FC236}">
                <a16:creationId xmlns:a16="http://schemas.microsoft.com/office/drawing/2014/main" id="{199843A6-062D-2226-E952-6C57D99A91B9}"/>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6" name="Google Shape;339;p36">
            <a:extLst>
              <a:ext uri="{FF2B5EF4-FFF2-40B4-BE49-F238E27FC236}">
                <a16:creationId xmlns:a16="http://schemas.microsoft.com/office/drawing/2014/main" id="{10D23BDC-026D-9138-9BEA-C86C67FE5280}"/>
              </a:ext>
            </a:extLst>
          </p:cNvPr>
          <p:cNvGrpSpPr/>
          <p:nvPr userDrawn="1"/>
        </p:nvGrpSpPr>
        <p:grpSpPr>
          <a:xfrm>
            <a:off x="1769322" y="1591346"/>
            <a:ext cx="5614185" cy="754878"/>
            <a:chOff x="1492524" y="2322568"/>
            <a:chExt cx="6214597" cy="643500"/>
          </a:xfrm>
        </p:grpSpPr>
        <p:sp>
          <p:nvSpPr>
            <p:cNvPr id="7" name="Google Shape;340;p36">
              <a:extLst>
                <a:ext uri="{FF2B5EF4-FFF2-40B4-BE49-F238E27FC236}">
                  <a16:creationId xmlns:a16="http://schemas.microsoft.com/office/drawing/2014/main" id="{3FD785EB-CA04-6EE1-73AA-B3F8E38737A2}"/>
                </a:ext>
              </a:extLst>
            </p:cNvPr>
            <p:cNvSpPr/>
            <p:nvPr/>
          </p:nvSpPr>
          <p:spPr>
            <a:xfrm>
              <a:off x="3728375" y="2322568"/>
              <a:ext cx="3978746"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8" name="Google Shape;341;p36">
              <a:extLst>
                <a:ext uri="{FF2B5EF4-FFF2-40B4-BE49-F238E27FC236}">
                  <a16:creationId xmlns:a16="http://schemas.microsoft.com/office/drawing/2014/main" id="{1F029C64-2B41-C891-BC81-2B458418B65A}"/>
                </a:ext>
              </a:extLst>
            </p:cNvPr>
            <p:cNvSpPr/>
            <p:nvPr/>
          </p:nvSpPr>
          <p:spPr>
            <a:xfrm flipH="1">
              <a:off x="2139073" y="2322575"/>
              <a:ext cx="1988352"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9" name="Google Shape;342;p36">
              <a:extLst>
                <a:ext uri="{FF2B5EF4-FFF2-40B4-BE49-F238E27FC236}">
                  <a16:creationId xmlns:a16="http://schemas.microsoft.com/office/drawing/2014/main" id="{30CCFF64-A5C4-34A9-8847-C939D0C163EA}"/>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0" name="Google Shape;345;p36">
              <a:extLst>
                <a:ext uri="{FF2B5EF4-FFF2-40B4-BE49-F238E27FC236}">
                  <a16:creationId xmlns:a16="http://schemas.microsoft.com/office/drawing/2014/main" id="{9540466A-1027-4721-CC2E-6F96DFE7C346}"/>
                </a:ext>
              </a:extLst>
            </p:cNvPr>
            <p:cNvSpPr/>
            <p:nvPr/>
          </p:nvSpPr>
          <p:spPr>
            <a:xfrm>
              <a:off x="1492524" y="2322575"/>
              <a:ext cx="690000" cy="642600"/>
            </a:xfrm>
            <a:prstGeom prst="rect">
              <a:avLst/>
            </a:prstGeom>
            <a:solidFill>
              <a:srgbClr val="B85641"/>
            </a:solidFill>
            <a:ln>
              <a:solidFill>
                <a:srgbClr val="B85641"/>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01</a:t>
              </a:r>
              <a:endParaRPr sz="1950" b="1">
                <a:solidFill>
                  <a:srgbClr val="FFFFFF"/>
                </a:solidFill>
                <a:latin typeface="Merriweather" pitchFamily="2" charset="77"/>
                <a:ea typeface="Roboto Thin"/>
                <a:cs typeface="Roboto Thin"/>
                <a:sym typeface="Roboto Thin"/>
              </a:endParaRPr>
            </a:p>
          </p:txBody>
        </p:sp>
      </p:grpSp>
      <p:grpSp>
        <p:nvGrpSpPr>
          <p:cNvPr id="11" name="Google Shape;347;p36">
            <a:extLst>
              <a:ext uri="{FF2B5EF4-FFF2-40B4-BE49-F238E27FC236}">
                <a16:creationId xmlns:a16="http://schemas.microsoft.com/office/drawing/2014/main" id="{6F1D57E8-8B56-A6B3-5FCD-C322F8DDFF8B}"/>
              </a:ext>
            </a:extLst>
          </p:cNvPr>
          <p:cNvGrpSpPr/>
          <p:nvPr userDrawn="1"/>
        </p:nvGrpSpPr>
        <p:grpSpPr>
          <a:xfrm>
            <a:off x="1769323" y="2656467"/>
            <a:ext cx="5614184" cy="754712"/>
            <a:chOff x="1492526" y="2322567"/>
            <a:chExt cx="6214593" cy="643501"/>
          </a:xfrm>
        </p:grpSpPr>
        <p:sp>
          <p:nvSpPr>
            <p:cNvPr id="12" name="Google Shape;348;p36">
              <a:extLst>
                <a:ext uri="{FF2B5EF4-FFF2-40B4-BE49-F238E27FC236}">
                  <a16:creationId xmlns:a16="http://schemas.microsoft.com/office/drawing/2014/main" id="{5EA7BF30-5BB4-8141-BFDD-9A83056DF1F5}"/>
                </a:ext>
              </a:extLst>
            </p:cNvPr>
            <p:cNvSpPr/>
            <p:nvPr/>
          </p:nvSpPr>
          <p:spPr>
            <a:xfrm>
              <a:off x="3728375" y="2322568"/>
              <a:ext cx="3978744"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3" name="Google Shape;349;p36">
              <a:extLst>
                <a:ext uri="{FF2B5EF4-FFF2-40B4-BE49-F238E27FC236}">
                  <a16:creationId xmlns:a16="http://schemas.microsoft.com/office/drawing/2014/main" id="{90A238B9-C92D-D780-7073-DC9737C01217}"/>
                </a:ext>
              </a:extLst>
            </p:cNvPr>
            <p:cNvSpPr/>
            <p:nvPr/>
          </p:nvSpPr>
          <p:spPr>
            <a:xfrm flipH="1">
              <a:off x="2182525" y="2322575"/>
              <a:ext cx="1944900"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4" name="Google Shape;350;p36">
              <a:extLst>
                <a:ext uri="{FF2B5EF4-FFF2-40B4-BE49-F238E27FC236}">
                  <a16:creationId xmlns:a16="http://schemas.microsoft.com/office/drawing/2014/main" id="{AD7CE73A-B86F-A9E9-8B5C-87200AE44C06}"/>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5" name="Google Shape;353;p36">
              <a:extLst>
                <a:ext uri="{FF2B5EF4-FFF2-40B4-BE49-F238E27FC236}">
                  <a16:creationId xmlns:a16="http://schemas.microsoft.com/office/drawing/2014/main" id="{3137DD22-61A7-0540-76B9-E0B5F90BB204}"/>
                </a:ext>
              </a:extLst>
            </p:cNvPr>
            <p:cNvSpPr/>
            <p:nvPr userDrawn="1"/>
          </p:nvSpPr>
          <p:spPr>
            <a:xfrm>
              <a:off x="1492526" y="232256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02</a:t>
              </a:r>
              <a:endParaRPr sz="1950" b="1">
                <a:solidFill>
                  <a:srgbClr val="FFFFFF"/>
                </a:solidFill>
                <a:latin typeface="Merriweather" pitchFamily="2" charset="77"/>
                <a:ea typeface="Roboto Thin"/>
                <a:cs typeface="Roboto Thin"/>
                <a:sym typeface="Roboto Thin"/>
              </a:endParaRPr>
            </a:p>
          </p:txBody>
        </p:sp>
      </p:grpSp>
      <p:grpSp>
        <p:nvGrpSpPr>
          <p:cNvPr id="16" name="Google Shape;355;p36">
            <a:extLst>
              <a:ext uri="{FF2B5EF4-FFF2-40B4-BE49-F238E27FC236}">
                <a16:creationId xmlns:a16="http://schemas.microsoft.com/office/drawing/2014/main" id="{AE1C90D6-52DD-94D8-935C-E53D03951799}"/>
              </a:ext>
            </a:extLst>
          </p:cNvPr>
          <p:cNvGrpSpPr/>
          <p:nvPr userDrawn="1"/>
        </p:nvGrpSpPr>
        <p:grpSpPr>
          <a:xfrm>
            <a:off x="1774867" y="3723011"/>
            <a:ext cx="5608640" cy="753480"/>
            <a:chOff x="1477881" y="2322417"/>
            <a:chExt cx="6264182" cy="643651"/>
          </a:xfrm>
        </p:grpSpPr>
        <p:sp>
          <p:nvSpPr>
            <p:cNvPr id="17" name="Google Shape;356;p36">
              <a:extLst>
                <a:ext uri="{FF2B5EF4-FFF2-40B4-BE49-F238E27FC236}">
                  <a16:creationId xmlns:a16="http://schemas.microsoft.com/office/drawing/2014/main" id="{63AF99DD-6AC7-9C01-1356-AA3A10E73F80}"/>
                </a:ext>
              </a:extLst>
            </p:cNvPr>
            <p:cNvSpPr/>
            <p:nvPr/>
          </p:nvSpPr>
          <p:spPr>
            <a:xfrm>
              <a:off x="3728375" y="2322568"/>
              <a:ext cx="4013688"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8" name="Google Shape;357;p36">
              <a:extLst>
                <a:ext uri="{FF2B5EF4-FFF2-40B4-BE49-F238E27FC236}">
                  <a16:creationId xmlns:a16="http://schemas.microsoft.com/office/drawing/2014/main" id="{C7A132C8-E5C4-90A8-BB59-E26D80CDF326}"/>
                </a:ext>
              </a:extLst>
            </p:cNvPr>
            <p:cNvSpPr/>
            <p:nvPr/>
          </p:nvSpPr>
          <p:spPr>
            <a:xfrm flipH="1">
              <a:off x="2165068" y="2322575"/>
              <a:ext cx="1962357"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 name="Google Shape;358;p36">
              <a:extLst>
                <a:ext uri="{FF2B5EF4-FFF2-40B4-BE49-F238E27FC236}">
                  <a16:creationId xmlns:a16="http://schemas.microsoft.com/office/drawing/2014/main" id="{6EA2F57C-7C58-1652-03D9-5998EE423497}"/>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 name="Google Shape;361;p36">
              <a:extLst>
                <a:ext uri="{FF2B5EF4-FFF2-40B4-BE49-F238E27FC236}">
                  <a16:creationId xmlns:a16="http://schemas.microsoft.com/office/drawing/2014/main" id="{1FF3B7BE-60E4-E708-ED2E-CFBE2FF6B042}"/>
                </a:ext>
              </a:extLst>
            </p:cNvPr>
            <p:cNvSpPr/>
            <p:nvPr/>
          </p:nvSpPr>
          <p:spPr>
            <a:xfrm>
              <a:off x="1477881" y="232241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03</a:t>
              </a:r>
              <a:endParaRPr sz="1950" b="1">
                <a:solidFill>
                  <a:srgbClr val="FFFFFF"/>
                </a:solidFill>
                <a:latin typeface="Merriweather" pitchFamily="2" charset="77"/>
                <a:ea typeface="Roboto Thin"/>
                <a:cs typeface="Roboto Thin"/>
                <a:sym typeface="Roboto Thin"/>
              </a:endParaRPr>
            </a:p>
          </p:txBody>
        </p:sp>
      </p:grpSp>
      <p:sp>
        <p:nvSpPr>
          <p:cNvPr id="21" name="Text Placeholder 22">
            <a:extLst>
              <a:ext uri="{FF2B5EF4-FFF2-40B4-BE49-F238E27FC236}">
                <a16:creationId xmlns:a16="http://schemas.microsoft.com/office/drawing/2014/main" id="{354A4B30-33BC-24B4-89C5-0AEF29D5590A}"/>
              </a:ext>
            </a:extLst>
          </p:cNvPr>
          <p:cNvSpPr>
            <a:spLocks noGrp="1"/>
          </p:cNvSpPr>
          <p:nvPr>
            <p:ph type="body" sz="quarter" idx="10"/>
          </p:nvPr>
        </p:nvSpPr>
        <p:spPr>
          <a:xfrm>
            <a:off x="2495731" y="169133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2" name="Text Placeholder 22">
            <a:extLst>
              <a:ext uri="{FF2B5EF4-FFF2-40B4-BE49-F238E27FC236}">
                <a16:creationId xmlns:a16="http://schemas.microsoft.com/office/drawing/2014/main" id="{4CB2964B-0F75-AACD-34EF-C73A238AED60}"/>
              </a:ext>
            </a:extLst>
          </p:cNvPr>
          <p:cNvSpPr>
            <a:spLocks noGrp="1"/>
          </p:cNvSpPr>
          <p:nvPr>
            <p:ph type="body" sz="quarter" idx="11"/>
          </p:nvPr>
        </p:nvSpPr>
        <p:spPr>
          <a:xfrm>
            <a:off x="2504775" y="272829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3" name="Text Placeholder 22">
            <a:extLst>
              <a:ext uri="{FF2B5EF4-FFF2-40B4-BE49-F238E27FC236}">
                <a16:creationId xmlns:a16="http://schemas.microsoft.com/office/drawing/2014/main" id="{4FC46BC9-6AAA-4942-489F-5B39FF3C684D}"/>
              </a:ext>
            </a:extLst>
          </p:cNvPr>
          <p:cNvSpPr>
            <a:spLocks noGrp="1"/>
          </p:cNvSpPr>
          <p:nvPr>
            <p:ph type="body" sz="quarter" idx="12"/>
          </p:nvPr>
        </p:nvSpPr>
        <p:spPr>
          <a:xfrm>
            <a:off x="2532374" y="3822606"/>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4" name="Text Placeholder 22">
            <a:extLst>
              <a:ext uri="{FF2B5EF4-FFF2-40B4-BE49-F238E27FC236}">
                <a16:creationId xmlns:a16="http://schemas.microsoft.com/office/drawing/2014/main" id="{F0EF6396-B41D-A320-0DCF-0D9967280208}"/>
              </a:ext>
            </a:extLst>
          </p:cNvPr>
          <p:cNvSpPr>
            <a:spLocks noGrp="1"/>
          </p:cNvSpPr>
          <p:nvPr>
            <p:ph type="body" sz="quarter" idx="13"/>
          </p:nvPr>
        </p:nvSpPr>
        <p:spPr>
          <a:xfrm>
            <a:off x="4628111" y="1627265"/>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5" name="Text Placeholder 22">
            <a:extLst>
              <a:ext uri="{FF2B5EF4-FFF2-40B4-BE49-F238E27FC236}">
                <a16:creationId xmlns:a16="http://schemas.microsoft.com/office/drawing/2014/main" id="{B95D3D73-7F59-20F8-D53C-5FF51D31A104}"/>
              </a:ext>
            </a:extLst>
          </p:cNvPr>
          <p:cNvSpPr>
            <a:spLocks noGrp="1"/>
          </p:cNvSpPr>
          <p:nvPr>
            <p:ph type="body" sz="quarter" idx="14"/>
          </p:nvPr>
        </p:nvSpPr>
        <p:spPr>
          <a:xfrm>
            <a:off x="4628006" y="2692478"/>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6" name="Text Placeholder 22">
            <a:extLst>
              <a:ext uri="{FF2B5EF4-FFF2-40B4-BE49-F238E27FC236}">
                <a16:creationId xmlns:a16="http://schemas.microsoft.com/office/drawing/2014/main" id="{4AE2E838-E0DB-35ED-E9C6-91876CBA776A}"/>
              </a:ext>
            </a:extLst>
          </p:cNvPr>
          <p:cNvSpPr>
            <a:spLocks noGrp="1"/>
          </p:cNvSpPr>
          <p:nvPr>
            <p:ph type="body" sz="quarter" idx="15"/>
          </p:nvPr>
        </p:nvSpPr>
        <p:spPr>
          <a:xfrm>
            <a:off x="4625118" y="3758320"/>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126632241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F4A"/>
              </a:solidFill>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206510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3" r:id="rId8"/>
    <p:sldLayoutId id="2147483674" r:id="rId9"/>
    <p:sldLayoutId id="2147483669" r:id="rId10"/>
    <p:sldLayoutId id="2147483670" r:id="rId11"/>
    <p:sldLayoutId id="2147483671" r:id="rId12"/>
    <p:sldLayoutId id="2147483672" r:id="rId13"/>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4.png"/><Relationship Id="rId18" Type="http://schemas.openxmlformats.org/officeDocument/2006/relationships/image" Target="../media/image17.sv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svg"/><Relationship Id="rId17" Type="http://schemas.openxmlformats.org/officeDocument/2006/relationships/image" Target="../media/image16.png"/><Relationship Id="rId2" Type="http://schemas.openxmlformats.org/officeDocument/2006/relationships/notesSlide" Target="../notesSlides/notesSlide2.xml"/><Relationship Id="rId16" Type="http://schemas.microsoft.com/office/2007/relationships/hdphoto" Target="../media/hdphoto6.wdp"/><Relationship Id="rId1" Type="http://schemas.openxmlformats.org/officeDocument/2006/relationships/slideLayout" Target="../slideLayouts/slideLayout9.xml"/><Relationship Id="rId6" Type="http://schemas.microsoft.com/office/2007/relationships/hdphoto" Target="../media/hdphoto2.wdp"/><Relationship Id="rId11" Type="http://schemas.openxmlformats.org/officeDocument/2006/relationships/image" Target="../media/image12.png"/><Relationship Id="rId5" Type="http://schemas.openxmlformats.org/officeDocument/2006/relationships/image" Target="../media/image9.png"/><Relationship Id="rId15" Type="http://schemas.openxmlformats.org/officeDocument/2006/relationships/image" Target="../media/image15.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1.png"/><Relationship Id="rId14" Type="http://schemas.microsoft.com/office/2007/relationships/hdphoto" Target="../media/hdphoto5.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unfccc.int/sites/default/files/resource/202208101704---KAPSARC_GST%20submission_4%20August%202022.pdf"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Shape 63"/>
        <p:cNvGrpSpPr/>
        <p:nvPr/>
      </p:nvGrpSpPr>
      <p:grpSpPr>
        <a:xfrm>
          <a:off x="0" y="0"/>
          <a:ext cx="0" cy="0"/>
          <a:chOff x="0" y="0"/>
          <a:chExt cx="0" cy="0"/>
        </a:xfrm>
      </p:grpSpPr>
      <p:sp>
        <p:nvSpPr>
          <p:cNvPr id="65" name="Google Shape;65;p13"/>
          <p:cNvSpPr txBox="1">
            <a:spLocks noGrp="1"/>
          </p:cNvSpPr>
          <p:nvPr>
            <p:ph type="ctrTitle"/>
          </p:nvPr>
        </p:nvSpPr>
        <p:spPr>
          <a:xfrm>
            <a:off x="420053" y="1167491"/>
            <a:ext cx="7823835" cy="1326622"/>
          </a:xfrm>
        </p:spPr>
        <p:txBody>
          <a:bodyPr spcFirstLastPara="1" wrap="square" lIns="91425" tIns="91425" rIns="91425" bIns="91425" anchor="t" anchorCtr="0">
            <a:normAutofit fontScale="90000"/>
          </a:bodyPr>
          <a:lstStyle/>
          <a:p>
            <a:pPr lvl="0"/>
            <a:r>
              <a:rPr lang="en"/>
              <a:t>Sustainability-Linked Intermediated Debt Instruments (SLIDIs)</a:t>
            </a:r>
            <a:endParaRPr lang="en-US"/>
          </a:p>
        </p:txBody>
      </p:sp>
      <p:sp>
        <p:nvSpPr>
          <p:cNvPr id="66" name="Google Shape;66;p13"/>
          <p:cNvSpPr txBox="1">
            <a:spLocks noGrp="1"/>
          </p:cNvSpPr>
          <p:nvPr>
            <p:ph type="body" sz="quarter" idx="10"/>
          </p:nvPr>
        </p:nvSpPr>
        <p:spPr>
          <a:xfrm>
            <a:off x="5859195" y="4135901"/>
            <a:ext cx="3015726" cy="807573"/>
          </a:xfrm>
        </p:spPr>
        <p:txBody>
          <a:bodyPr spcFirstLastPara="1" wrap="square" lIns="91425" tIns="91425" rIns="91425" bIns="91425" anchor="t" anchorCtr="0">
            <a:noAutofit/>
          </a:bodyPr>
          <a:lstStyle/>
          <a:p>
            <a:pPr lvl="0"/>
            <a:r>
              <a:rPr lang="en-GB">
                <a:sym typeface="Merriweather"/>
              </a:rPr>
              <a:t>Marcello </a:t>
            </a:r>
            <a:r>
              <a:rPr lang="en-GB" err="1">
                <a:sym typeface="Merriweather"/>
              </a:rPr>
              <a:t>Estevão</a:t>
            </a:r>
            <a:endParaRPr lang="en-GB">
              <a:sym typeface="Merriweather"/>
            </a:endParaRPr>
          </a:p>
          <a:p>
            <a:pPr lvl="0"/>
            <a:r>
              <a:rPr lang="en-GB">
                <a:sym typeface="Merriweather"/>
              </a:rPr>
              <a:t>Nils (Jasper) Zimmermann</a:t>
            </a:r>
          </a:p>
          <a:p>
            <a:pPr lvl="0"/>
            <a:r>
              <a:rPr lang="en-GB">
                <a:sym typeface="Merriweather"/>
              </a:rPr>
              <a:t>Stephen Stretton</a:t>
            </a:r>
          </a:p>
        </p:txBody>
      </p:sp>
      <p:sp>
        <p:nvSpPr>
          <p:cNvPr id="2" name="Text Placeholder 3">
            <a:extLst>
              <a:ext uri="{FF2B5EF4-FFF2-40B4-BE49-F238E27FC236}">
                <a16:creationId xmlns:a16="http://schemas.microsoft.com/office/drawing/2014/main" id="{EFB93CF6-86BA-4E2F-028D-059A6CA63C41}"/>
              </a:ext>
            </a:extLst>
          </p:cNvPr>
          <p:cNvSpPr txBox="1">
            <a:spLocks/>
          </p:cNvSpPr>
          <p:nvPr/>
        </p:nvSpPr>
        <p:spPr>
          <a:xfrm>
            <a:off x="420053" y="2571750"/>
            <a:ext cx="3677494" cy="1106137"/>
          </a:xfrm>
          <a:prstGeom prst="rect">
            <a:avLst/>
          </a:prstGeom>
        </p:spPr>
        <p:txBody>
          <a:bodyPr>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solidFill>
                  <a:schemeClr val="tx1"/>
                </a:solidFill>
                <a:latin typeface="Merriweather" pitchFamily="2" charset="77"/>
                <a:ea typeface="Roboto"/>
                <a:sym typeface="Roboto"/>
              </a:rPr>
              <a:t>*Please note: these remarks are made in a </a:t>
            </a:r>
            <a:r>
              <a:rPr lang="en-US" sz="1800" b="1" dirty="0">
                <a:solidFill>
                  <a:schemeClr val="tx1"/>
                </a:solidFill>
                <a:latin typeface="Merriweather" pitchFamily="2" charset="77"/>
                <a:ea typeface="Roboto"/>
                <a:sym typeface="Roboto"/>
              </a:rPr>
              <a:t>personal capacity </a:t>
            </a:r>
            <a:r>
              <a:rPr lang="en-US" sz="1800" dirty="0">
                <a:solidFill>
                  <a:schemeClr val="tx1"/>
                </a:solidFill>
                <a:latin typeface="Merriweather" pitchFamily="2" charset="77"/>
                <a:ea typeface="Roboto"/>
                <a:sym typeface="Roboto"/>
              </a:rPr>
              <a:t>and </a:t>
            </a:r>
            <a:r>
              <a:rPr lang="en-US" sz="1800" b="1" dirty="0">
                <a:solidFill>
                  <a:schemeClr val="tx1"/>
                </a:solidFill>
                <a:latin typeface="Merriweather" pitchFamily="2" charset="77"/>
                <a:ea typeface="Roboto"/>
                <a:sym typeface="Roboto"/>
              </a:rPr>
              <a:t>do not </a:t>
            </a:r>
            <a:r>
              <a:rPr lang="en-US" sz="1800" dirty="0">
                <a:solidFill>
                  <a:schemeClr val="tx1"/>
                </a:solidFill>
                <a:latin typeface="Merriweather" pitchFamily="2" charset="77"/>
                <a:ea typeface="Roboto"/>
                <a:sym typeface="Roboto"/>
              </a:rPr>
              <a:t>represent the views of any institutions we are affiliated to</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64;p13">
            <a:extLst>
              <a:ext uri="{FF2B5EF4-FFF2-40B4-BE49-F238E27FC236}">
                <a16:creationId xmlns:a16="http://schemas.microsoft.com/office/drawing/2014/main" id="{7F312E0E-26F3-02C5-20AB-A640EBF08C2C}"/>
              </a:ext>
            </a:extLst>
          </p:cNvPr>
          <p:cNvSpPr txBox="1">
            <a:spLocks/>
          </p:cNvSpPr>
          <p:nvPr/>
        </p:nvSpPr>
        <p:spPr>
          <a:xfrm>
            <a:off x="4409974" y="265118"/>
            <a:ext cx="4629150" cy="283480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2400" dirty="0">
                <a:latin typeface="Merriweather" pitchFamily="2" charset="77"/>
                <a:sym typeface="Merriweather"/>
              </a:rPr>
              <a:t>Unlocking Private Capital to Incentivize Global Public Goods Provision:</a:t>
            </a:r>
          </a:p>
          <a:p>
            <a:pPr algn="r"/>
            <a:r>
              <a:rPr lang="en" sz="2400" dirty="0">
                <a:latin typeface="Merriweather" pitchFamily="2" charset="77"/>
                <a:sym typeface="Merriweather"/>
              </a:rPr>
              <a:t>Climate and Clean Energy Finance</a:t>
            </a:r>
            <a:endParaRPr lang="en" sz="2400" dirty="0">
              <a:latin typeface="Merriweather" pitchFamily="2" charset="77"/>
            </a:endParaRPr>
          </a:p>
        </p:txBody>
      </p:sp>
      <p:grpSp>
        <p:nvGrpSpPr>
          <p:cNvPr id="5" name="Group 4">
            <a:extLst>
              <a:ext uri="{FF2B5EF4-FFF2-40B4-BE49-F238E27FC236}">
                <a16:creationId xmlns:a16="http://schemas.microsoft.com/office/drawing/2014/main" id="{ED1B694F-8C07-BA11-02BA-618EACD161DC}"/>
              </a:ext>
            </a:extLst>
          </p:cNvPr>
          <p:cNvGrpSpPr/>
          <p:nvPr/>
        </p:nvGrpSpPr>
        <p:grpSpPr>
          <a:xfrm>
            <a:off x="350929" y="464278"/>
            <a:ext cx="3871249" cy="4212986"/>
            <a:chOff x="421113" y="509396"/>
            <a:chExt cx="3871249" cy="4212986"/>
          </a:xfrm>
        </p:grpSpPr>
        <p:sp>
          <p:nvSpPr>
            <p:cNvPr id="8" name="Rectangle 7">
              <a:extLst>
                <a:ext uri="{FF2B5EF4-FFF2-40B4-BE49-F238E27FC236}">
                  <a16:creationId xmlns:a16="http://schemas.microsoft.com/office/drawing/2014/main" id="{4DD9FAB5-6609-9A3B-A7D5-F1632BC3E50A}"/>
                </a:ext>
              </a:extLst>
            </p:cNvPr>
            <p:cNvSpPr/>
            <p:nvPr/>
          </p:nvSpPr>
          <p:spPr>
            <a:xfrm>
              <a:off x="423176" y="522984"/>
              <a:ext cx="3869186" cy="4199398"/>
            </a:xfrm>
            <a:prstGeom prst="rect">
              <a:avLst/>
            </a:prstGeom>
            <a:solidFill>
              <a:srgbClr val="FFFFFF">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66FA0F4-1539-CD12-9E11-4CBC1DEB9EA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54" b="96037" l="10000" r="90000">
                          <a14:foregroundMark x1="47097" y1="24085" x2="47097" y2="24085"/>
                          <a14:foregroundMark x1="46774" y1="6250" x2="46774" y2="6250"/>
                          <a14:foregroundMark x1="46290" y1="3354" x2="46290" y2="3354"/>
                          <a14:foregroundMark x1="45645" y1="39787" x2="45645" y2="39787"/>
                          <a14:foregroundMark x1="31290" y1="50762" x2="31290" y2="50762"/>
                          <a14:foregroundMark x1="64194" y1="55945" x2="64194" y2="55945"/>
                          <a14:foregroundMark x1="60968" y1="63872" x2="60968" y2="63872"/>
                          <a14:foregroundMark x1="70323" y1="91311" x2="70323" y2="91311"/>
                          <a14:foregroundMark x1="59032" y1="96037" x2="59032" y2="96037"/>
                          <a14:foregroundMark x1="45645" y1="69055" x2="45645" y2="69055"/>
                          <a14:foregroundMark x1="31290" y1="65701" x2="31290" y2="65701"/>
                          <a14:foregroundMark x1="23226" y1="87348" x2="23226" y2="87348"/>
                          <a14:foregroundMark x1="46774" y1="80335" x2="46774" y2="80335"/>
                          <a14:foregroundMark x1="45968" y1="87957" x2="45968" y2="87957"/>
                          <a14:foregroundMark x1="45968" y1="95274" x2="45968" y2="95274"/>
                        </a14:backgroundRemoval>
                      </a14:imgEffect>
                    </a14:imgLayer>
                  </a14:imgProps>
                </a:ext>
              </a:extLst>
            </a:blip>
            <a:stretch>
              <a:fillRect/>
            </a:stretch>
          </p:blipFill>
          <p:spPr>
            <a:xfrm>
              <a:off x="421113" y="1561951"/>
              <a:ext cx="925854" cy="979613"/>
            </a:xfrm>
            <a:prstGeom prst="rect">
              <a:avLst/>
            </a:prstGeom>
          </p:spPr>
        </p:pic>
        <p:pic>
          <p:nvPicPr>
            <p:cNvPr id="11" name="Picture 10">
              <a:extLst>
                <a:ext uri="{FF2B5EF4-FFF2-40B4-BE49-F238E27FC236}">
                  <a16:creationId xmlns:a16="http://schemas.microsoft.com/office/drawing/2014/main" id="{7B575B5D-D1DB-3090-7B98-D4982208092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684" b="90000" l="5962" r="91058">
                          <a14:foregroundMark x1="35865" y1="20886" x2="35865" y2="20886"/>
                          <a14:foregroundMark x1="50481" y1="4810" x2="50481" y2="4810"/>
                          <a14:foregroundMark x1="19904" y1="13165" x2="19904" y2="13165"/>
                          <a14:foregroundMark x1="12308" y1="35443" x2="12308" y2="35443"/>
                          <a14:foregroundMark x1="28654" y1="38987" x2="28654" y2="38987"/>
                          <a14:foregroundMark x1="11442" y1="45696" x2="11442" y2="45696"/>
                          <a14:foregroundMark x1="5962" y1="44557" x2="5962" y2="44557"/>
                          <a14:foregroundMark x1="72596" y1="34177" x2="72596" y2="34177"/>
                          <a14:foregroundMark x1="91058" y1="42152" x2="91058" y2="42152"/>
                          <a14:foregroundMark x1="78942" y1="41266" x2="78942" y2="41266"/>
                        </a14:backgroundRemoval>
                      </a14:imgEffect>
                    </a14:imgLayer>
                  </a14:imgProps>
                </a:ext>
              </a:extLst>
            </a:blip>
            <a:stretch>
              <a:fillRect/>
            </a:stretch>
          </p:blipFill>
          <p:spPr>
            <a:xfrm>
              <a:off x="2885187" y="1536533"/>
              <a:ext cx="1399533" cy="1063106"/>
            </a:xfrm>
            <a:prstGeom prst="rect">
              <a:avLst/>
            </a:prstGeom>
          </p:spPr>
        </p:pic>
        <p:sp>
          <p:nvSpPr>
            <p:cNvPr id="39" name="Bent Arrow 38">
              <a:extLst>
                <a:ext uri="{FF2B5EF4-FFF2-40B4-BE49-F238E27FC236}">
                  <a16:creationId xmlns:a16="http://schemas.microsoft.com/office/drawing/2014/main" id="{E98313EB-3E7D-F58F-DC35-6D8161F05F5E}"/>
                </a:ext>
              </a:extLst>
            </p:cNvPr>
            <p:cNvSpPr/>
            <p:nvPr/>
          </p:nvSpPr>
          <p:spPr>
            <a:xfrm flipH="1">
              <a:off x="2874913" y="1094578"/>
              <a:ext cx="1074457" cy="38268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Bent Arrow 40">
              <a:extLst>
                <a:ext uri="{FF2B5EF4-FFF2-40B4-BE49-F238E27FC236}">
                  <a16:creationId xmlns:a16="http://schemas.microsoft.com/office/drawing/2014/main" id="{693A9ECA-9D9B-A913-5A22-1CB5A4ACCAEA}"/>
                </a:ext>
              </a:extLst>
            </p:cNvPr>
            <p:cNvSpPr/>
            <p:nvPr/>
          </p:nvSpPr>
          <p:spPr>
            <a:xfrm rot="16200000" flipH="1">
              <a:off x="1114672" y="786627"/>
              <a:ext cx="382684" cy="109300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Left Arrow 42">
              <a:extLst>
                <a:ext uri="{FF2B5EF4-FFF2-40B4-BE49-F238E27FC236}">
                  <a16:creationId xmlns:a16="http://schemas.microsoft.com/office/drawing/2014/main" id="{C021C4DE-1D76-8316-5BD3-1546495099DC}"/>
                </a:ext>
              </a:extLst>
            </p:cNvPr>
            <p:cNvSpPr/>
            <p:nvPr/>
          </p:nvSpPr>
          <p:spPr>
            <a:xfrm rot="10800000">
              <a:off x="1240120" y="2263689"/>
              <a:ext cx="794253" cy="187108"/>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FEB03725-53A5-45E6-D0B1-9448AF4934F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404" b="98474" l="8753" r="94092">
                          <a14:foregroundMark x1="33589" y1="20892" x2="33589" y2="20892"/>
                          <a14:foregroundMark x1="69037" y1="21244" x2="69037" y2="21244"/>
                          <a14:foregroundMark x1="69475" y1="6338" x2="69475" y2="6338"/>
                          <a14:foregroundMark x1="54048" y1="15141" x2="54048" y2="15141"/>
                          <a14:foregroundMark x1="48687" y1="30634" x2="48687" y2="30634"/>
                          <a14:foregroundMark x1="86761" y1="12089" x2="86761" y2="12089"/>
                          <a14:foregroundMark x1="68818" y1="3638" x2="68818" y2="3638"/>
                          <a14:foregroundMark x1="91357" y1="30869" x2="91357" y2="30869"/>
                          <a14:foregroundMark x1="94201" y1="30869" x2="94201" y2="30869"/>
                          <a14:foregroundMark x1="55142" y1="15493" x2="55142" y2="15493"/>
                          <a14:foregroundMark x1="83370" y1="45775" x2="83370" y2="45775"/>
                          <a14:foregroundMark x1="69037" y1="51526" x2="69037" y2="51526"/>
                          <a14:foregroundMark x1="8862" y1="46831" x2="8862" y2="46831"/>
                          <a14:foregroundMark x1="33260" y1="92371" x2="33260" y2="92371"/>
                          <a14:foregroundMark x1="38621" y1="98474" x2="38621" y2="98474"/>
                        </a14:backgroundRemoval>
                      </a14:imgEffect>
                    </a14:imgLayer>
                  </a14:imgProps>
                </a:ext>
              </a:extLst>
            </a:blip>
            <a:stretch>
              <a:fillRect/>
            </a:stretch>
          </p:blipFill>
          <p:spPr>
            <a:xfrm>
              <a:off x="494298" y="3575827"/>
              <a:ext cx="1050898" cy="979612"/>
            </a:xfrm>
            <a:prstGeom prst="rect">
              <a:avLst/>
            </a:prstGeom>
          </p:spPr>
        </p:pic>
        <p:pic>
          <p:nvPicPr>
            <p:cNvPr id="47" name="Picture 46">
              <a:extLst>
                <a:ext uri="{FF2B5EF4-FFF2-40B4-BE49-F238E27FC236}">
                  <a16:creationId xmlns:a16="http://schemas.microsoft.com/office/drawing/2014/main" id="{151AE048-3E74-1DA2-E6D7-B1F9C298884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3802" b="96198" l="9954" r="89931">
                          <a14:foregroundMark x1="49537" y1="3917" x2="49537" y2="3917"/>
                          <a14:foregroundMark x1="39699" y1="21889" x2="39699" y2="21889"/>
                          <a14:foregroundMark x1="63194" y1="23272" x2="63194" y2="23272"/>
                          <a14:foregroundMark x1="52315" y1="35945" x2="52315" y2="35945"/>
                          <a14:foregroundMark x1="65162" y1="54954" x2="65162" y2="54954"/>
                          <a14:foregroundMark x1="33796" y1="54954" x2="33796" y2="54954"/>
                          <a14:foregroundMark x1="50231" y1="65438" x2="50231" y2="65438"/>
                          <a14:foregroundMark x1="48958" y1="90323" x2="48958" y2="90323"/>
                          <a14:foregroundMark x1="34838" y1="96198" x2="34838" y2="96198"/>
                        </a14:backgroundRemoval>
                      </a14:imgEffect>
                    </a14:imgLayer>
                  </a14:imgProps>
                </a:ext>
              </a:extLst>
            </a:blip>
            <a:stretch>
              <a:fillRect/>
            </a:stretch>
          </p:blipFill>
          <p:spPr>
            <a:xfrm>
              <a:off x="1946028" y="1908180"/>
              <a:ext cx="1005534" cy="1010189"/>
            </a:xfrm>
            <a:prstGeom prst="rect">
              <a:avLst/>
            </a:prstGeom>
          </p:spPr>
        </p:pic>
        <p:sp>
          <p:nvSpPr>
            <p:cNvPr id="49" name="Left Arrow 48">
              <a:extLst>
                <a:ext uri="{FF2B5EF4-FFF2-40B4-BE49-F238E27FC236}">
                  <a16:creationId xmlns:a16="http://schemas.microsoft.com/office/drawing/2014/main" id="{0B228882-3438-1D04-D4C7-44A6BBBE9681}"/>
                </a:ext>
              </a:extLst>
            </p:cNvPr>
            <p:cNvSpPr/>
            <p:nvPr/>
          </p:nvSpPr>
          <p:spPr>
            <a:xfrm rot="16200000">
              <a:off x="398686" y="2953029"/>
              <a:ext cx="979611" cy="199315"/>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descr="Dollar with solid fill">
              <a:extLst>
                <a:ext uri="{FF2B5EF4-FFF2-40B4-BE49-F238E27FC236}">
                  <a16:creationId xmlns:a16="http://schemas.microsoft.com/office/drawing/2014/main" id="{A8F531AF-6AAF-9A98-2EED-7E9F09C360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98462" y="963368"/>
              <a:ext cx="457200" cy="457200"/>
            </a:xfrm>
            <a:prstGeom prst="rect">
              <a:avLst/>
            </a:prstGeom>
          </p:spPr>
        </p:pic>
        <p:pic>
          <p:nvPicPr>
            <p:cNvPr id="54" name="Graphic 53" descr="Dollar with solid fill">
              <a:extLst>
                <a:ext uri="{FF2B5EF4-FFF2-40B4-BE49-F238E27FC236}">
                  <a16:creationId xmlns:a16="http://schemas.microsoft.com/office/drawing/2014/main" id="{A3B1C39B-E485-374F-0499-8ABAA07940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13476" y="963368"/>
              <a:ext cx="457200" cy="457200"/>
            </a:xfrm>
            <a:prstGeom prst="rect">
              <a:avLst/>
            </a:prstGeom>
          </p:spPr>
        </p:pic>
        <p:pic>
          <p:nvPicPr>
            <p:cNvPr id="55" name="Graphic 54" descr="Dollar with solid fill">
              <a:extLst>
                <a:ext uri="{FF2B5EF4-FFF2-40B4-BE49-F238E27FC236}">
                  <a16:creationId xmlns:a16="http://schemas.microsoft.com/office/drawing/2014/main" id="{9E78C8DB-D9CE-12A8-1E31-EAF518B339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60246" y="958713"/>
              <a:ext cx="457200" cy="457200"/>
            </a:xfrm>
            <a:prstGeom prst="rect">
              <a:avLst/>
            </a:prstGeom>
          </p:spPr>
        </p:pic>
        <p:pic>
          <p:nvPicPr>
            <p:cNvPr id="56" name="Graphic 55" descr="Dollar with solid fill">
              <a:extLst>
                <a:ext uri="{FF2B5EF4-FFF2-40B4-BE49-F238E27FC236}">
                  <a16:creationId xmlns:a16="http://schemas.microsoft.com/office/drawing/2014/main" id="{A907563B-8E64-A694-FBB2-7F7F42097FC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9767" y="963368"/>
              <a:ext cx="457200" cy="457200"/>
            </a:xfrm>
            <a:prstGeom prst="rect">
              <a:avLst/>
            </a:prstGeom>
          </p:spPr>
        </p:pic>
        <p:pic>
          <p:nvPicPr>
            <p:cNvPr id="58" name="Graphic 57" descr="Dollar with solid fill">
              <a:extLst>
                <a:ext uri="{FF2B5EF4-FFF2-40B4-BE49-F238E27FC236}">
                  <a16:creationId xmlns:a16="http://schemas.microsoft.com/office/drawing/2014/main" id="{1B1CEDF2-EA88-6580-CD0C-4431E573F4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85163" y="2114845"/>
              <a:ext cx="457200" cy="457200"/>
            </a:xfrm>
            <a:prstGeom prst="rect">
              <a:avLst/>
            </a:prstGeom>
          </p:spPr>
        </p:pic>
        <p:pic>
          <p:nvPicPr>
            <p:cNvPr id="59" name="Graphic 58" descr="Dollar with solid fill">
              <a:extLst>
                <a:ext uri="{FF2B5EF4-FFF2-40B4-BE49-F238E27FC236}">
                  <a16:creationId xmlns:a16="http://schemas.microsoft.com/office/drawing/2014/main" id="{50189246-675B-B16A-FAC1-966E896D86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648288" y="2747093"/>
              <a:ext cx="457200" cy="457200"/>
            </a:xfrm>
            <a:prstGeom prst="rect">
              <a:avLst/>
            </a:prstGeom>
          </p:spPr>
        </p:pic>
        <p:pic>
          <p:nvPicPr>
            <p:cNvPr id="62" name="Picture 61">
              <a:extLst>
                <a:ext uri="{FF2B5EF4-FFF2-40B4-BE49-F238E27FC236}">
                  <a16:creationId xmlns:a16="http://schemas.microsoft.com/office/drawing/2014/main" id="{BF3BB0D3-893A-2876-6C8C-410549858BA3}"/>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5913" b="96658" l="4961" r="96345">
                          <a14:foregroundMark x1="29373" y1="37018" x2="29373" y2="37018"/>
                          <a14:foregroundMark x1="96475" y1="6041" x2="96475" y2="6041"/>
                          <a14:foregroundMark x1="70366" y1="24165" x2="70366" y2="24165"/>
                          <a14:foregroundMark x1="58225" y1="39203" x2="58225" y2="39203"/>
                          <a14:foregroundMark x1="18016" y1="49229" x2="18016" y2="49229"/>
                          <a14:foregroundMark x1="18668" y1="47943" x2="18668" y2="47943"/>
                          <a14:foregroundMark x1="66580" y1="45887" x2="66580" y2="45887"/>
                          <a14:foregroundMark x1="5091" y1="88946" x2="5091" y2="88946"/>
                          <a14:foregroundMark x1="5483" y1="96658" x2="5483" y2="96658"/>
                        </a14:backgroundRemoval>
                      </a14:imgEffect>
                    </a14:imgLayer>
                  </a14:imgProps>
                </a:ext>
              </a:extLst>
            </a:blip>
            <a:stretch>
              <a:fillRect/>
            </a:stretch>
          </p:blipFill>
          <p:spPr>
            <a:xfrm>
              <a:off x="2451348" y="3619902"/>
              <a:ext cx="1016328" cy="990588"/>
            </a:xfrm>
            <a:prstGeom prst="rect">
              <a:avLst/>
            </a:prstGeom>
          </p:spPr>
        </p:pic>
        <p:sp>
          <p:nvSpPr>
            <p:cNvPr id="63" name="Bent Arrow 62">
              <a:extLst>
                <a:ext uri="{FF2B5EF4-FFF2-40B4-BE49-F238E27FC236}">
                  <a16:creationId xmlns:a16="http://schemas.microsoft.com/office/drawing/2014/main" id="{C546FA98-C57F-7885-CA27-2F6060083432}"/>
                </a:ext>
              </a:extLst>
            </p:cNvPr>
            <p:cNvSpPr/>
            <p:nvPr/>
          </p:nvSpPr>
          <p:spPr>
            <a:xfrm rot="5400000" flipH="1">
              <a:off x="2969568" y="3153571"/>
              <a:ext cx="1480522" cy="352607"/>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4" name="Graphic 1023" descr="Dollar with solid fill">
              <a:extLst>
                <a:ext uri="{FF2B5EF4-FFF2-40B4-BE49-F238E27FC236}">
                  <a16:creationId xmlns:a16="http://schemas.microsoft.com/office/drawing/2014/main" id="{4D272CA9-EA9B-9129-4B84-5B572E774B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7467" y="2687839"/>
              <a:ext cx="457200" cy="457200"/>
            </a:xfrm>
            <a:prstGeom prst="rect">
              <a:avLst/>
            </a:prstGeom>
          </p:spPr>
        </p:pic>
        <p:pic>
          <p:nvPicPr>
            <p:cNvPr id="1025" name="Graphic 1024" descr="Dollar with solid fill">
              <a:extLst>
                <a:ext uri="{FF2B5EF4-FFF2-40B4-BE49-F238E27FC236}">
                  <a16:creationId xmlns:a16="http://schemas.microsoft.com/office/drawing/2014/main" id="{376DB6A0-07B1-DDD1-FFF3-3859E9A597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2988741"/>
              <a:ext cx="457200" cy="457200"/>
            </a:xfrm>
            <a:prstGeom prst="rect">
              <a:avLst/>
            </a:prstGeom>
          </p:spPr>
        </p:pic>
        <p:sp>
          <p:nvSpPr>
            <p:cNvPr id="1027" name="Left Arrow 1026">
              <a:extLst>
                <a:ext uri="{FF2B5EF4-FFF2-40B4-BE49-F238E27FC236}">
                  <a16:creationId xmlns:a16="http://schemas.microsoft.com/office/drawing/2014/main" id="{72AC7949-DC99-75C1-6B58-10695B9D7475}"/>
                </a:ext>
              </a:extLst>
            </p:cNvPr>
            <p:cNvSpPr/>
            <p:nvPr/>
          </p:nvSpPr>
          <p:spPr>
            <a:xfrm rot="10800000">
              <a:off x="1541442" y="4182223"/>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Dollar with solid fill">
              <a:extLst>
                <a:ext uri="{FF2B5EF4-FFF2-40B4-BE49-F238E27FC236}">
                  <a16:creationId xmlns:a16="http://schemas.microsoft.com/office/drawing/2014/main" id="{780FEBB9-A3A4-5FFA-CFFF-FD3A433F57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3294048"/>
              <a:ext cx="457200" cy="457200"/>
            </a:xfrm>
            <a:prstGeom prst="rect">
              <a:avLst/>
            </a:prstGeom>
          </p:spPr>
        </p:pic>
        <p:pic>
          <p:nvPicPr>
            <p:cNvPr id="3" name="Picture 2">
              <a:extLst>
                <a:ext uri="{FF2B5EF4-FFF2-40B4-BE49-F238E27FC236}">
                  <a16:creationId xmlns:a16="http://schemas.microsoft.com/office/drawing/2014/main" id="{4F03F7BF-8314-20A6-0E78-6AF30A16F9C7}"/>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5598" b="96947" l="6595" r="92326">
                          <a14:foregroundMark x1="36451" y1="13486" x2="36451" y2="13486"/>
                          <a14:foregroundMark x1="27218" y1="5598" x2="27218" y2="5598"/>
                          <a14:foregroundMark x1="87530" y1="36768" x2="87530" y2="36768"/>
                          <a14:foregroundMark x1="10312" y1="35751" x2="10312" y2="35751"/>
                          <a14:foregroundMark x1="6595" y1="31934" x2="6595" y2="31934"/>
                          <a14:foregroundMark x1="92446" y1="33079" x2="92446" y2="33079"/>
                          <a14:foregroundMark x1="53717" y1="96947" x2="53717" y2="96947"/>
                          <a14:foregroundMark x1="41607" y1="64377" x2="41607" y2="64377"/>
                          <a14:foregroundMark x1="34053" y1="61196" x2="34053" y2="61196"/>
                          <a14:foregroundMark x1="31415" y1="61196" x2="31415" y2="61196"/>
                          <a14:foregroundMark x1="30815" y1="52672" x2="30815" y2="52672"/>
                          <a14:foregroundMark x1="68585" y1="50509" x2="68585" y2="50509"/>
                          <a14:foregroundMark x1="68465" y1="59033" x2="68465" y2="59033"/>
                          <a14:foregroundMark x1="67866" y1="68066" x2="67866" y2="68066"/>
                          <a14:foregroundMark x1="67626" y1="76209" x2="67626" y2="76209"/>
                          <a14:foregroundMark x1="19664" y1="44784" x2="19664" y2="44784"/>
                          <a14:backgroundMark x1="39329" y1="56616" x2="39329" y2="56616"/>
                          <a14:backgroundMark x1="39928" y1="63486" x2="39928" y2="63486"/>
                          <a14:backgroundMark x1="46043" y1="62977" x2="46043" y2="62977"/>
                          <a14:backgroundMark x1="40288" y1="69720" x2="40288" y2="69720"/>
                          <a14:backgroundMark x1="27458" y1="85242" x2="27458" y2="85242"/>
                          <a14:backgroundMark x1="71343" y1="85496" x2="71343" y2="85496"/>
                          <a14:backgroundMark x1="33333" y1="63995" x2="33333" y2="63995"/>
                        </a14:backgroundRemoval>
                      </a14:imgEffect>
                    </a14:imgLayer>
                  </a14:imgProps>
                </a:ext>
              </a:extLst>
            </a:blip>
            <a:stretch>
              <a:fillRect/>
            </a:stretch>
          </p:blipFill>
          <p:spPr>
            <a:xfrm>
              <a:off x="1626616" y="3057986"/>
              <a:ext cx="777092" cy="732367"/>
            </a:xfrm>
            <a:prstGeom prst="rect">
              <a:avLst/>
            </a:prstGeom>
          </p:spPr>
        </p:pic>
        <p:sp>
          <p:nvSpPr>
            <p:cNvPr id="4" name="Left Arrow 3">
              <a:extLst>
                <a:ext uri="{FF2B5EF4-FFF2-40B4-BE49-F238E27FC236}">
                  <a16:creationId xmlns:a16="http://schemas.microsoft.com/office/drawing/2014/main" id="{4BA73D33-C7D5-4048-4ACA-4905AB1E2F9D}"/>
                </a:ext>
              </a:extLst>
            </p:cNvPr>
            <p:cNvSpPr/>
            <p:nvPr/>
          </p:nvSpPr>
          <p:spPr>
            <a:xfrm rot="13829328">
              <a:off x="1031524" y="2781264"/>
              <a:ext cx="754242" cy="161574"/>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ollar with solid fill">
              <a:extLst>
                <a:ext uri="{FF2B5EF4-FFF2-40B4-BE49-F238E27FC236}">
                  <a16:creationId xmlns:a16="http://schemas.microsoft.com/office/drawing/2014/main" id="{0A74C8DE-496B-430E-D32F-B0EF37F64B1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3165798">
              <a:off x="1160419" y="2576541"/>
              <a:ext cx="457200" cy="457200"/>
            </a:xfrm>
            <a:prstGeom prst="rect">
              <a:avLst/>
            </a:prstGeom>
          </p:spPr>
        </p:pic>
        <p:sp>
          <p:nvSpPr>
            <p:cNvPr id="13" name="Left Arrow 12">
              <a:extLst>
                <a:ext uri="{FF2B5EF4-FFF2-40B4-BE49-F238E27FC236}">
                  <a16:creationId xmlns:a16="http://schemas.microsoft.com/office/drawing/2014/main" id="{AC01B8E9-7BEF-3075-65F8-068A34831BCA}"/>
                </a:ext>
              </a:extLst>
            </p:cNvPr>
            <p:cNvSpPr/>
            <p:nvPr/>
          </p:nvSpPr>
          <p:spPr>
            <a:xfrm rot="10800000">
              <a:off x="1545196" y="4342236"/>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Unlock with solid fill">
              <a:extLst>
                <a:ext uri="{FF2B5EF4-FFF2-40B4-BE49-F238E27FC236}">
                  <a16:creationId xmlns:a16="http://schemas.microsoft.com/office/drawing/2014/main" id="{1289E1F2-52B9-F750-F2E0-DC3BDAF3ECE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03224" y="509396"/>
              <a:ext cx="1334611" cy="1334611"/>
            </a:xfrm>
            <a:prstGeom prst="rect">
              <a:avLst/>
            </a:prstGeom>
          </p:spPr>
        </p:pic>
        <p:pic>
          <p:nvPicPr>
            <p:cNvPr id="18" name="Graphic 17" descr="Dollar with solid fill">
              <a:extLst>
                <a:ext uri="{FF2B5EF4-FFF2-40B4-BE49-F238E27FC236}">
                  <a16:creationId xmlns:a16="http://schemas.microsoft.com/office/drawing/2014/main" id="{74DB2BFB-1A5A-C60F-B97E-3F98BD30712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5152" y="3575827"/>
              <a:ext cx="457200" cy="457200"/>
            </a:xfrm>
            <a:prstGeom prst="rect">
              <a:avLst/>
            </a:prstGeom>
          </p:spPr>
        </p:pic>
      </p:grpSp>
    </p:spTree>
    <p:extLst>
      <p:ext uri="{BB962C8B-B14F-4D97-AF65-F5344CB8AC3E}">
        <p14:creationId xmlns:p14="http://schemas.microsoft.com/office/powerpoint/2010/main" val="226928260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Subtitle 2">
            <a:extLst>
              <a:ext uri="{FF2B5EF4-FFF2-40B4-BE49-F238E27FC236}">
                <a16:creationId xmlns:a16="http://schemas.microsoft.com/office/drawing/2014/main" id="{05240FCA-0859-01A2-00C6-B59F955E3804}"/>
              </a:ext>
            </a:extLst>
          </p:cNvPr>
          <p:cNvSpPr>
            <a:spLocks noGrp="1"/>
          </p:cNvSpPr>
          <p:nvPr>
            <p:ph type="subTitle" idx="1"/>
          </p:nvPr>
        </p:nvSpPr>
        <p:spPr>
          <a:xfrm>
            <a:off x="5012393" y="396345"/>
            <a:ext cx="3684662" cy="481076"/>
          </a:xfrm>
        </p:spPr>
        <p:txBody>
          <a:bodyPr>
            <a:normAutofit fontScale="92500" lnSpcReduction="20000"/>
          </a:bodyPr>
          <a:lstStyle/>
          <a:p>
            <a:r>
              <a:rPr lang="en-US"/>
              <a:t>Contents</a:t>
            </a:r>
          </a:p>
        </p:txBody>
      </p:sp>
      <p:sp>
        <p:nvSpPr>
          <p:cNvPr id="72" name="Google Shape;72;p14"/>
          <p:cNvSpPr txBox="1">
            <a:spLocks noGrp="1"/>
          </p:cNvSpPr>
          <p:nvPr>
            <p:ph type="body" sz="quarter" idx="11"/>
          </p:nvPr>
        </p:nvSpPr>
        <p:spPr>
          <a:xfrm>
            <a:off x="5012393" y="1007877"/>
            <a:ext cx="3953434" cy="3984344"/>
          </a:xfrm>
        </p:spPr>
        <p:txBody>
          <a:bodyPr spcFirstLastPara="1" wrap="square" lIns="91425" tIns="91425" rIns="91425" bIns="91425" anchor="t" anchorCtr="0">
            <a:noAutofit/>
          </a:bodyPr>
          <a:lstStyle/>
          <a:p>
            <a:pPr marL="401638" indent="-401638">
              <a:spcAft>
                <a:spcPts val="600"/>
              </a:spcAft>
            </a:pPr>
            <a:r>
              <a:rPr lang="en-GB" b="1" dirty="0">
                <a:sym typeface="Merriweather"/>
              </a:rPr>
              <a:t>Investment Gap: </a:t>
            </a:r>
            <a:r>
              <a:rPr lang="en-GB" dirty="0">
                <a:sym typeface="Merriweather"/>
              </a:rPr>
              <a:t>Why SLIDIs?</a:t>
            </a:r>
          </a:p>
          <a:p>
            <a:pPr marL="401638" indent="-401638">
              <a:spcAft>
                <a:spcPts val="600"/>
              </a:spcAft>
            </a:pPr>
            <a:r>
              <a:rPr lang="en-GB" b="1" dirty="0">
                <a:sym typeface="Merriweather"/>
              </a:rPr>
              <a:t>Sustainability-Linked-Bonds:</a:t>
            </a:r>
            <a:r>
              <a:rPr lang="en-GB" dirty="0">
                <a:sym typeface="Merriweather"/>
              </a:rPr>
              <a:t> Basic Concept &amp; Shortcomings</a:t>
            </a:r>
          </a:p>
          <a:p>
            <a:pPr marL="401638" indent="-401638">
              <a:spcAft>
                <a:spcPts val="600"/>
              </a:spcAft>
            </a:pPr>
            <a:r>
              <a:rPr lang="en-GB" b="1" noProof="0" dirty="0">
                <a:sym typeface="Merriweather"/>
              </a:rPr>
              <a:t>SLIDIs: </a:t>
            </a:r>
            <a:r>
              <a:rPr lang="en-GB" noProof="0" dirty="0">
                <a:sym typeface="Merriweather"/>
              </a:rPr>
              <a:t>Basic Concept</a:t>
            </a:r>
            <a:endParaRPr lang="en-GB" dirty="0">
              <a:solidFill>
                <a:schemeClr val="dk2"/>
              </a:solidFill>
            </a:endParaRPr>
          </a:p>
          <a:p>
            <a:pPr marL="401638" indent="-401638">
              <a:spcAft>
                <a:spcPts val="600"/>
              </a:spcAft>
            </a:pPr>
            <a:r>
              <a:rPr lang="en-GB" b="1" dirty="0">
                <a:sym typeface="Merriweather"/>
              </a:rPr>
              <a:t>Option One: </a:t>
            </a:r>
            <a:r>
              <a:rPr lang="en-GB" dirty="0">
                <a:sym typeface="Merriweather"/>
              </a:rPr>
              <a:t>WB Side Payments</a:t>
            </a:r>
          </a:p>
          <a:p>
            <a:pPr marL="401638" indent="-401638">
              <a:spcAft>
                <a:spcPts val="600"/>
              </a:spcAft>
            </a:pPr>
            <a:r>
              <a:rPr lang="en-GB" b="1" dirty="0">
                <a:sym typeface="Merriweather"/>
              </a:rPr>
              <a:t>Option Two: </a:t>
            </a:r>
            <a:r>
              <a:rPr lang="en-GB" dirty="0">
                <a:sym typeface="Merriweather"/>
              </a:rPr>
              <a:t>Trusted Intermediary</a:t>
            </a:r>
            <a:r>
              <a:rPr lang="en-GB" b="1" dirty="0">
                <a:sym typeface="Merriweather"/>
              </a:rPr>
              <a:t>	</a:t>
            </a:r>
          </a:p>
          <a:p>
            <a:pPr marL="401638" indent="-401638">
              <a:spcAft>
                <a:spcPts val="600"/>
              </a:spcAft>
            </a:pPr>
            <a:r>
              <a:rPr lang="en-GB" b="1" noProof="0" dirty="0">
                <a:sym typeface="Merriweather"/>
              </a:rPr>
              <a:t>Development Partner Role</a:t>
            </a:r>
          </a:p>
          <a:p>
            <a:pPr marL="401638" indent="-401638">
              <a:spcAft>
                <a:spcPts val="600"/>
              </a:spcAft>
            </a:pPr>
            <a:r>
              <a:rPr lang="en-GB" b="1" dirty="0">
                <a:sym typeface="Merriweather"/>
              </a:rPr>
              <a:t>Structuring KPIs</a:t>
            </a:r>
            <a:endParaRPr lang="en-GB" b="1" noProof="0" dirty="0">
              <a:sym typeface="Merriweather"/>
            </a:endParaRPr>
          </a:p>
          <a:p>
            <a:pPr marL="401638" indent="-401638">
              <a:spcAft>
                <a:spcPts val="600"/>
              </a:spcAft>
            </a:pPr>
            <a:r>
              <a:rPr lang="en-GB" b="1" noProof="0" dirty="0">
                <a:sym typeface="Merriweather"/>
              </a:rPr>
              <a:t>Conclusions</a:t>
            </a:r>
            <a:endParaRPr lang="en-US" dirty="0"/>
          </a:p>
          <a:p>
            <a:pPr lvl="0"/>
            <a:endParaRPr lang="en-US" dirty="0"/>
          </a:p>
          <a:p>
            <a:endParaRPr lang="en-US" dirty="0"/>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2" name="Subtitle 1">
            <a:extLst>
              <a:ext uri="{FF2B5EF4-FFF2-40B4-BE49-F238E27FC236}">
                <a16:creationId xmlns:a16="http://schemas.microsoft.com/office/drawing/2014/main" id="{83834CDD-F0FC-C4F8-80B4-80A7B9032932}"/>
              </a:ext>
            </a:extLst>
          </p:cNvPr>
          <p:cNvSpPr>
            <a:spLocks noGrp="1"/>
          </p:cNvSpPr>
          <p:nvPr>
            <p:ph type="subTitle" idx="1"/>
          </p:nvPr>
        </p:nvSpPr>
        <p:spPr/>
        <p:txBody>
          <a:bodyPr>
            <a:normAutofit/>
          </a:bodyPr>
          <a:lstStyle/>
          <a:p>
            <a:r>
              <a:rPr lang="en-US"/>
              <a:t>Why SLIDIs?</a:t>
            </a:r>
          </a:p>
        </p:txBody>
      </p:sp>
    </p:spTree>
    <p:extLst>
      <p:ext uri="{BB962C8B-B14F-4D97-AF65-F5344CB8AC3E}">
        <p14:creationId xmlns:p14="http://schemas.microsoft.com/office/powerpoint/2010/main" val="70190844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94730F-BAEC-E9AF-D4E7-F19A30FFDBBE}"/>
              </a:ext>
            </a:extLst>
          </p:cNvPr>
          <p:cNvSpPr>
            <a:spLocks noGrp="1"/>
          </p:cNvSpPr>
          <p:nvPr>
            <p:ph type="body" sz="quarter" idx="10"/>
          </p:nvPr>
        </p:nvSpPr>
        <p:spPr/>
        <p:txBody>
          <a:bodyPr/>
          <a:lstStyle/>
          <a:p>
            <a:endParaRPr lang="en-US" dirty="0"/>
          </a:p>
        </p:txBody>
      </p:sp>
      <p:sp>
        <p:nvSpPr>
          <p:cNvPr id="3" name="Text Placeholder 2">
            <a:extLst>
              <a:ext uri="{FF2B5EF4-FFF2-40B4-BE49-F238E27FC236}">
                <a16:creationId xmlns:a16="http://schemas.microsoft.com/office/drawing/2014/main" id="{5594F5E3-4F22-A0DE-FCF5-3EDACAD767B4}"/>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57D302B9-26E8-0A92-89C1-5EE7CD3A0C5B}"/>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A1C98D13-FE5D-6E5C-C343-7DCCD8590182}"/>
              </a:ext>
            </a:extLst>
          </p:cNvPr>
          <p:cNvSpPr>
            <a:spLocks noGrp="1"/>
          </p:cNvSpPr>
          <p:nvPr>
            <p:ph type="body" sz="quarter" idx="13"/>
          </p:nvPr>
        </p:nvSpPr>
        <p:spPr/>
        <p:txBody>
          <a:bodyPr/>
          <a:lstStyle/>
          <a:p>
            <a:endParaRPr lang="en-US"/>
          </a:p>
        </p:txBody>
      </p:sp>
      <p:sp>
        <p:nvSpPr>
          <p:cNvPr id="6" name="Text Placeholder 5">
            <a:extLst>
              <a:ext uri="{FF2B5EF4-FFF2-40B4-BE49-F238E27FC236}">
                <a16:creationId xmlns:a16="http://schemas.microsoft.com/office/drawing/2014/main" id="{8D4D1D9A-3AF2-18D2-B6C6-3B1DB103A6E7}"/>
              </a:ext>
            </a:extLst>
          </p:cNvPr>
          <p:cNvSpPr>
            <a:spLocks noGrp="1"/>
          </p:cNvSpPr>
          <p:nvPr>
            <p:ph type="body" sz="quarter" idx="14"/>
          </p:nvPr>
        </p:nvSpPr>
        <p:spPr/>
        <p:txBody>
          <a:bodyPr/>
          <a:lstStyle/>
          <a:p>
            <a:endParaRPr lang="en-US"/>
          </a:p>
        </p:txBody>
      </p:sp>
      <p:sp>
        <p:nvSpPr>
          <p:cNvPr id="7" name="Text Placeholder 6">
            <a:extLst>
              <a:ext uri="{FF2B5EF4-FFF2-40B4-BE49-F238E27FC236}">
                <a16:creationId xmlns:a16="http://schemas.microsoft.com/office/drawing/2014/main" id="{D4F2BFE4-A48A-E088-D71E-4514A470EA06}"/>
              </a:ext>
            </a:extLst>
          </p:cNvPr>
          <p:cNvSpPr>
            <a:spLocks noGrp="1"/>
          </p:cNvSpPr>
          <p:nvPr>
            <p:ph type="body" sz="quarter" idx="15"/>
          </p:nvPr>
        </p:nvSpPr>
        <p:spPr/>
        <p:txBody>
          <a:bodyPr/>
          <a:lstStyle/>
          <a:p>
            <a:endParaRPr lang="en-US"/>
          </a:p>
        </p:txBody>
      </p:sp>
      <p:sp>
        <p:nvSpPr>
          <p:cNvPr id="8" name="Subtitle 7">
            <a:extLst>
              <a:ext uri="{FF2B5EF4-FFF2-40B4-BE49-F238E27FC236}">
                <a16:creationId xmlns:a16="http://schemas.microsoft.com/office/drawing/2014/main" id="{1F390E43-11F6-B5BF-A57E-42F67C5B8FA4}"/>
              </a:ext>
            </a:extLst>
          </p:cNvPr>
          <p:cNvSpPr>
            <a:spLocks noGrp="1"/>
          </p:cNvSpPr>
          <p:nvPr>
            <p:ph type="subTitle" idx="1"/>
          </p:nvPr>
        </p:nvSpPr>
        <p:spPr/>
        <p:txBody>
          <a:bodyPr>
            <a:normAutofit fontScale="92500" lnSpcReduction="20000"/>
          </a:bodyPr>
          <a:lstStyle/>
          <a:p>
            <a:r>
              <a:rPr lang="en-US" dirty="0"/>
              <a:t>What are Sustainability-Linked Intermediated Debt Instruments?</a:t>
            </a:r>
          </a:p>
        </p:txBody>
      </p:sp>
    </p:spTree>
    <p:extLst>
      <p:ext uri="{BB962C8B-B14F-4D97-AF65-F5344CB8AC3E}">
        <p14:creationId xmlns:p14="http://schemas.microsoft.com/office/powerpoint/2010/main" val="292226354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3CEE80-013E-9507-0991-F6F534C6D47E}"/>
              </a:ext>
            </a:extLst>
          </p:cNvPr>
          <p:cNvSpPr/>
          <p:nvPr/>
        </p:nvSpPr>
        <p:spPr>
          <a:xfrm>
            <a:off x="213973" y="1547713"/>
            <a:ext cx="8694800" cy="3278252"/>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293300" y="554416"/>
            <a:ext cx="8557402" cy="481076"/>
          </a:xfrm>
        </p:spPr>
        <p:txBody>
          <a:bodyPr spcFirstLastPara="1" wrap="square" lIns="91425" tIns="91425" rIns="91425" bIns="91425" anchor="t" anchorCtr="0">
            <a:normAutofit fontScale="77500" lnSpcReduction="20000"/>
          </a:bodyPr>
          <a:lstStyle/>
          <a:p>
            <a:pPr lvl="0"/>
            <a:r>
              <a:rPr lang="en-GB" dirty="0"/>
              <a:t>Sustainability-Linked Intermediated Debt Instruments: Example Structure</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49" name="Google Shape;249;p27">
            <a:extLst>
              <a:ext uri="{FF2B5EF4-FFF2-40B4-BE49-F238E27FC236}">
                <a16:creationId xmlns:a16="http://schemas.microsoft.com/office/drawing/2014/main" id="{D91044F1-ECF7-7969-85A3-68B776664B5B}"/>
              </a:ext>
            </a:extLst>
          </p:cNvPr>
          <p:cNvSpPr txBox="1"/>
          <p:nvPr/>
        </p:nvSpPr>
        <p:spPr>
          <a:xfrm rot="596">
            <a:off x="1948305" y="3048446"/>
            <a:ext cx="1729500" cy="831900"/>
          </a:xfrm>
          <a:prstGeom prst="rect">
            <a:avLst/>
          </a:prstGeom>
          <a:noFill/>
          <a:ln>
            <a:noFill/>
          </a:ln>
        </p:spPr>
        <p:txBody>
          <a:bodyPr spcFirstLastPara="1" wrap="square" lIns="91425" tIns="91425" rIns="91425" bIns="91425" anchor="t" anchorCtr="0">
            <a:noAutofit/>
          </a:bodyPr>
          <a:lstStyle/>
          <a:p>
            <a:pPr algn="ctr">
              <a:lnSpc>
                <a:spcPct val="115000"/>
              </a:lnSpc>
            </a:pPr>
            <a:endParaRPr lang="en" sz="1000">
              <a:solidFill>
                <a:schemeClr val="dk1"/>
              </a:solidFill>
              <a:latin typeface="Roboto"/>
              <a:ea typeface="Roboto"/>
              <a:cs typeface="Roboto"/>
              <a:sym typeface="Roboto"/>
            </a:endParaRPr>
          </a:p>
          <a:p>
            <a:pPr algn="ctr">
              <a:lnSpc>
                <a:spcPct val="115000"/>
              </a:lnSpc>
            </a:pPr>
            <a:r>
              <a:rPr lang="en" sz="1000">
                <a:solidFill>
                  <a:schemeClr val="dk1"/>
                </a:solidFill>
                <a:latin typeface="Roboto"/>
                <a:ea typeface="Roboto"/>
                <a:cs typeface="Roboto"/>
                <a:sym typeface="Roboto"/>
              </a:rPr>
              <a:t>Pays 6% until bond maturity if KPI targets are met and 5%, 4% or 3% if targets are subsequently exceeded.</a:t>
            </a:r>
            <a:endParaRPr sz="100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4299">
            <a:off x="5392614" y="2308298"/>
            <a:ext cx="2358024" cy="338631"/>
          </a:xfrm>
          <a:prstGeom prst="rect">
            <a:avLst/>
          </a:prstGeom>
          <a:noFill/>
          <a:ln>
            <a:noFill/>
          </a:ln>
        </p:spPr>
        <p:txBody>
          <a:bodyPr spcFirstLastPara="1" wrap="square" lIns="91425" tIns="91425" rIns="91425" bIns="91425" anchor="t" anchorCtr="0">
            <a:spAutoFit/>
          </a:bodyPr>
          <a:lstStyle/>
          <a:p>
            <a:pPr algn="ctr"/>
            <a:r>
              <a:rPr lang="en" sz="1000">
                <a:solidFill>
                  <a:schemeClr val="dk1"/>
                </a:solidFill>
                <a:latin typeface="Roboto"/>
                <a:ea typeface="Roboto"/>
                <a:cs typeface="Roboto"/>
                <a:sym typeface="Roboto"/>
              </a:rPr>
              <a:t>Pays constant 4% p.a. </a:t>
            </a:r>
            <a:endParaRPr sz="1000">
              <a:solidFill>
                <a:schemeClr val="dk1"/>
              </a:solidFill>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679956" y="2557442"/>
            <a:ext cx="1696191" cy="145686"/>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154369">
            <a:off x="1349286" y="2214898"/>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Pays 7% p.a. until KPI performance assessment deadline.</a:t>
            </a:r>
            <a:endParaRPr sz="1000">
              <a:solidFill>
                <a:schemeClr val="dk1"/>
              </a:solidFill>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090328">
            <a:off x="1827388" y="2593230"/>
            <a:ext cx="1819973" cy="17807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805725" y="2716460"/>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4610950" y="3672969"/>
            <a:ext cx="14262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Verifies KPI targets as ambitious and relevant and tracks progress.</a:t>
            </a:r>
            <a:endParaRPr sz="1000">
              <a:solidFill>
                <a:schemeClr val="dk1"/>
              </a:solidFill>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995775" y="3154519"/>
            <a:ext cx="1637700" cy="1782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01877" y="3149984"/>
            <a:ext cx="1564042"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19366" y="1597112"/>
            <a:ext cx="1876395" cy="1735821"/>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3412" y="2262827"/>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FFFFFF"/>
                  </a:solidFill>
                  <a:latin typeface="Merriweather"/>
                  <a:ea typeface="Merriweather"/>
                  <a:cs typeface="Merriweather"/>
                  <a:sym typeface="Merriweather"/>
                </a:rPr>
                <a:t>Intermediary/WB</a:t>
              </a:r>
              <a:endParaRPr sz="150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6097" y="2537357"/>
              <a:ext cx="18645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rgbClr val="FFFFFF"/>
                  </a:solidFill>
                  <a:latin typeface="Roboto"/>
                  <a:ea typeface="Roboto"/>
                  <a:cs typeface="Roboto"/>
                  <a:sym typeface="Roboto"/>
                </a:rPr>
                <a:t>Issues bonds in the market at 4% (if investment threshold is met) and then on-lends to the sovereign</a:t>
              </a:r>
              <a:endParaRPr sz="1000">
                <a:solidFill>
                  <a:srgbClr val="FFFFFF"/>
                </a:solidFill>
                <a:latin typeface="Roboto"/>
                <a:ea typeface="Roboto"/>
                <a:cs typeface="Roboto"/>
                <a:sym typeface="Roboto"/>
              </a:endParaRPr>
            </a:p>
            <a:p>
              <a:pPr marL="0" lvl="0" indent="0" algn="l" rtl="0">
                <a:lnSpc>
                  <a:spcPct val="115000"/>
                </a:lnSpc>
                <a:spcBef>
                  <a:spcPts val="1600"/>
                </a:spcBef>
                <a:spcAft>
                  <a:spcPts val="1600"/>
                </a:spcAft>
                <a:buNone/>
              </a:pPr>
              <a:endParaRPr sz="100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31908" y="3154400"/>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Investor</a:t>
              </a:r>
              <a:endParaRPr sz="1500">
                <a:solidFill>
                  <a:srgbClr val="FFFFFF"/>
                </a:solidFill>
                <a:latin typeface="Merriweather"/>
                <a:ea typeface="Merriweather"/>
                <a:cs typeface="Merriweather"/>
                <a:sym typeface="Merriweather"/>
              </a:endParaRPr>
            </a:p>
          </p:txBody>
        </p:sp>
      </p:grpSp>
    </p:spTree>
    <p:extLst>
      <p:ext uri="{BB962C8B-B14F-4D97-AF65-F5344CB8AC3E}">
        <p14:creationId xmlns:p14="http://schemas.microsoft.com/office/powerpoint/2010/main" val="36077788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1" name="Subtitle 10">
            <a:extLst>
              <a:ext uri="{FF2B5EF4-FFF2-40B4-BE49-F238E27FC236}">
                <a16:creationId xmlns:a16="http://schemas.microsoft.com/office/drawing/2014/main" id="{A7C5783E-BE0C-DC39-55D3-4BACE04F9D80}"/>
              </a:ext>
            </a:extLst>
          </p:cNvPr>
          <p:cNvSpPr>
            <a:spLocks noGrp="1"/>
          </p:cNvSpPr>
          <p:nvPr>
            <p:ph type="subTitle" idx="1"/>
          </p:nvPr>
        </p:nvSpPr>
        <p:spPr>
          <a:xfrm>
            <a:off x="293300" y="554416"/>
            <a:ext cx="8557402" cy="481076"/>
          </a:xfrm>
        </p:spPr>
        <p:txBody>
          <a:bodyPr>
            <a:normAutofit fontScale="92500" lnSpcReduction="20000"/>
          </a:bodyPr>
          <a:lstStyle/>
          <a:p>
            <a:r>
              <a:rPr lang="en-US" dirty="0"/>
              <a:t>Why SLIDIs? Overview</a:t>
            </a:r>
          </a:p>
        </p:txBody>
      </p:sp>
      <p:grpSp>
        <p:nvGrpSpPr>
          <p:cNvPr id="106" name="Google Shape;106;p17"/>
          <p:cNvGrpSpPr/>
          <p:nvPr/>
        </p:nvGrpSpPr>
        <p:grpSpPr>
          <a:xfrm>
            <a:off x="3102321" y="1697166"/>
            <a:ext cx="2755134" cy="2791145"/>
            <a:chOff x="3071454" y="2013875"/>
            <a:chExt cx="2154300" cy="1569600"/>
          </a:xfrm>
        </p:grpSpPr>
        <p:sp>
          <p:nvSpPr>
            <p:cNvPr id="107" name="Google Shape;107;p17"/>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7"/>
            <p:cNvSpPr txBox="1"/>
            <p:nvPr/>
          </p:nvSpPr>
          <p:spPr>
            <a:xfrm>
              <a:off x="3226280" y="2471044"/>
              <a:ext cx="1647300" cy="48320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b="1" dirty="0">
                  <a:solidFill>
                    <a:srgbClr val="FFFFFF"/>
                  </a:solidFill>
                  <a:latin typeface="Roboto"/>
                  <a:ea typeface="Roboto"/>
                  <a:cs typeface="Roboto"/>
                  <a:sym typeface="Roboto"/>
                </a:rPr>
                <a:t>Sustainability Linked Bonds (SLBs) and Sustainability-Linked Loans (SLLs) are relevant innovations</a:t>
              </a:r>
              <a:endParaRPr lang="en" sz="1000" b="1" dirty="0">
                <a:solidFill>
                  <a:srgbClr val="FFFFFF"/>
                </a:solidFill>
                <a:latin typeface="Roboto"/>
                <a:ea typeface="Roboto"/>
                <a:cs typeface="Roboto"/>
              </a:endParaRPr>
            </a:p>
          </p:txBody>
        </p:sp>
      </p:grpSp>
      <p:grpSp>
        <p:nvGrpSpPr>
          <p:cNvPr id="110" name="Google Shape;110;p17"/>
          <p:cNvGrpSpPr/>
          <p:nvPr/>
        </p:nvGrpSpPr>
        <p:grpSpPr>
          <a:xfrm>
            <a:off x="508956" y="1697303"/>
            <a:ext cx="2588704" cy="2788108"/>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51295" y="2195738"/>
              <a:ext cx="1451700" cy="464643"/>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Bef>
                  <a:spcPts val="600"/>
                </a:spcBef>
              </a:pPr>
              <a:r>
                <a:rPr lang="en" sz="1100" b="1" dirty="0">
                  <a:solidFill>
                    <a:srgbClr val="FFFFFF"/>
                  </a:solidFill>
                  <a:latin typeface="Roboto"/>
                  <a:ea typeface="Roboto"/>
                  <a:cs typeface="Roboto"/>
                </a:rPr>
                <a:t>The world needs stronger policy action to achieve globaql GHG emissions mitigation</a:t>
              </a:r>
              <a:endParaRPr lang="en" dirty="0">
                <a:ea typeface="Roboto"/>
              </a:endParaRPr>
            </a:p>
          </p:txBody>
        </p:sp>
        <p:sp>
          <p:nvSpPr>
            <p:cNvPr id="113" name="Google Shape;113;p17"/>
            <p:cNvSpPr txBox="1"/>
            <p:nvPr/>
          </p:nvSpPr>
          <p:spPr>
            <a:xfrm>
              <a:off x="1351295" y="2840192"/>
              <a:ext cx="1605799" cy="35957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Aft>
                  <a:spcPts val="600"/>
                </a:spcAft>
              </a:pPr>
              <a:r>
                <a:rPr lang="en" sz="1100" b="1" dirty="0">
                  <a:solidFill>
                    <a:srgbClr val="FFFFFF"/>
                  </a:solidFill>
                  <a:latin typeface="Roboto"/>
                  <a:ea typeface="Roboto"/>
                  <a:cs typeface="Roboto"/>
                  <a:sym typeface="Roboto"/>
                </a:rPr>
                <a:t>Developing countries need access to cheap finance to build energy abundance</a:t>
              </a:r>
              <a:endParaRPr lang="en-US" dirty="0"/>
            </a:p>
            <a:p>
              <a:pPr>
                <a:spcAft>
                  <a:spcPts val="600"/>
                </a:spcAft>
              </a:pPr>
              <a:endParaRPr lang="en" sz="1000" dirty="0">
                <a:solidFill>
                  <a:srgbClr val="FFFFFF"/>
                </a:solidFill>
                <a:latin typeface="Roboto"/>
                <a:ea typeface="Roboto"/>
                <a:cs typeface="Roboto"/>
              </a:endParaRPr>
            </a:p>
            <a:p>
              <a:pPr>
                <a:lnSpc>
                  <a:spcPct val="114999"/>
                </a:lnSpc>
                <a:spcAft>
                  <a:spcPts val="1600"/>
                </a:spcAft>
              </a:pPr>
              <a:endParaRPr lang="en" sz="1100" b="1" dirty="0">
                <a:solidFill>
                  <a:srgbClr val="FFFFFF"/>
                </a:solidFill>
                <a:latin typeface="Roboto"/>
                <a:ea typeface="Roboto"/>
                <a:cs typeface="Roboto"/>
              </a:endParaRPr>
            </a:p>
          </p:txBody>
        </p:sp>
      </p:grpSp>
      <p:grpSp>
        <p:nvGrpSpPr>
          <p:cNvPr id="114" name="Google Shape;114;p17"/>
          <p:cNvGrpSpPr/>
          <p:nvPr/>
        </p:nvGrpSpPr>
        <p:grpSpPr>
          <a:xfrm>
            <a:off x="5697634" y="1697166"/>
            <a:ext cx="2752652" cy="2791280"/>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95114" y="2471022"/>
              <a:ext cx="2417100" cy="499522"/>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dirty="0">
                  <a:solidFill>
                    <a:srgbClr val="FFFFFF"/>
                  </a:solidFill>
                  <a:latin typeface="Roboto"/>
                  <a:ea typeface="Roboto"/>
                  <a:cs typeface="Roboto"/>
                  <a:sym typeface="Roboto"/>
                </a:rPr>
                <a:t>Sustainability-Linked Intermediated Debt Instruments (SLIDIs) SLIDIs</a:t>
              </a:r>
              <a:r>
                <a:rPr lang="en" sz="1100" b="1" dirty="0">
                  <a:solidFill>
                    <a:srgbClr val="FFFFFF"/>
                  </a:solidFill>
                  <a:latin typeface="Roboto"/>
                  <a:ea typeface="Roboto"/>
                  <a:cs typeface="Roboto"/>
                  <a:sym typeface="Roboto"/>
                </a:rPr>
                <a:t> build on SLBs and SLLs </a:t>
              </a:r>
              <a:endParaRPr sz="1100" dirty="0">
                <a:solidFill>
                  <a:srgbClr val="FFFFFF"/>
                </a:solidFill>
                <a:latin typeface="Roboto"/>
                <a:ea typeface="Roboto"/>
                <a:cs typeface="Roboto"/>
                <a:sym typeface="Roboto"/>
              </a:endParaRPr>
            </a:p>
          </p:txBody>
        </p:sp>
      </p:grpSp>
      <p:grpSp>
        <p:nvGrpSpPr>
          <p:cNvPr id="118" name="Google Shape;118;p17"/>
          <p:cNvGrpSpPr/>
          <p:nvPr/>
        </p:nvGrpSpPr>
        <p:grpSpPr>
          <a:xfrm>
            <a:off x="5575075" y="2845703"/>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2921103" y="2845703"/>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Tree>
    <p:extLst>
      <p:ext uri="{BB962C8B-B14F-4D97-AF65-F5344CB8AC3E}">
        <p14:creationId xmlns:p14="http://schemas.microsoft.com/office/powerpoint/2010/main" val="349700410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819AA57-10FB-4179-8CEB-87BAD98FF9DD}"/>
              </a:ext>
            </a:extLst>
          </p:cNvPr>
          <p:cNvSpPr>
            <a:spLocks noGrp="1"/>
          </p:cNvSpPr>
          <p:nvPr>
            <p:ph type="subTitle" idx="1"/>
          </p:nvPr>
        </p:nvSpPr>
        <p:spPr/>
        <p:txBody>
          <a:bodyPr>
            <a:normAutofit fontScale="92500" lnSpcReduction="20000"/>
          </a:bodyPr>
          <a:lstStyle/>
          <a:p>
            <a:r>
              <a:rPr lang="en-US" dirty="0"/>
              <a:t>Why Sustainability-Linked Intermediated Debt Instruments?</a:t>
            </a:r>
          </a:p>
          <a:p>
            <a:endParaRPr lang="en-US" dirty="0"/>
          </a:p>
        </p:txBody>
      </p:sp>
      <p:sp>
        <p:nvSpPr>
          <p:cNvPr id="3" name="Text Placeholder 2">
            <a:extLst>
              <a:ext uri="{FF2B5EF4-FFF2-40B4-BE49-F238E27FC236}">
                <a16:creationId xmlns:a16="http://schemas.microsoft.com/office/drawing/2014/main" id="{C4E0E00C-B16D-1A48-3CCA-93B4EEC2985A}"/>
              </a:ext>
            </a:extLst>
          </p:cNvPr>
          <p:cNvSpPr>
            <a:spLocks noGrp="1"/>
          </p:cNvSpPr>
          <p:nvPr>
            <p:ph type="body" sz="quarter" idx="10"/>
          </p:nvPr>
        </p:nvSpPr>
        <p:spPr/>
        <p:txBody>
          <a:bodyPr>
            <a:normAutofit lnSpcReduction="10000"/>
          </a:bodyPr>
          <a:lstStyle/>
          <a:p>
            <a:r>
              <a:rPr lang="en-US" dirty="0"/>
              <a:t>EMDE sovereigns’ problem when they try to borrow money: </a:t>
            </a:r>
            <a:r>
              <a:rPr lang="en-US" b="1" dirty="0"/>
              <a:t>High cost of capital</a:t>
            </a:r>
          </a:p>
          <a:p>
            <a:pPr marL="146050" indent="0">
              <a:buNone/>
            </a:pPr>
            <a:endParaRPr lang="en-US" dirty="0"/>
          </a:p>
          <a:p>
            <a:r>
              <a:rPr lang="en-US" dirty="0"/>
              <a:t>Lenders’ and investors’ problem: </a:t>
            </a:r>
            <a:r>
              <a:rPr lang="en-US" b="1" dirty="0"/>
              <a:t>EMDE country risks</a:t>
            </a:r>
            <a:r>
              <a:rPr lang="en-US" dirty="0"/>
              <a:t>, including loan default and foreign exchange risks</a:t>
            </a:r>
          </a:p>
          <a:p>
            <a:endParaRPr lang="en-US" dirty="0"/>
          </a:p>
          <a:p>
            <a:r>
              <a:rPr lang="en-US" dirty="0"/>
              <a:t>Global commons problem: For climate safety, </a:t>
            </a:r>
            <a:r>
              <a:rPr lang="en-US" b="1" dirty="0"/>
              <a:t>it is crucial EMDEs get on a green development path</a:t>
            </a:r>
            <a:r>
              <a:rPr lang="en-US" dirty="0"/>
              <a:t> rather than fossil fuels dependent development path</a:t>
            </a:r>
          </a:p>
        </p:txBody>
      </p:sp>
      <p:sp>
        <p:nvSpPr>
          <p:cNvPr id="4" name="Text Placeholder 3">
            <a:extLst>
              <a:ext uri="{FF2B5EF4-FFF2-40B4-BE49-F238E27FC236}">
                <a16:creationId xmlns:a16="http://schemas.microsoft.com/office/drawing/2014/main" id="{8A9DE0BD-15EA-69EB-097C-40AD18786BA8}"/>
              </a:ext>
            </a:extLst>
          </p:cNvPr>
          <p:cNvSpPr>
            <a:spLocks noGrp="1"/>
          </p:cNvSpPr>
          <p:nvPr>
            <p:ph type="body" sz="quarter" idx="11"/>
          </p:nvPr>
        </p:nvSpPr>
        <p:spPr/>
        <p:txBody>
          <a:bodyPr/>
          <a:lstStyle/>
          <a:p>
            <a:pPr indent="0">
              <a:buNone/>
            </a:pPr>
            <a:r>
              <a:rPr lang="en-US" b="1" dirty="0"/>
              <a:t>SLIDIs make two contributions:</a:t>
            </a:r>
          </a:p>
          <a:p>
            <a:pPr indent="0">
              <a:buNone/>
            </a:pPr>
            <a:endParaRPr lang="en-US" dirty="0"/>
          </a:p>
          <a:p>
            <a:r>
              <a:rPr lang="en-US" b="1" dirty="0"/>
              <a:t>DE-RISK LOANS TO EMDEs: </a:t>
            </a:r>
          </a:p>
          <a:p>
            <a:pPr lvl="1"/>
            <a:r>
              <a:rPr lang="en-US" dirty="0"/>
              <a:t>SLIDIs are designed to reduce risks to lenders to EMDEs and so enable EMDEs to access capital markets more easily and pay lower interest rates </a:t>
            </a:r>
          </a:p>
          <a:p>
            <a:endParaRPr lang="en-US" dirty="0"/>
          </a:p>
          <a:p>
            <a:r>
              <a:rPr lang="en-US" b="1" dirty="0"/>
              <a:t>INCENTIVIZE GREEN DEVELOPMENT: </a:t>
            </a:r>
          </a:p>
          <a:p>
            <a:pPr lvl="1"/>
            <a:r>
              <a:rPr lang="en-US" dirty="0"/>
              <a:t>With SLIDIs, EMDE borrowers pay lower interest rates if they meet sustainability KPIs</a:t>
            </a:r>
          </a:p>
        </p:txBody>
      </p:sp>
    </p:spTree>
    <p:extLst>
      <p:ext uri="{BB962C8B-B14F-4D97-AF65-F5344CB8AC3E}">
        <p14:creationId xmlns:p14="http://schemas.microsoft.com/office/powerpoint/2010/main" val="47858399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Subtitle 1">
            <a:extLst>
              <a:ext uri="{FF2B5EF4-FFF2-40B4-BE49-F238E27FC236}">
                <a16:creationId xmlns:a16="http://schemas.microsoft.com/office/drawing/2014/main" id="{287A8F82-B25E-90F1-3E69-B3AF4802A80D}"/>
              </a:ext>
            </a:extLst>
          </p:cNvPr>
          <p:cNvSpPr>
            <a:spLocks noGrp="1"/>
          </p:cNvSpPr>
          <p:nvPr>
            <p:ph type="subTitle" idx="1"/>
          </p:nvPr>
        </p:nvSpPr>
        <p:spPr>
          <a:xfrm>
            <a:off x="293300" y="554416"/>
            <a:ext cx="8557402" cy="481076"/>
          </a:xfrm>
        </p:spPr>
        <p:txBody>
          <a:bodyPr>
            <a:normAutofit fontScale="92500" lnSpcReduction="20000"/>
          </a:bodyPr>
          <a:lstStyle/>
          <a:p>
            <a:r>
              <a:rPr lang="en-GB" dirty="0">
                <a:sym typeface="Merriweather"/>
              </a:rPr>
              <a:t>Why SLIDIs? Very Large Investment Quantities Needed</a:t>
            </a:r>
          </a:p>
          <a:p>
            <a:endParaRPr lang="en-US" dirty="0"/>
          </a:p>
        </p:txBody>
      </p:sp>
      <p:sp>
        <p:nvSpPr>
          <p:cNvPr id="96" name="Google Shape;96;p16"/>
          <p:cNvSpPr txBox="1">
            <a:spLocks noGrp="1"/>
          </p:cNvSpPr>
          <p:nvPr>
            <p:ph type="body" sz="quarter" idx="10"/>
          </p:nvPr>
        </p:nvSpPr>
        <p:spPr>
          <a:xfrm>
            <a:off x="143850" y="1246816"/>
            <a:ext cx="4577986" cy="3465513"/>
          </a:xfrm>
        </p:spPr>
        <p:txBody>
          <a:bodyPr spcFirstLastPara="1" wrap="square" lIns="91425" tIns="91425" rIns="91425" bIns="91425" anchor="t" anchorCtr="0">
            <a:noAutofit/>
          </a:bodyPr>
          <a:lstStyle/>
          <a:p>
            <a:pPr lvl="0"/>
            <a:r>
              <a:rPr lang="en-GB" sz="1300" dirty="0">
                <a:solidFill>
                  <a:srgbClr val="002F4A"/>
                </a:solidFill>
              </a:rPr>
              <a:t>Global net zero by 2050: annual investment of </a:t>
            </a:r>
            <a:r>
              <a:rPr lang="en-GB" sz="1300" b="1" dirty="0">
                <a:solidFill>
                  <a:srgbClr val="B85741"/>
                </a:solidFill>
              </a:rPr>
              <a:t>US$3.4 trillion to $8.1 trillion </a:t>
            </a:r>
            <a:r>
              <a:rPr lang="en-GB" sz="1300" dirty="0">
                <a:solidFill>
                  <a:srgbClr val="002F4A"/>
                </a:solidFill>
              </a:rPr>
              <a:t>needed globally (</a:t>
            </a:r>
            <a:r>
              <a:rPr lang="en-GB" sz="1300" dirty="0">
                <a:solidFill>
                  <a:srgbClr val="002F4A"/>
                </a:solidFill>
                <a:hlinkClick r:id="rId3"/>
              </a:rPr>
              <a:t>Yilmaz 2022</a:t>
            </a:r>
            <a:r>
              <a:rPr lang="en-GB" sz="1300" dirty="0">
                <a:solidFill>
                  <a:srgbClr val="002F4A"/>
                </a:solidFill>
              </a:rPr>
              <a:t>)</a:t>
            </a:r>
          </a:p>
          <a:p>
            <a:pPr marL="146050" lvl="0" indent="0">
              <a:buNone/>
            </a:pPr>
            <a:endParaRPr lang="en-GB" sz="1300" dirty="0">
              <a:solidFill>
                <a:srgbClr val="002F4A"/>
              </a:solidFill>
            </a:endParaRPr>
          </a:p>
          <a:p>
            <a:pPr lvl="0"/>
            <a:r>
              <a:rPr lang="en-GB" sz="1300" dirty="0">
                <a:solidFill>
                  <a:srgbClr val="002F4A"/>
                </a:solidFill>
              </a:rPr>
              <a:t>Developing countries: </a:t>
            </a:r>
            <a:r>
              <a:rPr lang="en-GB" sz="1300" b="1" dirty="0">
                <a:solidFill>
                  <a:srgbClr val="B85741"/>
                </a:solidFill>
              </a:rPr>
              <a:t>$2 trillion annually</a:t>
            </a:r>
            <a:r>
              <a:rPr lang="en-GB" sz="1300" dirty="0">
                <a:solidFill>
                  <a:srgbClr val="002F4A"/>
                </a:solidFill>
              </a:rPr>
              <a:t> (IMF, 2023)</a:t>
            </a:r>
          </a:p>
          <a:p>
            <a:pPr marL="146050" lvl="0" indent="0">
              <a:buNone/>
            </a:pPr>
            <a:endParaRPr lang="en-GB" sz="1300" dirty="0">
              <a:solidFill>
                <a:srgbClr val="002F4A"/>
              </a:solidFill>
            </a:endParaRPr>
          </a:p>
          <a:p>
            <a:pPr lvl="0"/>
            <a:r>
              <a:rPr lang="en-GB" sz="1300" dirty="0">
                <a:solidFill>
                  <a:srgbClr val="002F4A"/>
                </a:solidFill>
              </a:rPr>
              <a:t>Flow of climate finance from developed to developing countries in 2020 was estimated at $21 to $83.3 billion (UNFCCC), </a:t>
            </a:r>
            <a:r>
              <a:rPr lang="en-GB" sz="1300" b="1" dirty="0">
                <a:solidFill>
                  <a:srgbClr val="B85741"/>
                </a:solidFill>
              </a:rPr>
              <a:t>far below </a:t>
            </a:r>
            <a:r>
              <a:rPr lang="en-GB" sz="1300" dirty="0">
                <a:solidFill>
                  <a:srgbClr val="002F4A"/>
                </a:solidFill>
              </a:rPr>
              <a:t>required level</a:t>
            </a:r>
          </a:p>
          <a:p>
            <a:pPr marL="146050" lvl="0" indent="0">
              <a:buNone/>
            </a:pPr>
            <a:endParaRPr lang="en-GB" sz="1300" dirty="0">
              <a:solidFill>
                <a:srgbClr val="002F4A"/>
              </a:solidFill>
            </a:endParaRPr>
          </a:p>
          <a:p>
            <a:pPr lvl="0"/>
            <a:r>
              <a:rPr lang="en-GB" sz="1300" dirty="0">
                <a:solidFill>
                  <a:srgbClr val="002F4A"/>
                </a:solidFill>
              </a:rPr>
              <a:t>IMF (2023) estimates </a:t>
            </a:r>
            <a:r>
              <a:rPr lang="en-GB" sz="1300" b="1" dirty="0">
                <a:solidFill>
                  <a:srgbClr val="B85741"/>
                </a:solidFill>
              </a:rPr>
              <a:t>80%</a:t>
            </a:r>
            <a:r>
              <a:rPr lang="en-GB" sz="1300" b="1" dirty="0">
                <a:solidFill>
                  <a:srgbClr val="002F4A"/>
                </a:solidFill>
              </a:rPr>
              <a:t> </a:t>
            </a:r>
            <a:r>
              <a:rPr lang="en-GB" sz="1300" dirty="0">
                <a:solidFill>
                  <a:srgbClr val="002F4A"/>
                </a:solidFill>
              </a:rPr>
              <a:t>of necessary investment must come from </a:t>
            </a:r>
            <a:r>
              <a:rPr lang="en-GB" sz="1300" b="1" dirty="0">
                <a:solidFill>
                  <a:srgbClr val="B85741"/>
                </a:solidFill>
              </a:rPr>
              <a:t>the private sector</a:t>
            </a:r>
          </a:p>
        </p:txBody>
      </p:sp>
      <p:sp>
        <p:nvSpPr>
          <p:cNvPr id="99" name="Google Shape;99;p16"/>
          <p:cNvSpPr txBox="1">
            <a:spLocks noGrp="1"/>
          </p:cNvSpPr>
          <p:nvPr>
            <p:ph type="body" sz="quarter" idx="11"/>
          </p:nvPr>
        </p:nvSpPr>
        <p:spPr>
          <a:xfrm>
            <a:off x="4572000" y="1298122"/>
            <a:ext cx="4278701" cy="3465738"/>
          </a:xfrm>
        </p:spPr>
        <p:txBody>
          <a:bodyPr spcFirstLastPara="1" wrap="square" lIns="91425" tIns="91425" rIns="91425" bIns="91425" anchor="t" anchorCtr="0">
            <a:noAutofit/>
          </a:bodyPr>
          <a:lstStyle/>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lgn="ctr">
              <a:buNone/>
            </a:pPr>
            <a:r>
              <a:rPr lang="en-GB" sz="1100" b="1" dirty="0">
                <a:solidFill>
                  <a:srgbClr val="002F4A"/>
                </a:solidFill>
              </a:rPr>
              <a:t>Annual Flow of Private Sector Investments to Developing Countries (</a:t>
            </a:r>
            <a:r>
              <a:rPr lang="en-GB" sz="1100" b="1" dirty="0" err="1">
                <a:solidFill>
                  <a:srgbClr val="002F4A"/>
                </a:solidFill>
              </a:rPr>
              <a:t>US$bn</a:t>
            </a:r>
            <a:r>
              <a:rPr lang="en-GB" sz="1100" b="1" dirty="0">
                <a:solidFill>
                  <a:srgbClr val="002F4A"/>
                </a:solidFill>
              </a:rPr>
              <a:t>)</a:t>
            </a:r>
          </a:p>
          <a:p>
            <a:pPr lvl="0" indent="0" algn="ctr">
              <a:buNone/>
            </a:pPr>
            <a:r>
              <a:rPr lang="en-GB" sz="1050" dirty="0">
                <a:solidFill>
                  <a:srgbClr val="002F4A"/>
                </a:solidFill>
              </a:rPr>
              <a:t>Sources: IMF (2023); OECD (2021)</a:t>
            </a:r>
          </a:p>
        </p:txBody>
      </p:sp>
      <p:pic>
        <p:nvPicPr>
          <p:cNvPr id="98" name="Google Shape;98;p16" title="Points scored"/>
          <p:cNvPicPr preferRelativeResize="0"/>
          <p:nvPr/>
        </p:nvPicPr>
        <p:blipFill rotWithShape="1">
          <a:blip r:embed="rId4">
            <a:alphaModFix/>
          </a:blip>
          <a:srcRect t="19707"/>
          <a:stretch/>
        </p:blipFill>
        <p:spPr>
          <a:xfrm>
            <a:off x="4721836" y="1595120"/>
            <a:ext cx="4278314" cy="224786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3" name="Text Placeholder 2">
            <a:extLst>
              <a:ext uri="{FF2B5EF4-FFF2-40B4-BE49-F238E27FC236}">
                <a16:creationId xmlns:a16="http://schemas.microsoft.com/office/drawing/2014/main" id="{C8290A0F-8970-0842-6C4F-1972E55D81F7}"/>
              </a:ext>
            </a:extLst>
          </p:cNvPr>
          <p:cNvSpPr>
            <a:spLocks noGrp="1"/>
          </p:cNvSpPr>
          <p:nvPr>
            <p:ph type="body" sz="quarter" idx="11"/>
          </p:nvPr>
        </p:nvSpPr>
        <p:spPr>
          <a:xfrm>
            <a:off x="146146" y="1431050"/>
            <a:ext cx="4384111" cy="3158034"/>
          </a:xfrm>
        </p:spPr>
        <p:txBody>
          <a:bodyPr>
            <a:noAutofit/>
          </a:bodyPr>
          <a:lstStyle/>
          <a:p>
            <a:r>
              <a:rPr lang="en-GB" sz="1600" b="1" dirty="0">
                <a:solidFill>
                  <a:srgbClr val="B85741"/>
                </a:solidFill>
                <a:latin typeface="Roboto"/>
                <a:ea typeface="Roboto"/>
                <a:cs typeface="Roboto"/>
                <a:sym typeface="Roboto"/>
              </a:rPr>
              <a:t>Mobilising very large-scale investment is imperative to finance a global transition to clean energy abundance </a:t>
            </a:r>
          </a:p>
          <a:p>
            <a:pPr indent="0">
              <a:buNone/>
            </a:pPr>
            <a:endParaRPr lang="en-GB" sz="1600" b="1" dirty="0">
              <a:solidFill>
                <a:srgbClr val="B85741"/>
              </a:solidFill>
              <a:latin typeface="Roboto"/>
              <a:ea typeface="Roboto"/>
              <a:cs typeface="Roboto"/>
              <a:sym typeface="Roboto"/>
            </a:endParaRPr>
          </a:p>
          <a:p>
            <a:r>
              <a:rPr lang="en-GB" sz="1600" b="1" dirty="0">
                <a:solidFill>
                  <a:srgbClr val="B85741"/>
                </a:solidFill>
                <a:latin typeface="Roboto"/>
                <a:ea typeface="Roboto"/>
                <a:cs typeface="Roboto"/>
                <a:sym typeface="Roboto"/>
              </a:rPr>
              <a:t>Developing countries have severe difficulty accessing low-cost financing</a:t>
            </a:r>
          </a:p>
          <a:p>
            <a:pPr indent="0">
              <a:buNone/>
            </a:pPr>
            <a:endParaRPr lang="en-GB" sz="1600" dirty="0">
              <a:solidFill>
                <a:srgbClr val="002F4A"/>
              </a:solidFill>
              <a:latin typeface="Roboto"/>
              <a:ea typeface="Roboto"/>
              <a:cs typeface="Roboto"/>
              <a:sym typeface="Roboto"/>
            </a:endParaRPr>
          </a:p>
          <a:p>
            <a:r>
              <a:rPr lang="en-GB" sz="1600" b="1" dirty="0">
                <a:solidFill>
                  <a:srgbClr val="B85741"/>
                </a:solidFill>
                <a:latin typeface="Roboto"/>
                <a:ea typeface="Roboto"/>
                <a:cs typeface="Roboto"/>
              </a:rPr>
              <a:t>C</a:t>
            </a:r>
            <a:r>
              <a:rPr lang="en-GB" sz="1600" b="1" dirty="0">
                <a:solidFill>
                  <a:srgbClr val="B85741"/>
                </a:solidFill>
                <a:latin typeface="Roboto"/>
                <a:ea typeface="Roboto"/>
                <a:cs typeface="Roboto"/>
                <a:sym typeface="Roboto"/>
              </a:rPr>
              <a:t>ost of capital is very high</a:t>
            </a:r>
            <a:endParaRPr lang="en-GB" sz="1600" dirty="0">
              <a:solidFill>
                <a:srgbClr val="B85741"/>
              </a:solidFill>
              <a:latin typeface="Roboto"/>
              <a:ea typeface="Roboto"/>
              <a:cs typeface="Roboto"/>
              <a:sym typeface="Roboto"/>
            </a:endParaRPr>
          </a:p>
          <a:p>
            <a:pPr lvl="1">
              <a:buFont typeface="Courier New" panose="02070309020205020404" pitchFamily="49" charset="0"/>
              <a:buChar char="o"/>
            </a:pPr>
            <a:endParaRPr lang="en-GB" sz="1600" dirty="0">
              <a:solidFill>
                <a:srgbClr val="002F4A"/>
              </a:solidFill>
              <a:latin typeface="Roboto"/>
              <a:ea typeface="Roboto"/>
              <a:cs typeface="Roboto"/>
              <a:sym typeface="Roboto"/>
            </a:endParaRPr>
          </a:p>
          <a:p>
            <a:endParaRPr lang="en-GB" sz="1600" dirty="0">
              <a:solidFill>
                <a:srgbClr val="002F4A"/>
              </a:solidFill>
              <a:latin typeface="Roboto"/>
              <a:ea typeface="Roboto"/>
              <a:cs typeface="Roboto"/>
              <a:sym typeface="Roboto"/>
            </a:endParaRPr>
          </a:p>
          <a:p>
            <a:pPr marL="342900" lvl="1" indent="0">
              <a:buNone/>
            </a:pPr>
            <a:endParaRPr lang="en-US" dirty="0"/>
          </a:p>
        </p:txBody>
      </p:sp>
      <p:sp>
        <p:nvSpPr>
          <p:cNvPr id="2" name="Subtitle 1">
            <a:extLst>
              <a:ext uri="{FF2B5EF4-FFF2-40B4-BE49-F238E27FC236}">
                <a16:creationId xmlns:a16="http://schemas.microsoft.com/office/drawing/2014/main" id="{37D934D5-FEEB-7364-729F-E82BAC43B12E}"/>
              </a:ext>
            </a:extLst>
          </p:cNvPr>
          <p:cNvSpPr>
            <a:spLocks noGrp="1"/>
          </p:cNvSpPr>
          <p:nvPr>
            <p:ph type="subTitle" idx="1"/>
          </p:nvPr>
        </p:nvSpPr>
        <p:spPr/>
        <p:txBody>
          <a:bodyPr>
            <a:normAutofit fontScale="92500" lnSpcReduction="20000"/>
          </a:bodyPr>
          <a:lstStyle/>
          <a:p>
            <a:r>
              <a:rPr lang="en-GB" sz="2000" dirty="0">
                <a:solidFill>
                  <a:schemeClr val="lt1"/>
                </a:solidFill>
                <a:latin typeface="Merriweather"/>
                <a:ea typeface="Merriweather"/>
                <a:cs typeface="Merriweather"/>
                <a:sym typeface="Merriweather"/>
              </a:rPr>
              <a:t>Why SLIDIs? Cost of Capital</a:t>
            </a:r>
          </a:p>
          <a:p>
            <a:endParaRPr lang="en-US" dirty="0"/>
          </a:p>
        </p:txBody>
      </p:sp>
      <p:sp>
        <p:nvSpPr>
          <p:cNvPr id="104" name="Google Shape;104;p17"/>
          <p:cNvSpPr txBox="1">
            <a:spLocks noGrp="1"/>
          </p:cNvSpPr>
          <p:nvPr>
            <p:ph type="title" idx="4294967295"/>
          </p:nvPr>
        </p:nvSpPr>
        <p:spPr>
          <a:xfrm>
            <a:off x="0" y="501650"/>
            <a:ext cx="8521700" cy="622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a:p>
            <a:pPr marL="0" lvl="0" indent="0" algn="l" rtl="0">
              <a:spcBef>
                <a:spcPts val="0"/>
              </a:spcBef>
              <a:spcAft>
                <a:spcPts val="0"/>
              </a:spcAft>
              <a:buNone/>
            </a:pPr>
            <a:endParaRPr sz="4000" dirty="0">
              <a:solidFill>
                <a:srgbClr val="FF9900"/>
              </a:solidFill>
            </a:endParaRPr>
          </a:p>
        </p:txBody>
      </p:sp>
      <p:pic>
        <p:nvPicPr>
          <p:cNvPr id="1026" name="Picture 2">
            <a:extLst>
              <a:ext uri="{FF2B5EF4-FFF2-40B4-BE49-F238E27FC236}">
                <a16:creationId xmlns:a16="http://schemas.microsoft.com/office/drawing/2014/main" id="{4AA4111B-6977-7641-882C-A410CB0BD2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90" t="5765" r="32178" b="19760"/>
          <a:stretch/>
        </p:blipFill>
        <p:spPr bwMode="auto">
          <a:xfrm>
            <a:off x="4894932" y="1516687"/>
            <a:ext cx="4096667" cy="2526993"/>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99;p16">
            <a:extLst>
              <a:ext uri="{FF2B5EF4-FFF2-40B4-BE49-F238E27FC236}">
                <a16:creationId xmlns:a16="http://schemas.microsoft.com/office/drawing/2014/main" id="{F98121F2-F554-918F-BBFC-D90BB75184A5}"/>
              </a:ext>
            </a:extLst>
          </p:cNvPr>
          <p:cNvSpPr txBox="1">
            <a:spLocks/>
          </p:cNvSpPr>
          <p:nvPr/>
        </p:nvSpPr>
        <p:spPr>
          <a:xfrm>
            <a:off x="4421688" y="1346814"/>
            <a:ext cx="4660927" cy="34512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311150" algn="l" rtl="0">
              <a:lnSpc>
                <a:spcPct val="150000"/>
              </a:lnSpc>
              <a:spcBef>
                <a:spcPts val="0"/>
              </a:spcBef>
              <a:spcAft>
                <a:spcPts val="0"/>
              </a:spcAft>
              <a:buClr>
                <a:schemeClr val="dk2"/>
              </a:buClr>
              <a:buSzPts val="1300"/>
              <a:buFont typeface="Roboto"/>
              <a:buChar char="●"/>
              <a:defRPr sz="1500" b="0" i="0" u="none" strike="noStrike" cap="none">
                <a:solidFill>
                  <a:srgbClr val="B85641"/>
                </a:solidFill>
                <a:latin typeface="Roboto" panose="02000000000000000000" pitchFamily="2" charset="0"/>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Courier New" panose="02070309020205020404" pitchFamily="49" charset="0"/>
              <a:buChar char="o"/>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lgn="ctr">
              <a:buFont typeface="Roboto"/>
              <a:buNone/>
            </a:pPr>
            <a:r>
              <a:rPr lang="en-GB" sz="1100" b="1" dirty="0">
                <a:solidFill>
                  <a:srgbClr val="002F4A"/>
                </a:solidFill>
              </a:rPr>
              <a:t>Electricity Generation From Renewable Sources (per capita, per year)</a:t>
            </a:r>
          </a:p>
          <a:p>
            <a:pPr indent="0" algn="ctr">
              <a:buNone/>
            </a:pPr>
            <a:r>
              <a:rPr lang="en-GB" sz="1000" dirty="0">
                <a:solidFill>
                  <a:srgbClr val="002F4A"/>
                </a:solidFill>
              </a:rPr>
              <a:t>Source: </a:t>
            </a:r>
            <a:r>
              <a:rPr lang="en-GB" sz="1000" dirty="0" err="1">
                <a:solidFill>
                  <a:srgbClr val="002F4A"/>
                </a:solidFill>
              </a:rPr>
              <a:t>Babayomi</a:t>
            </a:r>
            <a:r>
              <a:rPr lang="en-GB" sz="1000" dirty="0">
                <a:solidFill>
                  <a:srgbClr val="002F4A"/>
                </a:solidFill>
              </a:rPr>
              <a:t>, O., </a:t>
            </a:r>
            <a:r>
              <a:rPr lang="en-GB" sz="1000" dirty="0" err="1">
                <a:solidFill>
                  <a:srgbClr val="002F4A"/>
                </a:solidFill>
              </a:rPr>
              <a:t>Dahoro</a:t>
            </a:r>
            <a:r>
              <a:rPr lang="en-GB" sz="1000" dirty="0">
                <a:solidFill>
                  <a:srgbClr val="002F4A"/>
                </a:solidFill>
              </a:rPr>
              <a:t>, D. &amp; Zhang, Z. (2022).</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9" name="Google Shape;129;p18"/>
          <p:cNvSpPr txBox="1">
            <a:spLocks noGrp="1"/>
          </p:cNvSpPr>
          <p:nvPr>
            <p:ph type="body" sz="quarter" idx="11"/>
          </p:nvPr>
        </p:nvSpPr>
        <p:spPr>
          <a:prstGeom prst="rect">
            <a:avLst/>
          </a:prstGeom>
        </p:spPr>
        <p:txBody>
          <a:bodyPr spcFirstLastPara="1" wrap="square" lIns="91425" tIns="91425" rIns="82200" bIns="91425" anchor="t" anchorCtr="0">
            <a:noAutofit/>
          </a:bodyPr>
          <a:lstStyle/>
          <a:p>
            <a:pPr marL="457200" lvl="0" indent="-304800" algn="l" rtl="0">
              <a:spcBef>
                <a:spcPts val="0"/>
              </a:spcBef>
              <a:spcAft>
                <a:spcPts val="0"/>
              </a:spcAft>
              <a:buClr>
                <a:srgbClr val="000000"/>
              </a:buClr>
              <a:buSzPts val="1200"/>
              <a:buChar char="●"/>
            </a:pPr>
            <a:r>
              <a:rPr lang="en" sz="1400" b="1" dirty="0">
                <a:solidFill>
                  <a:srgbClr val="B85741"/>
                </a:solidFill>
              </a:rPr>
              <a:t>Current mechanisms for climate finance in developing nations:</a:t>
            </a:r>
            <a:endParaRPr sz="1400" b="1" dirty="0">
              <a:solidFill>
                <a:srgbClr val="B85741"/>
              </a:solidFill>
            </a:endParaRPr>
          </a:p>
          <a:p>
            <a:pPr marL="914400" lvl="1" indent="-304800" algn="l" rtl="0">
              <a:spcBef>
                <a:spcPts val="0"/>
              </a:spcBef>
              <a:spcAft>
                <a:spcPts val="0"/>
              </a:spcAft>
              <a:buClr>
                <a:srgbClr val="000000"/>
              </a:buClr>
              <a:buSzPts val="1200"/>
              <a:buChar char="○"/>
            </a:pPr>
            <a:r>
              <a:rPr lang="en" sz="1200" dirty="0">
                <a:solidFill>
                  <a:srgbClr val="002F4A"/>
                </a:solidFill>
              </a:rPr>
              <a:t>Carbon Markets </a:t>
            </a:r>
            <a:endParaRPr sz="1200" dirty="0">
              <a:solidFill>
                <a:srgbClr val="002F4A"/>
              </a:solidFill>
            </a:endParaRPr>
          </a:p>
          <a:p>
            <a:pPr marL="914400" lvl="1" indent="-304800" algn="l" rtl="0">
              <a:spcBef>
                <a:spcPts val="0"/>
              </a:spcBef>
              <a:spcAft>
                <a:spcPts val="0"/>
              </a:spcAft>
              <a:buClr>
                <a:srgbClr val="000000"/>
              </a:buClr>
              <a:buSzPts val="1200"/>
              <a:buChar char="○"/>
            </a:pPr>
            <a:r>
              <a:rPr lang="en" sz="1200" dirty="0">
                <a:solidFill>
                  <a:srgbClr val="002F4A"/>
                </a:solidFill>
              </a:rPr>
              <a:t>Development Policy Financing</a:t>
            </a:r>
            <a:endParaRPr sz="1200" dirty="0">
              <a:solidFill>
                <a:srgbClr val="002F4A"/>
              </a:solidFill>
            </a:endParaRPr>
          </a:p>
          <a:p>
            <a:pPr marL="914400" lvl="1" indent="-304800" algn="l" rtl="0">
              <a:spcBef>
                <a:spcPts val="0"/>
              </a:spcBef>
              <a:spcAft>
                <a:spcPts val="0"/>
              </a:spcAft>
              <a:buClr>
                <a:srgbClr val="000000"/>
              </a:buClr>
              <a:buSzPts val="1200"/>
              <a:buChar char="○"/>
            </a:pPr>
            <a:r>
              <a:rPr lang="en" sz="1200" dirty="0">
                <a:solidFill>
                  <a:srgbClr val="002F4A"/>
                </a:solidFill>
              </a:rPr>
              <a:t>EU CBAM (future)</a:t>
            </a:r>
            <a:endParaRPr sz="1200" dirty="0">
              <a:solidFill>
                <a:srgbClr val="002F4A"/>
              </a:solidFill>
            </a:endParaRPr>
          </a:p>
          <a:p>
            <a:pPr marL="914400" lvl="1" indent="-304800" algn="l" rtl="0">
              <a:spcBef>
                <a:spcPts val="0"/>
              </a:spcBef>
              <a:spcAft>
                <a:spcPts val="0"/>
              </a:spcAft>
              <a:buClr>
                <a:srgbClr val="000000"/>
              </a:buClr>
              <a:buSzPts val="1200"/>
              <a:buChar char="○"/>
            </a:pPr>
            <a:r>
              <a:rPr lang="en" sz="1200" dirty="0">
                <a:solidFill>
                  <a:srgbClr val="002F4A"/>
                </a:solidFill>
              </a:rPr>
              <a:t>Sustainability-Linked-Bonds (early stage)</a:t>
            </a:r>
            <a:endParaRPr sz="1200" dirty="0">
              <a:solidFill>
                <a:srgbClr val="002F4A"/>
              </a:solidFill>
            </a:endParaRPr>
          </a:p>
          <a:p>
            <a:pPr marL="457200" lvl="0" indent="-304800" algn="l" rtl="0">
              <a:spcBef>
                <a:spcPts val="0"/>
              </a:spcBef>
              <a:spcAft>
                <a:spcPts val="0"/>
              </a:spcAft>
              <a:buClr>
                <a:srgbClr val="000000"/>
              </a:buClr>
              <a:buSzPts val="1200"/>
              <a:buChar char="●"/>
            </a:pPr>
            <a:r>
              <a:rPr lang="en" sz="1400" b="1" dirty="0">
                <a:solidFill>
                  <a:srgbClr val="B85741"/>
                </a:solidFill>
              </a:rPr>
              <a:t>Need for financing with a clear incentives framework for public and private sector:</a:t>
            </a:r>
            <a:endParaRPr sz="1400" b="1" dirty="0">
              <a:solidFill>
                <a:srgbClr val="B85741"/>
              </a:solidFill>
            </a:endParaRPr>
          </a:p>
          <a:p>
            <a:pPr marL="914400" lvl="1" indent="-304800" algn="l" rtl="0">
              <a:spcBef>
                <a:spcPts val="0"/>
              </a:spcBef>
              <a:spcAft>
                <a:spcPts val="0"/>
              </a:spcAft>
              <a:buClr>
                <a:srgbClr val="000000"/>
              </a:buClr>
              <a:buSzPts val="1200"/>
              <a:buChar char="○"/>
            </a:pPr>
            <a:r>
              <a:rPr lang="en" sz="1200" dirty="0">
                <a:solidFill>
                  <a:srgbClr val="002F4A"/>
                </a:solidFill>
              </a:rPr>
              <a:t>95% of public climate financing is provided upfront -- and lacks a clear and effective incentive structure (WB, 2022)</a:t>
            </a:r>
            <a:endParaRPr sz="1200" dirty="0">
              <a:solidFill>
                <a:srgbClr val="002F4A"/>
              </a:solidFill>
            </a:endParaRPr>
          </a:p>
          <a:p>
            <a:pPr marL="457200" lvl="0" indent="-304800" algn="l" rtl="0">
              <a:spcBef>
                <a:spcPts val="0"/>
              </a:spcBef>
              <a:spcAft>
                <a:spcPts val="0"/>
              </a:spcAft>
              <a:buClr>
                <a:srgbClr val="000000"/>
              </a:buClr>
              <a:buSzPts val="1200"/>
              <a:buChar char="●"/>
            </a:pPr>
            <a:r>
              <a:rPr lang="en" sz="1400" b="1" dirty="0">
                <a:solidFill>
                  <a:srgbClr val="B85741"/>
                </a:solidFill>
              </a:rPr>
              <a:t>Can we formulate a new class of instrument that effectively incentivizes developing countries to engage in environmentally responsible development?</a:t>
            </a:r>
            <a:endParaRPr sz="1400" b="1" dirty="0">
              <a:solidFill>
                <a:srgbClr val="B85741"/>
              </a:solidFill>
            </a:endParaRPr>
          </a:p>
        </p:txBody>
      </p:sp>
      <p:sp>
        <p:nvSpPr>
          <p:cNvPr id="3" name="Subtitle 2">
            <a:extLst>
              <a:ext uri="{FF2B5EF4-FFF2-40B4-BE49-F238E27FC236}">
                <a16:creationId xmlns:a16="http://schemas.microsoft.com/office/drawing/2014/main" id="{D27783D5-6437-7EEC-573E-954525A6FEB9}"/>
              </a:ext>
            </a:extLst>
          </p:cNvPr>
          <p:cNvSpPr>
            <a:spLocks noGrp="1"/>
          </p:cNvSpPr>
          <p:nvPr>
            <p:ph type="subTitle" idx="1"/>
          </p:nvPr>
        </p:nvSpPr>
        <p:spPr/>
        <p:txBody>
          <a:bodyPr>
            <a:normAutofit fontScale="92500" lnSpcReduction="20000"/>
          </a:bodyPr>
          <a:lstStyle/>
          <a:p>
            <a:r>
              <a:rPr lang="en" sz="2000" dirty="0"/>
              <a:t>Why SLIDIs? Incentivize Climate Action</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Rectangle 7">
            <a:extLst>
              <a:ext uri="{FF2B5EF4-FFF2-40B4-BE49-F238E27FC236}">
                <a16:creationId xmlns:a16="http://schemas.microsoft.com/office/drawing/2014/main" id="{55C62A54-6B89-10F7-F1AF-C0BEC10EA8B1}"/>
              </a:ext>
            </a:extLst>
          </p:cNvPr>
          <p:cNvSpPr/>
          <p:nvPr/>
        </p:nvSpPr>
        <p:spPr>
          <a:xfrm>
            <a:off x="4724456" y="1282694"/>
            <a:ext cx="3814884" cy="368111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441E3C5-F108-0C0A-5B68-D312B0A11AA9}"/>
              </a:ext>
            </a:extLst>
          </p:cNvPr>
          <p:cNvSpPr/>
          <p:nvPr/>
        </p:nvSpPr>
        <p:spPr>
          <a:xfrm>
            <a:off x="604660" y="1282695"/>
            <a:ext cx="3814884" cy="368111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Google Shape;147;p19"/>
          <p:cNvSpPr txBox="1">
            <a:spLocks noGrp="1"/>
          </p:cNvSpPr>
          <p:nvPr>
            <p:ph type="subTitle" idx="1"/>
          </p:nvPr>
        </p:nvSpPr>
        <p:spPr>
          <a:xfrm>
            <a:off x="293300" y="554416"/>
            <a:ext cx="8557402" cy="481076"/>
          </a:xfrm>
        </p:spPr>
        <p:txBody>
          <a:bodyPr spcFirstLastPara="1" wrap="square" lIns="91425" tIns="91425" rIns="91425" bIns="91425" anchor="t" anchorCtr="0">
            <a:noAutofit/>
          </a:bodyPr>
          <a:lstStyle/>
          <a:p>
            <a:pPr lvl="0"/>
            <a:r>
              <a:rPr lang="en" dirty="0"/>
              <a:t>Why SLIDIs? Reduce Investment Risks</a:t>
            </a:r>
            <a:endParaRPr lang="en-GB" dirty="0"/>
          </a:p>
        </p:txBody>
      </p:sp>
      <p:sp>
        <p:nvSpPr>
          <p:cNvPr id="148" name="Google Shape;148;p19"/>
          <p:cNvSpPr txBox="1">
            <a:spLocks noGrp="1"/>
          </p:cNvSpPr>
          <p:nvPr>
            <p:ph type="body" idx="4294967295"/>
          </p:nvPr>
        </p:nvSpPr>
        <p:spPr>
          <a:xfrm>
            <a:off x="4828817" y="2830204"/>
            <a:ext cx="3814885" cy="198976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rgbClr val="B85741"/>
                </a:solidFill>
              </a:rPr>
              <a:t>Institutional Contribution to De-risking:</a:t>
            </a:r>
            <a:endParaRPr sz="1200" b="1" dirty="0">
              <a:solidFill>
                <a:srgbClr val="B85741"/>
              </a:solidFill>
            </a:endParaRPr>
          </a:p>
          <a:p>
            <a:pPr marL="457200" lvl="0" indent="-304800" algn="l" rtl="0">
              <a:spcBef>
                <a:spcPts val="1200"/>
              </a:spcBef>
              <a:spcAft>
                <a:spcPts val="0"/>
              </a:spcAft>
              <a:buClr>
                <a:srgbClr val="000000"/>
              </a:buClr>
              <a:buSzPts val="1200"/>
              <a:buChar char="●"/>
            </a:pPr>
            <a:r>
              <a:rPr lang="en" sz="1200" dirty="0">
                <a:solidFill>
                  <a:srgbClr val="002F4A"/>
                </a:solidFill>
              </a:rPr>
              <a:t>World Bank and similar institutions create a 'halo effect,’ influencing investors to accept lower yields based on confidence in WB's due diligence</a:t>
            </a:r>
            <a:endParaRPr sz="1200" dirty="0">
              <a:solidFill>
                <a:srgbClr val="002F4A"/>
              </a:solidFill>
            </a:endParaRPr>
          </a:p>
          <a:p>
            <a:pPr marL="457200" lvl="0" indent="-304800" algn="l" rtl="0">
              <a:spcBef>
                <a:spcPts val="0"/>
              </a:spcBef>
              <a:spcAft>
                <a:spcPts val="0"/>
              </a:spcAft>
              <a:buClr>
                <a:srgbClr val="000000"/>
              </a:buClr>
              <a:buSzPts val="1200"/>
              <a:buChar char="●"/>
            </a:pPr>
            <a:r>
              <a:rPr lang="en" sz="1200" dirty="0">
                <a:solidFill>
                  <a:srgbClr val="002F4A"/>
                </a:solidFill>
              </a:rPr>
              <a:t>Strategic redirection of resources from bond issuance to operations reduces risk of nonpayment</a:t>
            </a:r>
            <a:endParaRPr sz="1200" dirty="0">
              <a:solidFill>
                <a:srgbClr val="002F4A"/>
              </a:solidFill>
            </a:endParaRPr>
          </a:p>
        </p:txBody>
      </p:sp>
      <p:grpSp>
        <p:nvGrpSpPr>
          <p:cNvPr id="140" name="Google Shape;140;p19"/>
          <p:cNvGrpSpPr/>
          <p:nvPr/>
        </p:nvGrpSpPr>
        <p:grpSpPr>
          <a:xfrm>
            <a:off x="523463" y="1282889"/>
            <a:ext cx="3896138" cy="1402891"/>
            <a:chOff x="1126857" y="2013877"/>
            <a:chExt cx="1944600" cy="652500"/>
          </a:xfrm>
        </p:grpSpPr>
        <p:sp>
          <p:nvSpPr>
            <p:cNvPr id="141" name="Google Shape;141;p19"/>
            <p:cNvSpPr/>
            <p:nvPr/>
          </p:nvSpPr>
          <p:spPr>
            <a:xfrm>
              <a:off x="1126857" y="2013877"/>
              <a:ext cx="1944600" cy="6525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9"/>
            <p:cNvSpPr txBox="1"/>
            <p:nvPr/>
          </p:nvSpPr>
          <p:spPr>
            <a:xfrm>
              <a:off x="1265614" y="2082573"/>
              <a:ext cx="1667100" cy="5151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rgbClr val="FFFFFF"/>
                  </a:solidFill>
                  <a:latin typeface="Roboto"/>
                  <a:ea typeface="Roboto"/>
                  <a:cs typeface="Roboto"/>
                  <a:sym typeface="Roboto"/>
                </a:rPr>
                <a:t>To encourage private investment in developing countries, streamline the investment process, optimize rewards, and minimize risks. </a:t>
              </a:r>
              <a:endParaRPr sz="1200" b="1" dirty="0">
                <a:solidFill>
                  <a:srgbClr val="FFFFFF"/>
                </a:solidFill>
                <a:latin typeface="Roboto"/>
                <a:ea typeface="Roboto"/>
                <a:cs typeface="Roboto"/>
                <a:sym typeface="Roboto"/>
              </a:endParaRPr>
            </a:p>
          </p:txBody>
        </p:sp>
      </p:grpSp>
      <p:grpSp>
        <p:nvGrpSpPr>
          <p:cNvPr id="143" name="Google Shape;143;p19"/>
          <p:cNvGrpSpPr/>
          <p:nvPr/>
        </p:nvGrpSpPr>
        <p:grpSpPr>
          <a:xfrm>
            <a:off x="4724457" y="1282695"/>
            <a:ext cx="3875155" cy="1402891"/>
            <a:chOff x="3071454" y="2013875"/>
            <a:chExt cx="2154300" cy="1569600"/>
          </a:xfrm>
        </p:grpSpPr>
        <p:sp>
          <p:nvSpPr>
            <p:cNvPr id="144" name="Google Shape;144;p19"/>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9"/>
            <p:cNvSpPr txBox="1"/>
            <p:nvPr/>
          </p:nvSpPr>
          <p:spPr>
            <a:xfrm>
              <a:off x="3259784" y="2301422"/>
              <a:ext cx="1779000" cy="459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rgbClr val="FFFFFF"/>
                  </a:solidFill>
                  <a:latin typeface="Roboto"/>
                  <a:ea typeface="Roboto"/>
                  <a:cs typeface="Roboto"/>
                  <a:sym typeface="Roboto"/>
                </a:rPr>
                <a:t>Mitigate perceived risks via collaboration with the World Bank and other development partners</a:t>
              </a:r>
              <a:endParaRPr sz="1200" dirty="0">
                <a:solidFill>
                  <a:srgbClr val="FFFFFF"/>
                </a:solidFill>
                <a:latin typeface="Roboto"/>
                <a:ea typeface="Roboto"/>
                <a:cs typeface="Roboto"/>
                <a:sym typeface="Roboto"/>
              </a:endParaRPr>
            </a:p>
          </p:txBody>
        </p:sp>
      </p:grpSp>
      <p:sp>
        <p:nvSpPr>
          <p:cNvPr id="146" name="Google Shape;146;p19"/>
          <p:cNvSpPr txBox="1"/>
          <p:nvPr/>
        </p:nvSpPr>
        <p:spPr>
          <a:xfrm>
            <a:off x="152400" y="15240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None/>
            </a:pPr>
            <a:endParaRPr/>
          </a:p>
        </p:txBody>
      </p:sp>
      <p:sp>
        <p:nvSpPr>
          <p:cNvPr id="5" name="Google Shape;148;p19">
            <a:extLst>
              <a:ext uri="{FF2B5EF4-FFF2-40B4-BE49-F238E27FC236}">
                <a16:creationId xmlns:a16="http://schemas.microsoft.com/office/drawing/2014/main" id="{122AF2CE-415D-0FD5-153F-B2941238B327}"/>
              </a:ext>
            </a:extLst>
          </p:cNvPr>
          <p:cNvSpPr txBox="1">
            <a:spLocks/>
          </p:cNvSpPr>
          <p:nvPr/>
        </p:nvSpPr>
        <p:spPr>
          <a:xfrm>
            <a:off x="627825" y="2830204"/>
            <a:ext cx="3791719" cy="21732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GB" sz="1200" b="1" dirty="0">
                <a:solidFill>
                  <a:srgbClr val="B85741"/>
                </a:solidFill>
              </a:rPr>
              <a:t>Direct Investment Risks in Developing Countries:</a:t>
            </a:r>
          </a:p>
          <a:p>
            <a:pPr marL="457200" indent="-304800">
              <a:spcBef>
                <a:spcPts val="1200"/>
              </a:spcBef>
              <a:buClr>
                <a:srgbClr val="000000"/>
              </a:buClr>
              <a:buSzPts val="1200"/>
              <a:buFont typeface="Roboto"/>
              <a:buChar char="●"/>
            </a:pPr>
            <a:r>
              <a:rPr lang="en-GB" sz="1200" dirty="0">
                <a:solidFill>
                  <a:srgbClr val="002F4A"/>
                </a:solidFill>
              </a:rPr>
              <a:t>Concerns about financial stability and reliability of repayments</a:t>
            </a:r>
          </a:p>
          <a:p>
            <a:pPr marL="457200" indent="-304800">
              <a:buClr>
                <a:srgbClr val="000000"/>
              </a:buClr>
              <a:buSzPts val="1200"/>
              <a:buFont typeface="Roboto"/>
              <a:buChar char="●"/>
            </a:pPr>
            <a:r>
              <a:rPr lang="en-GB" sz="1200" dirty="0">
                <a:solidFill>
                  <a:srgbClr val="002F4A"/>
                </a:solidFill>
              </a:rPr>
              <a:t>Currency depreciation; foreign exchange risks</a:t>
            </a:r>
          </a:p>
          <a:p>
            <a:pPr marL="457200" indent="-304800">
              <a:buClr>
                <a:srgbClr val="000000"/>
              </a:buClr>
              <a:buSzPts val="1200"/>
              <a:buFont typeface="Roboto"/>
              <a:buChar char="●"/>
            </a:pPr>
            <a:r>
              <a:rPr lang="en-GB" sz="1200" dirty="0">
                <a:solidFill>
                  <a:srgbClr val="002F4A"/>
                </a:solidFill>
              </a:rPr>
              <a:t>Institutional capacity gaps and technical limitations</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2"/>
        <p:cNvGrpSpPr/>
        <p:nvPr/>
      </p:nvGrpSpPr>
      <p:grpSpPr>
        <a:xfrm>
          <a:off x="0" y="0"/>
          <a:ext cx="0" cy="0"/>
          <a:chOff x="0" y="0"/>
          <a:chExt cx="0" cy="0"/>
        </a:xfrm>
      </p:grpSpPr>
      <p:sp>
        <p:nvSpPr>
          <p:cNvPr id="3" name="Subtitle 2">
            <a:extLst>
              <a:ext uri="{FF2B5EF4-FFF2-40B4-BE49-F238E27FC236}">
                <a16:creationId xmlns:a16="http://schemas.microsoft.com/office/drawing/2014/main" id="{EEF8EC68-4424-C4F8-CEBF-7671BE0EC886}"/>
              </a:ext>
            </a:extLst>
          </p:cNvPr>
          <p:cNvSpPr>
            <a:spLocks noGrp="1"/>
          </p:cNvSpPr>
          <p:nvPr>
            <p:ph type="subTitle" idx="1"/>
          </p:nvPr>
        </p:nvSpPr>
        <p:spPr>
          <a:xfrm>
            <a:off x="3318782" y="3951791"/>
            <a:ext cx="5825218" cy="794828"/>
          </a:xfrm>
        </p:spPr>
        <p:txBody>
          <a:bodyPr>
            <a:normAutofit fontScale="77500" lnSpcReduction="20000"/>
          </a:bodyPr>
          <a:lstStyle/>
          <a:p>
            <a:r>
              <a:rPr lang="en-GB"/>
              <a:t>Sustainability-Linked Bonds</a:t>
            </a:r>
          </a:p>
          <a:p>
            <a:pPr lvl="0"/>
            <a:r>
              <a:rPr lang="en-GB"/>
              <a:t>Basic Concept</a:t>
            </a:r>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6" name="Rectangle 5">
            <a:extLst>
              <a:ext uri="{FF2B5EF4-FFF2-40B4-BE49-F238E27FC236}">
                <a16:creationId xmlns:a16="http://schemas.microsoft.com/office/drawing/2014/main" id="{09CD31BF-8970-BF63-5029-FB28C6BD8512}"/>
              </a:ext>
            </a:extLst>
          </p:cNvPr>
          <p:cNvSpPr/>
          <p:nvPr/>
        </p:nvSpPr>
        <p:spPr>
          <a:xfrm>
            <a:off x="4762030" y="1365228"/>
            <a:ext cx="4204170"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Google Shape;165;p21"/>
          <p:cNvSpPr txBox="1">
            <a:spLocks noGrp="1"/>
          </p:cNvSpPr>
          <p:nvPr>
            <p:ph type="subTitle" idx="1"/>
          </p:nvPr>
        </p:nvSpPr>
        <p:spPr>
          <a:xfrm>
            <a:off x="293300" y="554416"/>
            <a:ext cx="8557402" cy="481076"/>
          </a:xfrm>
        </p:spPr>
        <p:txBody>
          <a:bodyPr spcFirstLastPara="1" wrap="square" lIns="91425" tIns="91425" rIns="91425" bIns="91425" anchor="t" anchorCtr="0">
            <a:normAutofit fontScale="92500" lnSpcReduction="20000"/>
          </a:bodyPr>
          <a:lstStyle/>
          <a:p>
            <a:r>
              <a:rPr lang="en" dirty="0"/>
              <a:t>Basic Concept of Sustainability-Linked Sovereign Bonds </a:t>
            </a:r>
            <a:endParaRPr lang="en-GB" dirty="0"/>
          </a:p>
        </p:txBody>
      </p:sp>
      <p:sp>
        <p:nvSpPr>
          <p:cNvPr id="160" name="Google Shape;160;p21"/>
          <p:cNvSpPr txBox="1">
            <a:spLocks noGrp="1"/>
          </p:cNvSpPr>
          <p:nvPr>
            <p:ph type="body" idx="4294967295"/>
          </p:nvPr>
        </p:nvSpPr>
        <p:spPr>
          <a:xfrm>
            <a:off x="152365" y="1480949"/>
            <a:ext cx="4419636" cy="3240920"/>
          </a:xfrm>
          <a:prstGeom prst="rect">
            <a:avLst/>
          </a:prstGeom>
        </p:spPr>
        <p:txBody>
          <a:bodyPr spcFirstLastPara="1" wrap="square" lIns="91425" tIns="91425" rIns="91425" bIns="91425" anchor="t" anchorCtr="0">
            <a:noAutofit/>
          </a:bodyPr>
          <a:lstStyle/>
          <a:p>
            <a:pPr>
              <a:lnSpc>
                <a:spcPct val="160000"/>
              </a:lnSpc>
              <a:buClr>
                <a:srgbClr val="666666"/>
              </a:buClr>
            </a:pPr>
            <a:r>
              <a:rPr lang="en-US" sz="1400" b="1" dirty="0">
                <a:solidFill>
                  <a:srgbClr val="B85741"/>
                </a:solidFill>
              </a:rPr>
              <a:t>As a country achieves sustainability-related Key Performance Indicators (KPIs):</a:t>
            </a:r>
          </a:p>
          <a:p>
            <a:pPr lvl="1">
              <a:lnSpc>
                <a:spcPct val="160000"/>
              </a:lnSpc>
              <a:buClr>
                <a:srgbClr val="666666"/>
              </a:buClr>
            </a:pPr>
            <a:r>
              <a:rPr lang="en-US" sz="1400" dirty="0">
                <a:solidFill>
                  <a:srgbClr val="002F4A"/>
                </a:solidFill>
              </a:rPr>
              <a:t>Coupon payments on sovereign-issued SLBs are reduced and investors receive lower coupons (step-down mechanism) </a:t>
            </a:r>
          </a:p>
          <a:p>
            <a:pPr lvl="1">
              <a:lnSpc>
                <a:spcPct val="160000"/>
              </a:lnSpc>
              <a:buClr>
                <a:srgbClr val="666666"/>
              </a:buClr>
            </a:pPr>
            <a:endParaRPr lang="en-US" sz="1200" dirty="0">
              <a:solidFill>
                <a:srgbClr val="002F4A"/>
              </a:solidFill>
            </a:endParaRPr>
          </a:p>
          <a:p>
            <a:pPr>
              <a:lnSpc>
                <a:spcPct val="160000"/>
              </a:lnSpc>
              <a:buClr>
                <a:srgbClr val="666666"/>
              </a:buClr>
            </a:pPr>
            <a:r>
              <a:rPr lang="en-US" sz="1400" b="1" dirty="0">
                <a:solidFill>
                  <a:srgbClr val="B85741"/>
                </a:solidFill>
              </a:rPr>
              <a:t>Conversely, if KPIs are not achieved: </a:t>
            </a:r>
          </a:p>
          <a:p>
            <a:pPr lvl="1">
              <a:lnSpc>
                <a:spcPct val="160000"/>
              </a:lnSpc>
              <a:buClr>
                <a:srgbClr val="666666"/>
              </a:buClr>
              <a:buSzPts val="1300"/>
            </a:pPr>
            <a:r>
              <a:rPr lang="en-US" sz="1400" dirty="0">
                <a:solidFill>
                  <a:srgbClr val="002F4A"/>
                </a:solidFill>
              </a:rPr>
              <a:t>Sovereign pays higher coupon payments (step-up mechanism)</a:t>
            </a:r>
          </a:p>
        </p:txBody>
      </p:sp>
      <p:sp>
        <p:nvSpPr>
          <p:cNvPr id="166" name="Google Shape;166;p21"/>
          <p:cNvSpPr txBox="1">
            <a:spLocks noGrp="1"/>
          </p:cNvSpPr>
          <p:nvPr>
            <p:ph type="subTitle" idx="4294967295"/>
          </p:nvPr>
        </p:nvSpPr>
        <p:spPr>
          <a:xfrm>
            <a:off x="6934284" y="4087111"/>
            <a:ext cx="1909762" cy="981075"/>
          </a:xfrm>
          <a:prstGeom prst="rect">
            <a:avLst/>
          </a:prstGeom>
        </p:spPr>
        <p:txBody>
          <a:bodyPr spcFirstLastPara="1" wrap="square" lIns="91425" tIns="91425" rIns="91425" bIns="91425" anchor="t" anchorCtr="0">
            <a:normAutofit lnSpcReduction="10000"/>
          </a:bodyPr>
          <a:lstStyle/>
          <a:p>
            <a:pPr marL="0" indent="0" algn="ctr">
              <a:spcAft>
                <a:spcPts val="1200"/>
              </a:spcAft>
              <a:buNone/>
            </a:pPr>
            <a:r>
              <a:rPr lang="en" sz="1000" b="1">
                <a:solidFill>
                  <a:srgbClr val="B85741"/>
                </a:solidFill>
              </a:rPr>
              <a:t>Stands to receive a higher payment rate if the country deviates from public good provision</a:t>
            </a:r>
          </a:p>
        </p:txBody>
      </p:sp>
      <p:grpSp>
        <p:nvGrpSpPr>
          <p:cNvPr id="161" name="Google Shape;161;p21"/>
          <p:cNvGrpSpPr/>
          <p:nvPr/>
        </p:nvGrpSpPr>
        <p:grpSpPr>
          <a:xfrm>
            <a:off x="5181716" y="2322168"/>
            <a:ext cx="1574517" cy="2399700"/>
            <a:chOff x="2744034" y="1146343"/>
            <a:chExt cx="1827900" cy="2399700"/>
          </a:xfrm>
        </p:grpSpPr>
        <p:sp>
          <p:nvSpPr>
            <p:cNvPr id="162" name="Google Shape;162;p21"/>
            <p:cNvSpPr/>
            <p:nvPr/>
          </p:nvSpPr>
          <p:spPr>
            <a:xfrm rot="-5400000">
              <a:off x="2458134" y="1432243"/>
              <a:ext cx="2399700" cy="1827900"/>
            </a:xfrm>
            <a:prstGeom prst="rightArrowCallout">
              <a:avLst>
                <a:gd name="adj1" fmla="val 9283"/>
                <a:gd name="adj2" fmla="val 13570"/>
                <a:gd name="adj3" fmla="val 16082"/>
                <a:gd name="adj4" fmla="val 8123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1"/>
            <p:cNvSpPr/>
            <p:nvPr/>
          </p:nvSpPr>
          <p:spPr>
            <a:xfrm flipH="1">
              <a:off x="2832600" y="1686400"/>
              <a:ext cx="1649400" cy="1769700"/>
            </a:xfrm>
            <a:prstGeom prst="snip1Rect">
              <a:avLst>
                <a:gd name="adj"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1"/>
            <p:cNvSpPr txBox="1"/>
            <p:nvPr/>
          </p:nvSpPr>
          <p:spPr>
            <a:xfrm>
              <a:off x="2907484" y="1740797"/>
              <a:ext cx="1510200" cy="1605600"/>
            </a:xfrm>
            <a:prstGeom prst="rect">
              <a:avLst/>
            </a:prstGeom>
            <a:solidFill>
              <a:schemeClr val="accent5"/>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50" b="1" dirty="0">
                  <a:solidFill>
                    <a:srgbClr val="FFFFFF"/>
                  </a:solidFill>
                  <a:latin typeface="Roboto"/>
                  <a:ea typeface="Roboto"/>
                  <a:cs typeface="Roboto"/>
                  <a:sym typeface="Roboto"/>
                </a:rPr>
                <a:t>Sovereign receives an infusion of private investment, e.g., earmarked for climate financing and achieving its NDCs</a:t>
              </a:r>
              <a:endParaRPr sz="1050" b="1" dirty="0">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800" dirty="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dirty="0">
                <a:solidFill>
                  <a:srgbClr val="FFFFFF"/>
                </a:solidFill>
              </a:endParaRPr>
            </a:p>
          </p:txBody>
        </p:sp>
      </p:grpSp>
      <p:grpSp>
        <p:nvGrpSpPr>
          <p:cNvPr id="167" name="Google Shape;167;p21"/>
          <p:cNvGrpSpPr/>
          <p:nvPr/>
        </p:nvGrpSpPr>
        <p:grpSpPr>
          <a:xfrm>
            <a:off x="7070719" y="1597469"/>
            <a:ext cx="1574518" cy="2399700"/>
            <a:chOff x="4572085" y="1597469"/>
            <a:chExt cx="1827900" cy="2399700"/>
          </a:xfrm>
        </p:grpSpPr>
        <p:sp>
          <p:nvSpPr>
            <p:cNvPr id="168" name="Google Shape;168;p21"/>
            <p:cNvSpPr/>
            <p:nvPr/>
          </p:nvSpPr>
          <p:spPr>
            <a:xfrm rot="5400000">
              <a:off x="4286185" y="1883369"/>
              <a:ext cx="2399700" cy="1827900"/>
            </a:xfrm>
            <a:prstGeom prst="rightArrowCallout">
              <a:avLst>
                <a:gd name="adj1" fmla="val 9283"/>
                <a:gd name="adj2" fmla="val 13570"/>
                <a:gd name="adj3" fmla="val 16082"/>
                <a:gd name="adj4" fmla="val 812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1"/>
            <p:cNvSpPr txBox="1"/>
            <p:nvPr/>
          </p:nvSpPr>
          <p:spPr>
            <a:xfrm>
              <a:off x="4794525" y="1904895"/>
              <a:ext cx="1383000" cy="14760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Investor contributes to the financing of clean infrastructure and a green economy</a:t>
              </a:r>
              <a:endParaRPr sz="800">
                <a:solidFill>
                  <a:srgbClr val="FFFFFF"/>
                </a:solidFill>
              </a:endParaRPr>
            </a:p>
          </p:txBody>
        </p:sp>
        <p:sp>
          <p:nvSpPr>
            <p:cNvPr id="170" name="Google Shape;170;p21"/>
            <p:cNvSpPr/>
            <p:nvPr/>
          </p:nvSpPr>
          <p:spPr>
            <a:xfrm rot="10800000" flipH="1">
              <a:off x="4662018" y="1687411"/>
              <a:ext cx="1649400" cy="1769700"/>
            </a:xfrm>
            <a:prstGeom prst="snip1Rect">
              <a:avLst>
                <a:gd name="adj" fmla="val 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 name="Google Shape;171;p21"/>
          <p:cNvSpPr txBox="1"/>
          <p:nvPr/>
        </p:nvSpPr>
        <p:spPr>
          <a:xfrm>
            <a:off x="7156725" y="1709695"/>
            <a:ext cx="1383000" cy="1747416"/>
          </a:xfrm>
          <a:prstGeom prst="rect">
            <a:avLst/>
          </a:prstGeom>
          <a:solidFill>
            <a:srgbClr val="A72A1E"/>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50" b="1" dirty="0">
                <a:solidFill>
                  <a:srgbClr val="FFFFFF"/>
                </a:solidFill>
                <a:latin typeface="Roboto"/>
                <a:ea typeface="Roboto"/>
                <a:cs typeface="Roboto"/>
                <a:sym typeface="Roboto"/>
              </a:rPr>
              <a:t>Investor hopes to actively contribute to sustainability objectives – but experiences a higher return on investment if KPIs aren’t met</a:t>
            </a:r>
            <a:endParaRPr sz="1050" b="1" dirty="0">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700" dirty="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dirty="0">
              <a:solidFill>
                <a:srgbClr val="FFFFFF"/>
              </a:solidFill>
            </a:endParaRPr>
          </a:p>
        </p:txBody>
      </p:sp>
      <p:sp>
        <p:nvSpPr>
          <p:cNvPr id="4" name="Google Shape;166;p21">
            <a:extLst>
              <a:ext uri="{FF2B5EF4-FFF2-40B4-BE49-F238E27FC236}">
                <a16:creationId xmlns:a16="http://schemas.microsoft.com/office/drawing/2014/main" id="{5DE2F404-98BE-F399-1AB6-176BAB6120B0}"/>
              </a:ext>
            </a:extLst>
          </p:cNvPr>
          <p:cNvSpPr txBox="1">
            <a:spLocks/>
          </p:cNvSpPr>
          <p:nvPr/>
        </p:nvSpPr>
        <p:spPr>
          <a:xfrm>
            <a:off x="5098169" y="1466620"/>
            <a:ext cx="1673348" cy="981075"/>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lgn="ctr">
              <a:spcAft>
                <a:spcPts val="1200"/>
              </a:spcAft>
              <a:buSzPct val="57291"/>
              <a:buNone/>
            </a:pPr>
            <a:r>
              <a:rPr lang="en-GB" sz="1000" b="1" dirty="0">
                <a:solidFill>
                  <a:srgbClr val="002F4A"/>
                </a:solidFill>
              </a:rPr>
              <a:t>Contributes to global public good and concurrently lowers interest rate on debt</a:t>
            </a:r>
            <a:endParaRPr lang="en-GB" sz="300" b="1" dirty="0">
              <a:solidFill>
                <a:srgbClr val="002F4A"/>
              </a:solidFill>
            </a:endParaRP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776491C7-CA12-95ED-C6DD-04FF5AEC3C3D}"/>
            </a:ext>
          </a:extLst>
        </p:cNvPr>
        <p:cNvGrpSpPr/>
        <p:nvPr/>
      </p:nvGrpSpPr>
      <p:grpSpPr>
        <a:xfrm>
          <a:off x="0" y="0"/>
          <a:ext cx="0" cy="0"/>
          <a:chOff x="0" y="0"/>
          <a:chExt cx="0" cy="0"/>
        </a:xfrm>
      </p:grpSpPr>
      <p:sp>
        <p:nvSpPr>
          <p:cNvPr id="165" name="Google Shape;165;p21">
            <a:extLst>
              <a:ext uri="{FF2B5EF4-FFF2-40B4-BE49-F238E27FC236}">
                <a16:creationId xmlns:a16="http://schemas.microsoft.com/office/drawing/2014/main" id="{BE80F45C-4E02-E087-C08A-F4FFC682A501}"/>
              </a:ext>
            </a:extLst>
          </p:cNvPr>
          <p:cNvSpPr txBox="1">
            <a:spLocks noGrp="1"/>
          </p:cNvSpPr>
          <p:nvPr>
            <p:ph type="subTitle" idx="1"/>
          </p:nvPr>
        </p:nvSpPr>
        <p:spPr>
          <a:xfrm>
            <a:off x="293300" y="554416"/>
            <a:ext cx="8557402" cy="481076"/>
          </a:xfrm>
        </p:spPr>
        <p:txBody>
          <a:bodyPr spcFirstLastPara="1" wrap="square" lIns="91425" tIns="91425" rIns="91425" bIns="91425" anchor="t" anchorCtr="0">
            <a:normAutofit fontScale="92500" lnSpcReduction="20000"/>
          </a:bodyPr>
          <a:lstStyle/>
          <a:p>
            <a:r>
              <a:rPr lang="en" dirty="0"/>
              <a:t>SLBs: Basic Concept</a:t>
            </a:r>
            <a:endParaRPr lang="en-GB" dirty="0"/>
          </a:p>
        </p:txBody>
      </p:sp>
      <p:sp>
        <p:nvSpPr>
          <p:cNvPr id="160" name="Google Shape;160;p21">
            <a:extLst>
              <a:ext uri="{FF2B5EF4-FFF2-40B4-BE49-F238E27FC236}">
                <a16:creationId xmlns:a16="http://schemas.microsoft.com/office/drawing/2014/main" id="{ACCC6BE3-957B-8FAF-2F72-8A479262EBA0}"/>
              </a:ext>
            </a:extLst>
          </p:cNvPr>
          <p:cNvSpPr txBox="1">
            <a:spLocks noGrp="1"/>
          </p:cNvSpPr>
          <p:nvPr>
            <p:ph type="body" idx="4294967295"/>
          </p:nvPr>
        </p:nvSpPr>
        <p:spPr>
          <a:xfrm>
            <a:off x="0" y="1228725"/>
            <a:ext cx="8408988" cy="3778250"/>
          </a:xfrm>
          <a:prstGeom prst="rect">
            <a:avLst/>
          </a:prstGeom>
        </p:spPr>
        <p:txBody>
          <a:bodyPr spcFirstLastPara="1" wrap="square" lIns="91425" tIns="91425" rIns="91425" bIns="91425" anchor="t" anchorCtr="0">
            <a:noAutofit/>
          </a:bodyPr>
          <a:lstStyle/>
          <a:p>
            <a:pPr>
              <a:lnSpc>
                <a:spcPct val="150000"/>
              </a:lnSpc>
              <a:buClr>
                <a:srgbClr val="666666"/>
              </a:buClr>
            </a:pPr>
            <a:r>
              <a:rPr lang="en-US" sz="1400" b="1" dirty="0">
                <a:solidFill>
                  <a:srgbClr val="B85741"/>
                </a:solidFill>
              </a:rPr>
              <a:t>Investor Perspective: </a:t>
            </a:r>
          </a:p>
          <a:p>
            <a:pPr lvl="1">
              <a:lnSpc>
                <a:spcPct val="150000"/>
              </a:lnSpc>
              <a:buClr>
                <a:srgbClr val="666666"/>
              </a:buClr>
            </a:pPr>
            <a:r>
              <a:rPr lang="en-GB" sz="1200" b="0" i="0" u="none" strike="noStrike" dirty="0">
                <a:solidFill>
                  <a:srgbClr val="002F4A"/>
                </a:solidFill>
                <a:effectLst/>
                <a:latin typeface="Roboto" panose="02000000000000000000" pitchFamily="2" charset="0"/>
                <a:ea typeface="Roboto" panose="02000000000000000000" pitchFamily="2" charset="0"/>
                <a:cs typeface="Roboto" panose="02000000000000000000" pitchFamily="2" charset="0"/>
              </a:rPr>
              <a:t>SLBs allow companies to meet ESG goals without imposing a financial burden on unwilling shareholders.</a:t>
            </a:r>
            <a:endParaRPr lang="en-US" sz="120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lvl="1">
              <a:lnSpc>
                <a:spcPct val="150000"/>
              </a:lnSpc>
              <a:buClr>
                <a:srgbClr val="666666"/>
              </a:buClr>
            </a:pPr>
            <a:r>
              <a:rPr lang="en-US" sz="1200" dirty="0">
                <a:solidFill>
                  <a:srgbClr val="002F4A"/>
                </a:solidFill>
              </a:rPr>
              <a:t>Research shows investors are willing to accept a 4-7 bps lower yield when bonds are linked to sustainability objectives (</a:t>
            </a:r>
            <a:r>
              <a:rPr lang="en-US" sz="1200" dirty="0" err="1">
                <a:solidFill>
                  <a:srgbClr val="002F4A"/>
                </a:solidFill>
              </a:rPr>
              <a:t>Feldhütter</a:t>
            </a:r>
            <a:r>
              <a:rPr lang="en-US" sz="1200" dirty="0">
                <a:solidFill>
                  <a:srgbClr val="002F4A"/>
                </a:solidFill>
              </a:rPr>
              <a:t> et al., 2023).</a:t>
            </a:r>
          </a:p>
          <a:p>
            <a:pPr lvl="1">
              <a:lnSpc>
                <a:spcPct val="150000"/>
              </a:lnSpc>
              <a:buClr>
                <a:srgbClr val="666666"/>
              </a:buClr>
            </a:pPr>
            <a:r>
              <a:rPr lang="en-US" sz="1200" dirty="0">
                <a:solidFill>
                  <a:srgbClr val="002F4A"/>
                </a:solidFill>
              </a:rPr>
              <a:t>Investors desire external bodies which provide frameworks for data publication, credibility, and serve as external verifiers of selected KPIs (here, Sustainability Performance Targets, SPTs) to enhance market comfort and reduce risks (</a:t>
            </a:r>
            <a:r>
              <a:rPr lang="en-US" sz="1200" dirty="0" err="1">
                <a:solidFill>
                  <a:srgbClr val="002F4A"/>
                </a:solidFill>
              </a:rPr>
              <a:t>Giráldez</a:t>
            </a:r>
            <a:r>
              <a:rPr lang="en-US" sz="1200" dirty="0">
                <a:solidFill>
                  <a:srgbClr val="002F4A"/>
                </a:solidFill>
              </a:rPr>
              <a:t> &amp; Fontana, 2022).</a:t>
            </a:r>
          </a:p>
          <a:p>
            <a:pPr marL="615950" lvl="1" indent="0">
              <a:lnSpc>
                <a:spcPct val="150000"/>
              </a:lnSpc>
              <a:buClr>
                <a:srgbClr val="666666"/>
              </a:buClr>
              <a:buNone/>
            </a:pPr>
            <a:endParaRPr lang="en-US" sz="1200" dirty="0">
              <a:solidFill>
                <a:srgbClr val="002F4A"/>
              </a:solidFill>
            </a:endParaRPr>
          </a:p>
          <a:p>
            <a:pPr>
              <a:lnSpc>
                <a:spcPct val="150000"/>
              </a:lnSpc>
              <a:buClr>
                <a:srgbClr val="666666"/>
              </a:buClr>
            </a:pPr>
            <a:r>
              <a:rPr lang="en-US" sz="1400" b="1" dirty="0">
                <a:solidFill>
                  <a:srgbClr val="B85741"/>
                </a:solidFill>
              </a:rPr>
              <a:t>Sovereign Perspective:</a:t>
            </a:r>
          </a:p>
          <a:p>
            <a:pPr lvl="1">
              <a:lnSpc>
                <a:spcPct val="150000"/>
              </a:lnSpc>
              <a:buClr>
                <a:srgbClr val="666666"/>
              </a:buClr>
            </a:pPr>
            <a:r>
              <a:rPr lang="en-US" sz="1200" dirty="0">
                <a:solidFill>
                  <a:srgbClr val="002F4A"/>
                </a:solidFill>
              </a:rPr>
              <a:t>Sovereigns have an opportunity, via SLBs, to make firm commitments to their Paris Agreement Nationally Determined Contributions, NDCs (</a:t>
            </a:r>
            <a:r>
              <a:rPr lang="en-US" sz="1200" dirty="0" err="1">
                <a:solidFill>
                  <a:srgbClr val="002F4A"/>
                </a:solidFill>
              </a:rPr>
              <a:t>Giráldez</a:t>
            </a:r>
            <a:r>
              <a:rPr lang="en-US" sz="1200" dirty="0">
                <a:solidFill>
                  <a:srgbClr val="002F4A"/>
                </a:solidFill>
              </a:rPr>
              <a:t> &amp; Fontana, 2022).</a:t>
            </a:r>
          </a:p>
          <a:p>
            <a:pPr lvl="1">
              <a:lnSpc>
                <a:spcPct val="150000"/>
              </a:lnSpc>
              <a:buClr>
                <a:srgbClr val="666666"/>
              </a:buClr>
            </a:pPr>
            <a:r>
              <a:rPr lang="en-US" sz="1200" dirty="0">
                <a:solidFill>
                  <a:srgbClr val="002F4A"/>
                </a:solidFill>
              </a:rPr>
              <a:t>Risks of unknown events impacting KPI achievement necessitate a source of risk mitigation (</a:t>
            </a:r>
            <a:r>
              <a:rPr lang="en-US" sz="1200" dirty="0" err="1">
                <a:solidFill>
                  <a:srgbClr val="002F4A"/>
                </a:solidFill>
              </a:rPr>
              <a:t>Giráldez</a:t>
            </a:r>
            <a:r>
              <a:rPr lang="en-US" sz="1200" dirty="0">
                <a:solidFill>
                  <a:srgbClr val="002F4A"/>
                </a:solidFill>
              </a:rPr>
              <a:t> &amp; Fontana, 2022).</a:t>
            </a:r>
          </a:p>
          <a:p>
            <a:pPr lvl="1">
              <a:lnSpc>
                <a:spcPct val="160000"/>
              </a:lnSpc>
              <a:buClr>
                <a:srgbClr val="666666"/>
              </a:buClr>
            </a:pPr>
            <a:endParaRPr lang="en-US" sz="1200" b="1" dirty="0">
              <a:solidFill>
                <a:srgbClr val="002F4A"/>
              </a:solidFill>
            </a:endParaRPr>
          </a:p>
          <a:p>
            <a:pPr>
              <a:lnSpc>
                <a:spcPct val="160000"/>
              </a:lnSpc>
              <a:buClr>
                <a:srgbClr val="666666"/>
              </a:buClr>
            </a:pPr>
            <a:endParaRPr lang="en-US" dirty="0">
              <a:solidFill>
                <a:srgbClr val="002F4A"/>
              </a:solidFill>
            </a:endParaRPr>
          </a:p>
          <a:p>
            <a:pPr lvl="1">
              <a:lnSpc>
                <a:spcPct val="114999"/>
              </a:lnSpc>
              <a:buClr>
                <a:srgbClr val="666666"/>
              </a:buClr>
            </a:pPr>
            <a:endParaRPr lang="en-US" sz="1400" dirty="0">
              <a:solidFill>
                <a:srgbClr val="002F4A"/>
              </a:solidFill>
            </a:endParaRPr>
          </a:p>
        </p:txBody>
      </p:sp>
    </p:spTree>
    <p:extLst>
      <p:ext uri="{BB962C8B-B14F-4D97-AF65-F5344CB8AC3E}">
        <p14:creationId xmlns:p14="http://schemas.microsoft.com/office/powerpoint/2010/main" val="180736201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9BBAE33D-55AF-E332-1C63-082DB6510A0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94426B-FB6C-2CD6-3245-EE59659F488A}"/>
              </a:ext>
            </a:extLst>
          </p:cNvPr>
          <p:cNvSpPr/>
          <p:nvPr/>
        </p:nvSpPr>
        <p:spPr>
          <a:xfrm>
            <a:off x="4658999" y="1361777"/>
            <a:ext cx="4332839"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Google Shape;194;p23">
            <a:extLst>
              <a:ext uri="{FF2B5EF4-FFF2-40B4-BE49-F238E27FC236}">
                <a16:creationId xmlns:a16="http://schemas.microsoft.com/office/drawing/2014/main" id="{835DBB40-B165-A563-4ED6-385DF04352D2}"/>
              </a:ext>
            </a:extLst>
          </p:cNvPr>
          <p:cNvSpPr txBox="1">
            <a:spLocks noGrp="1"/>
          </p:cNvSpPr>
          <p:nvPr>
            <p:ph type="subTitle" idx="1"/>
          </p:nvPr>
        </p:nvSpPr>
        <p:spPr>
          <a:xfrm>
            <a:off x="293300" y="554416"/>
            <a:ext cx="8557402" cy="481076"/>
          </a:xfrm>
        </p:spPr>
        <p:txBody>
          <a:bodyPr spcFirstLastPara="1" wrap="square" lIns="91425" tIns="91425" rIns="91425" bIns="91425" anchor="t" anchorCtr="0">
            <a:noAutofit/>
          </a:bodyPr>
          <a:lstStyle/>
          <a:p>
            <a:pPr lvl="0"/>
            <a:r>
              <a:rPr lang="en-GB" sz="1900" dirty="0"/>
              <a:t>Enel Group Corporate SLB Example (step-up)</a:t>
            </a:r>
          </a:p>
        </p:txBody>
      </p:sp>
      <p:sp>
        <p:nvSpPr>
          <p:cNvPr id="195" name="Google Shape;195;p23">
            <a:extLst>
              <a:ext uri="{FF2B5EF4-FFF2-40B4-BE49-F238E27FC236}">
                <a16:creationId xmlns:a16="http://schemas.microsoft.com/office/drawing/2014/main" id="{2951B2EF-F67F-E103-64F3-AE90B4E5172C}"/>
              </a:ext>
            </a:extLst>
          </p:cNvPr>
          <p:cNvSpPr/>
          <p:nvPr/>
        </p:nvSpPr>
        <p:spPr>
          <a:xfrm>
            <a:off x="4814425" y="1962900"/>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KPI Target Performance 2027 </a:t>
            </a:r>
            <a:endParaRPr>
              <a:solidFill>
                <a:schemeClr val="lt1"/>
              </a:solidFill>
              <a:latin typeface="Roboto"/>
              <a:ea typeface="Roboto"/>
              <a:cs typeface="Roboto"/>
              <a:sym typeface="Roboto"/>
            </a:endParaRPr>
          </a:p>
        </p:txBody>
      </p:sp>
      <p:sp>
        <p:nvSpPr>
          <p:cNvPr id="196" name="Google Shape;196;p23">
            <a:extLst>
              <a:ext uri="{FF2B5EF4-FFF2-40B4-BE49-F238E27FC236}">
                <a16:creationId xmlns:a16="http://schemas.microsoft.com/office/drawing/2014/main" id="{92361A00-A8CE-6F18-0A12-6B407F0A0EF8}"/>
              </a:ext>
            </a:extLst>
          </p:cNvPr>
          <p:cNvSpPr/>
          <p:nvPr/>
        </p:nvSpPr>
        <p:spPr>
          <a:xfrm rot="710568">
            <a:off x="6402508" y="2895981"/>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7" name="Google Shape;197;p23">
            <a:extLst>
              <a:ext uri="{FF2B5EF4-FFF2-40B4-BE49-F238E27FC236}">
                <a16:creationId xmlns:a16="http://schemas.microsoft.com/office/drawing/2014/main" id="{E9BCAB5D-1FAE-6B81-FCD1-062104AFDBF3}"/>
              </a:ext>
            </a:extLst>
          </p:cNvPr>
          <p:cNvSpPr txBox="1"/>
          <p:nvPr/>
        </p:nvSpPr>
        <p:spPr>
          <a:xfrm rot="674456">
            <a:off x="6391495" y="2642289"/>
            <a:ext cx="1514351" cy="26797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98" name="Google Shape;198;p23">
            <a:extLst>
              <a:ext uri="{FF2B5EF4-FFF2-40B4-BE49-F238E27FC236}">
                <a16:creationId xmlns:a16="http://schemas.microsoft.com/office/drawing/2014/main" id="{0CF39848-7548-E4AD-17D7-1CBB93059C8E}"/>
              </a:ext>
            </a:extLst>
          </p:cNvPr>
          <p:cNvSpPr/>
          <p:nvPr/>
        </p:nvSpPr>
        <p:spPr>
          <a:xfrm>
            <a:off x="7588725" y="2754575"/>
            <a:ext cx="1287300" cy="853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25bps p.a. until bond maturity</a:t>
            </a:r>
            <a:endParaRPr sz="1200">
              <a:solidFill>
                <a:schemeClr val="lt1"/>
              </a:solidFill>
              <a:latin typeface="Roboto"/>
              <a:ea typeface="Roboto"/>
              <a:cs typeface="Roboto"/>
              <a:sym typeface="Roboto"/>
            </a:endParaRPr>
          </a:p>
        </p:txBody>
      </p:sp>
      <p:sp>
        <p:nvSpPr>
          <p:cNvPr id="199" name="Google Shape;199;p23">
            <a:extLst>
              <a:ext uri="{FF2B5EF4-FFF2-40B4-BE49-F238E27FC236}">
                <a16:creationId xmlns:a16="http://schemas.microsoft.com/office/drawing/2014/main" id="{319DC4E2-C5FE-BFAD-6DE7-AF16711C6511}"/>
              </a:ext>
            </a:extLst>
          </p:cNvPr>
          <p:cNvSpPr/>
          <p:nvPr/>
        </p:nvSpPr>
        <p:spPr>
          <a:xfrm rot="-899608">
            <a:off x="6387292" y="2100083"/>
            <a:ext cx="1106262"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0" name="Google Shape;200;p23">
            <a:extLst>
              <a:ext uri="{FF2B5EF4-FFF2-40B4-BE49-F238E27FC236}">
                <a16:creationId xmlns:a16="http://schemas.microsoft.com/office/drawing/2014/main" id="{A7A9EAA5-BF0D-E6A8-9CE1-572DDAD53416}"/>
              </a:ext>
            </a:extLst>
          </p:cNvPr>
          <p:cNvSpPr/>
          <p:nvPr/>
        </p:nvSpPr>
        <p:spPr>
          <a:xfrm>
            <a:off x="7621225" y="1755263"/>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at 1% p.a.</a:t>
            </a:r>
            <a:endParaRPr sz="1200">
              <a:solidFill>
                <a:schemeClr val="lt1"/>
              </a:solidFill>
              <a:latin typeface="Roboto"/>
              <a:ea typeface="Roboto"/>
              <a:cs typeface="Roboto"/>
              <a:sym typeface="Roboto"/>
            </a:endParaRPr>
          </a:p>
        </p:txBody>
      </p:sp>
      <p:sp>
        <p:nvSpPr>
          <p:cNvPr id="201" name="Google Shape;201;p23">
            <a:extLst>
              <a:ext uri="{FF2B5EF4-FFF2-40B4-BE49-F238E27FC236}">
                <a16:creationId xmlns:a16="http://schemas.microsoft.com/office/drawing/2014/main" id="{870284F4-CAB7-BE19-A784-D5602F8B87FE}"/>
              </a:ext>
            </a:extLst>
          </p:cNvPr>
          <p:cNvSpPr txBox="1"/>
          <p:nvPr/>
        </p:nvSpPr>
        <p:spPr>
          <a:xfrm rot="-874765">
            <a:off x="6483071" y="1860564"/>
            <a:ext cx="767514" cy="1850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
        <p:nvSpPr>
          <p:cNvPr id="202" name="Google Shape;202;p23">
            <a:extLst>
              <a:ext uri="{FF2B5EF4-FFF2-40B4-BE49-F238E27FC236}">
                <a16:creationId xmlns:a16="http://schemas.microsoft.com/office/drawing/2014/main" id="{AA4C8280-DFCF-A5A9-10AF-E007FCE1654C}"/>
              </a:ext>
            </a:extLst>
          </p:cNvPr>
          <p:cNvSpPr txBox="1"/>
          <p:nvPr/>
        </p:nvSpPr>
        <p:spPr>
          <a:xfrm>
            <a:off x="4916384" y="3865091"/>
            <a:ext cx="3764478" cy="896384"/>
          </a:xfrm>
          <a:prstGeom prst="rect">
            <a:avLst/>
          </a:prstGeom>
          <a:solidFill>
            <a:srgbClr val="B85741"/>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100">
                <a:solidFill>
                  <a:schemeClr val="bg1"/>
                </a:solidFill>
                <a:latin typeface="Roboto"/>
                <a:ea typeface="Roboto"/>
                <a:cs typeface="Roboto"/>
                <a:sym typeface="Roboto"/>
              </a:rPr>
              <a:t>Enel are </a:t>
            </a:r>
            <a:r>
              <a:rPr lang="en" sz="1100" b="1">
                <a:solidFill>
                  <a:schemeClr val="bg1"/>
                </a:solidFill>
                <a:latin typeface="Roboto"/>
                <a:ea typeface="Roboto"/>
                <a:cs typeface="Roboto"/>
                <a:sym typeface="Roboto"/>
              </a:rPr>
              <a:t>off-track</a:t>
            </a:r>
            <a:r>
              <a:rPr lang="en" sz="1100">
                <a:solidFill>
                  <a:schemeClr val="bg1"/>
                </a:solidFill>
                <a:latin typeface="Roboto"/>
                <a:ea typeface="Roboto"/>
                <a:cs typeface="Roboto"/>
                <a:sym typeface="Roboto"/>
              </a:rPr>
              <a:t> to achieve their KPI targets (AFII, 2023), but the subsequent step-up penalty is likely to have little impact on the company’s overall financial health (Ritchie, 2023). </a:t>
            </a:r>
            <a:endParaRPr sz="1100">
              <a:solidFill>
                <a:schemeClr val="bg1"/>
              </a:solidFill>
              <a:latin typeface="Roboto"/>
              <a:ea typeface="Roboto"/>
              <a:cs typeface="Roboto"/>
              <a:sym typeface="Roboto"/>
            </a:endParaRPr>
          </a:p>
        </p:txBody>
      </p:sp>
      <p:sp>
        <p:nvSpPr>
          <p:cNvPr id="3" name="Google Shape;194;p23">
            <a:extLst>
              <a:ext uri="{FF2B5EF4-FFF2-40B4-BE49-F238E27FC236}">
                <a16:creationId xmlns:a16="http://schemas.microsoft.com/office/drawing/2014/main" id="{6AD41387-31A5-7386-5094-9C8427939A0B}"/>
              </a:ext>
            </a:extLst>
          </p:cNvPr>
          <p:cNvSpPr txBox="1">
            <a:spLocks/>
          </p:cNvSpPr>
          <p:nvPr/>
        </p:nvSpPr>
        <p:spPr>
          <a:xfrm>
            <a:off x="323906" y="1471194"/>
            <a:ext cx="4159620" cy="34435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ENEL Group is a key issuer of SLBs, so far amounting to  $10.8 billion</a:t>
            </a:r>
          </a:p>
          <a:p>
            <a:pPr>
              <a:spcBef>
                <a:spcPts val="1200"/>
              </a:spcBef>
            </a:pPr>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Verified by a second party as relevant and ambitious, the bond is linked to the following KPI targets:</a:t>
            </a:r>
          </a:p>
          <a:p>
            <a:pPr marL="457200" indent="-298450">
              <a:spcBef>
                <a:spcPts val="1200"/>
              </a:spcBef>
              <a:buClr>
                <a:srgbClr val="000000"/>
              </a:buClr>
              <a:buSzPts val="1100"/>
              <a:buFont typeface="Roboto"/>
              <a:buAutoNum type="arabicPeriod"/>
            </a:pPr>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To reduce direct greenhouse gas emissions by 64% by 2023, 80% by 2030, and completely by 2050 – against a 2017 base level </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To reach 60% renewable energy as percentage of installed capacity by 2022 compared to its baseline level in 2019</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To reach 65% by 2023 compared to its baseline level in 2019</a:t>
            </a:r>
          </a:p>
          <a:p>
            <a:pPr>
              <a:spcBef>
                <a:spcPts val="1200"/>
              </a:spcBef>
              <a:spcAft>
                <a:spcPts val="1200"/>
              </a:spcAft>
            </a:pPr>
            <a:endParaRPr lang="en-GB" dirty="0">
              <a:solidFill>
                <a:srgbClr val="000000"/>
              </a:solidFill>
            </a:endParaRPr>
          </a:p>
        </p:txBody>
      </p:sp>
    </p:spTree>
    <p:extLst>
      <p:ext uri="{BB962C8B-B14F-4D97-AF65-F5344CB8AC3E}">
        <p14:creationId xmlns:p14="http://schemas.microsoft.com/office/powerpoint/2010/main" val="37930373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EF383659-2436-8A41-1585-CD625DA59DB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17F3F03-A1E7-7DEC-334A-4E43DADE4738}"/>
              </a:ext>
            </a:extLst>
          </p:cNvPr>
          <p:cNvSpPr/>
          <p:nvPr/>
        </p:nvSpPr>
        <p:spPr>
          <a:xfrm>
            <a:off x="4658999" y="1361777"/>
            <a:ext cx="4332839"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Google Shape;177;p22">
            <a:extLst>
              <a:ext uri="{FF2B5EF4-FFF2-40B4-BE49-F238E27FC236}">
                <a16:creationId xmlns:a16="http://schemas.microsoft.com/office/drawing/2014/main" id="{E7BC11EF-F3DA-014B-AA2D-AF469B56BB14}"/>
              </a:ext>
            </a:extLst>
          </p:cNvPr>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t>Uruguay Sovereign SLB Example (step-up or step-down)</a:t>
            </a:r>
            <a:endParaRPr lang="en-GB" sz="1900" dirty="0">
              <a:solidFill>
                <a:srgbClr val="000000"/>
              </a:solidFill>
            </a:endParaRPr>
          </a:p>
        </p:txBody>
      </p:sp>
      <p:sp>
        <p:nvSpPr>
          <p:cNvPr id="185" name="Google Shape;185;p22">
            <a:extLst>
              <a:ext uri="{FF2B5EF4-FFF2-40B4-BE49-F238E27FC236}">
                <a16:creationId xmlns:a16="http://schemas.microsoft.com/office/drawing/2014/main" id="{F1CCD14D-0086-35BE-1E25-5B24FD4B89FF}"/>
              </a:ext>
            </a:extLst>
          </p:cNvPr>
          <p:cNvSpPr txBox="1">
            <a:spLocks noGrp="1"/>
          </p:cNvSpPr>
          <p:nvPr>
            <p:ph type="body" idx="4294967295"/>
          </p:nvPr>
        </p:nvSpPr>
        <p:spPr>
          <a:xfrm>
            <a:off x="5200675" y="4019639"/>
            <a:ext cx="3313933" cy="786199"/>
          </a:xfrm>
          <a:prstGeom prst="rect">
            <a:avLst/>
          </a:prstGeom>
          <a:solidFill>
            <a:srgbClr val="B85741"/>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200"/>
              </a:spcAft>
              <a:buNone/>
            </a:pPr>
            <a:r>
              <a:rPr lang="en" sz="1100">
                <a:solidFill>
                  <a:schemeClr val="bg1"/>
                </a:solidFill>
              </a:rPr>
              <a:t>Uruguay's SSLB 2023 Annual Report show they are currently 9 percentage points short of achieving KPI 1.1 and </a:t>
            </a:r>
            <a:r>
              <a:rPr lang="en" sz="1100" b="1">
                <a:solidFill>
                  <a:schemeClr val="bg1"/>
                </a:solidFill>
              </a:rPr>
              <a:t>on track </a:t>
            </a:r>
            <a:r>
              <a:rPr lang="en" sz="1100">
                <a:solidFill>
                  <a:schemeClr val="bg1"/>
                </a:solidFill>
              </a:rPr>
              <a:t>to achieve KPI 2.1.</a:t>
            </a:r>
            <a:endParaRPr sz="1100">
              <a:solidFill>
                <a:schemeClr val="bg1"/>
              </a:solidFill>
            </a:endParaRPr>
          </a:p>
        </p:txBody>
      </p:sp>
      <p:sp>
        <p:nvSpPr>
          <p:cNvPr id="178" name="Google Shape;178;p22">
            <a:extLst>
              <a:ext uri="{FF2B5EF4-FFF2-40B4-BE49-F238E27FC236}">
                <a16:creationId xmlns:a16="http://schemas.microsoft.com/office/drawing/2014/main" id="{E5D8CF36-2DAD-7F97-E7D8-99B51A31523A}"/>
              </a:ext>
            </a:extLst>
          </p:cNvPr>
          <p:cNvSpPr/>
          <p:nvPr/>
        </p:nvSpPr>
        <p:spPr>
          <a:xfrm>
            <a:off x="4738225" y="1984508"/>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KPI Target Performance 2025</a:t>
            </a:r>
            <a:endParaRPr>
              <a:solidFill>
                <a:schemeClr val="lt1"/>
              </a:solidFill>
              <a:latin typeface="Roboto"/>
              <a:ea typeface="Roboto"/>
              <a:cs typeface="Roboto"/>
              <a:sym typeface="Roboto"/>
            </a:endParaRPr>
          </a:p>
        </p:txBody>
      </p:sp>
      <p:sp>
        <p:nvSpPr>
          <p:cNvPr id="179" name="Google Shape;179;p22">
            <a:extLst>
              <a:ext uri="{FF2B5EF4-FFF2-40B4-BE49-F238E27FC236}">
                <a16:creationId xmlns:a16="http://schemas.microsoft.com/office/drawing/2014/main" id="{38295AE4-F12E-1394-4C16-2685DE928935}"/>
              </a:ext>
            </a:extLst>
          </p:cNvPr>
          <p:cNvSpPr/>
          <p:nvPr/>
        </p:nvSpPr>
        <p:spPr>
          <a:xfrm rot="-897566">
            <a:off x="6301526" y="1971305"/>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0" name="Google Shape;180;p22">
            <a:extLst>
              <a:ext uri="{FF2B5EF4-FFF2-40B4-BE49-F238E27FC236}">
                <a16:creationId xmlns:a16="http://schemas.microsoft.com/office/drawing/2014/main" id="{3CFF6E8F-9B15-4E5D-20EB-CE0B9979488B}"/>
              </a:ext>
            </a:extLst>
          </p:cNvPr>
          <p:cNvSpPr/>
          <p:nvPr/>
        </p:nvSpPr>
        <p:spPr>
          <a:xfrm>
            <a:off x="7468825" y="1597308"/>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drops </a:t>
            </a:r>
            <a:endParaRPr sz="1200">
              <a:solidFill>
                <a:schemeClr val="lt1"/>
              </a:solidFill>
              <a:latin typeface="Roboto"/>
              <a:ea typeface="Roboto"/>
              <a:cs typeface="Roboto"/>
              <a:sym typeface="Roboto"/>
            </a:endParaRPr>
          </a:p>
        </p:txBody>
      </p:sp>
      <p:sp>
        <p:nvSpPr>
          <p:cNvPr id="181" name="Google Shape;181;p22">
            <a:extLst>
              <a:ext uri="{FF2B5EF4-FFF2-40B4-BE49-F238E27FC236}">
                <a16:creationId xmlns:a16="http://schemas.microsoft.com/office/drawing/2014/main" id="{6BEADD00-67F9-B15C-2D7B-8F7ED913A5A4}"/>
              </a:ext>
            </a:extLst>
          </p:cNvPr>
          <p:cNvSpPr txBox="1"/>
          <p:nvPr/>
        </p:nvSpPr>
        <p:spPr>
          <a:xfrm rot="-893421">
            <a:off x="6194871" y="1681728"/>
            <a:ext cx="1132428" cy="1849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Overperform</a:t>
            </a:r>
            <a:endParaRPr sz="1200">
              <a:solidFill>
                <a:schemeClr val="dk2"/>
              </a:solidFill>
              <a:latin typeface="Roboto"/>
              <a:ea typeface="Roboto"/>
              <a:cs typeface="Roboto"/>
              <a:sym typeface="Roboto"/>
            </a:endParaRPr>
          </a:p>
        </p:txBody>
      </p:sp>
      <p:sp>
        <p:nvSpPr>
          <p:cNvPr id="182" name="Google Shape;182;p22">
            <a:extLst>
              <a:ext uri="{FF2B5EF4-FFF2-40B4-BE49-F238E27FC236}">
                <a16:creationId xmlns:a16="http://schemas.microsoft.com/office/drawing/2014/main" id="{26C0E2AF-CBE5-14DB-9CDF-2F9FC6C6ABEC}"/>
              </a:ext>
            </a:extLst>
          </p:cNvPr>
          <p:cNvSpPr/>
          <p:nvPr/>
        </p:nvSpPr>
        <p:spPr>
          <a:xfrm rot="710568">
            <a:off x="6326308" y="3222389"/>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3" name="Google Shape;183;p22">
            <a:extLst>
              <a:ext uri="{FF2B5EF4-FFF2-40B4-BE49-F238E27FC236}">
                <a16:creationId xmlns:a16="http://schemas.microsoft.com/office/drawing/2014/main" id="{3640130A-C4C2-428B-EED8-7E5B3B513129}"/>
              </a:ext>
            </a:extLst>
          </p:cNvPr>
          <p:cNvSpPr txBox="1"/>
          <p:nvPr/>
        </p:nvSpPr>
        <p:spPr>
          <a:xfrm rot="674456">
            <a:off x="6323401" y="2969495"/>
            <a:ext cx="1514351"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84" name="Google Shape;184;p22">
            <a:extLst>
              <a:ext uri="{FF2B5EF4-FFF2-40B4-BE49-F238E27FC236}">
                <a16:creationId xmlns:a16="http://schemas.microsoft.com/office/drawing/2014/main" id="{D03D50D4-1436-31AD-F74A-22AA7067EB07}"/>
              </a:ext>
            </a:extLst>
          </p:cNvPr>
          <p:cNvSpPr/>
          <p:nvPr/>
        </p:nvSpPr>
        <p:spPr>
          <a:xfrm>
            <a:off x="7512525" y="3126758"/>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a:t>
            </a:r>
            <a:endParaRPr sz="1200">
              <a:solidFill>
                <a:schemeClr val="lt1"/>
              </a:solidFill>
              <a:latin typeface="Roboto"/>
              <a:ea typeface="Roboto"/>
              <a:cs typeface="Roboto"/>
              <a:sym typeface="Roboto"/>
            </a:endParaRPr>
          </a:p>
        </p:txBody>
      </p:sp>
      <p:sp>
        <p:nvSpPr>
          <p:cNvPr id="186" name="Google Shape;186;p22">
            <a:extLst>
              <a:ext uri="{FF2B5EF4-FFF2-40B4-BE49-F238E27FC236}">
                <a16:creationId xmlns:a16="http://schemas.microsoft.com/office/drawing/2014/main" id="{4C5A38A0-8C10-AB2F-5E02-754C4BC1D09D}"/>
              </a:ext>
            </a:extLst>
          </p:cNvPr>
          <p:cNvSpPr/>
          <p:nvPr/>
        </p:nvSpPr>
        <p:spPr>
          <a:xfrm rot="-2796">
            <a:off x="6311126" y="2578870"/>
            <a:ext cx="1106400" cy="17940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7" name="Google Shape;187;p22">
            <a:extLst>
              <a:ext uri="{FF2B5EF4-FFF2-40B4-BE49-F238E27FC236}">
                <a16:creationId xmlns:a16="http://schemas.microsoft.com/office/drawing/2014/main" id="{22AF265C-69D2-A3AF-55D6-5EE207E07BA1}"/>
              </a:ext>
            </a:extLst>
          </p:cNvPr>
          <p:cNvSpPr/>
          <p:nvPr/>
        </p:nvSpPr>
        <p:spPr>
          <a:xfrm>
            <a:off x="7545025" y="2386471"/>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static </a:t>
            </a:r>
            <a:endParaRPr sz="1200">
              <a:solidFill>
                <a:schemeClr val="lt1"/>
              </a:solidFill>
              <a:latin typeface="Roboto"/>
              <a:ea typeface="Roboto"/>
              <a:cs typeface="Roboto"/>
              <a:sym typeface="Roboto"/>
            </a:endParaRPr>
          </a:p>
        </p:txBody>
      </p:sp>
      <p:sp>
        <p:nvSpPr>
          <p:cNvPr id="188" name="Google Shape;188;p22">
            <a:extLst>
              <a:ext uri="{FF2B5EF4-FFF2-40B4-BE49-F238E27FC236}">
                <a16:creationId xmlns:a16="http://schemas.microsoft.com/office/drawing/2014/main" id="{02872B60-6843-5A8F-F4BF-944E7B5C5BAD}"/>
              </a:ext>
            </a:extLst>
          </p:cNvPr>
          <p:cNvSpPr txBox="1"/>
          <p:nvPr/>
        </p:nvSpPr>
        <p:spPr>
          <a:xfrm rot="-2688">
            <a:off x="6453575" y="2352403"/>
            <a:ext cx="767400" cy="18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
        <p:nvSpPr>
          <p:cNvPr id="2" name="Google Shape;177;p22">
            <a:extLst>
              <a:ext uri="{FF2B5EF4-FFF2-40B4-BE49-F238E27FC236}">
                <a16:creationId xmlns:a16="http://schemas.microsoft.com/office/drawing/2014/main" id="{286B605E-731D-CCA2-00DD-67F883FBA44E}"/>
              </a:ext>
            </a:extLst>
          </p:cNvPr>
          <p:cNvSpPr txBox="1">
            <a:spLocks/>
          </p:cNvSpPr>
          <p:nvPr/>
        </p:nvSpPr>
        <p:spPr>
          <a:xfrm>
            <a:off x="190093" y="1375425"/>
            <a:ext cx="4332839" cy="37854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UNDP serves as external verifier to ensure progress toward the following sustainability-linked KPIs:</a:t>
            </a:r>
          </a:p>
          <a:p>
            <a:pPr marL="457200" indent="-298450">
              <a:spcBef>
                <a:spcPts val="1200"/>
              </a:spcBef>
              <a:buSzPts val="1100"/>
              <a:buFont typeface="Roboto"/>
              <a:buAutoNum type="arabicPeriod"/>
            </a:pPr>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The reduction of aggregate gross GHG emissions per real GDP unit in comparison to the reference year of 1990</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[1.1] Achieve: 50% reduction by 2025</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[1.2] Outperform: More than 52% reduction by 2025</a:t>
            </a:r>
          </a:p>
          <a:p>
            <a:pPr marL="457200" indent="-298450">
              <a:buClr>
                <a:srgbClr val="000000"/>
              </a:buClr>
              <a:buSzPts val="1100"/>
              <a:buFont typeface="Roboto"/>
              <a:buAutoNum type="arabicPeriod"/>
            </a:pPr>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Maintain the area of native forest in Uruguay, with respect to the reference year of 2012</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[2.1] Achieve: Maintain 100% of forest cover</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[2.2] Outperform: An increase of more than 3% of forest cover. </a:t>
            </a:r>
          </a:p>
        </p:txBody>
      </p:sp>
    </p:spTree>
    <p:extLst>
      <p:ext uri="{BB962C8B-B14F-4D97-AF65-F5344CB8AC3E}">
        <p14:creationId xmlns:p14="http://schemas.microsoft.com/office/powerpoint/2010/main" val="291702660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31"/>
        <p:cNvGrpSpPr/>
        <p:nvPr/>
      </p:nvGrpSpPr>
      <p:grpSpPr>
        <a:xfrm>
          <a:off x="0" y="0"/>
          <a:ext cx="0" cy="0"/>
          <a:chOff x="0" y="0"/>
          <a:chExt cx="0" cy="0"/>
        </a:xfrm>
      </p:grpSpPr>
      <p:sp>
        <p:nvSpPr>
          <p:cNvPr id="3" name="Subtitle 2">
            <a:extLst>
              <a:ext uri="{FF2B5EF4-FFF2-40B4-BE49-F238E27FC236}">
                <a16:creationId xmlns:a16="http://schemas.microsoft.com/office/drawing/2014/main" id="{DA9274AD-527E-C47B-37D0-236DF508D5EF}"/>
              </a:ext>
            </a:extLst>
          </p:cNvPr>
          <p:cNvSpPr>
            <a:spLocks noGrp="1"/>
          </p:cNvSpPr>
          <p:nvPr>
            <p:ph type="subTitle" idx="1"/>
          </p:nvPr>
        </p:nvSpPr>
        <p:spPr>
          <a:xfrm>
            <a:off x="3318782" y="3951791"/>
            <a:ext cx="5825218" cy="794828"/>
          </a:xfrm>
        </p:spPr>
        <p:txBody>
          <a:bodyPr>
            <a:normAutofit fontScale="77500" lnSpcReduction="20000"/>
          </a:bodyPr>
          <a:lstStyle/>
          <a:p>
            <a:r>
              <a:rPr lang="en-US"/>
              <a:t>Sustainability-Linked Bonds</a:t>
            </a:r>
            <a:br>
              <a:rPr lang="en-US"/>
            </a:br>
            <a:r>
              <a:rPr lang="en"/>
              <a:t>Shortcomings</a:t>
            </a:r>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4"/>
          <p:cNvSpPr txBox="1">
            <a:spLocks noGrp="1"/>
          </p:cNvSpPr>
          <p:nvPr>
            <p:ph type="title"/>
          </p:nvPr>
        </p:nvSpPr>
        <p:spPr>
          <a:xfrm>
            <a:off x="418325" y="447250"/>
            <a:ext cx="3704400" cy="204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t>SLBs</a:t>
            </a:r>
            <a:endParaRPr sz="2500" dirty="0"/>
          </a:p>
          <a:p>
            <a:pPr marL="0" lvl="0" indent="0" algn="l" rtl="0">
              <a:spcBef>
                <a:spcPts val="0"/>
              </a:spcBef>
              <a:spcAft>
                <a:spcPts val="0"/>
              </a:spcAft>
              <a:buNone/>
            </a:pPr>
            <a:r>
              <a:rPr lang="en-AU" sz="2500" dirty="0">
                <a:solidFill>
                  <a:schemeClr val="bg1"/>
                </a:solidFill>
              </a:rPr>
              <a:t>Shortcomings</a:t>
            </a:r>
            <a:endParaRPr sz="2500" dirty="0">
              <a:solidFill>
                <a:schemeClr val="bg1"/>
              </a:solidFill>
            </a:endParaRP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08" name="Google Shape;208;p24"/>
          <p:cNvSpPr txBox="1"/>
          <p:nvPr/>
        </p:nvSpPr>
        <p:spPr>
          <a:xfrm>
            <a:off x="5001550" y="328550"/>
            <a:ext cx="3954900" cy="152423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solidFill>
                  <a:schemeClr val="accent4"/>
                </a:solidFill>
                <a:latin typeface="Roboto"/>
                <a:ea typeface="Roboto"/>
                <a:cs typeface="Roboto"/>
                <a:sym typeface="Roboto"/>
              </a:rPr>
              <a:t>Disincentives for Investors:</a:t>
            </a:r>
            <a:endParaRPr sz="1200" b="1" dirty="0">
              <a:solidFill>
                <a:schemeClr val="accent4"/>
              </a:solidFill>
              <a:latin typeface="Roboto"/>
              <a:ea typeface="Roboto"/>
              <a:cs typeface="Roboto"/>
              <a:sym typeface="Roboto"/>
            </a:endParaRPr>
          </a:p>
          <a:p>
            <a:pPr marL="457200" lvl="0" indent="-298450" algn="l" rtl="0">
              <a:lnSpc>
                <a:spcPct val="115000"/>
              </a:lnSpc>
              <a:spcBef>
                <a:spcPts val="120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Activist investors are uncomfortable with </a:t>
            </a:r>
            <a:r>
              <a:rPr lang="en" sz="1100" b="1" dirty="0">
                <a:solidFill>
                  <a:srgbClr val="002F4A"/>
                </a:solidFill>
                <a:latin typeface="Roboto"/>
                <a:ea typeface="Roboto"/>
                <a:cs typeface="Roboto"/>
                <a:sym typeface="Roboto"/>
              </a:rPr>
              <a:t>higher</a:t>
            </a:r>
            <a:r>
              <a:rPr lang="en" sz="1100" dirty="0">
                <a:solidFill>
                  <a:srgbClr val="002F4A"/>
                </a:solidFill>
                <a:latin typeface="Roboto"/>
                <a:ea typeface="Roboto"/>
                <a:cs typeface="Roboto"/>
                <a:sym typeface="Roboto"/>
              </a:rPr>
              <a:t> coupon payments linked to </a:t>
            </a:r>
            <a:r>
              <a:rPr lang="en" sz="1100" b="1" dirty="0">
                <a:solidFill>
                  <a:srgbClr val="002F4A"/>
                </a:solidFill>
                <a:latin typeface="Roboto"/>
                <a:ea typeface="Roboto"/>
                <a:cs typeface="Roboto"/>
                <a:sym typeface="Roboto"/>
              </a:rPr>
              <a:t>failure</a:t>
            </a:r>
            <a:r>
              <a:rPr lang="en" sz="1100" dirty="0">
                <a:solidFill>
                  <a:srgbClr val="002F4A"/>
                </a:solidFill>
                <a:latin typeface="Roboto"/>
                <a:ea typeface="Roboto"/>
                <a:cs typeface="Roboto"/>
                <a:sym typeface="Roboto"/>
              </a:rPr>
              <a:t> to achieve climate objectives</a:t>
            </a:r>
            <a:endParaRPr sz="1100" dirty="0">
              <a:solidFill>
                <a:srgbClr val="002F4A"/>
              </a:solidFill>
              <a:latin typeface="Roboto"/>
              <a:ea typeface="Roboto"/>
              <a:cs typeface="Roboto"/>
              <a:sym typeface="Roboto"/>
            </a:endParaRPr>
          </a:p>
          <a:p>
            <a:pPr marL="457200" lvl="0" indent="-298450" algn="l" rtl="0">
              <a:lnSpc>
                <a:spcPct val="115000"/>
              </a:lnSpc>
              <a:spcBef>
                <a:spcPts val="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Investors are exposed to </a:t>
            </a:r>
            <a:r>
              <a:rPr lang="en" sz="1100" b="1" dirty="0">
                <a:solidFill>
                  <a:srgbClr val="002F4A"/>
                </a:solidFill>
                <a:latin typeface="Roboto"/>
                <a:ea typeface="Roboto"/>
                <a:cs typeface="Roboto"/>
                <a:sym typeface="Roboto"/>
              </a:rPr>
              <a:t>risks</a:t>
            </a:r>
            <a:r>
              <a:rPr lang="en" sz="1100" dirty="0">
                <a:solidFill>
                  <a:srgbClr val="002F4A"/>
                </a:solidFill>
                <a:latin typeface="Roboto"/>
                <a:ea typeface="Roboto"/>
                <a:cs typeface="Roboto"/>
                <a:sym typeface="Roboto"/>
              </a:rPr>
              <a:t> related to non-payments</a:t>
            </a:r>
            <a:endParaRPr sz="1100" dirty="0">
              <a:solidFill>
                <a:srgbClr val="002F4A"/>
              </a:solidFill>
              <a:latin typeface="Roboto"/>
              <a:ea typeface="Roboto"/>
              <a:cs typeface="Roboto"/>
              <a:sym typeface="Roboto"/>
            </a:endParaRPr>
          </a:p>
        </p:txBody>
      </p:sp>
      <p:sp>
        <p:nvSpPr>
          <p:cNvPr id="209" name="Google Shape;209;p24"/>
          <p:cNvSpPr txBox="1"/>
          <p:nvPr/>
        </p:nvSpPr>
        <p:spPr>
          <a:xfrm>
            <a:off x="5228350" y="2118388"/>
            <a:ext cx="36048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a:p>
        </p:txBody>
      </p:sp>
      <p:sp>
        <p:nvSpPr>
          <p:cNvPr id="210" name="Google Shape;210;p24"/>
          <p:cNvSpPr txBox="1"/>
          <p:nvPr/>
        </p:nvSpPr>
        <p:spPr>
          <a:xfrm>
            <a:off x="5228350" y="3431000"/>
            <a:ext cx="340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b="1"/>
          </a:p>
        </p:txBody>
      </p:sp>
      <p:pic>
        <p:nvPicPr>
          <p:cNvPr id="211" name="Google Shape;211;p24"/>
          <p:cNvPicPr preferRelativeResize="0"/>
          <p:nvPr/>
        </p:nvPicPr>
        <p:blipFill>
          <a:blip r:embed="rId3">
            <a:alphaModFix/>
          </a:blip>
          <a:stretch>
            <a:fillRect/>
          </a:stretch>
        </p:blipFill>
        <p:spPr>
          <a:xfrm>
            <a:off x="0" y="1773000"/>
            <a:ext cx="5151900" cy="3370500"/>
          </a:xfrm>
          <a:prstGeom prst="rtTriangle">
            <a:avLst/>
          </a:prstGeom>
          <a:noFill/>
          <a:ln>
            <a:noFill/>
          </a:ln>
        </p:spPr>
      </p:pic>
      <p:sp>
        <p:nvSpPr>
          <p:cNvPr id="212" name="Google Shape;212;p24"/>
          <p:cNvSpPr/>
          <p:nvPr/>
        </p:nvSpPr>
        <p:spPr>
          <a:xfrm>
            <a:off x="4084400" y="42980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3" name="Google Shape;213;p24"/>
          <p:cNvSpPr/>
          <p:nvPr/>
        </p:nvSpPr>
        <p:spPr>
          <a:xfrm>
            <a:off x="4084400" y="201715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4"/>
          <p:cNvSpPr txBox="1"/>
          <p:nvPr/>
        </p:nvSpPr>
        <p:spPr>
          <a:xfrm>
            <a:off x="5429350" y="3604500"/>
            <a:ext cx="30000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accent1"/>
              </a:solidFill>
              <a:latin typeface="Roboto"/>
              <a:ea typeface="Roboto"/>
              <a:cs typeface="Roboto"/>
              <a:sym typeface="Roboto"/>
            </a:endParaRPr>
          </a:p>
        </p:txBody>
      </p:sp>
      <p:sp>
        <p:nvSpPr>
          <p:cNvPr id="215" name="Google Shape;215;p24"/>
          <p:cNvSpPr/>
          <p:nvPr/>
        </p:nvSpPr>
        <p:spPr>
          <a:xfrm>
            <a:off x="4084400" y="360450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6" name="Google Shape;216;p24"/>
          <p:cNvSpPr txBox="1"/>
          <p:nvPr/>
        </p:nvSpPr>
        <p:spPr>
          <a:xfrm>
            <a:off x="5001550" y="1853411"/>
            <a:ext cx="3855600" cy="152423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solidFill>
                  <a:schemeClr val="accent5"/>
                </a:solidFill>
                <a:latin typeface="Roboto"/>
                <a:ea typeface="Roboto"/>
                <a:cs typeface="Roboto"/>
                <a:sym typeface="Roboto"/>
              </a:rPr>
              <a:t>Disincentives for Sovereign:</a:t>
            </a:r>
            <a:endParaRPr sz="1200" b="1" dirty="0">
              <a:solidFill>
                <a:schemeClr val="accent5"/>
              </a:solidFill>
              <a:latin typeface="Roboto"/>
              <a:ea typeface="Roboto"/>
              <a:cs typeface="Roboto"/>
              <a:sym typeface="Roboto"/>
            </a:endParaRPr>
          </a:p>
          <a:p>
            <a:pPr marL="457200" lvl="0" indent="-298450" algn="l" rtl="0">
              <a:lnSpc>
                <a:spcPct val="115000"/>
              </a:lnSpc>
              <a:spcBef>
                <a:spcPts val="1200"/>
              </a:spcBef>
              <a:spcAft>
                <a:spcPts val="0"/>
              </a:spcAft>
              <a:buClr>
                <a:schemeClr val="dk1"/>
              </a:buClr>
              <a:buSzPts val="1100"/>
              <a:buFont typeface="Roboto"/>
              <a:buChar char="●"/>
            </a:pPr>
            <a:r>
              <a:rPr lang="en" sz="1100" dirty="0">
                <a:solidFill>
                  <a:srgbClr val="002F4A"/>
                </a:solidFill>
                <a:latin typeface="Roboto"/>
                <a:ea typeface="Roboto"/>
                <a:cs typeface="Roboto"/>
                <a:sym typeface="Roboto"/>
              </a:rPr>
              <a:t>Nearly 95% of SLBs employ a step-up coupon structure (Berrada et al., 2022)</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dk1"/>
              </a:buClr>
              <a:buSzPts val="1100"/>
              <a:buFont typeface="Roboto"/>
              <a:buChar char="○"/>
            </a:pPr>
            <a:r>
              <a:rPr lang="en" sz="1100" dirty="0">
                <a:solidFill>
                  <a:srgbClr val="002F4A"/>
                </a:solidFill>
                <a:latin typeface="Roboto"/>
                <a:ea typeface="Roboto"/>
                <a:cs typeface="Roboto"/>
                <a:sym typeface="Roboto"/>
              </a:rPr>
              <a:t>Sovereigns are financially </a:t>
            </a:r>
            <a:r>
              <a:rPr lang="en" sz="1100" b="1" dirty="0">
                <a:solidFill>
                  <a:srgbClr val="002F4A"/>
                </a:solidFill>
                <a:latin typeface="Roboto"/>
                <a:ea typeface="Roboto"/>
                <a:cs typeface="Roboto"/>
                <a:sym typeface="Roboto"/>
              </a:rPr>
              <a:t>penalized</a:t>
            </a:r>
            <a:r>
              <a:rPr lang="en" sz="1100" dirty="0">
                <a:solidFill>
                  <a:srgbClr val="002F4A"/>
                </a:solidFill>
                <a:latin typeface="Roboto"/>
                <a:ea typeface="Roboto"/>
                <a:cs typeface="Roboto"/>
                <a:sym typeface="Roboto"/>
              </a:rPr>
              <a:t> for not achieving KPI targets, rather than being </a:t>
            </a:r>
            <a:r>
              <a:rPr lang="en" sz="1100" b="1" dirty="0">
                <a:solidFill>
                  <a:srgbClr val="002F4A"/>
                </a:solidFill>
                <a:latin typeface="Roboto"/>
                <a:ea typeface="Roboto"/>
                <a:cs typeface="Roboto"/>
                <a:sym typeface="Roboto"/>
              </a:rPr>
              <a:t>rewarded</a:t>
            </a:r>
            <a:r>
              <a:rPr lang="en" sz="1100" dirty="0">
                <a:solidFill>
                  <a:srgbClr val="002F4A"/>
                </a:solidFill>
                <a:latin typeface="Roboto"/>
                <a:ea typeface="Roboto"/>
                <a:cs typeface="Roboto"/>
                <a:sym typeface="Roboto"/>
              </a:rPr>
              <a:t> for outperforming</a:t>
            </a:r>
          </a:p>
        </p:txBody>
      </p:sp>
      <p:sp>
        <p:nvSpPr>
          <p:cNvPr id="217" name="Google Shape;217;p24"/>
          <p:cNvSpPr txBox="1"/>
          <p:nvPr/>
        </p:nvSpPr>
        <p:spPr>
          <a:xfrm>
            <a:off x="5001550" y="3321499"/>
            <a:ext cx="3954900" cy="171890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solidFill>
                  <a:schemeClr val="accent1"/>
                </a:solidFill>
                <a:latin typeface="Roboto"/>
                <a:ea typeface="Roboto"/>
                <a:cs typeface="Roboto"/>
                <a:sym typeface="Roboto"/>
              </a:rPr>
              <a:t>Complexity:</a:t>
            </a:r>
            <a:endParaRPr sz="1200" b="1" dirty="0">
              <a:solidFill>
                <a:schemeClr val="accent1"/>
              </a:solidFill>
              <a:latin typeface="Roboto"/>
              <a:ea typeface="Roboto"/>
              <a:cs typeface="Roboto"/>
              <a:sym typeface="Roboto"/>
            </a:endParaRPr>
          </a:p>
          <a:p>
            <a:pPr marL="457200" lvl="0" indent="-298450" algn="l" rtl="0">
              <a:lnSpc>
                <a:spcPct val="115000"/>
              </a:lnSpc>
              <a:spcBef>
                <a:spcPts val="1200"/>
              </a:spcBef>
              <a:spcAft>
                <a:spcPts val="0"/>
              </a:spcAft>
              <a:buClr>
                <a:schemeClr val="accent1"/>
              </a:buClr>
              <a:buSzPts val="1100"/>
              <a:buFont typeface="Roboto"/>
              <a:buChar char="●"/>
            </a:pPr>
            <a:r>
              <a:rPr lang="en-AU" sz="1100" dirty="0">
                <a:solidFill>
                  <a:srgbClr val="002F4A"/>
                </a:solidFill>
                <a:latin typeface="Roboto"/>
                <a:ea typeface="Roboto"/>
                <a:cs typeface="Roboto"/>
                <a:sym typeface="Roboto"/>
              </a:rPr>
              <a:t>While SLBs hold great potential, they have not seen widespread adoption from sovereigns or financial institutions </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Perceived </a:t>
            </a:r>
            <a:r>
              <a:rPr lang="en" sz="1100" b="1" dirty="0">
                <a:solidFill>
                  <a:srgbClr val="002F4A"/>
                </a:solidFill>
                <a:latin typeface="Roboto"/>
                <a:ea typeface="Roboto"/>
                <a:cs typeface="Roboto"/>
                <a:sym typeface="Roboto"/>
              </a:rPr>
              <a:t>complexity</a:t>
            </a:r>
            <a:r>
              <a:rPr lang="en" sz="1100" dirty="0">
                <a:solidFill>
                  <a:srgbClr val="002F4A"/>
                </a:solidFill>
                <a:latin typeface="Roboto"/>
                <a:ea typeface="Roboto"/>
                <a:cs typeface="Roboto"/>
                <a:sym typeface="Roboto"/>
              </a:rPr>
              <a:t> is a key deterrent</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Uptake of </a:t>
            </a:r>
            <a:r>
              <a:rPr lang="en-GB" sz="1100" b="1" dirty="0">
                <a:solidFill>
                  <a:srgbClr val="002F4A"/>
                </a:solidFill>
                <a:latin typeface="Roboto"/>
                <a:ea typeface="Roboto"/>
                <a:cs typeface="Roboto"/>
                <a:sym typeface="Roboto"/>
              </a:rPr>
              <a:t>uniform standards </a:t>
            </a:r>
            <a:r>
              <a:rPr lang="en-GB" sz="1100" dirty="0">
                <a:solidFill>
                  <a:srgbClr val="002F4A"/>
                </a:solidFill>
                <a:latin typeface="Roboto"/>
                <a:ea typeface="Roboto"/>
                <a:cs typeface="Roboto"/>
                <a:sym typeface="Roboto"/>
              </a:rPr>
              <a:t>for targets</a:t>
            </a:r>
            <a:r>
              <a:rPr lang="en-GB" sz="1100" b="1" dirty="0">
                <a:solidFill>
                  <a:srgbClr val="002F4A"/>
                </a:solidFill>
                <a:latin typeface="Roboto"/>
                <a:ea typeface="Roboto"/>
                <a:cs typeface="Roboto"/>
                <a:sym typeface="Roboto"/>
              </a:rPr>
              <a:t> </a:t>
            </a:r>
            <a:r>
              <a:rPr lang="en-GB" sz="1100" dirty="0">
                <a:solidFill>
                  <a:srgbClr val="002F4A"/>
                </a:solidFill>
                <a:latin typeface="Roboto"/>
                <a:ea typeface="Roboto"/>
                <a:cs typeface="Roboto"/>
                <a:sym typeface="Roboto"/>
              </a:rPr>
              <a:t>has been slow</a:t>
            </a:r>
            <a:endParaRPr lang="en-GB" sz="1100" dirty="0">
              <a:solidFill>
                <a:srgbClr val="002F4A"/>
              </a:solidFill>
              <a:latin typeface="Roboto"/>
              <a:ea typeface="Roboto"/>
              <a:cs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1"/>
        <p:cNvGrpSpPr/>
        <p:nvPr/>
      </p:nvGrpSpPr>
      <p:grpSpPr>
        <a:xfrm>
          <a:off x="0" y="0"/>
          <a:ext cx="0" cy="0"/>
          <a:chOff x="0" y="0"/>
          <a:chExt cx="0" cy="0"/>
        </a:xfrm>
      </p:grpSpPr>
      <p:sp>
        <p:nvSpPr>
          <p:cNvPr id="4" name="Subtitle 3">
            <a:extLst>
              <a:ext uri="{FF2B5EF4-FFF2-40B4-BE49-F238E27FC236}">
                <a16:creationId xmlns:a16="http://schemas.microsoft.com/office/drawing/2014/main" id="{F1BF0C33-6DD2-57A1-EA7E-CDC31C59B973}"/>
              </a:ext>
            </a:extLst>
          </p:cNvPr>
          <p:cNvSpPr>
            <a:spLocks noGrp="1"/>
          </p:cNvSpPr>
          <p:nvPr>
            <p:ph type="subTitle" idx="1"/>
          </p:nvPr>
        </p:nvSpPr>
        <p:spPr>
          <a:xfrm>
            <a:off x="3318782" y="3951791"/>
            <a:ext cx="5825218" cy="794828"/>
          </a:xfrm>
        </p:spPr>
        <p:txBody>
          <a:bodyPr>
            <a:normAutofit fontScale="77500" lnSpcReduction="20000"/>
          </a:bodyPr>
          <a:lstStyle/>
          <a:p>
            <a:pPr lvl="0"/>
            <a:r>
              <a:rPr lang="en-US"/>
              <a:t> </a:t>
            </a:r>
            <a:r>
              <a:rPr lang="en-GB"/>
              <a:t>SLIDIs</a:t>
            </a:r>
          </a:p>
          <a:p>
            <a:pPr lvl="0"/>
            <a:r>
              <a:rPr lang="en-GB"/>
              <a:t>Basic Concept</a:t>
            </a:r>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C42FE23C-A3C2-B842-E92C-7F3C38F37D37}"/>
            </a:ext>
          </a:extLst>
        </p:cNvPr>
        <p:cNvGrpSpPr/>
        <p:nvPr/>
      </p:nvGrpSpPr>
      <p:grpSpPr>
        <a:xfrm>
          <a:off x="0" y="0"/>
          <a:ext cx="0" cy="0"/>
          <a:chOff x="0" y="0"/>
          <a:chExt cx="0" cy="0"/>
        </a:xfrm>
      </p:grpSpPr>
      <p:sp>
        <p:nvSpPr>
          <p:cNvPr id="229" name="Google Shape;229;p26">
            <a:extLst>
              <a:ext uri="{FF2B5EF4-FFF2-40B4-BE49-F238E27FC236}">
                <a16:creationId xmlns:a16="http://schemas.microsoft.com/office/drawing/2014/main" id="{64BCDA48-FB99-B1E4-5ADA-BA7EDAACF527}"/>
              </a:ext>
            </a:extLst>
          </p:cNvPr>
          <p:cNvSpPr txBox="1">
            <a:spLocks noGrp="1"/>
          </p:cNvSpPr>
          <p:nvPr>
            <p:ph type="subTitle" idx="1"/>
          </p:nvPr>
        </p:nvSpPr>
        <p:spPr>
          <a:xfrm>
            <a:off x="293300" y="554416"/>
            <a:ext cx="8557402" cy="481076"/>
          </a:xfrm>
        </p:spPr>
        <p:txBody>
          <a:bodyPr spcFirstLastPara="1" wrap="square" lIns="91425" tIns="91425" rIns="91425" bIns="91425" anchor="t" anchorCtr="0">
            <a:normAutofit fontScale="92500" lnSpcReduction="20000"/>
          </a:bodyPr>
          <a:lstStyle/>
          <a:p>
            <a:r>
              <a:rPr lang="en-AU"/>
              <a:t>SLIDIs</a:t>
            </a:r>
            <a:endParaRPr lang="en"/>
          </a:p>
        </p:txBody>
      </p:sp>
      <p:sp>
        <p:nvSpPr>
          <p:cNvPr id="5" name="Google Shape;229;p26">
            <a:extLst>
              <a:ext uri="{FF2B5EF4-FFF2-40B4-BE49-F238E27FC236}">
                <a16:creationId xmlns:a16="http://schemas.microsoft.com/office/drawing/2014/main" id="{607EBD93-C391-4EF8-BBE2-B9995925E2FD}"/>
              </a:ext>
            </a:extLst>
          </p:cNvPr>
          <p:cNvSpPr txBox="1">
            <a:spLocks/>
          </p:cNvSpPr>
          <p:nvPr/>
        </p:nvSpPr>
        <p:spPr>
          <a:xfrm>
            <a:off x="371596" y="1365791"/>
            <a:ext cx="8266802" cy="3316568"/>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marL="152400" algn="ctr">
              <a:lnSpc>
                <a:spcPct val="160000"/>
              </a:lnSpc>
              <a:buClr>
                <a:schemeClr val="accent1"/>
              </a:buClr>
              <a:buSzPts val="1200"/>
            </a:pPr>
            <a:r>
              <a:rPr lang="en" sz="2000" b="1" dirty="0">
                <a:solidFill>
                  <a:srgbClr val="B85741"/>
                </a:solidFill>
                <a:latin typeface="Roboto"/>
              </a:rPr>
              <a:t>Motivation</a:t>
            </a:r>
          </a:p>
          <a:p>
            <a:pPr marL="495300" indent="-342900">
              <a:lnSpc>
                <a:spcPct val="100000"/>
              </a:lnSpc>
              <a:buClr>
                <a:schemeClr val="accent1"/>
              </a:buClr>
              <a:buSzPts val="1200"/>
              <a:buFont typeface="Arial" panose="020B0604020202020204" pitchFamily="34" charset="0"/>
              <a:buChar char="•"/>
            </a:pPr>
            <a:r>
              <a:rPr lang="en" sz="1800" b="1" dirty="0">
                <a:solidFill>
                  <a:srgbClr val="002F4A"/>
                </a:solidFill>
                <a:latin typeface="Roboto"/>
              </a:rPr>
              <a:t>Tie down private sector and official sector flows to climate agenda in developing countries, without compromising WB or other MLDB </a:t>
            </a:r>
            <a:r>
              <a:rPr lang="en" sz="1800" b="1" dirty="0">
                <a:solidFill>
                  <a:srgbClr val="002F4A"/>
                </a:solidFill>
                <a:latin typeface="Roboto" panose="02000000000000000000" pitchFamily="2" charset="0"/>
                <a:ea typeface="Roboto" panose="02000000000000000000" pitchFamily="2" charset="0"/>
              </a:rPr>
              <a:t>balance sheet</a:t>
            </a:r>
          </a:p>
          <a:p>
            <a:pPr marL="495300" indent="-342900">
              <a:lnSpc>
                <a:spcPct val="100000"/>
              </a:lnSpc>
              <a:buClr>
                <a:schemeClr val="accent1"/>
              </a:buClr>
              <a:buSzPts val="1200"/>
              <a:buFont typeface="Arial" panose="020B0604020202020204" pitchFamily="34" charset="0"/>
              <a:buChar char="•"/>
            </a:pPr>
            <a:endParaRPr lang="en" sz="1800" b="1" dirty="0">
              <a:solidFill>
                <a:srgbClr val="002F4A"/>
              </a:solidFill>
              <a:latin typeface="Roboto" panose="02000000000000000000" pitchFamily="2" charset="0"/>
              <a:ea typeface="Roboto" panose="02000000000000000000" pitchFamily="2" charset="0"/>
            </a:endParaRPr>
          </a:p>
          <a:p>
            <a:pPr marL="495300" indent="-342900">
              <a:lnSpc>
                <a:spcPct val="100000"/>
              </a:lnSpc>
              <a:buClr>
                <a:schemeClr val="accent1"/>
              </a:buClr>
              <a:buSzPts val="1200"/>
              <a:buFont typeface="Arial" panose="020B0604020202020204" pitchFamily="34" charset="0"/>
              <a:buChar char="•"/>
            </a:pPr>
            <a:r>
              <a:rPr lang="en" sz="1800" b="1" dirty="0">
                <a:solidFill>
                  <a:srgbClr val="002F4A"/>
                </a:solidFill>
                <a:latin typeface="Roboto" panose="02000000000000000000" pitchFamily="2" charset="0"/>
                <a:ea typeface="Roboto" panose="02000000000000000000" pitchFamily="2" charset="0"/>
              </a:rPr>
              <a:t>Improve incentives for private sector financing while enhancing incentives for developing countries to achieve climate targets</a:t>
            </a:r>
          </a:p>
          <a:p>
            <a:pPr marL="495300" indent="-342900">
              <a:lnSpc>
                <a:spcPct val="100000"/>
              </a:lnSpc>
              <a:buClr>
                <a:schemeClr val="accent1"/>
              </a:buClr>
              <a:buSzPts val="1200"/>
              <a:buFont typeface="Arial" panose="020B0604020202020204" pitchFamily="34" charset="0"/>
              <a:buChar char="•"/>
            </a:pPr>
            <a:endParaRPr lang="en" sz="1800" b="1" dirty="0">
              <a:solidFill>
                <a:srgbClr val="002F4A"/>
              </a:solidFill>
              <a:latin typeface="Roboto" panose="02000000000000000000" pitchFamily="2" charset="0"/>
              <a:ea typeface="Roboto" panose="02000000000000000000" pitchFamily="2" charset="0"/>
            </a:endParaRPr>
          </a:p>
          <a:p>
            <a:pPr marL="495300" indent="-342900">
              <a:lnSpc>
                <a:spcPct val="100000"/>
              </a:lnSpc>
              <a:buClr>
                <a:schemeClr val="accent1"/>
              </a:buClr>
              <a:buSzPts val="1200"/>
              <a:buFont typeface="Arial" panose="020B0604020202020204" pitchFamily="34" charset="0"/>
              <a:buChar char="•"/>
            </a:pPr>
            <a:r>
              <a:rPr lang="en" sz="1800" b="1" dirty="0">
                <a:solidFill>
                  <a:srgbClr val="002F4A"/>
                </a:solidFill>
                <a:latin typeface="Roboto" panose="02000000000000000000" pitchFamily="2" charset="0"/>
                <a:ea typeface="Roboto" panose="02000000000000000000" pitchFamily="2" charset="0"/>
              </a:rPr>
              <a:t>Unify aspects of WB/MLDB operations and private sector lending into only one bond design, to hardwire this complementarity and bypass market failures</a:t>
            </a:r>
            <a:endParaRPr lang="en" sz="1800" b="1" dirty="0">
              <a:solidFill>
                <a:srgbClr val="002F4A"/>
              </a:solidFill>
              <a:latin typeface="Roboto"/>
            </a:endParaRPr>
          </a:p>
        </p:txBody>
      </p:sp>
    </p:spTree>
    <p:extLst>
      <p:ext uri="{BB962C8B-B14F-4D97-AF65-F5344CB8AC3E}">
        <p14:creationId xmlns:p14="http://schemas.microsoft.com/office/powerpoint/2010/main" val="117460382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C42FE23C-A3C2-B842-E92C-7F3C38F37D3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0E54242-28E7-57E2-55AE-5501E4C1C7EA}"/>
              </a:ext>
            </a:extLst>
          </p:cNvPr>
          <p:cNvSpPr/>
          <p:nvPr/>
        </p:nvSpPr>
        <p:spPr>
          <a:xfrm>
            <a:off x="445699" y="1485900"/>
            <a:ext cx="4278701" cy="335416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Google Shape;229;p26">
            <a:extLst>
              <a:ext uri="{FF2B5EF4-FFF2-40B4-BE49-F238E27FC236}">
                <a16:creationId xmlns:a16="http://schemas.microsoft.com/office/drawing/2014/main" id="{64BCDA48-FB99-B1E4-5ADA-BA7EDAACF527}"/>
              </a:ext>
            </a:extLst>
          </p:cNvPr>
          <p:cNvSpPr txBox="1">
            <a:spLocks noGrp="1"/>
          </p:cNvSpPr>
          <p:nvPr>
            <p:ph type="subTitle" idx="1"/>
          </p:nvPr>
        </p:nvSpPr>
        <p:spPr>
          <a:xfrm>
            <a:off x="293300" y="554416"/>
            <a:ext cx="8557402" cy="481076"/>
          </a:xfrm>
        </p:spPr>
        <p:txBody>
          <a:bodyPr spcFirstLastPara="1" wrap="square" lIns="91425" tIns="91425" rIns="91425" bIns="91425" anchor="t" anchorCtr="0">
            <a:normAutofit fontScale="92500" lnSpcReduction="20000"/>
          </a:bodyPr>
          <a:lstStyle/>
          <a:p>
            <a:r>
              <a:rPr lang="en-AU"/>
              <a:t>SLIDIs</a:t>
            </a:r>
            <a:endParaRPr lang="en"/>
          </a:p>
        </p:txBody>
      </p:sp>
      <p:grpSp>
        <p:nvGrpSpPr>
          <p:cNvPr id="230" name="Google Shape;230;p26">
            <a:extLst>
              <a:ext uri="{FF2B5EF4-FFF2-40B4-BE49-F238E27FC236}">
                <a16:creationId xmlns:a16="http://schemas.microsoft.com/office/drawing/2014/main" id="{61F08F50-F03D-4F8E-FD3D-D232781BF25F}"/>
              </a:ext>
            </a:extLst>
          </p:cNvPr>
          <p:cNvGrpSpPr/>
          <p:nvPr/>
        </p:nvGrpSpPr>
        <p:grpSpPr>
          <a:xfrm>
            <a:off x="1383359" y="3485386"/>
            <a:ext cx="2196033" cy="1220887"/>
            <a:chOff x="5040038" y="2459523"/>
            <a:chExt cx="1718739" cy="966656"/>
          </a:xfrm>
        </p:grpSpPr>
        <p:sp>
          <p:nvSpPr>
            <p:cNvPr id="231" name="Google Shape;231;p26">
              <a:extLst>
                <a:ext uri="{FF2B5EF4-FFF2-40B4-BE49-F238E27FC236}">
                  <a16:creationId xmlns:a16="http://schemas.microsoft.com/office/drawing/2014/main" id="{A85334DD-0A46-D8F7-16DF-3A6C90688376}"/>
                </a:ext>
              </a:extLst>
            </p:cNvPr>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 sz="1000" b="1" dirty="0">
                  <a:solidFill>
                    <a:srgbClr val="FFFFFF"/>
                  </a:solidFill>
                  <a:latin typeface="Roboto"/>
                  <a:ea typeface="Roboto"/>
                  <a:cs typeface="Roboto"/>
                  <a:sym typeface="Roboto"/>
                </a:rPr>
                <a:t>Guarantees</a:t>
              </a:r>
              <a:r>
                <a:rPr lang="en" sz="1000" dirty="0">
                  <a:solidFill>
                    <a:srgbClr val="FFFFFF"/>
                  </a:solidFill>
                  <a:latin typeface="Roboto"/>
                  <a:ea typeface="Roboto"/>
                  <a:cs typeface="Roboto"/>
                  <a:sym typeface="Roboto"/>
                </a:rPr>
                <a:t> coupon rate for investor and </a:t>
              </a:r>
              <a:r>
                <a:rPr lang="en" sz="1000" b="1" dirty="0">
                  <a:solidFill>
                    <a:srgbClr val="FFFFFF"/>
                  </a:solidFill>
                  <a:latin typeface="Roboto"/>
                  <a:ea typeface="Roboto"/>
                  <a:cs typeface="Roboto"/>
                  <a:sym typeface="Roboto"/>
                </a:rPr>
                <a:t>lowers </a:t>
              </a:r>
              <a:r>
                <a:rPr lang="en" sz="1000" dirty="0">
                  <a:solidFill>
                    <a:srgbClr val="FFFFFF"/>
                  </a:solidFill>
                  <a:latin typeface="Roboto"/>
                  <a:ea typeface="Roboto"/>
                  <a:cs typeface="Roboto"/>
                  <a:sym typeface="Roboto"/>
                </a:rPr>
                <a:t>coupon rate for the sovereign, contingent on sustainability targets achievement </a:t>
              </a:r>
              <a:endParaRPr sz="1000" dirty="0">
                <a:solidFill>
                  <a:srgbClr val="FFFFFF"/>
                </a:solidFill>
              </a:endParaRPr>
            </a:p>
          </p:txBody>
        </p:sp>
        <p:sp>
          <p:nvSpPr>
            <p:cNvPr id="232" name="Google Shape;232;p26">
              <a:extLst>
                <a:ext uri="{FF2B5EF4-FFF2-40B4-BE49-F238E27FC236}">
                  <a16:creationId xmlns:a16="http://schemas.microsoft.com/office/drawing/2014/main" id="{136142B9-C076-0543-CCE1-F674005A3730}"/>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Institution or Fund</a:t>
              </a:r>
              <a:endParaRPr sz="1200">
                <a:solidFill>
                  <a:srgbClr val="FFFFFF"/>
                </a:solidFill>
              </a:endParaRPr>
            </a:p>
          </p:txBody>
        </p:sp>
      </p:grpSp>
      <p:grpSp>
        <p:nvGrpSpPr>
          <p:cNvPr id="233" name="Google Shape;233;p26">
            <a:extLst>
              <a:ext uri="{FF2B5EF4-FFF2-40B4-BE49-F238E27FC236}">
                <a16:creationId xmlns:a16="http://schemas.microsoft.com/office/drawing/2014/main" id="{51EF34A2-97C1-7D55-80D1-E57DF1A07DC0}"/>
              </a:ext>
            </a:extLst>
          </p:cNvPr>
          <p:cNvGrpSpPr/>
          <p:nvPr/>
        </p:nvGrpSpPr>
        <p:grpSpPr>
          <a:xfrm>
            <a:off x="2933404" y="1701170"/>
            <a:ext cx="1638596" cy="1295717"/>
            <a:chOff x="3798075" y="647329"/>
            <a:chExt cx="1332300" cy="1052915"/>
          </a:xfrm>
        </p:grpSpPr>
        <p:sp>
          <p:nvSpPr>
            <p:cNvPr id="234" name="Google Shape;234;p26">
              <a:extLst>
                <a:ext uri="{FF2B5EF4-FFF2-40B4-BE49-F238E27FC236}">
                  <a16:creationId xmlns:a16="http://schemas.microsoft.com/office/drawing/2014/main" id="{5362C647-7156-E40F-8ED7-2CDE802ABEC7}"/>
                </a:ext>
              </a:extLst>
            </p:cNvPr>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dirty="0">
                  <a:solidFill>
                    <a:srgbClr val="FFFFFF"/>
                  </a:solidFill>
                  <a:latin typeface="Roboto"/>
                  <a:ea typeface="Roboto"/>
                  <a:cs typeface="Roboto"/>
                  <a:sym typeface="Roboto"/>
                </a:rPr>
                <a:t>Pays </a:t>
              </a:r>
              <a:r>
                <a:rPr lang="en" sz="1000" b="1" dirty="0">
                  <a:solidFill>
                    <a:srgbClr val="FFFFFF"/>
                  </a:solidFill>
                  <a:latin typeface="Roboto"/>
                  <a:ea typeface="Roboto"/>
                  <a:cs typeface="Roboto"/>
                  <a:sym typeface="Roboto"/>
                </a:rPr>
                <a:t>lower coupon </a:t>
              </a:r>
              <a:r>
                <a:rPr lang="en" sz="1000" dirty="0">
                  <a:solidFill>
                    <a:srgbClr val="FFFFFF"/>
                  </a:solidFill>
                  <a:latin typeface="Roboto"/>
                  <a:ea typeface="Roboto"/>
                  <a:cs typeface="Roboto"/>
                  <a:sym typeface="Roboto"/>
                </a:rPr>
                <a:t>payments when certain targets are met. Is incentivized to take climate action</a:t>
              </a:r>
              <a:endParaRPr sz="1000" dirty="0">
                <a:solidFill>
                  <a:srgbClr val="FFFFFF"/>
                </a:solidFill>
              </a:endParaRPr>
            </a:p>
          </p:txBody>
        </p:sp>
        <p:sp>
          <p:nvSpPr>
            <p:cNvPr id="235" name="Google Shape;235;p26">
              <a:extLst>
                <a:ext uri="{FF2B5EF4-FFF2-40B4-BE49-F238E27FC236}">
                  <a16:creationId xmlns:a16="http://schemas.microsoft.com/office/drawing/2014/main" id="{E6EF399D-902E-FA52-830A-27DD7F75BDA7}"/>
                </a:ext>
              </a:extLst>
            </p:cNvPr>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236" name="Google Shape;236;p26">
            <a:extLst>
              <a:ext uri="{FF2B5EF4-FFF2-40B4-BE49-F238E27FC236}">
                <a16:creationId xmlns:a16="http://schemas.microsoft.com/office/drawing/2014/main" id="{344A37BE-9339-D768-FFF5-C4AC03DC0C8E}"/>
              </a:ext>
            </a:extLst>
          </p:cNvPr>
          <p:cNvGrpSpPr/>
          <p:nvPr/>
        </p:nvGrpSpPr>
        <p:grpSpPr>
          <a:xfrm>
            <a:off x="559499" y="1666540"/>
            <a:ext cx="1638596" cy="1325411"/>
            <a:chOff x="2465775" y="2422675"/>
            <a:chExt cx="1332300" cy="992966"/>
          </a:xfrm>
        </p:grpSpPr>
        <p:sp>
          <p:nvSpPr>
            <p:cNvPr id="237" name="Google Shape;237;p26">
              <a:extLst>
                <a:ext uri="{FF2B5EF4-FFF2-40B4-BE49-F238E27FC236}">
                  <a16:creationId xmlns:a16="http://schemas.microsoft.com/office/drawing/2014/main" id="{115BCE6D-62A9-CE71-28B7-4DBDDA365977}"/>
                </a:ext>
              </a:extLst>
            </p:cNvPr>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dirty="0">
                  <a:solidFill>
                    <a:srgbClr val="FFFFFF"/>
                  </a:solidFill>
                  <a:latin typeface="Roboto"/>
                  <a:ea typeface="Roboto"/>
                  <a:cs typeface="Roboto"/>
                  <a:sym typeface="Roboto"/>
                </a:rPr>
                <a:t>Guaranteed</a:t>
              </a:r>
              <a:r>
                <a:rPr lang="en" sz="1000" dirty="0">
                  <a:solidFill>
                    <a:srgbClr val="FFFFFF"/>
                  </a:solidFill>
                  <a:latin typeface="Roboto"/>
                  <a:ea typeface="Roboto"/>
                  <a:cs typeface="Roboto"/>
                  <a:sym typeface="Roboto"/>
                </a:rPr>
                <a:t> to receive stable returns; de-risked; incentivized to invest</a:t>
              </a:r>
              <a:endParaRPr sz="1000" dirty="0">
                <a:solidFill>
                  <a:srgbClr val="FFFFFF"/>
                </a:solidFill>
              </a:endParaRPr>
            </a:p>
          </p:txBody>
        </p:sp>
        <p:sp>
          <p:nvSpPr>
            <p:cNvPr id="238" name="Google Shape;238;p26">
              <a:extLst>
                <a:ext uri="{FF2B5EF4-FFF2-40B4-BE49-F238E27FC236}">
                  <a16:creationId xmlns:a16="http://schemas.microsoft.com/office/drawing/2014/main" id="{8D86FD10-03A1-6F6D-B262-64137B1F48D0}"/>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sp>
        <p:nvSpPr>
          <p:cNvPr id="5" name="Google Shape;229;p26">
            <a:extLst>
              <a:ext uri="{FF2B5EF4-FFF2-40B4-BE49-F238E27FC236}">
                <a16:creationId xmlns:a16="http://schemas.microsoft.com/office/drawing/2014/main" id="{607EBD93-C391-4EF8-BBE2-B9995925E2FD}"/>
              </a:ext>
            </a:extLst>
          </p:cNvPr>
          <p:cNvSpPr txBox="1">
            <a:spLocks/>
          </p:cNvSpPr>
          <p:nvPr/>
        </p:nvSpPr>
        <p:spPr>
          <a:xfrm>
            <a:off x="4657119" y="1004637"/>
            <a:ext cx="4717486" cy="431719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marL="152400">
              <a:lnSpc>
                <a:spcPct val="160000"/>
              </a:lnSpc>
              <a:buClr>
                <a:schemeClr val="accent1"/>
              </a:buClr>
              <a:buSzPts val="1200"/>
            </a:pPr>
            <a:r>
              <a:rPr lang="en" sz="1000" b="1" dirty="0">
                <a:solidFill>
                  <a:srgbClr val="B85741"/>
                </a:solidFill>
                <a:latin typeface="Roboto"/>
              </a:rPr>
              <a:t>From Sovereign Side:</a:t>
            </a:r>
          </a:p>
          <a:p>
            <a:pPr marL="438150" indent="-285750">
              <a:lnSpc>
                <a:spcPct val="160000"/>
              </a:lnSpc>
              <a:buClr>
                <a:schemeClr val="accent1"/>
              </a:buClr>
              <a:buSzPts val="1200"/>
              <a:buFont typeface="Arial" panose="020B0604020202020204" pitchFamily="34" charset="0"/>
              <a:buChar char="•"/>
            </a:pPr>
            <a:r>
              <a:rPr lang="en" sz="1000" dirty="0">
                <a:solidFill>
                  <a:schemeClr val="accent6">
                    <a:lumMod val="10000"/>
                  </a:schemeClr>
                </a:solidFill>
                <a:latin typeface="Roboto"/>
              </a:rPr>
              <a:t>Sovereign pays a </a:t>
            </a:r>
            <a:r>
              <a:rPr lang="en" sz="1000" b="1" dirty="0">
                <a:solidFill>
                  <a:schemeClr val="accent6">
                    <a:lumMod val="10000"/>
                  </a:schemeClr>
                </a:solidFill>
                <a:latin typeface="Roboto"/>
              </a:rPr>
              <a:t>lower</a:t>
            </a:r>
            <a:r>
              <a:rPr lang="en" sz="1000" dirty="0">
                <a:solidFill>
                  <a:schemeClr val="accent6">
                    <a:lumMod val="10000"/>
                  </a:schemeClr>
                </a:solidFill>
                <a:latin typeface="Roboto"/>
              </a:rPr>
              <a:t> </a:t>
            </a:r>
            <a:r>
              <a:rPr lang="en" sz="1000" b="1" dirty="0">
                <a:solidFill>
                  <a:schemeClr val="accent6">
                    <a:lumMod val="10000"/>
                  </a:schemeClr>
                </a:solidFill>
                <a:latin typeface="Roboto"/>
              </a:rPr>
              <a:t>coupon</a:t>
            </a:r>
            <a:r>
              <a:rPr lang="en" sz="1000" dirty="0">
                <a:solidFill>
                  <a:schemeClr val="accent6">
                    <a:lumMod val="10000"/>
                  </a:schemeClr>
                </a:solidFill>
                <a:latin typeface="Roboto"/>
              </a:rPr>
              <a:t> when sustainability KPIs are met</a:t>
            </a:r>
          </a:p>
          <a:p>
            <a:pPr marL="438150" indent="-285750">
              <a:lnSpc>
                <a:spcPct val="160000"/>
              </a:lnSpc>
              <a:buClr>
                <a:schemeClr val="accent1"/>
              </a:buClr>
              <a:buSzPts val="1200"/>
              <a:buFont typeface="Arial" panose="020B0604020202020204" pitchFamily="34" charset="0"/>
              <a:buChar char="•"/>
            </a:pPr>
            <a:r>
              <a:rPr lang="en-GB" sz="1000" dirty="0">
                <a:solidFill>
                  <a:schemeClr val="accent6">
                    <a:lumMod val="10000"/>
                  </a:schemeClr>
                </a:solidFill>
                <a:latin typeface="Roboto"/>
              </a:rPr>
              <a:t>Sovereign</a:t>
            </a:r>
            <a:r>
              <a:rPr lang="en-GB" sz="1000" b="1" dirty="0">
                <a:solidFill>
                  <a:schemeClr val="accent6">
                    <a:lumMod val="10000"/>
                  </a:schemeClr>
                </a:solidFill>
                <a:latin typeface="Roboto"/>
              </a:rPr>
              <a:t> rewarded</a:t>
            </a:r>
            <a:r>
              <a:rPr lang="en-GB" sz="1000" dirty="0">
                <a:solidFill>
                  <a:schemeClr val="accent6">
                    <a:lumMod val="10000"/>
                  </a:schemeClr>
                </a:solidFill>
                <a:latin typeface="Roboto"/>
              </a:rPr>
              <a:t> for meeting targets</a:t>
            </a:r>
            <a:endParaRPr lang="en" sz="1000" dirty="0">
              <a:solidFill>
                <a:schemeClr val="accent6">
                  <a:lumMod val="10000"/>
                </a:schemeClr>
              </a:solidFill>
              <a:latin typeface="Roboto"/>
            </a:endParaRPr>
          </a:p>
          <a:p>
            <a:pPr marL="152400">
              <a:lnSpc>
                <a:spcPct val="160000"/>
              </a:lnSpc>
            </a:pPr>
            <a:endParaRPr lang="en" sz="1000" dirty="0">
              <a:solidFill>
                <a:schemeClr val="accent6">
                  <a:lumMod val="10000"/>
                </a:schemeClr>
              </a:solidFill>
              <a:latin typeface="Roboto" panose="02000000000000000000" pitchFamily="2" charset="0"/>
              <a:ea typeface="Roboto" panose="02000000000000000000" pitchFamily="2" charset="0"/>
              <a:cs typeface="Roboto" panose="02000000000000000000" pitchFamily="2" charset="0"/>
            </a:endParaRPr>
          </a:p>
          <a:p>
            <a:pPr marL="152400">
              <a:lnSpc>
                <a:spcPct val="160000"/>
              </a:lnSpc>
            </a:pPr>
            <a:r>
              <a:rPr lang="en" sz="1000" b="1" dirty="0">
                <a:solidFill>
                  <a:srgbClr val="B85741"/>
                </a:solidFill>
                <a:latin typeface="Roboto"/>
              </a:rPr>
              <a:t>On Investor Side: </a:t>
            </a:r>
          </a:p>
          <a:p>
            <a:pPr marL="438150" indent="-285750">
              <a:lnSpc>
                <a:spcPct val="160000"/>
              </a:lnSpc>
              <a:buFont typeface="Arial" panose="020B0604020202020204" pitchFamily="34" charset="0"/>
              <a:buChar char="•"/>
            </a:pPr>
            <a:r>
              <a:rPr lang="en-US" sz="1000" dirty="0">
                <a:solidFill>
                  <a:schemeClr val="accent6">
                    <a:lumMod val="10000"/>
                  </a:schemeClr>
                </a:solidFill>
                <a:latin typeface="Roboto"/>
              </a:rPr>
              <a:t>SLIDIs maintain a </a:t>
            </a:r>
            <a:r>
              <a:rPr lang="en-US" sz="1000" b="1" dirty="0">
                <a:solidFill>
                  <a:schemeClr val="accent6">
                    <a:lumMod val="10000"/>
                  </a:schemeClr>
                </a:solidFill>
                <a:latin typeface="Roboto"/>
              </a:rPr>
              <a:t>fixed coupon </a:t>
            </a:r>
            <a:r>
              <a:rPr lang="en-US" sz="1000" dirty="0">
                <a:solidFill>
                  <a:schemeClr val="accent6">
                    <a:lumMod val="10000"/>
                  </a:schemeClr>
                </a:solidFill>
                <a:latin typeface="Roboto"/>
              </a:rPr>
              <a:t>payment, </a:t>
            </a:r>
            <a:r>
              <a:rPr lang="en-US" sz="1000" b="1" dirty="0">
                <a:solidFill>
                  <a:schemeClr val="accent6">
                    <a:lumMod val="10000"/>
                  </a:schemeClr>
                </a:solidFill>
                <a:latin typeface="Roboto"/>
              </a:rPr>
              <a:t>regardless of performance</a:t>
            </a:r>
            <a:r>
              <a:rPr lang="en-US" sz="1000" dirty="0">
                <a:solidFill>
                  <a:schemeClr val="accent6">
                    <a:lumMod val="10000"/>
                  </a:schemeClr>
                </a:solidFill>
                <a:latin typeface="Roboto"/>
              </a:rPr>
              <a:t> </a:t>
            </a:r>
          </a:p>
          <a:p>
            <a:pPr marL="438150" indent="-285750">
              <a:lnSpc>
                <a:spcPct val="160000"/>
              </a:lnSpc>
              <a:buFont typeface="Arial" panose="020B0604020202020204" pitchFamily="34" charset="0"/>
              <a:buChar char="•"/>
            </a:pPr>
            <a:r>
              <a:rPr lang="en" sz="1000" b="1" dirty="0">
                <a:solidFill>
                  <a:schemeClr val="accent6">
                    <a:lumMod val="10000"/>
                  </a:schemeClr>
                </a:solidFill>
                <a:latin typeface="Roboto"/>
              </a:rPr>
              <a:t>Different from SLBs</a:t>
            </a:r>
          </a:p>
          <a:p>
            <a:pPr marL="152400">
              <a:lnSpc>
                <a:spcPct val="160000"/>
              </a:lnSpc>
            </a:pPr>
            <a:endParaRPr lang="en" sz="1000" b="1" dirty="0">
              <a:solidFill>
                <a:schemeClr val="accent6">
                  <a:lumMod val="10000"/>
                </a:schemeClr>
              </a:solidFill>
              <a:latin typeface="Roboto"/>
            </a:endParaRPr>
          </a:p>
          <a:p>
            <a:pPr marL="285750" indent="-285750">
              <a:lnSpc>
                <a:spcPct val="160000"/>
              </a:lnSpc>
              <a:buFont typeface="Arial" panose="020B0604020202020204" pitchFamily="34" charset="0"/>
              <a:buChar char="•"/>
            </a:pPr>
            <a:r>
              <a:rPr lang="en" sz="1000" b="1" dirty="0">
                <a:solidFill>
                  <a:srgbClr val="B85741"/>
                </a:solidFill>
                <a:latin typeface="Roboto"/>
              </a:rPr>
              <a:t>Key characteristic: </a:t>
            </a:r>
            <a:endParaRPr lang="en-US" sz="1000" dirty="0">
              <a:solidFill>
                <a:srgbClr val="31394D"/>
              </a:solidFill>
              <a:latin typeface="Roboto"/>
            </a:endParaRPr>
          </a:p>
          <a:p>
            <a:pPr marL="438150" indent="-285750">
              <a:lnSpc>
                <a:spcPct val="160000"/>
              </a:lnSpc>
              <a:buFont typeface="Arial,Sans-Serif" panose="020B0604020202020204" pitchFamily="34" charset="0"/>
              <a:buChar char="•"/>
            </a:pPr>
            <a:r>
              <a:rPr lang="en-US" sz="1000" dirty="0">
                <a:solidFill>
                  <a:schemeClr val="accent6">
                    <a:lumMod val="10000"/>
                  </a:schemeClr>
                </a:solidFill>
                <a:latin typeface="Roboto"/>
              </a:rPr>
              <a:t>Target KPIs, possibility of WB/MLDB funding, and minimum private sector capital investment requirement enshrined in bond contract.</a:t>
            </a:r>
          </a:p>
          <a:p>
            <a:pPr marL="152400">
              <a:lnSpc>
                <a:spcPct val="160000"/>
              </a:lnSpc>
            </a:pPr>
            <a:endParaRPr lang="en-US" sz="1000" dirty="0">
              <a:solidFill>
                <a:schemeClr val="accent6">
                  <a:lumMod val="10000"/>
                </a:schemeClr>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14990664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9D5D7312-659C-669E-FA5C-652B310EEA7D}"/>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84223B5E-A7F6-9A48-5DC5-450DAEF343BC}"/>
              </a:ext>
            </a:extLst>
          </p:cNvPr>
          <p:cNvSpPr>
            <a:spLocks noGrp="1"/>
          </p:cNvSpPr>
          <p:nvPr>
            <p:ph type="subTitle" idx="1"/>
          </p:nvPr>
        </p:nvSpPr>
        <p:spPr>
          <a:xfrm>
            <a:off x="3318782" y="3951791"/>
            <a:ext cx="5825218" cy="794828"/>
          </a:xfrm>
        </p:spPr>
        <p:txBody>
          <a:bodyPr>
            <a:normAutofit fontScale="77500" lnSpcReduction="20000"/>
          </a:bodyPr>
          <a:lstStyle/>
          <a:p>
            <a:pPr lvl="0"/>
            <a:r>
              <a:rPr lang="en-US"/>
              <a:t>Implementing SLIDIs</a:t>
            </a:r>
          </a:p>
          <a:p>
            <a:pPr lvl="0"/>
            <a:r>
              <a:rPr lang="en-US"/>
              <a:t>Option One: WB Side Payments</a:t>
            </a:r>
          </a:p>
        </p:txBody>
      </p:sp>
    </p:spTree>
    <p:extLst>
      <p:ext uri="{BB962C8B-B14F-4D97-AF65-F5344CB8AC3E}">
        <p14:creationId xmlns:p14="http://schemas.microsoft.com/office/powerpoint/2010/main" val="17787291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6">
          <a:extLst>
            <a:ext uri="{FF2B5EF4-FFF2-40B4-BE49-F238E27FC236}">
              <a16:creationId xmlns:a16="http://schemas.microsoft.com/office/drawing/2014/main" id="{5C045800-8120-171E-4329-E46830803B70}"/>
            </a:ext>
          </a:extLst>
        </p:cNvPr>
        <p:cNvGrpSpPr/>
        <p:nvPr/>
      </p:nvGrpSpPr>
      <p:grpSpPr>
        <a:xfrm>
          <a:off x="0" y="0"/>
          <a:ext cx="0" cy="0"/>
          <a:chOff x="0" y="0"/>
          <a:chExt cx="0" cy="0"/>
        </a:xfrm>
      </p:grpSpPr>
      <p:sp>
        <p:nvSpPr>
          <p:cNvPr id="367" name="Google Shape;367;p37">
            <a:extLst>
              <a:ext uri="{FF2B5EF4-FFF2-40B4-BE49-F238E27FC236}">
                <a16:creationId xmlns:a16="http://schemas.microsoft.com/office/drawing/2014/main" id="{CD96BF15-7BCC-0D5E-922F-29D954930892}"/>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One: </a:t>
            </a:r>
            <a:r>
              <a:rPr lang="en" sz="2250">
                <a:solidFill>
                  <a:schemeClr val="bg1"/>
                </a:solidFill>
              </a:rPr>
              <a:t>WB Payment to Pay For The Difference</a:t>
            </a:r>
            <a:endParaRPr sz="2250">
              <a:solidFill>
                <a:schemeClr val="bg1"/>
              </a:solidFill>
            </a:endParaRPr>
          </a:p>
        </p:txBody>
      </p:sp>
      <p:sp>
        <p:nvSpPr>
          <p:cNvPr id="368" name="Google Shape;368;p37">
            <a:extLst>
              <a:ext uri="{FF2B5EF4-FFF2-40B4-BE49-F238E27FC236}">
                <a16:creationId xmlns:a16="http://schemas.microsoft.com/office/drawing/2014/main" id="{EAA08A4B-4E5B-3DE0-8E60-076DCA028420}"/>
              </a:ext>
            </a:extLst>
          </p:cNvPr>
          <p:cNvSpPr txBox="1">
            <a:spLocks noGrp="1"/>
          </p:cNvSpPr>
          <p:nvPr>
            <p:ph type="body" idx="2"/>
          </p:nvPr>
        </p:nvSpPr>
        <p:spPr>
          <a:xfrm>
            <a:off x="4878700" y="494775"/>
            <a:ext cx="3954000" cy="281167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rgbClr val="002F4A"/>
                </a:solidFill>
              </a:rPr>
              <a:t>The first alternative involves a </a:t>
            </a:r>
            <a:r>
              <a:rPr lang="en-US" sz="1200">
                <a:solidFill>
                  <a:srgbClr val="002F4A"/>
                </a:solidFill>
              </a:rPr>
              <a:t>SLIDI</a:t>
            </a:r>
            <a:r>
              <a:rPr lang="en" sz="1200">
                <a:solidFill>
                  <a:srgbClr val="002F4A"/>
                </a:solidFill>
              </a:rPr>
              <a:t> operating similarly to an SLB, with an </a:t>
            </a:r>
            <a:r>
              <a:rPr lang="en" sz="1200" b="1">
                <a:solidFill>
                  <a:srgbClr val="002F4A"/>
                </a:solidFill>
              </a:rPr>
              <a:t>additional mechanism</a:t>
            </a:r>
            <a:r>
              <a:rPr lang="en" sz="1200">
                <a:solidFill>
                  <a:srgbClr val="002F4A"/>
                </a:solidFill>
              </a:rPr>
              <a:t>: a distinct fund that disburses subsidies to the sovereign when it successfully achieves its KPIs. </a:t>
            </a:r>
            <a:endParaRPr sz="1200">
              <a:solidFill>
                <a:srgbClr val="002F4A"/>
              </a:solidFill>
            </a:endParaRPr>
          </a:p>
          <a:p>
            <a:pPr marL="0" lvl="0" indent="0" algn="l" rtl="0">
              <a:spcBef>
                <a:spcPts val="1200"/>
              </a:spcBef>
              <a:spcAft>
                <a:spcPts val="0"/>
              </a:spcAft>
              <a:buNone/>
            </a:pPr>
            <a:r>
              <a:rPr lang="en" sz="1200">
                <a:solidFill>
                  <a:srgbClr val="002F4A"/>
                </a:solidFill>
              </a:rPr>
              <a:t>This fund would be</a:t>
            </a:r>
            <a:r>
              <a:rPr lang="en" sz="1200" b="1">
                <a:solidFill>
                  <a:srgbClr val="002F4A"/>
                </a:solidFill>
              </a:rPr>
              <a:t> loss-making</a:t>
            </a:r>
            <a:r>
              <a:rPr lang="en" sz="1200">
                <a:solidFill>
                  <a:srgbClr val="002F4A"/>
                </a:solidFill>
              </a:rPr>
              <a:t>, necessitating a sustainable source of funding. Potential options to consider for funding include:</a:t>
            </a:r>
            <a:endParaRPr sz="1200">
              <a:solidFill>
                <a:srgbClr val="002F4A"/>
              </a:solidFill>
            </a:endParaRPr>
          </a:p>
          <a:p>
            <a:pPr marL="457200" lvl="0" indent="-304800" algn="l" rtl="0">
              <a:spcBef>
                <a:spcPts val="1200"/>
              </a:spcBef>
              <a:spcAft>
                <a:spcPts val="0"/>
              </a:spcAft>
              <a:buClr>
                <a:schemeClr val="accent1"/>
              </a:buClr>
              <a:buSzPts val="1200"/>
              <a:buAutoNum type="arabicPeriod"/>
            </a:pPr>
            <a:r>
              <a:rPr lang="en" sz="1200">
                <a:solidFill>
                  <a:srgbClr val="002F4A"/>
                </a:solidFill>
              </a:rPr>
              <a:t>WB Subsidy</a:t>
            </a:r>
            <a:endParaRPr sz="1200">
              <a:solidFill>
                <a:srgbClr val="002F4A"/>
              </a:solidFill>
            </a:endParaRPr>
          </a:p>
          <a:p>
            <a:pPr marL="457200" lvl="0" indent="-304800" algn="l" rtl="0">
              <a:spcBef>
                <a:spcPts val="0"/>
              </a:spcBef>
              <a:spcAft>
                <a:spcPts val="0"/>
              </a:spcAft>
              <a:buClr>
                <a:schemeClr val="accent1"/>
              </a:buClr>
              <a:buSzPts val="1200"/>
              <a:buAutoNum type="arabicPeriod"/>
            </a:pPr>
            <a:r>
              <a:rPr lang="en" sz="1200">
                <a:solidFill>
                  <a:srgbClr val="002F4A"/>
                </a:solidFill>
              </a:rPr>
              <a:t>Donors</a:t>
            </a:r>
            <a:endParaRPr sz="1200">
              <a:solidFill>
                <a:srgbClr val="002F4A"/>
              </a:solidFill>
            </a:endParaRPr>
          </a:p>
          <a:p>
            <a:pPr marL="457200" lvl="0" indent="-304800" algn="l" rtl="0">
              <a:spcBef>
                <a:spcPts val="0"/>
              </a:spcBef>
              <a:spcAft>
                <a:spcPts val="0"/>
              </a:spcAft>
              <a:buClr>
                <a:schemeClr val="accent1"/>
              </a:buClr>
              <a:buSzPts val="1200"/>
              <a:buAutoNum type="arabicPeriod"/>
            </a:pPr>
            <a:r>
              <a:rPr lang="en" sz="1200">
                <a:solidFill>
                  <a:srgbClr val="002F4A"/>
                </a:solidFill>
              </a:rPr>
              <a:t>Carbon Market (i.e. donors in exchange for Certified Emissions Reductions)</a:t>
            </a:r>
            <a:endParaRPr sz="1200">
              <a:solidFill>
                <a:srgbClr val="002F4A"/>
              </a:solidFill>
            </a:endParaRPr>
          </a:p>
          <a:p>
            <a:pPr marL="0" lvl="0" indent="0" algn="l" rtl="0">
              <a:spcBef>
                <a:spcPts val="1200"/>
              </a:spcBef>
              <a:spcAft>
                <a:spcPts val="1200"/>
              </a:spcAft>
              <a:buNone/>
            </a:pPr>
            <a:endParaRPr/>
          </a:p>
        </p:txBody>
      </p:sp>
      <p:sp>
        <p:nvSpPr>
          <p:cNvPr id="369" name="Google Shape;369;p37">
            <a:extLst>
              <a:ext uri="{FF2B5EF4-FFF2-40B4-BE49-F238E27FC236}">
                <a16:creationId xmlns:a16="http://schemas.microsoft.com/office/drawing/2014/main" id="{4A320E9E-5AE8-51FD-7CB5-2EA1836FAF60}"/>
              </a:ext>
            </a:extLst>
          </p:cNvPr>
          <p:cNvSpPr/>
          <p:nvPr/>
        </p:nvSpPr>
        <p:spPr>
          <a:xfrm>
            <a:off x="6156259" y="4107525"/>
            <a:ext cx="2537400" cy="807000"/>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Roboto"/>
                <a:ea typeface="Roboto"/>
                <a:cs typeface="Roboto"/>
                <a:sym typeface="Roboto"/>
              </a:rPr>
              <a:t>Costly and does not fully leverage the institutional advantages of an institution to reduce costs.</a:t>
            </a:r>
            <a:endParaRPr sz="1200">
              <a:solidFill>
                <a:schemeClr val="lt1"/>
              </a:solidFill>
              <a:latin typeface="Roboto"/>
              <a:ea typeface="Roboto"/>
              <a:cs typeface="Roboto"/>
              <a:sym typeface="Roboto"/>
            </a:endParaRP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370" name="Google Shape;370;p37">
            <a:extLst>
              <a:ext uri="{FF2B5EF4-FFF2-40B4-BE49-F238E27FC236}">
                <a16:creationId xmlns:a16="http://schemas.microsoft.com/office/drawing/2014/main" id="{1A639EBD-48DC-F895-270C-A93E82F9D120}"/>
              </a:ext>
            </a:extLst>
          </p:cNvPr>
          <p:cNvSpPr/>
          <p:nvPr/>
        </p:nvSpPr>
        <p:spPr>
          <a:xfrm>
            <a:off x="6156259" y="3402000"/>
            <a:ext cx="2175000" cy="61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lt1"/>
                </a:solidFill>
                <a:latin typeface="Roboto"/>
                <a:ea typeface="Roboto"/>
                <a:cs typeface="Roboto"/>
                <a:sym typeface="Roboto"/>
              </a:rPr>
              <a:t>Simple and involves diversified funding sources</a:t>
            </a:r>
            <a:endParaRPr sz="1200">
              <a:solidFill>
                <a:schemeClr val="lt1"/>
              </a:solidFill>
              <a:latin typeface="Roboto"/>
              <a:ea typeface="Roboto"/>
              <a:cs typeface="Roboto"/>
              <a:sym typeface="Roboto"/>
            </a:endParaRPr>
          </a:p>
        </p:txBody>
      </p:sp>
      <p:sp>
        <p:nvSpPr>
          <p:cNvPr id="371" name="Google Shape;371;p37">
            <a:extLst>
              <a:ext uri="{FF2B5EF4-FFF2-40B4-BE49-F238E27FC236}">
                <a16:creationId xmlns:a16="http://schemas.microsoft.com/office/drawing/2014/main" id="{6E100011-69AA-486B-88CB-F7D54E14CD99}"/>
              </a:ext>
            </a:extLst>
          </p:cNvPr>
          <p:cNvSpPr/>
          <p:nvPr/>
        </p:nvSpPr>
        <p:spPr>
          <a:xfrm>
            <a:off x="4989184" y="4155825"/>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7">
            <a:extLst>
              <a:ext uri="{FF2B5EF4-FFF2-40B4-BE49-F238E27FC236}">
                <a16:creationId xmlns:a16="http://schemas.microsoft.com/office/drawing/2014/main" id="{8EE2B1FF-9D4E-E7BA-DE96-A937A1B8978A}"/>
              </a:ext>
            </a:extLst>
          </p:cNvPr>
          <p:cNvSpPr/>
          <p:nvPr/>
        </p:nvSpPr>
        <p:spPr>
          <a:xfrm>
            <a:off x="4989159" y="345022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7">
            <a:extLst>
              <a:ext uri="{FF2B5EF4-FFF2-40B4-BE49-F238E27FC236}">
                <a16:creationId xmlns:a16="http://schemas.microsoft.com/office/drawing/2014/main" id="{4EAA064C-4D6E-DE26-F4A8-8CA33E9CB616}"/>
              </a:ext>
            </a:extLst>
          </p:cNvPr>
          <p:cNvSpPr/>
          <p:nvPr/>
        </p:nvSpPr>
        <p:spPr>
          <a:xfrm rot="-3020993">
            <a:off x="5213651" y="3659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7">
            <a:extLst>
              <a:ext uri="{FF2B5EF4-FFF2-40B4-BE49-F238E27FC236}">
                <a16:creationId xmlns:a16="http://schemas.microsoft.com/office/drawing/2014/main" id="{12B4F531-3EA4-BDC1-88B7-B6DF55ECD773}"/>
              </a:ext>
            </a:extLst>
          </p:cNvPr>
          <p:cNvSpPr/>
          <p:nvPr/>
        </p:nvSpPr>
        <p:spPr>
          <a:xfrm>
            <a:off x="5186892" y="4251373"/>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606A8B53-C3C9-40BA-DDD5-9C069A083756}"/>
              </a:ext>
            </a:extLst>
          </p:cNvPr>
          <p:cNvSpPr txBox="1"/>
          <p:nvPr/>
        </p:nvSpPr>
        <p:spPr>
          <a:xfrm>
            <a:off x="512587" y="2072231"/>
            <a:ext cx="3503113" cy="2468433"/>
          </a:xfrm>
          <a:prstGeom prst="rect">
            <a:avLst/>
          </a:prstGeom>
          <a:noFill/>
        </p:spPr>
        <p:txBody>
          <a:bodyPr wrap="square">
            <a:spAutoFit/>
          </a:bodyPr>
          <a:lstStyle/>
          <a:p>
            <a:pPr indent="7938">
              <a:lnSpc>
                <a:spcPct val="150000"/>
              </a:lnSpc>
              <a:spcBef>
                <a:spcPts val="1200"/>
              </a:spcBef>
              <a:buSzPts val="1018"/>
            </a:pPr>
            <a:r>
              <a:rPr lang="en-US" sz="1400">
                <a:solidFill>
                  <a:schemeClr val="bg1"/>
                </a:solidFill>
              </a:rPr>
              <a:t>The WB can create a </a:t>
            </a:r>
            <a:r>
              <a:rPr lang="en-US" sz="1400" b="1">
                <a:solidFill>
                  <a:schemeClr val="bg1"/>
                </a:solidFill>
              </a:rPr>
              <a:t>set of payments </a:t>
            </a:r>
            <a:r>
              <a:rPr lang="en-US" sz="1400">
                <a:solidFill>
                  <a:schemeClr val="bg1"/>
                </a:solidFill>
              </a:rPr>
              <a:t>that subsidizes the country if it achieves it KPIs.</a:t>
            </a:r>
          </a:p>
          <a:p>
            <a:pPr indent="7938">
              <a:lnSpc>
                <a:spcPct val="150000"/>
              </a:lnSpc>
              <a:spcBef>
                <a:spcPts val="1200"/>
              </a:spcBef>
              <a:buSzPts val="1018"/>
            </a:pPr>
            <a:r>
              <a:rPr lang="en-US" sz="1400">
                <a:solidFill>
                  <a:schemeClr val="bg1"/>
                </a:solidFill>
              </a:rPr>
              <a:t>In other words, in parallel to a normal bond issuance, it adds some </a:t>
            </a:r>
            <a:r>
              <a:rPr lang="en-US" sz="1400" b="1">
                <a:solidFill>
                  <a:schemeClr val="bg1"/>
                </a:solidFill>
              </a:rPr>
              <a:t>KPI-linked results-based funding or DPI-financing </a:t>
            </a:r>
            <a:r>
              <a:rPr lang="en-US" sz="1400">
                <a:solidFill>
                  <a:schemeClr val="bg1"/>
                </a:solidFill>
              </a:rPr>
              <a:t>in parallel.</a:t>
            </a:r>
          </a:p>
        </p:txBody>
      </p:sp>
    </p:spTree>
    <p:extLst>
      <p:ext uri="{BB962C8B-B14F-4D97-AF65-F5344CB8AC3E}">
        <p14:creationId xmlns:p14="http://schemas.microsoft.com/office/powerpoint/2010/main" val="2472807728"/>
      </p:ext>
    </p:extLst>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7" name="Google Shape;317;p33"/>
          <p:cNvSpPr txBox="1">
            <a:spLocks noGrp="1"/>
          </p:cNvSpPr>
          <p:nvPr>
            <p:ph type="body" sz="quarter" idx="11"/>
          </p:nvPr>
        </p:nvSpPr>
        <p:spPr>
          <a:xfrm>
            <a:off x="293300" y="1445455"/>
            <a:ext cx="3897700" cy="3375927"/>
          </a:xfrm>
          <a:prstGeom prst="rect">
            <a:avLst/>
          </a:prstGeom>
        </p:spPr>
        <p:txBody>
          <a:bodyPr spcFirstLastPara="1" wrap="square" lIns="91425" tIns="91425" rIns="91425" bIns="91425" anchor="t" anchorCtr="0">
            <a:noAutofit/>
          </a:bodyPr>
          <a:lstStyle/>
          <a:p>
            <a:pPr marL="0" indent="0">
              <a:lnSpc>
                <a:spcPct val="150000"/>
              </a:lnSpc>
              <a:buNone/>
            </a:pPr>
            <a:r>
              <a:rPr lang="en-US" sz="1400" b="1">
                <a:solidFill>
                  <a:schemeClr val="accent4"/>
                </a:solidFill>
              </a:rPr>
              <a:t>SLIDIs would consist of two components</a:t>
            </a:r>
            <a:r>
              <a:rPr lang="en" sz="1400" b="1">
                <a:solidFill>
                  <a:schemeClr val="accent4"/>
                </a:solidFill>
              </a:rPr>
              <a:t>:</a:t>
            </a:r>
          </a:p>
          <a:p>
            <a:pPr marL="285750" indent="-285750">
              <a:lnSpc>
                <a:spcPct val="150000"/>
              </a:lnSpc>
              <a:buFont typeface="+mj-lt"/>
              <a:buAutoNum type="arabicPeriod"/>
            </a:pPr>
            <a:r>
              <a:rPr lang="en-US" sz="1200">
                <a:solidFill>
                  <a:srgbClr val="002F4A"/>
                </a:solidFill>
              </a:rPr>
              <a:t>Standard sovereign bonds with fixed coupons, but ‘green’ tagged (because of second component…)</a:t>
            </a:r>
          </a:p>
          <a:p>
            <a:pPr marL="285750" indent="-285750">
              <a:lnSpc>
                <a:spcPct val="150000"/>
              </a:lnSpc>
              <a:buFont typeface="+mj-lt"/>
              <a:buAutoNum type="arabicPeriod"/>
            </a:pPr>
            <a:r>
              <a:rPr lang="en-US" sz="1200">
                <a:solidFill>
                  <a:srgbClr val="002F4A"/>
                </a:solidFill>
              </a:rPr>
              <a:t>WB payments conditional on a) Achievement of KPIs and b) sufficient private sector interest in the first component</a:t>
            </a:r>
          </a:p>
          <a:p>
            <a:pPr marL="0" indent="0">
              <a:lnSpc>
                <a:spcPct val="150000"/>
              </a:lnSpc>
              <a:buNone/>
            </a:pPr>
            <a:r>
              <a:rPr lang="en-US" sz="1400" b="1">
                <a:solidFill>
                  <a:schemeClr val="accent4"/>
                </a:solidFill>
              </a:rPr>
              <a:t>How To Implement WB Payments?</a:t>
            </a:r>
            <a:endParaRPr lang="en" sz="1400" b="1">
              <a:solidFill>
                <a:schemeClr val="accent4"/>
              </a:solidFill>
            </a:endParaRPr>
          </a:p>
          <a:p>
            <a:pPr marL="285750" indent="-285750">
              <a:lnSpc>
                <a:spcPct val="150000"/>
              </a:lnSpc>
              <a:buFont typeface="+mj-lt"/>
              <a:buAutoNum type="arabicPeriod"/>
            </a:pPr>
            <a:r>
              <a:rPr lang="en-US" sz="1200">
                <a:solidFill>
                  <a:srgbClr val="002F4A"/>
                </a:solidFill>
              </a:rPr>
              <a:t>Payment-for-results Results Based Climate Finance</a:t>
            </a:r>
          </a:p>
          <a:p>
            <a:pPr marL="285750" indent="-285750">
              <a:lnSpc>
                <a:spcPct val="150000"/>
              </a:lnSpc>
              <a:buFont typeface="+mj-lt"/>
              <a:buAutoNum type="arabicPeriod"/>
            </a:pPr>
            <a:r>
              <a:rPr lang="en-US" sz="1200">
                <a:solidFill>
                  <a:srgbClr val="002F4A"/>
                </a:solidFill>
              </a:rPr>
              <a:t>DPF lending conditional on schedule of prior actions.</a:t>
            </a:r>
          </a:p>
          <a:p>
            <a:pPr indent="0">
              <a:lnSpc>
                <a:spcPct val="150000"/>
              </a:lnSpc>
              <a:buNone/>
            </a:pPr>
            <a:endParaRPr lang="en-US" sz="1200">
              <a:solidFill>
                <a:srgbClr val="002F4A"/>
              </a:solidFill>
            </a:endParaRPr>
          </a:p>
          <a:p>
            <a:pPr indent="0">
              <a:lnSpc>
                <a:spcPct val="150000"/>
              </a:lnSpc>
              <a:buNone/>
            </a:pPr>
            <a:endParaRPr lang="en-US" sz="1200">
              <a:solidFill>
                <a:srgbClr val="002F4A"/>
              </a:solidFill>
            </a:endParaRPr>
          </a:p>
        </p:txBody>
      </p:sp>
      <p:sp>
        <p:nvSpPr>
          <p:cNvPr id="3" name="Subtitle 2">
            <a:extLst>
              <a:ext uri="{FF2B5EF4-FFF2-40B4-BE49-F238E27FC236}">
                <a16:creationId xmlns:a16="http://schemas.microsoft.com/office/drawing/2014/main" id="{6778C64C-9964-0DEE-5572-7BF97CC911AA}"/>
              </a:ext>
            </a:extLst>
          </p:cNvPr>
          <p:cNvSpPr>
            <a:spLocks noGrp="1"/>
          </p:cNvSpPr>
          <p:nvPr>
            <p:ph type="subTitle" idx="1"/>
          </p:nvPr>
        </p:nvSpPr>
        <p:spPr/>
        <p:txBody>
          <a:bodyPr>
            <a:normAutofit fontScale="92500" lnSpcReduction="20000"/>
          </a:bodyPr>
          <a:lstStyle/>
          <a:p>
            <a:r>
              <a:rPr lang="en"/>
              <a:t>How To Implement </a:t>
            </a:r>
            <a:r>
              <a:rPr lang="en-US"/>
              <a:t>SLIDIs</a:t>
            </a:r>
            <a:r>
              <a:rPr lang="en"/>
              <a:t>: Option One</a:t>
            </a:r>
          </a:p>
          <a:p>
            <a:endParaRPr lang="en-US"/>
          </a:p>
        </p:txBody>
      </p:sp>
      <p:sp>
        <p:nvSpPr>
          <p:cNvPr id="2" name="Rectangle 1">
            <a:extLst>
              <a:ext uri="{FF2B5EF4-FFF2-40B4-BE49-F238E27FC236}">
                <a16:creationId xmlns:a16="http://schemas.microsoft.com/office/drawing/2014/main" id="{F70EB803-981C-19EA-EDFA-2A0543493A98}"/>
              </a:ext>
            </a:extLst>
          </p:cNvPr>
          <p:cNvSpPr/>
          <p:nvPr/>
        </p:nvSpPr>
        <p:spPr>
          <a:xfrm>
            <a:off x="4474233" y="1393413"/>
            <a:ext cx="4278701" cy="3354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oogle Shape;230;p26">
            <a:extLst>
              <a:ext uri="{FF2B5EF4-FFF2-40B4-BE49-F238E27FC236}">
                <a16:creationId xmlns:a16="http://schemas.microsoft.com/office/drawing/2014/main" id="{6436A11E-6A3B-04C2-1C71-DA57757BF6B1}"/>
              </a:ext>
            </a:extLst>
          </p:cNvPr>
          <p:cNvGrpSpPr/>
          <p:nvPr/>
        </p:nvGrpSpPr>
        <p:grpSpPr>
          <a:xfrm>
            <a:off x="4838199" y="3361884"/>
            <a:ext cx="2196033" cy="1220887"/>
            <a:chOff x="5040038" y="2459523"/>
            <a:chExt cx="1718739" cy="966656"/>
          </a:xfrm>
        </p:grpSpPr>
        <p:sp>
          <p:nvSpPr>
            <p:cNvPr id="9" name="Google Shape;231;p26">
              <a:extLst>
                <a:ext uri="{FF2B5EF4-FFF2-40B4-BE49-F238E27FC236}">
                  <a16:creationId xmlns:a16="http://schemas.microsoft.com/office/drawing/2014/main" id="{BA16C714-6A5D-A349-DB4A-5313D8AFD7E4}"/>
                </a:ext>
              </a:extLst>
            </p:cNvPr>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US" sz="1000" b="1">
                  <a:solidFill>
                    <a:srgbClr val="FFFFFF"/>
                  </a:solidFill>
                  <a:latin typeface="Roboto"/>
                  <a:ea typeface="Roboto"/>
                  <a:cs typeface="Roboto"/>
                  <a:sym typeface="Roboto"/>
                </a:rPr>
                <a:t>Pays to </a:t>
              </a:r>
              <a:r>
                <a:rPr lang="en-US" sz="1000">
                  <a:solidFill>
                    <a:srgbClr val="FFFFFF"/>
                  </a:solidFill>
                  <a:latin typeface="Roboto"/>
                  <a:ea typeface="Roboto"/>
                  <a:cs typeface="Roboto"/>
                  <a:sym typeface="Roboto"/>
                </a:rPr>
                <a:t>the sovereign a net payment conditional on the KPIs being met </a:t>
              </a:r>
              <a:endParaRPr sz="1000">
                <a:solidFill>
                  <a:srgbClr val="FFFFFF"/>
                </a:solidFill>
              </a:endParaRPr>
            </a:p>
          </p:txBody>
        </p:sp>
        <p:sp>
          <p:nvSpPr>
            <p:cNvPr id="10" name="Google Shape;232;p26">
              <a:extLst>
                <a:ext uri="{FF2B5EF4-FFF2-40B4-BE49-F238E27FC236}">
                  <a16:creationId xmlns:a16="http://schemas.microsoft.com/office/drawing/2014/main" id="{0E117292-AB98-9E20-65E1-450C44D7DA8A}"/>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WB</a:t>
              </a:r>
              <a:endParaRPr sz="1200">
                <a:solidFill>
                  <a:srgbClr val="FFFFFF"/>
                </a:solidFill>
              </a:endParaRPr>
            </a:p>
          </p:txBody>
        </p:sp>
      </p:grpSp>
      <p:grpSp>
        <p:nvGrpSpPr>
          <p:cNvPr id="11" name="Google Shape;233;p26">
            <a:extLst>
              <a:ext uri="{FF2B5EF4-FFF2-40B4-BE49-F238E27FC236}">
                <a16:creationId xmlns:a16="http://schemas.microsoft.com/office/drawing/2014/main" id="{09493CD9-8639-6AFA-6D15-02DFD5BA214F}"/>
              </a:ext>
            </a:extLst>
          </p:cNvPr>
          <p:cNvGrpSpPr/>
          <p:nvPr/>
        </p:nvGrpSpPr>
        <p:grpSpPr>
          <a:xfrm>
            <a:off x="7212104" y="1586869"/>
            <a:ext cx="1638596" cy="1295717"/>
            <a:chOff x="3798075" y="647329"/>
            <a:chExt cx="1332300" cy="1052915"/>
          </a:xfrm>
        </p:grpSpPr>
        <p:sp>
          <p:nvSpPr>
            <p:cNvPr id="12" name="Google Shape;234;p26">
              <a:extLst>
                <a:ext uri="{FF2B5EF4-FFF2-40B4-BE49-F238E27FC236}">
                  <a16:creationId xmlns:a16="http://schemas.microsoft.com/office/drawing/2014/main" id="{B89664C2-74B3-E04F-BFBC-B0D4898264A8}"/>
                </a:ext>
              </a:extLst>
            </p:cNvPr>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Pays </a:t>
              </a:r>
              <a:r>
                <a:rPr lang="en" sz="1000" b="1">
                  <a:solidFill>
                    <a:srgbClr val="FFFFFF"/>
                  </a:solidFill>
                  <a:latin typeface="Roboto"/>
                  <a:ea typeface="Roboto"/>
                  <a:cs typeface="Roboto"/>
                  <a:sym typeface="Roboto"/>
                </a:rPr>
                <a:t>lower coupon </a:t>
              </a:r>
              <a:r>
                <a:rPr lang="en" sz="1000">
                  <a:solidFill>
                    <a:srgbClr val="FFFFFF"/>
                  </a:solidFill>
                  <a:latin typeface="Roboto"/>
                  <a:ea typeface="Roboto"/>
                  <a:cs typeface="Roboto"/>
                  <a:sym typeface="Roboto"/>
                </a:rPr>
                <a:t>payments when certain targets are met. Is incentivized to pursue climate action.</a:t>
              </a:r>
              <a:endParaRPr sz="1000">
                <a:solidFill>
                  <a:srgbClr val="FFFFFF"/>
                </a:solidFill>
              </a:endParaRPr>
            </a:p>
          </p:txBody>
        </p:sp>
        <p:sp>
          <p:nvSpPr>
            <p:cNvPr id="13" name="Google Shape;235;p26">
              <a:extLst>
                <a:ext uri="{FF2B5EF4-FFF2-40B4-BE49-F238E27FC236}">
                  <a16:creationId xmlns:a16="http://schemas.microsoft.com/office/drawing/2014/main" id="{769052A4-9135-D0EA-7F10-E2836B9CE702}"/>
                </a:ext>
              </a:extLst>
            </p:cNvPr>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14" name="Google Shape;236;p26">
            <a:extLst>
              <a:ext uri="{FF2B5EF4-FFF2-40B4-BE49-F238E27FC236}">
                <a16:creationId xmlns:a16="http://schemas.microsoft.com/office/drawing/2014/main" id="{72141A81-D02A-6185-851D-A4105B501A14}"/>
              </a:ext>
            </a:extLst>
          </p:cNvPr>
          <p:cNvGrpSpPr/>
          <p:nvPr/>
        </p:nvGrpSpPr>
        <p:grpSpPr>
          <a:xfrm>
            <a:off x="4838199" y="1552239"/>
            <a:ext cx="1638596" cy="1325411"/>
            <a:chOff x="2465775" y="2422675"/>
            <a:chExt cx="1332300" cy="992966"/>
          </a:xfrm>
        </p:grpSpPr>
        <p:sp>
          <p:nvSpPr>
            <p:cNvPr id="15" name="Google Shape;237;p26">
              <a:extLst>
                <a:ext uri="{FF2B5EF4-FFF2-40B4-BE49-F238E27FC236}">
                  <a16:creationId xmlns:a16="http://schemas.microsoft.com/office/drawing/2014/main" id="{EB5D3633-8140-D6E5-86C9-DB9CECB6C59E}"/>
                </a:ext>
              </a:extLst>
            </p:cNvPr>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FFFF"/>
                  </a:solidFill>
                  <a:latin typeface="Roboto"/>
                  <a:ea typeface="Roboto"/>
                  <a:cs typeface="Roboto"/>
                  <a:sym typeface="Roboto"/>
                </a:rPr>
                <a:t>Receives</a:t>
              </a:r>
              <a:r>
                <a:rPr lang="en" sz="1000">
                  <a:solidFill>
                    <a:srgbClr val="FFFFFF"/>
                  </a:solidFill>
                  <a:latin typeface="Roboto"/>
                  <a:ea typeface="Roboto"/>
                  <a:cs typeface="Roboto"/>
                  <a:sym typeface="Roboto"/>
                </a:rPr>
                <a:t> stable payment of coupon</a:t>
              </a:r>
              <a:endParaRPr sz="1000">
                <a:solidFill>
                  <a:srgbClr val="FFFFFF"/>
                </a:solidFill>
              </a:endParaRPr>
            </a:p>
          </p:txBody>
        </p:sp>
        <p:sp>
          <p:nvSpPr>
            <p:cNvPr id="16" name="Google Shape;238;p26">
              <a:extLst>
                <a:ext uri="{FF2B5EF4-FFF2-40B4-BE49-F238E27FC236}">
                  <a16:creationId xmlns:a16="http://schemas.microsoft.com/office/drawing/2014/main" id="{825D3FF2-D38C-567F-82AC-9DC2B78BBD8C}"/>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grpSp>
        <p:nvGrpSpPr>
          <p:cNvPr id="17" name="Google Shape;236;p26">
            <a:extLst>
              <a:ext uri="{FF2B5EF4-FFF2-40B4-BE49-F238E27FC236}">
                <a16:creationId xmlns:a16="http://schemas.microsoft.com/office/drawing/2014/main" id="{B20C65B4-21B4-DF45-FBBA-E552C292DEE6}"/>
              </a:ext>
            </a:extLst>
          </p:cNvPr>
          <p:cNvGrpSpPr/>
          <p:nvPr/>
        </p:nvGrpSpPr>
        <p:grpSpPr>
          <a:xfrm>
            <a:off x="7246788" y="3242058"/>
            <a:ext cx="1638596" cy="1325411"/>
            <a:chOff x="2465775" y="2422675"/>
            <a:chExt cx="1332300" cy="992966"/>
          </a:xfrm>
        </p:grpSpPr>
        <p:sp>
          <p:nvSpPr>
            <p:cNvPr id="18" name="Google Shape;237;p26">
              <a:extLst>
                <a:ext uri="{FF2B5EF4-FFF2-40B4-BE49-F238E27FC236}">
                  <a16:creationId xmlns:a16="http://schemas.microsoft.com/office/drawing/2014/main" id="{0E3A837D-D3E8-B449-10D0-35C5F07C1E5E}"/>
                </a:ext>
              </a:extLst>
            </p:cNvPr>
            <p:cNvSpPr/>
            <p:nvPr/>
          </p:nvSpPr>
          <p:spPr>
            <a:xfrm>
              <a:off x="2465775" y="2707674"/>
              <a:ext cx="1332300" cy="707967"/>
            </a:xfrm>
            <a:prstGeom prst="rect">
              <a:avLst/>
            </a:prstGeom>
            <a:solidFill>
              <a:schemeClr val="accent6">
                <a:lumMod val="25000"/>
              </a:schemeClr>
            </a:solidFill>
            <a:ln>
              <a:solidFill>
                <a:schemeClr val="accent6">
                  <a:lumMod val="25000"/>
                </a:schemeClr>
              </a:solid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latin typeface="Roboto"/>
                  <a:ea typeface="Roboto"/>
                  <a:cs typeface="Roboto"/>
                  <a:sym typeface="Roboto"/>
                </a:rPr>
                <a:t>Provides</a:t>
              </a:r>
              <a:r>
                <a:rPr lang="en" sz="1000" b="1">
                  <a:solidFill>
                    <a:srgbClr val="FFFFFF"/>
                  </a:solidFill>
                  <a:latin typeface="Roboto"/>
                  <a:ea typeface="Roboto"/>
                  <a:cs typeface="Roboto"/>
                  <a:sym typeface="Roboto"/>
                </a:rPr>
                <a:t> technical assistance </a:t>
              </a:r>
              <a:r>
                <a:rPr lang="en" sz="1000">
                  <a:solidFill>
                    <a:srgbClr val="FFFFFF"/>
                  </a:solidFill>
                  <a:latin typeface="Roboto"/>
                  <a:ea typeface="Roboto"/>
                  <a:cs typeface="Roboto"/>
                  <a:sym typeface="Roboto"/>
                </a:rPr>
                <a:t>to ensure KPIs are met.</a:t>
              </a:r>
              <a:endParaRPr sz="1000">
                <a:solidFill>
                  <a:srgbClr val="FFFFFF"/>
                </a:solidFill>
              </a:endParaRPr>
            </a:p>
          </p:txBody>
        </p:sp>
        <p:sp>
          <p:nvSpPr>
            <p:cNvPr id="19" name="Google Shape;238;p26">
              <a:extLst>
                <a:ext uri="{FF2B5EF4-FFF2-40B4-BE49-F238E27FC236}">
                  <a16:creationId xmlns:a16="http://schemas.microsoft.com/office/drawing/2014/main" id="{EA4B82BA-5A5D-14F0-28A3-C7709416B1B1}"/>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Partner Agency</a:t>
              </a:r>
              <a:endParaRPr sz="1200">
                <a:solidFill>
                  <a:srgbClr val="FFFFFF"/>
                </a:solidFill>
              </a:endParaRPr>
            </a:p>
          </p:txBody>
        </p:sp>
      </p:grpSp>
      <p:sp>
        <p:nvSpPr>
          <p:cNvPr id="20" name="Google Shape;182;p22">
            <a:extLst>
              <a:ext uri="{FF2B5EF4-FFF2-40B4-BE49-F238E27FC236}">
                <a16:creationId xmlns:a16="http://schemas.microsoft.com/office/drawing/2014/main" id="{36B0820F-9C6E-B9FE-E9A6-0FD5B4D8A48E}"/>
              </a:ext>
            </a:extLst>
          </p:cNvPr>
          <p:cNvSpPr/>
          <p:nvPr/>
        </p:nvSpPr>
        <p:spPr>
          <a:xfrm rot="18814122">
            <a:off x="6250140" y="2810850"/>
            <a:ext cx="1110350" cy="14939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 name="Google Shape;182;p22">
            <a:extLst>
              <a:ext uri="{FF2B5EF4-FFF2-40B4-BE49-F238E27FC236}">
                <a16:creationId xmlns:a16="http://schemas.microsoft.com/office/drawing/2014/main" id="{7FCCDD9D-9C73-70BF-93B2-ADDD149C333D}"/>
              </a:ext>
            </a:extLst>
          </p:cNvPr>
          <p:cNvSpPr/>
          <p:nvPr/>
        </p:nvSpPr>
        <p:spPr>
          <a:xfrm rot="10800000">
            <a:off x="6493821" y="2308438"/>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2" name="Google Shape;182;p22">
            <a:extLst>
              <a:ext uri="{FF2B5EF4-FFF2-40B4-BE49-F238E27FC236}">
                <a16:creationId xmlns:a16="http://schemas.microsoft.com/office/drawing/2014/main" id="{CBBD8091-6535-11C7-F2AC-ADDE94C89120}"/>
              </a:ext>
            </a:extLst>
          </p:cNvPr>
          <p:cNvSpPr/>
          <p:nvPr/>
        </p:nvSpPr>
        <p:spPr>
          <a:xfrm rot="16200000">
            <a:off x="8295078" y="3013174"/>
            <a:ext cx="271998" cy="11463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D1BA6-B51F-8902-0A21-FF433A0608CF}"/>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34B401A4-F19C-B499-98C5-BF9AF0546267}"/>
              </a:ext>
            </a:extLst>
          </p:cNvPr>
          <p:cNvSpPr/>
          <p:nvPr/>
        </p:nvSpPr>
        <p:spPr>
          <a:xfrm>
            <a:off x="4754056" y="1337036"/>
            <a:ext cx="4096647" cy="3574821"/>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8B56DBD-11B7-9C3A-2AA1-4811E9EE3213}"/>
              </a:ext>
            </a:extLst>
          </p:cNvPr>
          <p:cNvSpPr/>
          <p:nvPr/>
        </p:nvSpPr>
        <p:spPr>
          <a:xfrm>
            <a:off x="293299" y="1314680"/>
            <a:ext cx="4096647" cy="3574821"/>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9CCFFA8-1FFA-B544-B19B-C119715DD60B}"/>
              </a:ext>
            </a:extLst>
          </p:cNvPr>
          <p:cNvSpPr>
            <a:spLocks noGrp="1"/>
          </p:cNvSpPr>
          <p:nvPr>
            <p:ph type="subTitle" idx="1"/>
          </p:nvPr>
        </p:nvSpPr>
        <p:spPr>
          <a:xfrm>
            <a:off x="293300" y="554416"/>
            <a:ext cx="8557402" cy="481076"/>
          </a:xfrm>
        </p:spPr>
        <p:txBody>
          <a:bodyPr>
            <a:normAutofit fontScale="92500" lnSpcReduction="20000"/>
          </a:bodyPr>
          <a:lstStyle/>
          <a:p>
            <a:pPr lvl="0"/>
            <a:r>
              <a:rPr lang="en-US" dirty="0"/>
              <a:t>Operationalizing Subsidy-Model SLIDI</a:t>
            </a:r>
          </a:p>
        </p:txBody>
      </p:sp>
      <p:sp>
        <p:nvSpPr>
          <p:cNvPr id="4" name="Text Placeholder 3">
            <a:extLst>
              <a:ext uri="{FF2B5EF4-FFF2-40B4-BE49-F238E27FC236}">
                <a16:creationId xmlns:a16="http://schemas.microsoft.com/office/drawing/2014/main" id="{F54D5858-A5D5-B73E-8F59-10343FDD2F07}"/>
              </a:ext>
            </a:extLst>
          </p:cNvPr>
          <p:cNvSpPr>
            <a:spLocks noGrp="1"/>
          </p:cNvSpPr>
          <p:nvPr>
            <p:ph type="body" idx="4294967295"/>
          </p:nvPr>
        </p:nvSpPr>
        <p:spPr>
          <a:xfrm>
            <a:off x="4799905" y="1337036"/>
            <a:ext cx="4000500" cy="2354038"/>
          </a:xfrm>
        </p:spPr>
        <p:txBody>
          <a:bodyPr>
            <a:normAutofit fontScale="92500" lnSpcReduction="20000"/>
          </a:bodyPr>
          <a:lstStyle/>
          <a:p>
            <a:pPr marL="0" marR="0" lvl="0" indent="0" algn="l" defTabSz="914400" rtl="0" eaLnBrk="1" fontAlgn="auto" latinLnBrk="0" hangingPunct="1">
              <a:lnSpc>
                <a:spcPct val="150000"/>
              </a:lnSpc>
              <a:spcBef>
                <a:spcPts val="0"/>
              </a:spcBef>
              <a:spcAft>
                <a:spcPts val="0"/>
              </a:spcAft>
              <a:buClr>
                <a:srgbClr val="666666"/>
              </a:buClr>
              <a:buSzPts val="1300"/>
              <a:buFont typeface="Roboto"/>
              <a:buNone/>
              <a:tabLst/>
              <a:defRPr/>
            </a:pPr>
            <a:r>
              <a:rPr kumimoji="0" lang="en" sz="1200" b="1" i="0" u="none" strike="noStrike" kern="0" cap="none" spc="0" normalizeH="0" baseline="0" noProof="0" dirty="0">
                <a:ln>
                  <a:noFill/>
                </a:ln>
                <a:solidFill>
                  <a:srgbClr val="B85741"/>
                </a:solidFill>
                <a:effectLst/>
                <a:uLnTx/>
                <a:uFillTx/>
                <a:latin typeface="Roboto"/>
                <a:ea typeface="Roboto"/>
                <a:cs typeface="Roboto"/>
                <a:sym typeface="Roboto"/>
              </a:rPr>
              <a:t>Option: Results-Based Coupon Reduction</a:t>
            </a:r>
            <a:endParaRPr kumimoji="0" lang="en-US" sz="1200" b="1" i="0" u="none" strike="noStrike" kern="0" cap="none" spc="0" normalizeH="0" baseline="0" noProof="0" dirty="0">
              <a:ln>
                <a:noFill/>
              </a:ln>
              <a:solidFill>
                <a:srgbClr val="B85741"/>
              </a:solidFill>
              <a:effectLst/>
              <a:uLnTx/>
              <a:uFillTx/>
              <a:latin typeface="Roboto"/>
              <a:ea typeface="Roboto"/>
              <a:cs typeface="Roboto"/>
              <a:sym typeface="Roboto"/>
            </a:endParaRP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kumimoji="0" lang="en" sz="1200" b="0" i="0" u="none" strike="noStrike" kern="0" cap="none" spc="0" normalizeH="0" baseline="0" noProof="0" dirty="0">
                <a:ln>
                  <a:noFill/>
                </a:ln>
                <a:solidFill>
                  <a:srgbClr val="002F4A"/>
                </a:solidFill>
                <a:effectLst/>
                <a:uLnTx/>
                <a:uFillTx/>
                <a:latin typeface="Roboto"/>
                <a:ea typeface="Roboto"/>
                <a:cs typeface="Roboto"/>
                <a:sym typeface="Roboto"/>
              </a:rPr>
              <a:t>Ongoing coupon rate reductions as targets are met. Main option: WB disbursement at concessional rate (or grants) as KPIs are achieved</a:t>
            </a: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lang="en-US" sz="1200" dirty="0">
                <a:solidFill>
                  <a:srgbClr val="002F4A"/>
                </a:solidFill>
              </a:rPr>
              <a:t>Alternatively, </a:t>
            </a:r>
            <a:r>
              <a:rPr lang="en-US" sz="1200" dirty="0" err="1">
                <a:solidFill>
                  <a:srgbClr val="002F4A"/>
                </a:solidFill>
              </a:rPr>
              <a:t>i</a:t>
            </a:r>
            <a:r>
              <a:rPr kumimoji="0" lang="en-US" sz="1200" b="0" i="0" u="none" strike="noStrike" kern="0" cap="none" spc="0" normalizeH="0" baseline="0" noProof="0" dirty="0" err="1">
                <a:ln>
                  <a:noFill/>
                </a:ln>
                <a:solidFill>
                  <a:srgbClr val="002F4A"/>
                </a:solidFill>
                <a:effectLst/>
                <a:uLnTx/>
                <a:uFillTx/>
                <a:latin typeface="Roboto"/>
                <a:ea typeface="Roboto"/>
                <a:cs typeface="Roboto"/>
                <a:sym typeface="Roboto"/>
              </a:rPr>
              <a:t>nterest</a:t>
            </a: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 rate changes linked to KPI target accomplishments</a:t>
            </a: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P for R Model </a:t>
            </a:r>
            <a:r>
              <a:rPr lang="en-US" sz="1200" dirty="0">
                <a:solidFill>
                  <a:srgbClr val="002F4A"/>
                </a:solidFill>
              </a:rPr>
              <a:t>reference framework </a:t>
            </a: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e.g. Ci-Dev</a:t>
            </a:r>
          </a:p>
          <a:p>
            <a:pPr indent="-304800">
              <a:lnSpc>
                <a:spcPct val="150000"/>
              </a:lnSpc>
              <a:spcBef>
                <a:spcPts val="600"/>
              </a:spcBef>
              <a:buClr>
                <a:srgbClr val="002F4A"/>
              </a:buClr>
              <a:buSzPts val="1200"/>
              <a:defRPr/>
            </a:pPr>
            <a:r>
              <a:rPr lang="en" sz="1200" dirty="0">
                <a:solidFill>
                  <a:srgbClr val="002F4A"/>
                </a:solidFill>
              </a:rPr>
              <a:t>Can be linked to Carbon credits (CERs).</a:t>
            </a:r>
          </a:p>
          <a:p>
            <a:pPr marL="152400" marR="0" lvl="0" indent="0" algn="l" defTabSz="914400" rtl="0" eaLnBrk="1" fontAlgn="auto" latinLnBrk="0" hangingPunct="1">
              <a:lnSpc>
                <a:spcPct val="150000"/>
              </a:lnSpc>
              <a:spcBef>
                <a:spcPts val="600"/>
              </a:spcBef>
              <a:spcAft>
                <a:spcPts val="0"/>
              </a:spcAft>
              <a:buClr>
                <a:srgbClr val="002F4A"/>
              </a:buClr>
              <a:buSzPts val="1200"/>
              <a:buNone/>
              <a:tabLst/>
              <a:defRPr/>
            </a:pPr>
            <a:endParaRPr kumimoji="0" lang="en-US" sz="1100" b="0" i="0" u="none" strike="noStrike" kern="0" cap="none" spc="0" normalizeH="0" baseline="0" noProof="0" dirty="0">
              <a:ln>
                <a:noFill/>
              </a:ln>
              <a:solidFill>
                <a:srgbClr val="002F4A"/>
              </a:solidFill>
              <a:effectLst/>
              <a:uLnTx/>
              <a:uFillTx/>
              <a:latin typeface="Roboto"/>
              <a:ea typeface="Roboto"/>
              <a:cs typeface="Roboto"/>
              <a:sym typeface="Roboto"/>
            </a:endParaRPr>
          </a:p>
          <a:p>
            <a:pPr marL="146050" indent="0">
              <a:buNone/>
            </a:pPr>
            <a:endParaRPr lang="en-US" dirty="0"/>
          </a:p>
        </p:txBody>
      </p:sp>
      <p:sp>
        <p:nvSpPr>
          <p:cNvPr id="6" name="Google Shape;280;p29">
            <a:extLst>
              <a:ext uri="{FF2B5EF4-FFF2-40B4-BE49-F238E27FC236}">
                <a16:creationId xmlns:a16="http://schemas.microsoft.com/office/drawing/2014/main" id="{22B2BBE9-5E66-0789-9206-EB0773917FFA}"/>
              </a:ext>
            </a:extLst>
          </p:cNvPr>
          <p:cNvSpPr/>
          <p:nvPr/>
        </p:nvSpPr>
        <p:spPr>
          <a:xfrm>
            <a:off x="1418671" y="4170398"/>
            <a:ext cx="2825783" cy="600714"/>
          </a:xfrm>
          <a:prstGeom prst="rect">
            <a:avLst/>
          </a:prstGeom>
          <a:solidFill>
            <a:schemeClr val="accent4"/>
          </a:solidFill>
          <a:ln>
            <a:noFill/>
          </a:ln>
        </p:spPr>
        <p:txBody>
          <a:bodyPr spcFirstLastPara="1" wrap="square" lIns="91425" tIns="91425" rIns="91425" bIns="91425" anchor="t" anchorCtr="0">
            <a:noAutofit/>
          </a:bodyPr>
          <a:lstStyle/>
          <a:p>
            <a:pPr>
              <a:lnSpc>
                <a:spcPct val="115000"/>
              </a:lnSpc>
            </a:pPr>
            <a:r>
              <a:rPr lang="en" sz="1100">
                <a:solidFill>
                  <a:schemeClr val="lt1"/>
                </a:solidFill>
                <a:latin typeface="Roboto"/>
                <a:ea typeface="Roboto"/>
                <a:cs typeface="Roboto"/>
                <a:sym typeface="Roboto"/>
              </a:rPr>
              <a:t>Overemphasis on achieving minimum threshold, neglecting broader goals</a:t>
            </a:r>
            <a:endParaRPr lang="en" sz="1100">
              <a:solidFill>
                <a:schemeClr val="lt1"/>
              </a:solidFill>
              <a:latin typeface="Roboto"/>
              <a:ea typeface="Roboto"/>
              <a:cs typeface="Roboto"/>
            </a:endParaRP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7" name="Google Shape;281;p29">
            <a:extLst>
              <a:ext uri="{FF2B5EF4-FFF2-40B4-BE49-F238E27FC236}">
                <a16:creationId xmlns:a16="http://schemas.microsoft.com/office/drawing/2014/main" id="{304FEC41-D9E6-1562-BC4D-CC182BD6376C}"/>
              </a:ext>
            </a:extLst>
          </p:cNvPr>
          <p:cNvSpPr/>
          <p:nvPr/>
        </p:nvSpPr>
        <p:spPr>
          <a:xfrm>
            <a:off x="1418671" y="3524798"/>
            <a:ext cx="2702067" cy="600714"/>
          </a:xfrm>
          <a:prstGeom prst="rect">
            <a:avLst/>
          </a:prstGeom>
          <a:solidFill>
            <a:schemeClr val="accent5"/>
          </a:solidFill>
          <a:ln>
            <a:noFill/>
          </a:ln>
        </p:spPr>
        <p:txBody>
          <a:bodyPr spcFirstLastPara="1" wrap="square" lIns="91425" tIns="91425" rIns="91425" bIns="91425" anchor="ctr" anchorCtr="0">
            <a:noAutofit/>
          </a:bodyPr>
          <a:lstStyle/>
          <a:p>
            <a:r>
              <a:rPr lang="en" sz="1100">
                <a:solidFill>
                  <a:schemeClr val="lt1"/>
                </a:solidFill>
                <a:latin typeface="Roboto"/>
                <a:ea typeface="Roboto"/>
                <a:cs typeface="Roboto"/>
                <a:sym typeface="Roboto"/>
              </a:rPr>
              <a:t>Financing conditional on meeting targets; risk reduced.</a:t>
            </a:r>
            <a:endParaRPr lang="en" sz="1100">
              <a:solidFill>
                <a:schemeClr val="lt1"/>
              </a:solidFill>
              <a:latin typeface="Roboto"/>
              <a:ea typeface="Roboto"/>
              <a:cs typeface="Roboto"/>
            </a:endParaRPr>
          </a:p>
        </p:txBody>
      </p:sp>
      <p:sp>
        <p:nvSpPr>
          <p:cNvPr id="8" name="Google Shape;282;p29">
            <a:extLst>
              <a:ext uri="{FF2B5EF4-FFF2-40B4-BE49-F238E27FC236}">
                <a16:creationId xmlns:a16="http://schemas.microsoft.com/office/drawing/2014/main" id="{2BC91152-4443-DD5E-00A1-935011835CCE}"/>
              </a:ext>
            </a:extLst>
          </p:cNvPr>
          <p:cNvSpPr/>
          <p:nvPr/>
        </p:nvSpPr>
        <p:spPr>
          <a:xfrm>
            <a:off x="374074" y="4157744"/>
            <a:ext cx="703800" cy="635436"/>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83;p29">
            <a:extLst>
              <a:ext uri="{FF2B5EF4-FFF2-40B4-BE49-F238E27FC236}">
                <a16:creationId xmlns:a16="http://schemas.microsoft.com/office/drawing/2014/main" id="{557E2C2C-4370-201F-30AC-A020B155158D}"/>
              </a:ext>
            </a:extLst>
          </p:cNvPr>
          <p:cNvSpPr/>
          <p:nvPr/>
        </p:nvSpPr>
        <p:spPr>
          <a:xfrm>
            <a:off x="374074" y="3526351"/>
            <a:ext cx="703800" cy="599161"/>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84;p29">
            <a:extLst>
              <a:ext uri="{FF2B5EF4-FFF2-40B4-BE49-F238E27FC236}">
                <a16:creationId xmlns:a16="http://schemas.microsoft.com/office/drawing/2014/main" id="{AE786181-CA10-7815-419B-21492A27023C}"/>
              </a:ext>
            </a:extLst>
          </p:cNvPr>
          <p:cNvSpPr/>
          <p:nvPr/>
        </p:nvSpPr>
        <p:spPr>
          <a:xfrm rot="18579007">
            <a:off x="598566" y="3778334"/>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85;p29">
            <a:extLst>
              <a:ext uri="{FF2B5EF4-FFF2-40B4-BE49-F238E27FC236}">
                <a16:creationId xmlns:a16="http://schemas.microsoft.com/office/drawing/2014/main" id="{60D815C0-E109-2697-A4B2-15200A518B42}"/>
              </a:ext>
            </a:extLst>
          </p:cNvPr>
          <p:cNvSpPr/>
          <p:nvPr/>
        </p:nvSpPr>
        <p:spPr>
          <a:xfrm>
            <a:off x="571782" y="4289312"/>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95;p30">
            <a:extLst>
              <a:ext uri="{FF2B5EF4-FFF2-40B4-BE49-F238E27FC236}">
                <a16:creationId xmlns:a16="http://schemas.microsoft.com/office/drawing/2014/main" id="{B805D687-D0AD-20AE-CD95-7E60B52B62EF}"/>
              </a:ext>
            </a:extLst>
          </p:cNvPr>
          <p:cNvSpPr/>
          <p:nvPr/>
        </p:nvSpPr>
        <p:spPr>
          <a:xfrm>
            <a:off x="5910233" y="3907223"/>
            <a:ext cx="2853862" cy="563532"/>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lt1"/>
                </a:solidFill>
                <a:latin typeface="Roboto"/>
                <a:ea typeface="Roboto"/>
                <a:cs typeface="Roboto"/>
                <a:sym typeface="Roboto"/>
              </a:rPr>
              <a:t>Continuous incentives increase likelihood of sustained commitment to targets</a:t>
            </a:r>
            <a:endParaRPr sz="1100">
              <a:solidFill>
                <a:schemeClr val="lt1"/>
              </a:solidFill>
              <a:latin typeface="Roboto"/>
              <a:ea typeface="Roboto"/>
              <a:cs typeface="Roboto"/>
              <a:sym typeface="Roboto"/>
            </a:endParaRPr>
          </a:p>
        </p:txBody>
      </p:sp>
      <p:sp>
        <p:nvSpPr>
          <p:cNvPr id="13" name="Google Shape;297;p30">
            <a:extLst>
              <a:ext uri="{FF2B5EF4-FFF2-40B4-BE49-F238E27FC236}">
                <a16:creationId xmlns:a16="http://schemas.microsoft.com/office/drawing/2014/main" id="{615AB3A1-A9D6-D7FD-060C-FA193599E23C}"/>
              </a:ext>
            </a:extLst>
          </p:cNvPr>
          <p:cNvSpPr/>
          <p:nvPr/>
        </p:nvSpPr>
        <p:spPr>
          <a:xfrm>
            <a:off x="4824415" y="390735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98;p30">
            <a:extLst>
              <a:ext uri="{FF2B5EF4-FFF2-40B4-BE49-F238E27FC236}">
                <a16:creationId xmlns:a16="http://schemas.microsoft.com/office/drawing/2014/main" id="{AE233B66-ACA9-C380-AB14-C6D2D22DFAF6}"/>
              </a:ext>
            </a:extLst>
          </p:cNvPr>
          <p:cNvSpPr/>
          <p:nvPr/>
        </p:nvSpPr>
        <p:spPr>
          <a:xfrm rot="18579007">
            <a:off x="5080082" y="4076941"/>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Text Placeholder 3">
            <a:extLst>
              <a:ext uri="{FF2B5EF4-FFF2-40B4-BE49-F238E27FC236}">
                <a16:creationId xmlns:a16="http://schemas.microsoft.com/office/drawing/2014/main" id="{9AE14CCA-B710-C97D-39DC-1C507570F4E2}"/>
              </a:ext>
            </a:extLst>
          </p:cNvPr>
          <p:cNvSpPr txBox="1">
            <a:spLocks/>
          </p:cNvSpPr>
          <p:nvPr/>
        </p:nvSpPr>
        <p:spPr>
          <a:xfrm>
            <a:off x="341372" y="1337036"/>
            <a:ext cx="4000500" cy="2220960"/>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lvl="0" indent="0" algn="l" rtl="0">
              <a:lnSpc>
                <a:spcPct val="160000"/>
              </a:lnSpc>
              <a:spcBef>
                <a:spcPts val="0"/>
              </a:spcBef>
              <a:spcAft>
                <a:spcPts val="0"/>
              </a:spcAft>
              <a:buNone/>
            </a:pPr>
            <a:r>
              <a:rPr lang="en-US" b="1" dirty="0">
                <a:solidFill>
                  <a:srgbClr val="B85741"/>
                </a:solidFill>
              </a:rPr>
              <a:t>Option: </a:t>
            </a:r>
            <a:r>
              <a:rPr lang="en-US" b="1" dirty="0">
                <a:solidFill>
                  <a:schemeClr val="accent4"/>
                </a:solidFill>
              </a:rPr>
              <a:t>Prior Actions</a:t>
            </a:r>
            <a:endParaRPr lang="en-US" dirty="0"/>
          </a:p>
          <a:p>
            <a:pPr indent="-299720">
              <a:lnSpc>
                <a:spcPct val="160000"/>
              </a:lnSpc>
              <a:spcBef>
                <a:spcPts val="1200"/>
              </a:spcBef>
              <a:buClr>
                <a:schemeClr val="accent1"/>
              </a:buClr>
              <a:buSzPts val="1120"/>
            </a:pPr>
            <a:r>
              <a:rPr lang="en-US" sz="1200" dirty="0">
                <a:solidFill>
                  <a:srgbClr val="002F4A"/>
                </a:solidFill>
              </a:rPr>
              <a:t>Similar to Development Policy Frameworks, but all parameters are specified in bond prospectus</a:t>
            </a:r>
          </a:p>
          <a:p>
            <a:pPr marL="457200" lvl="0" indent="-299720" algn="l" rtl="0">
              <a:lnSpc>
                <a:spcPct val="160000"/>
              </a:lnSpc>
              <a:spcBef>
                <a:spcPts val="0"/>
              </a:spcBef>
              <a:spcAft>
                <a:spcPts val="0"/>
              </a:spcAft>
              <a:buClr>
                <a:schemeClr val="accent1"/>
              </a:buClr>
              <a:buSzPts val="1120"/>
              <a:buChar char="●"/>
            </a:pPr>
            <a:r>
              <a:rPr lang="en-US" sz="1200" dirty="0">
                <a:solidFill>
                  <a:srgbClr val="002F4A"/>
                </a:solidFill>
              </a:rPr>
              <a:t>Low-cost interest rates are contingent on agreed-upon prior actions</a:t>
            </a:r>
          </a:p>
          <a:p>
            <a:pPr marL="457200" lvl="0" indent="-299720" algn="l" rtl="0">
              <a:lnSpc>
                <a:spcPct val="160000"/>
              </a:lnSpc>
              <a:spcBef>
                <a:spcPts val="0"/>
              </a:spcBef>
              <a:spcAft>
                <a:spcPts val="0"/>
              </a:spcAft>
              <a:buClr>
                <a:schemeClr val="accent1"/>
              </a:buClr>
              <a:buSzPts val="1120"/>
              <a:buChar char="●"/>
            </a:pPr>
            <a:r>
              <a:rPr lang="en-US" sz="1200" dirty="0">
                <a:solidFill>
                  <a:srgbClr val="002F4A"/>
                </a:solidFill>
              </a:rPr>
              <a:t>Second financing round conditional on meeting minimum achievement thresholds</a:t>
            </a:r>
            <a:endParaRPr lang="en-US" sz="1100" dirty="0">
              <a:solidFill>
                <a:srgbClr val="002F4A"/>
              </a:solidFill>
            </a:endParaRPr>
          </a:p>
          <a:p>
            <a:pPr marL="146050" indent="0">
              <a:buFont typeface="Roboto"/>
              <a:buNone/>
            </a:pPr>
            <a:endParaRPr lang="en-US" dirty="0"/>
          </a:p>
        </p:txBody>
      </p:sp>
    </p:spTree>
    <p:extLst>
      <p:ext uri="{BB962C8B-B14F-4D97-AF65-F5344CB8AC3E}">
        <p14:creationId xmlns:p14="http://schemas.microsoft.com/office/powerpoint/2010/main" val="33970610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4B9CEE40-C7ED-5F57-AD3D-60F4A50F2F3C}"/>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AE9BF3A1-8884-4D4A-29B3-AEDABE3795A1}"/>
              </a:ext>
            </a:extLst>
          </p:cNvPr>
          <p:cNvSpPr>
            <a:spLocks noGrp="1"/>
          </p:cNvSpPr>
          <p:nvPr>
            <p:ph type="subTitle" idx="1"/>
          </p:nvPr>
        </p:nvSpPr>
        <p:spPr>
          <a:xfrm>
            <a:off x="3318782" y="3951791"/>
            <a:ext cx="5825218" cy="794828"/>
          </a:xfrm>
        </p:spPr>
        <p:txBody>
          <a:bodyPr>
            <a:normAutofit fontScale="77500" lnSpcReduction="20000"/>
          </a:bodyPr>
          <a:lstStyle/>
          <a:p>
            <a:pPr lvl="0"/>
            <a:r>
              <a:rPr lang="en-US"/>
              <a:t>Implementing SLIDIs</a:t>
            </a:r>
          </a:p>
          <a:p>
            <a:pPr lvl="0"/>
            <a:r>
              <a:rPr lang="en-US"/>
              <a:t>Option Two: Trusted Intermediary Model</a:t>
            </a:r>
          </a:p>
        </p:txBody>
      </p:sp>
    </p:spTree>
    <p:extLst>
      <p:ext uri="{BB962C8B-B14F-4D97-AF65-F5344CB8AC3E}">
        <p14:creationId xmlns:p14="http://schemas.microsoft.com/office/powerpoint/2010/main" val="277250616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00E4E-A1F3-87C6-55C6-03270CE0C51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0271326-58B4-E0F6-C6B9-C9B0FEF61880}"/>
              </a:ext>
            </a:extLst>
          </p:cNvPr>
          <p:cNvSpPr>
            <a:spLocks noGrp="1"/>
          </p:cNvSpPr>
          <p:nvPr>
            <p:ph type="subTitle" idx="1"/>
          </p:nvPr>
        </p:nvSpPr>
        <p:spPr>
          <a:xfrm>
            <a:off x="293300" y="554416"/>
            <a:ext cx="8557402" cy="481076"/>
          </a:xfrm>
        </p:spPr>
        <p:txBody>
          <a:bodyPr>
            <a:normAutofit fontScale="92500" lnSpcReduction="20000"/>
          </a:bodyPr>
          <a:lstStyle/>
          <a:p>
            <a:r>
              <a:rPr lang="en-US"/>
              <a:t>Context: Ecuador, IDB &amp; DFC 2023 Example</a:t>
            </a:r>
          </a:p>
        </p:txBody>
      </p:sp>
      <p:sp>
        <p:nvSpPr>
          <p:cNvPr id="19" name="Text Placeholder 18">
            <a:extLst>
              <a:ext uri="{FF2B5EF4-FFF2-40B4-BE49-F238E27FC236}">
                <a16:creationId xmlns:a16="http://schemas.microsoft.com/office/drawing/2014/main" id="{4EDB45CC-E118-1480-808D-484091FD5A79}"/>
              </a:ext>
            </a:extLst>
          </p:cNvPr>
          <p:cNvSpPr>
            <a:spLocks noGrp="1"/>
          </p:cNvSpPr>
          <p:nvPr>
            <p:ph type="body" sz="quarter" idx="11"/>
          </p:nvPr>
        </p:nvSpPr>
        <p:spPr>
          <a:xfrm>
            <a:off x="4895977" y="1298122"/>
            <a:ext cx="3954724" cy="3465738"/>
          </a:xfrm>
        </p:spPr>
        <p:txBody>
          <a:bodyPr>
            <a:normAutofit fontScale="92500"/>
          </a:bodyPr>
          <a:lstStyle/>
          <a:p>
            <a:pPr marL="285750" indent="-285750"/>
            <a:r>
              <a:rPr lang="en-US" sz="1300" dirty="0">
                <a:solidFill>
                  <a:srgbClr val="000000"/>
                </a:solidFill>
                <a:latin typeface="Roboto"/>
                <a:ea typeface="Roboto"/>
                <a:cs typeface="Roboto"/>
              </a:rPr>
              <a:t>Some precedent can be found in a recent </a:t>
            </a:r>
            <a:r>
              <a:rPr lang="en-US" sz="1300" b="1" dirty="0">
                <a:solidFill>
                  <a:srgbClr val="B85741"/>
                </a:solidFill>
                <a:latin typeface="Roboto"/>
                <a:ea typeface="Roboto"/>
                <a:cs typeface="Roboto"/>
              </a:rPr>
              <a:t>Debt-for-nature swap in Ecuador </a:t>
            </a:r>
          </a:p>
          <a:p>
            <a:pPr marL="285750" indent="-285750"/>
            <a:r>
              <a:rPr lang="en-GB" b="0" i="0" dirty="0">
                <a:solidFill>
                  <a:srgbClr val="000000"/>
                </a:solidFill>
                <a:effectLst/>
                <a:latin typeface="Roboto"/>
                <a:ea typeface="Roboto"/>
                <a:cs typeface="Roboto"/>
              </a:rPr>
              <a:t>Includes $85 million </a:t>
            </a:r>
            <a:r>
              <a:rPr lang="en-GB" b="1" i="0" dirty="0">
                <a:solidFill>
                  <a:srgbClr val="B85741"/>
                </a:solidFill>
                <a:effectLst/>
                <a:latin typeface="Roboto"/>
                <a:ea typeface="Roboto"/>
                <a:cs typeface="Roboto"/>
              </a:rPr>
              <a:t>IDB guarantee </a:t>
            </a:r>
            <a:r>
              <a:rPr lang="en-GB" b="0" i="0" dirty="0">
                <a:solidFill>
                  <a:srgbClr val="000000"/>
                </a:solidFill>
                <a:effectLst/>
                <a:latin typeface="Roboto"/>
                <a:ea typeface="Roboto"/>
                <a:cs typeface="Roboto"/>
              </a:rPr>
              <a:t>and $656 million </a:t>
            </a:r>
            <a:r>
              <a:rPr lang="en-GB" b="1" i="0" dirty="0">
                <a:solidFill>
                  <a:srgbClr val="B85741"/>
                </a:solidFill>
                <a:effectLst/>
                <a:latin typeface="Roboto"/>
                <a:ea typeface="Roboto"/>
                <a:cs typeface="Roboto"/>
              </a:rPr>
              <a:t>DFC political-risk insurance</a:t>
            </a:r>
            <a:endParaRPr lang="en-GB" dirty="0"/>
          </a:p>
          <a:p>
            <a:pPr marL="285750" indent="-285750"/>
            <a:r>
              <a:rPr lang="en-GB" dirty="0">
                <a:solidFill>
                  <a:srgbClr val="000000"/>
                </a:solidFill>
                <a:latin typeface="Roboto"/>
                <a:ea typeface="Roboto"/>
                <a:cs typeface="Roboto"/>
              </a:rPr>
              <a:t>E</a:t>
            </a:r>
            <a:r>
              <a:rPr lang="en-GB" b="0" i="0" dirty="0">
                <a:solidFill>
                  <a:srgbClr val="000000"/>
                </a:solidFill>
                <a:effectLst/>
                <a:latin typeface="Roboto"/>
                <a:ea typeface="Roboto"/>
                <a:cs typeface="Roboto"/>
              </a:rPr>
              <a:t>stimated to generate savings of </a:t>
            </a:r>
            <a:r>
              <a:rPr lang="en-GB" b="1" i="0" dirty="0">
                <a:solidFill>
                  <a:srgbClr val="B85741"/>
                </a:solidFill>
                <a:effectLst/>
                <a:latin typeface="Roboto"/>
                <a:ea typeface="Roboto"/>
                <a:cs typeface="Roboto"/>
              </a:rPr>
              <a:t>$323 million</a:t>
            </a:r>
            <a:r>
              <a:rPr lang="en-GB" b="0" i="0" dirty="0">
                <a:solidFill>
                  <a:srgbClr val="000000"/>
                </a:solidFill>
                <a:effectLst/>
                <a:latin typeface="Roboto"/>
                <a:ea typeface="Roboto"/>
                <a:cs typeface="Roboto"/>
              </a:rPr>
              <a:t> to finance conservation activities in the Galápagos (IDB, 2023)</a:t>
            </a:r>
            <a:endParaRPr lang="en-GB" dirty="0">
              <a:solidFill>
                <a:srgbClr val="000000"/>
              </a:solidFill>
              <a:latin typeface="Roboto"/>
              <a:ea typeface="Roboto"/>
              <a:cs typeface="Roboto"/>
            </a:endParaRPr>
          </a:p>
          <a:p>
            <a:pPr marL="285750" indent="-285750"/>
            <a:r>
              <a:rPr lang="en-US" dirty="0">
                <a:solidFill>
                  <a:srgbClr val="002F4A"/>
                </a:solidFill>
                <a:latin typeface="Roboto"/>
                <a:ea typeface="Roboto"/>
                <a:cs typeface="Roboto"/>
              </a:rPr>
              <a:t>First time an MDB has provided </a:t>
            </a:r>
            <a:r>
              <a:rPr lang="en-US" b="1" dirty="0">
                <a:solidFill>
                  <a:srgbClr val="B85741"/>
                </a:solidFill>
                <a:latin typeface="Roboto"/>
                <a:ea typeface="Roboto"/>
                <a:cs typeface="Roboto"/>
              </a:rPr>
              <a:t>financial guarantees </a:t>
            </a:r>
            <a:r>
              <a:rPr lang="en-US" dirty="0">
                <a:solidFill>
                  <a:srgbClr val="002F4A"/>
                </a:solidFill>
                <a:latin typeface="Roboto"/>
                <a:ea typeface="Roboto"/>
                <a:cs typeface="Roboto"/>
              </a:rPr>
              <a:t>coupled </a:t>
            </a:r>
            <a:r>
              <a:rPr lang="en-US" b="1" dirty="0">
                <a:solidFill>
                  <a:srgbClr val="B85741"/>
                </a:solidFill>
                <a:latin typeface="Roboto"/>
                <a:ea typeface="Roboto"/>
                <a:cs typeface="Roboto"/>
              </a:rPr>
              <a:t>with insurance against risks</a:t>
            </a:r>
            <a:r>
              <a:rPr lang="en-US" dirty="0">
                <a:solidFill>
                  <a:srgbClr val="002F4A"/>
                </a:solidFill>
                <a:latin typeface="Roboto"/>
                <a:ea typeface="Roboto"/>
                <a:cs typeface="Roboto"/>
              </a:rPr>
              <a:t> to promote </a:t>
            </a:r>
            <a:r>
              <a:rPr lang="en-US" b="1" dirty="0">
                <a:solidFill>
                  <a:srgbClr val="B85741"/>
                </a:solidFill>
                <a:latin typeface="Roboto"/>
                <a:ea typeface="Roboto"/>
                <a:cs typeface="Roboto"/>
              </a:rPr>
              <a:t>sustainability</a:t>
            </a:r>
            <a:r>
              <a:rPr lang="en-US" dirty="0">
                <a:solidFill>
                  <a:srgbClr val="002F4A"/>
                </a:solidFill>
                <a:latin typeface="Roboto"/>
                <a:ea typeface="Roboto"/>
                <a:cs typeface="Roboto"/>
              </a:rPr>
              <a:t> at the state level</a:t>
            </a:r>
            <a:endParaRPr lang="en-US" dirty="0">
              <a:solidFill>
                <a:srgbClr val="002F4A"/>
              </a:solidFill>
            </a:endParaRPr>
          </a:p>
          <a:p>
            <a:pPr marL="285750" indent="-285750"/>
            <a:r>
              <a:rPr lang="en-US" dirty="0">
                <a:solidFill>
                  <a:srgbClr val="002F4A"/>
                </a:solidFill>
              </a:rPr>
              <a:t>Largest debt-for-nature conversion in the world</a:t>
            </a:r>
          </a:p>
        </p:txBody>
      </p:sp>
      <p:sp>
        <p:nvSpPr>
          <p:cNvPr id="5" name="Rectangle 4">
            <a:extLst>
              <a:ext uri="{FF2B5EF4-FFF2-40B4-BE49-F238E27FC236}">
                <a16:creationId xmlns:a16="http://schemas.microsoft.com/office/drawing/2014/main" id="{1C7F36DD-8EBC-CFC4-3688-8D258A10313E}"/>
              </a:ext>
            </a:extLst>
          </p:cNvPr>
          <p:cNvSpPr/>
          <p:nvPr/>
        </p:nvSpPr>
        <p:spPr>
          <a:xfrm>
            <a:off x="363416" y="1298122"/>
            <a:ext cx="4173415"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78;p22">
            <a:extLst>
              <a:ext uri="{FF2B5EF4-FFF2-40B4-BE49-F238E27FC236}">
                <a16:creationId xmlns:a16="http://schemas.microsoft.com/office/drawing/2014/main" id="{9E4F7072-E833-9E9E-01FD-1457C268A78B}"/>
              </a:ext>
            </a:extLst>
          </p:cNvPr>
          <p:cNvSpPr/>
          <p:nvPr/>
        </p:nvSpPr>
        <p:spPr>
          <a:xfrm>
            <a:off x="3086798" y="2467882"/>
            <a:ext cx="1287300" cy="990426"/>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Ecuador</a:t>
            </a:r>
          </a:p>
        </p:txBody>
      </p:sp>
      <p:sp>
        <p:nvSpPr>
          <p:cNvPr id="9" name="Google Shape;180;p22">
            <a:extLst>
              <a:ext uri="{FF2B5EF4-FFF2-40B4-BE49-F238E27FC236}">
                <a16:creationId xmlns:a16="http://schemas.microsoft.com/office/drawing/2014/main" id="{4B1B0330-DC0F-2708-0D92-8633721B8074}"/>
              </a:ext>
            </a:extLst>
          </p:cNvPr>
          <p:cNvSpPr/>
          <p:nvPr/>
        </p:nvSpPr>
        <p:spPr>
          <a:xfrm>
            <a:off x="762185" y="2742691"/>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Creditors</a:t>
            </a:r>
            <a:endParaRPr sz="1200">
              <a:solidFill>
                <a:schemeClr val="lt1"/>
              </a:solidFill>
              <a:latin typeface="Roboto"/>
              <a:ea typeface="Roboto"/>
              <a:cs typeface="Roboto"/>
              <a:sym typeface="Roboto"/>
            </a:endParaRPr>
          </a:p>
        </p:txBody>
      </p:sp>
      <p:sp>
        <p:nvSpPr>
          <p:cNvPr id="10" name="Google Shape;181;p22">
            <a:extLst>
              <a:ext uri="{FF2B5EF4-FFF2-40B4-BE49-F238E27FC236}">
                <a16:creationId xmlns:a16="http://schemas.microsoft.com/office/drawing/2014/main" id="{54F32028-7F08-08F0-AE1C-43EF179B52D3}"/>
              </a:ext>
            </a:extLst>
          </p:cNvPr>
          <p:cNvSpPr txBox="1"/>
          <p:nvPr/>
        </p:nvSpPr>
        <p:spPr>
          <a:xfrm>
            <a:off x="496357" y="2154728"/>
            <a:ext cx="1132428" cy="25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Financial Guarantee</a:t>
            </a:r>
            <a:endParaRPr sz="1200">
              <a:solidFill>
                <a:schemeClr val="dk2"/>
              </a:solidFill>
              <a:latin typeface="Roboto"/>
              <a:ea typeface="Roboto"/>
              <a:cs typeface="Roboto"/>
              <a:sym typeface="Roboto"/>
            </a:endParaRPr>
          </a:p>
        </p:txBody>
      </p:sp>
      <p:sp>
        <p:nvSpPr>
          <p:cNvPr id="12" name="Google Shape;183;p22">
            <a:extLst>
              <a:ext uri="{FF2B5EF4-FFF2-40B4-BE49-F238E27FC236}">
                <a16:creationId xmlns:a16="http://schemas.microsoft.com/office/drawing/2014/main" id="{A11CD9F5-B63C-46F9-3DE0-772ACF0F4790}"/>
              </a:ext>
            </a:extLst>
          </p:cNvPr>
          <p:cNvSpPr txBox="1"/>
          <p:nvPr/>
        </p:nvSpPr>
        <p:spPr>
          <a:xfrm>
            <a:off x="1443980" y="3545096"/>
            <a:ext cx="1287300" cy="47051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Risk Insurance</a:t>
            </a:r>
            <a:endParaRPr sz="1200">
              <a:solidFill>
                <a:schemeClr val="dk2"/>
              </a:solidFill>
              <a:latin typeface="Roboto"/>
              <a:ea typeface="Roboto"/>
              <a:cs typeface="Roboto"/>
              <a:sym typeface="Roboto"/>
            </a:endParaRPr>
          </a:p>
        </p:txBody>
      </p:sp>
      <p:sp>
        <p:nvSpPr>
          <p:cNvPr id="13" name="Google Shape;184;p22">
            <a:extLst>
              <a:ext uri="{FF2B5EF4-FFF2-40B4-BE49-F238E27FC236}">
                <a16:creationId xmlns:a16="http://schemas.microsoft.com/office/drawing/2014/main" id="{466165A6-0F84-73FE-6BF0-D29955C9F07F}"/>
              </a:ext>
            </a:extLst>
          </p:cNvPr>
          <p:cNvSpPr/>
          <p:nvPr/>
        </p:nvSpPr>
        <p:spPr>
          <a:xfrm>
            <a:off x="762185" y="4015615"/>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US DFC</a:t>
            </a:r>
            <a:endParaRPr sz="1200">
              <a:solidFill>
                <a:schemeClr val="lt1"/>
              </a:solidFill>
              <a:latin typeface="Roboto"/>
              <a:ea typeface="Roboto"/>
              <a:cs typeface="Roboto"/>
              <a:sym typeface="Roboto"/>
            </a:endParaRPr>
          </a:p>
        </p:txBody>
      </p:sp>
      <p:sp>
        <p:nvSpPr>
          <p:cNvPr id="15" name="Google Shape;187;p22">
            <a:extLst>
              <a:ext uri="{FF2B5EF4-FFF2-40B4-BE49-F238E27FC236}">
                <a16:creationId xmlns:a16="http://schemas.microsoft.com/office/drawing/2014/main" id="{814DA7EF-9A0B-4D61-CE6F-40B7248F9387}"/>
              </a:ext>
            </a:extLst>
          </p:cNvPr>
          <p:cNvSpPr/>
          <p:nvPr/>
        </p:nvSpPr>
        <p:spPr>
          <a:xfrm>
            <a:off x="762185" y="1566925"/>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IDB</a:t>
            </a:r>
            <a:endParaRPr sz="1200">
              <a:solidFill>
                <a:schemeClr val="lt1"/>
              </a:solidFill>
              <a:latin typeface="Roboto"/>
              <a:ea typeface="Roboto"/>
              <a:cs typeface="Roboto"/>
              <a:sym typeface="Roboto"/>
            </a:endParaRPr>
          </a:p>
        </p:txBody>
      </p:sp>
      <p:sp>
        <p:nvSpPr>
          <p:cNvPr id="16" name="Google Shape;188;p22">
            <a:extLst>
              <a:ext uri="{FF2B5EF4-FFF2-40B4-BE49-F238E27FC236}">
                <a16:creationId xmlns:a16="http://schemas.microsoft.com/office/drawing/2014/main" id="{2DF996B5-E4F2-87D3-6255-9BA7CCC64370}"/>
              </a:ext>
            </a:extLst>
          </p:cNvPr>
          <p:cNvSpPr txBox="1"/>
          <p:nvPr/>
        </p:nvSpPr>
        <p:spPr>
          <a:xfrm rot="-2688">
            <a:off x="3749678" y="3489282"/>
            <a:ext cx="767400" cy="44118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New Funds</a:t>
            </a:r>
            <a:endParaRPr sz="1200">
              <a:solidFill>
                <a:schemeClr val="dk2"/>
              </a:solidFill>
              <a:latin typeface="Roboto"/>
              <a:ea typeface="Roboto"/>
              <a:cs typeface="Roboto"/>
              <a:sym typeface="Roboto"/>
            </a:endParaRPr>
          </a:p>
        </p:txBody>
      </p:sp>
      <p:sp>
        <p:nvSpPr>
          <p:cNvPr id="20" name="Google Shape;184;p22">
            <a:extLst>
              <a:ext uri="{FF2B5EF4-FFF2-40B4-BE49-F238E27FC236}">
                <a16:creationId xmlns:a16="http://schemas.microsoft.com/office/drawing/2014/main" id="{84FE63D8-4515-DD75-02FB-3AB9A3958B32}"/>
              </a:ext>
            </a:extLst>
          </p:cNvPr>
          <p:cNvSpPr/>
          <p:nvPr/>
        </p:nvSpPr>
        <p:spPr>
          <a:xfrm>
            <a:off x="3086798" y="4061287"/>
            <a:ext cx="1287300" cy="576600"/>
          </a:xfrm>
          <a:prstGeom prst="rect">
            <a:avLst/>
          </a:prstGeom>
          <a:solidFill>
            <a:schemeClr val="accent6">
              <a:lumMod val="25000"/>
            </a:schemeClr>
          </a:solidFill>
          <a:ln w="9525" cap="flat" cmpd="sng">
            <a:solidFill>
              <a:schemeClr val="accent6">
                <a:lumMod val="2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Conservation Efforts</a:t>
            </a:r>
            <a:endParaRPr sz="1200">
              <a:solidFill>
                <a:schemeClr val="lt1"/>
              </a:solidFill>
              <a:latin typeface="Roboto"/>
              <a:ea typeface="Roboto"/>
              <a:cs typeface="Roboto"/>
              <a:sym typeface="Roboto"/>
            </a:endParaRPr>
          </a:p>
        </p:txBody>
      </p:sp>
      <p:sp>
        <p:nvSpPr>
          <p:cNvPr id="21" name="Google Shape;182;p22">
            <a:extLst>
              <a:ext uri="{FF2B5EF4-FFF2-40B4-BE49-F238E27FC236}">
                <a16:creationId xmlns:a16="http://schemas.microsoft.com/office/drawing/2014/main" id="{EB7C4E5D-F13D-8181-C231-964214386851}"/>
              </a:ext>
            </a:extLst>
          </p:cNvPr>
          <p:cNvSpPr/>
          <p:nvPr/>
        </p:nvSpPr>
        <p:spPr>
          <a:xfrm rot="5400000">
            <a:off x="3387493" y="3594861"/>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4" name="Google Shape;182;p22">
            <a:extLst>
              <a:ext uri="{FF2B5EF4-FFF2-40B4-BE49-F238E27FC236}">
                <a16:creationId xmlns:a16="http://schemas.microsoft.com/office/drawing/2014/main" id="{EAD5F9B7-33C2-EF6F-6004-77060A497371}"/>
              </a:ext>
            </a:extLst>
          </p:cNvPr>
          <p:cNvSpPr/>
          <p:nvPr/>
        </p:nvSpPr>
        <p:spPr>
          <a:xfrm rot="10800000">
            <a:off x="2084653" y="2910913"/>
            <a:ext cx="1085373" cy="160533"/>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6" name="Google Shape;182;p22">
            <a:extLst>
              <a:ext uri="{FF2B5EF4-FFF2-40B4-BE49-F238E27FC236}">
                <a16:creationId xmlns:a16="http://schemas.microsoft.com/office/drawing/2014/main" id="{9BABFA65-1F5A-DBB0-CB3A-4D9AF90105F3}"/>
              </a:ext>
            </a:extLst>
          </p:cNvPr>
          <p:cNvSpPr/>
          <p:nvPr/>
        </p:nvSpPr>
        <p:spPr>
          <a:xfrm rot="5400000">
            <a:off x="1085893" y="2229812"/>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7" name="Google Shape;182;p22">
            <a:extLst>
              <a:ext uri="{FF2B5EF4-FFF2-40B4-BE49-F238E27FC236}">
                <a16:creationId xmlns:a16="http://schemas.microsoft.com/office/drawing/2014/main" id="{348B57A8-B5E4-C9B8-3455-A04B7D7717DD}"/>
              </a:ext>
            </a:extLst>
          </p:cNvPr>
          <p:cNvSpPr/>
          <p:nvPr/>
        </p:nvSpPr>
        <p:spPr>
          <a:xfrm rot="16200000">
            <a:off x="1071263" y="3687204"/>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8" name="Google Shape;182;p22">
            <a:extLst>
              <a:ext uri="{FF2B5EF4-FFF2-40B4-BE49-F238E27FC236}">
                <a16:creationId xmlns:a16="http://schemas.microsoft.com/office/drawing/2014/main" id="{913B24F5-38DB-F870-9AE3-98A676B39382}"/>
              </a:ext>
            </a:extLst>
          </p:cNvPr>
          <p:cNvSpPr/>
          <p:nvPr/>
        </p:nvSpPr>
        <p:spPr>
          <a:xfrm rot="19249176">
            <a:off x="1805067" y="3829088"/>
            <a:ext cx="1379067" cy="13634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0" name="Google Shape;188;p22">
            <a:extLst>
              <a:ext uri="{FF2B5EF4-FFF2-40B4-BE49-F238E27FC236}">
                <a16:creationId xmlns:a16="http://schemas.microsoft.com/office/drawing/2014/main" id="{EFF34AA5-0B90-C78D-B726-55067F37C3FA}"/>
              </a:ext>
            </a:extLst>
          </p:cNvPr>
          <p:cNvSpPr txBox="1"/>
          <p:nvPr/>
        </p:nvSpPr>
        <p:spPr>
          <a:xfrm rot="-2688">
            <a:off x="2013946" y="2272757"/>
            <a:ext cx="1091503" cy="369492"/>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AU" sz="1200">
                <a:solidFill>
                  <a:schemeClr val="dk2"/>
                </a:solidFill>
                <a:latin typeface="Roboto"/>
                <a:ea typeface="Roboto"/>
                <a:cs typeface="Roboto"/>
                <a:sym typeface="Roboto"/>
              </a:rPr>
              <a:t>Repays debt at cheaper rate</a:t>
            </a:r>
            <a:endParaRPr sz="1200">
              <a:solidFill>
                <a:schemeClr val="dk2"/>
              </a:solidFill>
              <a:latin typeface="Roboto"/>
              <a:ea typeface="Roboto"/>
              <a:cs typeface="Roboto"/>
              <a:sym typeface="Roboto"/>
            </a:endParaRPr>
          </a:p>
        </p:txBody>
      </p:sp>
    </p:spTree>
    <p:extLst>
      <p:ext uri="{BB962C8B-B14F-4D97-AF65-F5344CB8AC3E}">
        <p14:creationId xmlns:p14="http://schemas.microsoft.com/office/powerpoint/2010/main" val="208364229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D1029096-2D44-DCEE-CE92-8D46F9315E00}"/>
            </a:ext>
          </a:extLst>
        </p:cNvPr>
        <p:cNvGrpSpPr/>
        <p:nvPr/>
      </p:nvGrpSpPr>
      <p:grpSpPr>
        <a:xfrm>
          <a:off x="0" y="0"/>
          <a:ext cx="0" cy="0"/>
          <a:chOff x="0" y="0"/>
          <a:chExt cx="0" cy="0"/>
        </a:xfrm>
      </p:grpSpPr>
      <p:sp>
        <p:nvSpPr>
          <p:cNvPr id="379" name="Google Shape;379;p38">
            <a:extLst>
              <a:ext uri="{FF2B5EF4-FFF2-40B4-BE49-F238E27FC236}">
                <a16:creationId xmlns:a16="http://schemas.microsoft.com/office/drawing/2014/main" id="{D1C96F6F-6A14-C8B7-2CFC-7AF8F11A1922}"/>
              </a:ext>
            </a:extLst>
          </p:cNvPr>
          <p:cNvSpPr txBox="1">
            <a:spLocks noGrp="1"/>
          </p:cNvSpPr>
          <p:nvPr>
            <p:ph type="title"/>
          </p:nvPr>
        </p:nvSpPr>
        <p:spPr>
          <a:xfrm>
            <a:off x="311300" y="500925"/>
            <a:ext cx="3704400" cy="87067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Two: </a:t>
            </a:r>
            <a:r>
              <a:rPr lang="en" sz="2250">
                <a:solidFill>
                  <a:schemeClr val="bg1"/>
                </a:solidFill>
              </a:rPr>
              <a:t>Trusted </a:t>
            </a:r>
            <a:endParaRPr sz="2250">
              <a:solidFill>
                <a:schemeClr val="bg1"/>
              </a:solidFill>
            </a:endParaRPr>
          </a:p>
          <a:p>
            <a:pPr marL="0" lvl="0" indent="0" algn="l" rtl="0">
              <a:spcBef>
                <a:spcPts val="0"/>
              </a:spcBef>
              <a:spcAft>
                <a:spcPts val="0"/>
              </a:spcAft>
              <a:buNone/>
            </a:pPr>
            <a:r>
              <a:rPr lang="en" sz="2250">
                <a:solidFill>
                  <a:schemeClr val="bg1"/>
                </a:solidFill>
              </a:rPr>
              <a:t>Intermediary</a:t>
            </a:r>
            <a:endParaRPr sz="2250">
              <a:solidFill>
                <a:schemeClr val="bg1"/>
              </a:solidFill>
            </a:endParaRPr>
          </a:p>
        </p:txBody>
      </p:sp>
      <p:sp>
        <p:nvSpPr>
          <p:cNvPr id="380" name="Google Shape;380;p38">
            <a:extLst>
              <a:ext uri="{FF2B5EF4-FFF2-40B4-BE49-F238E27FC236}">
                <a16:creationId xmlns:a16="http://schemas.microsoft.com/office/drawing/2014/main" id="{E44FADED-FE6F-4AA7-151A-12E1228BDACB}"/>
              </a:ext>
            </a:extLst>
          </p:cNvPr>
          <p:cNvSpPr txBox="1">
            <a:spLocks noGrp="1"/>
          </p:cNvSpPr>
          <p:nvPr>
            <p:ph type="body" idx="2"/>
          </p:nvPr>
        </p:nvSpPr>
        <p:spPr>
          <a:prstGeom prst="rect">
            <a:avLst/>
          </a:prstGeom>
        </p:spPr>
        <p:txBody>
          <a:bodyPr spcFirstLastPara="1" wrap="square" lIns="91425" tIns="91425" rIns="91425" bIns="91425" anchor="t" anchorCtr="0">
            <a:normAutofit/>
          </a:bodyPr>
          <a:lstStyle/>
          <a:p>
            <a:pPr marL="0" indent="0">
              <a:buNone/>
            </a:pPr>
            <a:r>
              <a:rPr lang="en" sz="1400" dirty="0">
                <a:solidFill>
                  <a:srgbClr val="002F4A"/>
                </a:solidFill>
              </a:rPr>
              <a:t>The second option involves a </a:t>
            </a:r>
            <a:r>
              <a:rPr lang="en" sz="1400" b="1" dirty="0">
                <a:solidFill>
                  <a:srgbClr val="002F4A"/>
                </a:solidFill>
              </a:rPr>
              <a:t>trusted intermediary</a:t>
            </a:r>
            <a:r>
              <a:rPr lang="en" sz="1400" dirty="0">
                <a:solidFill>
                  <a:srgbClr val="002F4A"/>
                </a:solidFill>
              </a:rPr>
              <a:t>, such as the World Bank or a special purpose vehicle, backed by guarantees from a creditworthy third party, e.g., a coalition of wealthy sovereigns </a:t>
            </a:r>
          </a:p>
          <a:p>
            <a:pPr marL="0" indent="0">
              <a:buNone/>
            </a:pPr>
            <a:endParaRPr lang="en" sz="1400" dirty="0">
              <a:solidFill>
                <a:srgbClr val="002F4A"/>
              </a:solidFill>
            </a:endParaRPr>
          </a:p>
          <a:p>
            <a:pPr marL="0" indent="0">
              <a:buNone/>
            </a:pPr>
            <a:r>
              <a:rPr lang="en" sz="1400" dirty="0">
                <a:solidFill>
                  <a:srgbClr val="002F4A"/>
                </a:solidFill>
              </a:rPr>
              <a:t>Crucial aspect is ensuring the intermediary is adequately capitalized or possesses sufficient guarantees to maintain a low-risk profile.</a:t>
            </a:r>
            <a:endParaRPr sz="1400" dirty="0">
              <a:solidFill>
                <a:srgbClr val="002F4A"/>
              </a:solidFill>
            </a:endParaRPr>
          </a:p>
          <a:p>
            <a:pPr marL="0" lvl="0" indent="0" algn="l" rtl="0">
              <a:spcBef>
                <a:spcPts val="1200"/>
              </a:spcBef>
              <a:spcAft>
                <a:spcPts val="1200"/>
              </a:spcAft>
              <a:buNone/>
            </a:pPr>
            <a:endParaRPr dirty="0">
              <a:solidFill>
                <a:schemeClr val="accent1"/>
              </a:solidFill>
            </a:endParaRPr>
          </a:p>
        </p:txBody>
      </p:sp>
      <p:sp>
        <p:nvSpPr>
          <p:cNvPr id="381" name="Google Shape;381;p38">
            <a:extLst>
              <a:ext uri="{FF2B5EF4-FFF2-40B4-BE49-F238E27FC236}">
                <a16:creationId xmlns:a16="http://schemas.microsoft.com/office/drawing/2014/main" id="{E4C0AD42-13E4-D672-74D5-E7BE0C7FEEA2}"/>
              </a:ext>
            </a:extLst>
          </p:cNvPr>
          <p:cNvSpPr/>
          <p:nvPr/>
        </p:nvSpPr>
        <p:spPr>
          <a:xfrm>
            <a:off x="6190157" y="4003425"/>
            <a:ext cx="2465400" cy="563400"/>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Roboto"/>
                <a:ea typeface="Roboto"/>
                <a:cs typeface="Roboto"/>
                <a:sym typeface="Roboto"/>
              </a:rPr>
              <a:t>Possible funding limitations and added complexity</a:t>
            </a:r>
            <a:endParaRPr sz="1200">
              <a:solidFill>
                <a:schemeClr val="lt1"/>
              </a:solidFill>
              <a:latin typeface="Roboto"/>
              <a:ea typeface="Roboto"/>
              <a:cs typeface="Roboto"/>
              <a:sym typeface="Roboto"/>
            </a:endParaRPr>
          </a:p>
        </p:txBody>
      </p:sp>
      <p:sp>
        <p:nvSpPr>
          <p:cNvPr id="382" name="Google Shape;382;p38">
            <a:extLst>
              <a:ext uri="{FF2B5EF4-FFF2-40B4-BE49-F238E27FC236}">
                <a16:creationId xmlns:a16="http://schemas.microsoft.com/office/drawing/2014/main" id="{4F89E409-9E0A-9DDC-DF68-C708850433BC}"/>
              </a:ext>
            </a:extLst>
          </p:cNvPr>
          <p:cNvSpPr/>
          <p:nvPr/>
        </p:nvSpPr>
        <p:spPr>
          <a:xfrm>
            <a:off x="5027182" y="4003425"/>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8">
            <a:extLst>
              <a:ext uri="{FF2B5EF4-FFF2-40B4-BE49-F238E27FC236}">
                <a16:creationId xmlns:a16="http://schemas.microsoft.com/office/drawing/2014/main" id="{98683F97-DC3C-E14A-EDCA-F57240A30A4F}"/>
              </a:ext>
            </a:extLst>
          </p:cNvPr>
          <p:cNvSpPr/>
          <p:nvPr/>
        </p:nvSpPr>
        <p:spPr>
          <a:xfrm>
            <a:off x="5027157" y="306922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8">
            <a:extLst>
              <a:ext uri="{FF2B5EF4-FFF2-40B4-BE49-F238E27FC236}">
                <a16:creationId xmlns:a16="http://schemas.microsoft.com/office/drawing/2014/main" id="{CFAE74A1-3FC0-4D49-FADC-3B7CCBA32957}"/>
              </a:ext>
            </a:extLst>
          </p:cNvPr>
          <p:cNvSpPr/>
          <p:nvPr/>
        </p:nvSpPr>
        <p:spPr>
          <a:xfrm rot="-3020993">
            <a:off x="5251649" y="3278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8">
            <a:extLst>
              <a:ext uri="{FF2B5EF4-FFF2-40B4-BE49-F238E27FC236}">
                <a16:creationId xmlns:a16="http://schemas.microsoft.com/office/drawing/2014/main" id="{BCF3EB51-4280-8324-A697-D110C106632E}"/>
              </a:ext>
            </a:extLst>
          </p:cNvPr>
          <p:cNvSpPr/>
          <p:nvPr/>
        </p:nvSpPr>
        <p:spPr>
          <a:xfrm>
            <a:off x="5224890" y="4098973"/>
            <a:ext cx="308400" cy="372300"/>
          </a:xfrm>
          <a:prstGeom prst="mathMultiply">
            <a:avLst>
              <a:gd name="adj1" fmla="val 50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8">
            <a:extLst>
              <a:ext uri="{FF2B5EF4-FFF2-40B4-BE49-F238E27FC236}">
                <a16:creationId xmlns:a16="http://schemas.microsoft.com/office/drawing/2014/main" id="{79099830-D71F-B400-A8AA-D65C3F5A0A4D}"/>
              </a:ext>
            </a:extLst>
          </p:cNvPr>
          <p:cNvSpPr/>
          <p:nvPr/>
        </p:nvSpPr>
        <p:spPr>
          <a:xfrm>
            <a:off x="6190157" y="3069300"/>
            <a:ext cx="246075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lt1"/>
                </a:solidFill>
                <a:latin typeface="Roboto"/>
                <a:ea typeface="Roboto"/>
                <a:cs typeface="Roboto"/>
                <a:sym typeface="Roboto"/>
              </a:rPr>
              <a:t>Expertise of intermediary and risk mitigation  </a:t>
            </a:r>
            <a:endParaRPr sz="1200">
              <a:solidFill>
                <a:schemeClr val="lt1"/>
              </a:solidFill>
              <a:latin typeface="Roboto"/>
              <a:ea typeface="Roboto"/>
              <a:cs typeface="Roboto"/>
              <a:sym typeface="Roboto"/>
            </a:endParaRPr>
          </a:p>
        </p:txBody>
      </p:sp>
    </p:spTree>
    <p:extLst>
      <p:ext uri="{BB962C8B-B14F-4D97-AF65-F5344CB8AC3E}">
        <p14:creationId xmlns:p14="http://schemas.microsoft.com/office/powerpoint/2010/main" val="640958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D1029096-2D44-DCEE-CE92-8D46F9315E00}"/>
            </a:ext>
          </a:extLst>
        </p:cNvPr>
        <p:cNvGrpSpPr/>
        <p:nvPr/>
      </p:nvGrpSpPr>
      <p:grpSpPr>
        <a:xfrm>
          <a:off x="0" y="0"/>
          <a:ext cx="0" cy="0"/>
          <a:chOff x="0" y="0"/>
          <a:chExt cx="0" cy="0"/>
        </a:xfrm>
      </p:grpSpPr>
      <p:sp>
        <p:nvSpPr>
          <p:cNvPr id="379" name="Google Shape;379;p38">
            <a:extLst>
              <a:ext uri="{FF2B5EF4-FFF2-40B4-BE49-F238E27FC236}">
                <a16:creationId xmlns:a16="http://schemas.microsoft.com/office/drawing/2014/main" id="{D1C96F6F-6A14-C8B7-2CFC-7AF8F11A1922}"/>
              </a:ext>
            </a:extLst>
          </p:cNvPr>
          <p:cNvSpPr txBox="1">
            <a:spLocks noGrp="1"/>
          </p:cNvSpPr>
          <p:nvPr>
            <p:ph type="title"/>
          </p:nvPr>
        </p:nvSpPr>
        <p:spPr>
          <a:xfrm>
            <a:off x="311300" y="500925"/>
            <a:ext cx="3704400" cy="87067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Two: </a:t>
            </a:r>
            <a:r>
              <a:rPr lang="en" sz="2250">
                <a:solidFill>
                  <a:schemeClr val="bg1"/>
                </a:solidFill>
              </a:rPr>
              <a:t>Trusted </a:t>
            </a:r>
            <a:endParaRPr sz="2250">
              <a:solidFill>
                <a:schemeClr val="bg1"/>
              </a:solidFill>
            </a:endParaRPr>
          </a:p>
          <a:p>
            <a:pPr marL="0" lvl="0" indent="0" algn="l" rtl="0">
              <a:spcBef>
                <a:spcPts val="0"/>
              </a:spcBef>
              <a:spcAft>
                <a:spcPts val="0"/>
              </a:spcAft>
              <a:buNone/>
            </a:pPr>
            <a:r>
              <a:rPr lang="en" sz="2250">
                <a:solidFill>
                  <a:schemeClr val="bg1"/>
                </a:solidFill>
              </a:rPr>
              <a:t>Intermediary</a:t>
            </a:r>
            <a:endParaRPr sz="2250">
              <a:solidFill>
                <a:schemeClr val="bg1"/>
              </a:solidFill>
            </a:endParaRPr>
          </a:p>
        </p:txBody>
      </p:sp>
      <p:sp>
        <p:nvSpPr>
          <p:cNvPr id="380" name="Google Shape;380;p38">
            <a:extLst>
              <a:ext uri="{FF2B5EF4-FFF2-40B4-BE49-F238E27FC236}">
                <a16:creationId xmlns:a16="http://schemas.microsoft.com/office/drawing/2014/main" id="{E44FADED-FE6F-4AA7-151A-12E1228BDACB}"/>
              </a:ext>
            </a:extLst>
          </p:cNvPr>
          <p:cNvSpPr txBox="1">
            <a:spLocks noGrp="1"/>
          </p:cNvSpPr>
          <p:nvPr>
            <p:ph type="body" idx="2"/>
          </p:nvPr>
        </p:nvSpPr>
        <p:spPr>
          <a:prstGeom prst="rect">
            <a:avLst/>
          </a:prstGeom>
        </p:spPr>
        <p:txBody>
          <a:bodyPr spcFirstLastPara="1" wrap="square" lIns="91425" tIns="91425" rIns="91425" bIns="91425" anchor="t" anchorCtr="0">
            <a:normAutofit/>
          </a:bodyPr>
          <a:lstStyle/>
          <a:p>
            <a:pPr marL="0" indent="0">
              <a:buNone/>
            </a:pPr>
            <a:r>
              <a:rPr lang="en" sz="1400" dirty="0">
                <a:solidFill>
                  <a:srgbClr val="002F4A"/>
                </a:solidFill>
              </a:rPr>
              <a:t>The second option involves a </a:t>
            </a:r>
            <a:r>
              <a:rPr lang="en" sz="1400" b="1" dirty="0">
                <a:solidFill>
                  <a:srgbClr val="002F4A"/>
                </a:solidFill>
              </a:rPr>
              <a:t>trusted intermediary</a:t>
            </a:r>
            <a:r>
              <a:rPr lang="en" sz="1400" dirty="0">
                <a:solidFill>
                  <a:srgbClr val="002F4A"/>
                </a:solidFill>
              </a:rPr>
              <a:t>, such as the World Bank or a special purpose vehicle, backed by guarantees from a creditworthy third party, e.g., a coalition of wealthy sovereigns </a:t>
            </a:r>
          </a:p>
          <a:p>
            <a:pPr marL="0" indent="0">
              <a:buNone/>
            </a:pPr>
            <a:endParaRPr lang="en" sz="1400" dirty="0">
              <a:solidFill>
                <a:srgbClr val="002F4A"/>
              </a:solidFill>
            </a:endParaRPr>
          </a:p>
          <a:p>
            <a:pPr marL="0" indent="0">
              <a:buNone/>
            </a:pPr>
            <a:r>
              <a:rPr lang="en" sz="1400" dirty="0">
                <a:solidFill>
                  <a:srgbClr val="002F4A"/>
                </a:solidFill>
              </a:rPr>
              <a:t>Crucial aspect is ensuring the intermediary is adequately capitalized or possesses sufficient guarantees to maintain a low-risk profile.</a:t>
            </a:r>
            <a:endParaRPr sz="1400" dirty="0">
              <a:solidFill>
                <a:srgbClr val="002F4A"/>
              </a:solidFill>
            </a:endParaRPr>
          </a:p>
          <a:p>
            <a:pPr marL="0" lvl="0" indent="0" algn="l" rtl="0">
              <a:spcBef>
                <a:spcPts val="1200"/>
              </a:spcBef>
              <a:spcAft>
                <a:spcPts val="1200"/>
              </a:spcAft>
              <a:buNone/>
            </a:pPr>
            <a:endParaRPr dirty="0">
              <a:solidFill>
                <a:schemeClr val="accent1"/>
              </a:solidFill>
            </a:endParaRPr>
          </a:p>
        </p:txBody>
      </p:sp>
      <p:sp>
        <p:nvSpPr>
          <p:cNvPr id="381" name="Google Shape;381;p38">
            <a:extLst>
              <a:ext uri="{FF2B5EF4-FFF2-40B4-BE49-F238E27FC236}">
                <a16:creationId xmlns:a16="http://schemas.microsoft.com/office/drawing/2014/main" id="{E4C0AD42-13E4-D672-74D5-E7BE0C7FEEA2}"/>
              </a:ext>
            </a:extLst>
          </p:cNvPr>
          <p:cNvSpPr/>
          <p:nvPr/>
        </p:nvSpPr>
        <p:spPr>
          <a:xfrm>
            <a:off x="6190157" y="4003425"/>
            <a:ext cx="2465400" cy="563400"/>
          </a:xfrm>
          <a:prstGeom prst="rect">
            <a:avLst/>
          </a:prstGeom>
          <a:solidFill>
            <a:schemeClr val="accent4"/>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Possible funding limitations and added complexity</a:t>
            </a:r>
            <a:endParaRPr kumimoji="0" sz="1200" b="0" i="0" u="none" strike="noStrike" kern="0" cap="none" spc="0" normalizeH="0" baseline="0" noProof="0">
              <a:ln>
                <a:noFill/>
              </a:ln>
              <a:solidFill>
                <a:srgbClr val="FFFFFF"/>
              </a:solidFill>
              <a:effectLst/>
              <a:uLnTx/>
              <a:uFillTx/>
              <a:latin typeface="Roboto"/>
              <a:ea typeface="Roboto"/>
              <a:cs typeface="Roboto"/>
              <a:sym typeface="Roboto"/>
            </a:endParaRPr>
          </a:p>
        </p:txBody>
      </p:sp>
      <p:sp>
        <p:nvSpPr>
          <p:cNvPr id="382" name="Google Shape;382;p38">
            <a:extLst>
              <a:ext uri="{FF2B5EF4-FFF2-40B4-BE49-F238E27FC236}">
                <a16:creationId xmlns:a16="http://schemas.microsoft.com/office/drawing/2014/main" id="{4F89E409-9E0A-9DDC-DF68-C708850433BC}"/>
              </a:ext>
            </a:extLst>
          </p:cNvPr>
          <p:cNvSpPr/>
          <p:nvPr/>
        </p:nvSpPr>
        <p:spPr>
          <a:xfrm>
            <a:off x="5027182" y="4003425"/>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3" name="Google Shape;383;p38">
            <a:extLst>
              <a:ext uri="{FF2B5EF4-FFF2-40B4-BE49-F238E27FC236}">
                <a16:creationId xmlns:a16="http://schemas.microsoft.com/office/drawing/2014/main" id="{98683F97-DC3C-E14A-EDCA-F57240A30A4F}"/>
              </a:ext>
            </a:extLst>
          </p:cNvPr>
          <p:cNvSpPr/>
          <p:nvPr/>
        </p:nvSpPr>
        <p:spPr>
          <a:xfrm>
            <a:off x="5027157" y="306922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384;p38">
            <a:extLst>
              <a:ext uri="{FF2B5EF4-FFF2-40B4-BE49-F238E27FC236}">
                <a16:creationId xmlns:a16="http://schemas.microsoft.com/office/drawing/2014/main" id="{CFAE74A1-3FC0-4D49-FADC-3B7CCBA32957}"/>
              </a:ext>
            </a:extLst>
          </p:cNvPr>
          <p:cNvSpPr/>
          <p:nvPr/>
        </p:nvSpPr>
        <p:spPr>
          <a:xfrm rot="-3020993">
            <a:off x="5251649" y="3278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385;p38">
            <a:extLst>
              <a:ext uri="{FF2B5EF4-FFF2-40B4-BE49-F238E27FC236}">
                <a16:creationId xmlns:a16="http://schemas.microsoft.com/office/drawing/2014/main" id="{BCF3EB51-4280-8324-A697-D110C106632E}"/>
              </a:ext>
            </a:extLst>
          </p:cNvPr>
          <p:cNvSpPr/>
          <p:nvPr/>
        </p:nvSpPr>
        <p:spPr>
          <a:xfrm>
            <a:off x="5224890" y="4098973"/>
            <a:ext cx="308400" cy="372300"/>
          </a:xfrm>
          <a:prstGeom prst="mathMultiply">
            <a:avLst>
              <a:gd name="adj1" fmla="val 5080"/>
            </a:avLst>
          </a:pr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386;p38">
            <a:extLst>
              <a:ext uri="{FF2B5EF4-FFF2-40B4-BE49-F238E27FC236}">
                <a16:creationId xmlns:a16="http://schemas.microsoft.com/office/drawing/2014/main" id="{79099830-D71F-B400-A8AA-D65C3F5A0A4D}"/>
              </a:ext>
            </a:extLst>
          </p:cNvPr>
          <p:cNvSpPr/>
          <p:nvPr/>
        </p:nvSpPr>
        <p:spPr>
          <a:xfrm>
            <a:off x="6190157" y="3069300"/>
            <a:ext cx="2460750" cy="563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Expertise of intermediary and risk mitigation  </a:t>
            </a:r>
            <a:endParaRPr kumimoji="0" sz="1200" b="0" i="0" u="none" strike="noStrike" kern="0" cap="none" spc="0" normalizeH="0" baseline="0" noProof="0">
              <a:ln>
                <a:noFill/>
              </a:ln>
              <a:solidFill>
                <a:srgbClr val="FFFFFF"/>
              </a:solidFill>
              <a:effectLst/>
              <a:uLnTx/>
              <a:uFillTx/>
              <a:latin typeface="Roboto"/>
              <a:ea typeface="Roboto"/>
              <a:cs typeface="Roboto"/>
              <a:sym typeface="Roboto"/>
            </a:endParaRPr>
          </a:p>
        </p:txBody>
      </p:sp>
    </p:spTree>
    <p:extLst>
      <p:ext uri="{BB962C8B-B14F-4D97-AF65-F5344CB8AC3E}">
        <p14:creationId xmlns:p14="http://schemas.microsoft.com/office/powerpoint/2010/main" val="3472530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88E2D76C-4BB5-C9D6-0327-F22B1CA81CDE}"/>
            </a:ext>
          </a:extLst>
        </p:cNvPr>
        <p:cNvGrpSpPr/>
        <p:nvPr/>
      </p:nvGrpSpPr>
      <p:grpSpPr>
        <a:xfrm>
          <a:off x="0" y="0"/>
          <a:ext cx="0" cy="0"/>
          <a:chOff x="0" y="0"/>
          <a:chExt cx="0" cy="0"/>
        </a:xfrm>
      </p:grpSpPr>
      <p:sp>
        <p:nvSpPr>
          <p:cNvPr id="317" name="Google Shape;317;p33">
            <a:extLst>
              <a:ext uri="{FF2B5EF4-FFF2-40B4-BE49-F238E27FC236}">
                <a16:creationId xmlns:a16="http://schemas.microsoft.com/office/drawing/2014/main" id="{31BC723C-9BD2-98D7-A391-0B8604C953F2}"/>
              </a:ext>
            </a:extLst>
          </p:cNvPr>
          <p:cNvSpPr txBox="1">
            <a:spLocks noGrp="1"/>
          </p:cNvSpPr>
          <p:nvPr>
            <p:ph type="body" sz="quarter" idx="11"/>
          </p:nvPr>
        </p:nvSpPr>
        <p:spPr>
          <a:xfrm>
            <a:off x="293300" y="1445455"/>
            <a:ext cx="2650791" cy="3375927"/>
          </a:xfrm>
          <a:prstGeom prst="rect">
            <a:avLst/>
          </a:prstGeom>
        </p:spPr>
        <p:txBody>
          <a:bodyPr spcFirstLastPara="1" wrap="square" lIns="91425" tIns="91425" rIns="91425" bIns="91425" anchor="t" anchorCtr="0">
            <a:noAutofit/>
          </a:bodyPr>
          <a:lstStyle/>
          <a:p>
            <a:pPr marL="0" indent="0">
              <a:lnSpc>
                <a:spcPct val="150000"/>
              </a:lnSpc>
              <a:buNone/>
            </a:pPr>
            <a:r>
              <a:rPr lang="en-US" sz="1400" b="1" dirty="0">
                <a:solidFill>
                  <a:schemeClr val="accent4"/>
                </a:solidFill>
              </a:rPr>
              <a:t>SLIDIs would consist of two components</a:t>
            </a:r>
            <a:r>
              <a:rPr lang="en" sz="1400" b="1" dirty="0">
                <a:solidFill>
                  <a:schemeClr val="accent4"/>
                </a:solidFill>
              </a:rPr>
              <a:t>:</a:t>
            </a:r>
          </a:p>
          <a:p>
            <a:pPr marL="285750" indent="-285750">
              <a:lnSpc>
                <a:spcPct val="150000"/>
              </a:lnSpc>
              <a:buFont typeface="+mj-lt"/>
              <a:buAutoNum type="arabicPeriod"/>
            </a:pPr>
            <a:r>
              <a:rPr lang="en-US" sz="1200" dirty="0">
                <a:solidFill>
                  <a:srgbClr val="002F4A"/>
                </a:solidFill>
              </a:rPr>
              <a:t>Standard sovereign bonds with fixed coupons, but tagged ‘green’ (because of second component…)</a:t>
            </a:r>
          </a:p>
          <a:p>
            <a:pPr marL="285750" indent="-285750">
              <a:lnSpc>
                <a:spcPct val="150000"/>
              </a:lnSpc>
              <a:buFont typeface="+mj-lt"/>
              <a:buAutoNum type="arabicPeriod"/>
            </a:pPr>
            <a:r>
              <a:rPr lang="en-US" sz="1200" dirty="0">
                <a:solidFill>
                  <a:srgbClr val="002F4A"/>
                </a:solidFill>
              </a:rPr>
              <a:t>WB payments conditional on a) achievement of KPIs and b) sufficient private sector interest in the first component</a:t>
            </a:r>
          </a:p>
          <a:p>
            <a:pPr marL="285750" indent="-285750">
              <a:lnSpc>
                <a:spcPct val="150000"/>
              </a:lnSpc>
              <a:buFont typeface="+mj-lt"/>
              <a:buAutoNum type="arabicPeriod"/>
            </a:pPr>
            <a:endParaRPr lang="en-US" sz="1200" dirty="0">
              <a:solidFill>
                <a:srgbClr val="002F4A"/>
              </a:solidFill>
            </a:endParaRPr>
          </a:p>
        </p:txBody>
      </p:sp>
      <p:sp>
        <p:nvSpPr>
          <p:cNvPr id="3" name="Subtitle 2">
            <a:extLst>
              <a:ext uri="{FF2B5EF4-FFF2-40B4-BE49-F238E27FC236}">
                <a16:creationId xmlns:a16="http://schemas.microsoft.com/office/drawing/2014/main" id="{934D4685-0435-B7D7-A875-DED68C183999}"/>
              </a:ext>
            </a:extLst>
          </p:cNvPr>
          <p:cNvSpPr>
            <a:spLocks noGrp="1"/>
          </p:cNvSpPr>
          <p:nvPr>
            <p:ph type="subTitle" idx="1"/>
          </p:nvPr>
        </p:nvSpPr>
        <p:spPr/>
        <p:txBody>
          <a:bodyPr>
            <a:normAutofit fontScale="92500" lnSpcReduction="20000"/>
          </a:bodyPr>
          <a:lstStyle/>
          <a:p>
            <a:r>
              <a:rPr lang="en"/>
              <a:t>How To Implement </a:t>
            </a:r>
            <a:r>
              <a:rPr lang="en-US"/>
              <a:t>SLIDIs</a:t>
            </a:r>
            <a:r>
              <a:rPr lang="en"/>
              <a:t>: Option Two – Trusted Intermediary</a:t>
            </a:r>
          </a:p>
          <a:p>
            <a:endParaRPr lang="en-US"/>
          </a:p>
        </p:txBody>
      </p:sp>
      <p:grpSp>
        <p:nvGrpSpPr>
          <p:cNvPr id="8" name="Google Shape;230;p26">
            <a:extLst>
              <a:ext uri="{FF2B5EF4-FFF2-40B4-BE49-F238E27FC236}">
                <a16:creationId xmlns:a16="http://schemas.microsoft.com/office/drawing/2014/main" id="{B07A8872-3874-373C-E702-D8A8C4FEDE7D}"/>
              </a:ext>
            </a:extLst>
          </p:cNvPr>
          <p:cNvGrpSpPr/>
          <p:nvPr/>
        </p:nvGrpSpPr>
        <p:grpSpPr>
          <a:xfrm>
            <a:off x="5144611" y="2543982"/>
            <a:ext cx="1332390" cy="1220886"/>
            <a:chOff x="5040038" y="2459523"/>
            <a:chExt cx="1718739" cy="966655"/>
          </a:xfrm>
        </p:grpSpPr>
        <p:sp>
          <p:nvSpPr>
            <p:cNvPr id="9" name="Google Shape;231;p26">
              <a:extLst>
                <a:ext uri="{FF2B5EF4-FFF2-40B4-BE49-F238E27FC236}">
                  <a16:creationId xmlns:a16="http://schemas.microsoft.com/office/drawing/2014/main" id="{F51CD341-7FC2-BE14-967D-4E506F7475A9}"/>
                </a:ext>
              </a:extLst>
            </p:cNvPr>
            <p:cNvSpPr/>
            <p:nvPr/>
          </p:nvSpPr>
          <p:spPr>
            <a:xfrm>
              <a:off x="5040038" y="2707678"/>
              <a:ext cx="1718738" cy="718500"/>
            </a:xfrm>
            <a:prstGeom prst="rect">
              <a:avLst/>
            </a:prstGeom>
            <a:solidFill>
              <a:schemeClr val="accent5"/>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Borrows at AAA financing rate thanks to guarantees. Receives 5-7%</a:t>
              </a:r>
              <a:endParaRPr kumimoji="0" sz="1000" b="0" i="0" u="none" strike="noStrike" kern="0" cap="none" spc="0" normalizeH="0" baseline="0" noProof="0" dirty="0">
                <a:ln>
                  <a:noFill/>
                </a:ln>
                <a:solidFill>
                  <a:srgbClr val="FFFFFF"/>
                </a:solidFill>
                <a:effectLst/>
                <a:uLnTx/>
                <a:uFillTx/>
                <a:latin typeface="Arial"/>
                <a:cs typeface="Arial"/>
                <a:sym typeface="Arial"/>
              </a:endParaRPr>
            </a:p>
          </p:txBody>
        </p:sp>
        <p:sp>
          <p:nvSpPr>
            <p:cNvPr id="10" name="Google Shape;232;p26">
              <a:extLst>
                <a:ext uri="{FF2B5EF4-FFF2-40B4-BE49-F238E27FC236}">
                  <a16:creationId xmlns:a16="http://schemas.microsoft.com/office/drawing/2014/main" id="{E7FCB302-6711-7661-651C-7F4CB1605C91}"/>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SPV or WB</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11" name="Google Shape;233;p26">
            <a:extLst>
              <a:ext uri="{FF2B5EF4-FFF2-40B4-BE49-F238E27FC236}">
                <a16:creationId xmlns:a16="http://schemas.microsoft.com/office/drawing/2014/main" id="{23F78598-C81B-C3A6-57AF-F4F1384FF8C0}"/>
              </a:ext>
            </a:extLst>
          </p:cNvPr>
          <p:cNvGrpSpPr/>
          <p:nvPr/>
        </p:nvGrpSpPr>
        <p:grpSpPr>
          <a:xfrm>
            <a:off x="7855527" y="1382570"/>
            <a:ext cx="1073728" cy="1295717"/>
            <a:chOff x="4432886" y="647329"/>
            <a:chExt cx="873020" cy="1052915"/>
          </a:xfrm>
        </p:grpSpPr>
        <p:sp>
          <p:nvSpPr>
            <p:cNvPr id="12" name="Google Shape;234;p26">
              <a:extLst>
                <a:ext uri="{FF2B5EF4-FFF2-40B4-BE49-F238E27FC236}">
                  <a16:creationId xmlns:a16="http://schemas.microsoft.com/office/drawing/2014/main" id="{19172850-CD93-0629-820A-DADE1EBD12FC}"/>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FFFFF"/>
                  </a:solidFill>
                  <a:effectLst/>
                  <a:uLnTx/>
                  <a:uFillTx/>
                  <a:latin typeface="Roboto"/>
                  <a:ea typeface="Roboto"/>
                  <a:cs typeface="Roboto"/>
                  <a:sym typeface="Roboto"/>
                </a:rPr>
                <a:t>Achieves KPI</a:t>
              </a:r>
              <a:endParaRPr kumimoji="0" sz="1000" b="0" i="0" u="none" strike="noStrike" kern="0" cap="none" spc="0" normalizeH="0" baseline="0" noProof="0">
                <a:ln>
                  <a:noFill/>
                </a:ln>
                <a:solidFill>
                  <a:srgbClr val="FFFFFF"/>
                </a:solidFill>
                <a:effectLst/>
                <a:uLnTx/>
                <a:uFillTx/>
                <a:latin typeface="Arial"/>
                <a:cs typeface="Arial"/>
                <a:sym typeface="Arial"/>
              </a:endParaRPr>
            </a:p>
          </p:txBody>
        </p:sp>
        <p:sp>
          <p:nvSpPr>
            <p:cNvPr id="13" name="Google Shape;235;p26">
              <a:extLst>
                <a:ext uri="{FF2B5EF4-FFF2-40B4-BE49-F238E27FC236}">
                  <a16:creationId xmlns:a16="http://schemas.microsoft.com/office/drawing/2014/main" id="{C65E950C-E9CB-4514-2BAF-1146735DE660}"/>
                </a:ext>
              </a:extLst>
            </p:cNvPr>
            <p:cNvSpPr/>
            <p:nvPr/>
          </p:nvSpPr>
          <p:spPr>
            <a:xfrm>
              <a:off x="4432886" y="647329"/>
              <a:ext cx="87302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Sovereign 1</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14" name="Google Shape;236;p26">
            <a:extLst>
              <a:ext uri="{FF2B5EF4-FFF2-40B4-BE49-F238E27FC236}">
                <a16:creationId xmlns:a16="http://schemas.microsoft.com/office/drawing/2014/main" id="{F5928925-377E-D0B5-71D2-402B23EDC091}"/>
              </a:ext>
            </a:extLst>
          </p:cNvPr>
          <p:cNvGrpSpPr/>
          <p:nvPr/>
        </p:nvGrpSpPr>
        <p:grpSpPr>
          <a:xfrm>
            <a:off x="3108419" y="2522975"/>
            <a:ext cx="1176007" cy="1220885"/>
            <a:chOff x="2465775" y="2422675"/>
            <a:chExt cx="1332300" cy="914658"/>
          </a:xfrm>
        </p:grpSpPr>
        <p:sp>
          <p:nvSpPr>
            <p:cNvPr id="15" name="Google Shape;237;p26">
              <a:extLst>
                <a:ext uri="{FF2B5EF4-FFF2-40B4-BE49-F238E27FC236}">
                  <a16:creationId xmlns:a16="http://schemas.microsoft.com/office/drawing/2014/main" id="{490E2C86-682B-EC96-7C62-22EF3B85C458}"/>
                </a:ext>
              </a:extLst>
            </p:cNvPr>
            <p:cNvSpPr/>
            <p:nvPr/>
          </p:nvSpPr>
          <p:spPr>
            <a:xfrm>
              <a:off x="2465775" y="2707674"/>
              <a:ext cx="1332300" cy="629659"/>
            </a:xfrm>
            <a:prstGeom prst="rect">
              <a:avLst/>
            </a:prstGeom>
            <a:solidFill>
              <a:schemeClr val="accent4"/>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1" i="0" u="none" strike="noStrike" kern="0" cap="none" spc="0" normalizeH="0" baseline="0" noProof="0">
                  <a:ln>
                    <a:noFill/>
                  </a:ln>
                  <a:solidFill>
                    <a:srgbClr val="FFFFFF"/>
                  </a:solidFill>
                  <a:effectLst/>
                  <a:uLnTx/>
                  <a:uFillTx/>
                  <a:latin typeface="Roboto"/>
                  <a:ea typeface="Roboto"/>
                  <a:cs typeface="Roboto"/>
                  <a:sym typeface="Roboto"/>
                </a:rPr>
                <a:t>Receives</a:t>
              </a:r>
              <a:r>
                <a:rPr kumimoji="0" lang="en" sz="1000" b="0" i="0" u="none" strike="noStrike" kern="0" cap="none" spc="0" normalizeH="0" baseline="0" noProof="0">
                  <a:ln>
                    <a:noFill/>
                  </a:ln>
                  <a:solidFill>
                    <a:srgbClr val="FFFFFF"/>
                  </a:solidFill>
                  <a:effectLst/>
                  <a:uLnTx/>
                  <a:uFillTx/>
                  <a:latin typeface="Roboto"/>
                  <a:ea typeface="Roboto"/>
                  <a:cs typeface="Roboto"/>
                  <a:sym typeface="Roboto"/>
                </a:rPr>
                <a:t> stable payment of coupon from SPV</a:t>
              </a:r>
              <a:endParaRPr kumimoji="0" sz="1000" b="0" i="0" u="none" strike="noStrike" kern="0" cap="none" spc="0" normalizeH="0" baseline="0" noProof="0">
                <a:ln>
                  <a:noFill/>
                </a:ln>
                <a:solidFill>
                  <a:srgbClr val="FFFFFF"/>
                </a:solidFill>
                <a:effectLst/>
                <a:uLnTx/>
                <a:uFillTx/>
                <a:latin typeface="Arial"/>
                <a:cs typeface="Arial"/>
                <a:sym typeface="Arial"/>
              </a:endParaRPr>
            </a:p>
          </p:txBody>
        </p:sp>
        <p:sp>
          <p:nvSpPr>
            <p:cNvPr id="16" name="Google Shape;238;p26">
              <a:extLst>
                <a:ext uri="{FF2B5EF4-FFF2-40B4-BE49-F238E27FC236}">
                  <a16:creationId xmlns:a16="http://schemas.microsoft.com/office/drawing/2014/main" id="{D1A98517-0668-0C13-AF6E-6B777E289284}"/>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FFFF"/>
                  </a:solidFill>
                  <a:effectLst/>
                  <a:uLnTx/>
                  <a:uFillTx/>
                  <a:latin typeface="Roboto"/>
                  <a:ea typeface="Roboto"/>
                  <a:cs typeface="Roboto"/>
                  <a:sym typeface="Roboto"/>
                </a:rPr>
                <a:t>Investor</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grpSp>
      <p:grpSp>
        <p:nvGrpSpPr>
          <p:cNvPr id="4" name="Google Shape;233;p26">
            <a:extLst>
              <a:ext uri="{FF2B5EF4-FFF2-40B4-BE49-F238E27FC236}">
                <a16:creationId xmlns:a16="http://schemas.microsoft.com/office/drawing/2014/main" id="{6C344702-7599-F974-CDD6-4F6BF24B5F27}"/>
              </a:ext>
            </a:extLst>
          </p:cNvPr>
          <p:cNvGrpSpPr/>
          <p:nvPr/>
        </p:nvGrpSpPr>
        <p:grpSpPr>
          <a:xfrm>
            <a:off x="7855528" y="3154425"/>
            <a:ext cx="1073727" cy="1295717"/>
            <a:chOff x="4432886" y="647329"/>
            <a:chExt cx="873019" cy="1052915"/>
          </a:xfrm>
        </p:grpSpPr>
        <p:sp>
          <p:nvSpPr>
            <p:cNvPr id="5" name="Google Shape;234;p26">
              <a:extLst>
                <a:ext uri="{FF2B5EF4-FFF2-40B4-BE49-F238E27FC236}">
                  <a16:creationId xmlns:a16="http://schemas.microsoft.com/office/drawing/2014/main" id="{836836A5-DF28-54B3-50B4-1E9ED31E0F65}"/>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Does not achieve KPI </a:t>
              </a:r>
            </a:p>
          </p:txBody>
        </p:sp>
        <p:sp>
          <p:nvSpPr>
            <p:cNvPr id="6" name="Google Shape;235;p26">
              <a:extLst>
                <a:ext uri="{FF2B5EF4-FFF2-40B4-BE49-F238E27FC236}">
                  <a16:creationId xmlns:a16="http://schemas.microsoft.com/office/drawing/2014/main" id="{6BA75934-F008-47EF-CA28-825610C3C554}"/>
                </a:ext>
              </a:extLst>
            </p:cNvPr>
            <p:cNvSpPr/>
            <p:nvPr/>
          </p:nvSpPr>
          <p:spPr>
            <a:xfrm>
              <a:off x="4432886" y="647329"/>
              <a:ext cx="873017"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Sovereign 2</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sp>
        <p:nvSpPr>
          <p:cNvPr id="7" name="Google Shape;251;p27">
            <a:extLst>
              <a:ext uri="{FF2B5EF4-FFF2-40B4-BE49-F238E27FC236}">
                <a16:creationId xmlns:a16="http://schemas.microsoft.com/office/drawing/2014/main" id="{E56A3200-81F4-6282-23E4-9A0CA27CBC50}"/>
              </a:ext>
            </a:extLst>
          </p:cNvPr>
          <p:cNvSpPr/>
          <p:nvPr/>
        </p:nvSpPr>
        <p:spPr>
          <a:xfrm rot="9036882">
            <a:off x="6499020" y="2478653"/>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23" name="Google Shape;251;p27">
            <a:extLst>
              <a:ext uri="{FF2B5EF4-FFF2-40B4-BE49-F238E27FC236}">
                <a16:creationId xmlns:a16="http://schemas.microsoft.com/office/drawing/2014/main" id="{0B6B40AB-1C67-4CED-98A6-6E1D2D9D6045}"/>
              </a:ext>
            </a:extLst>
          </p:cNvPr>
          <p:cNvSpPr/>
          <p:nvPr/>
        </p:nvSpPr>
        <p:spPr>
          <a:xfrm rot="12622189">
            <a:off x="6430128" y="3586555"/>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24" name="Google Shape;250;p27">
            <a:extLst>
              <a:ext uri="{FF2B5EF4-FFF2-40B4-BE49-F238E27FC236}">
                <a16:creationId xmlns:a16="http://schemas.microsoft.com/office/drawing/2014/main" id="{77CD7E4A-3740-A876-9850-BF0671336A6F}"/>
              </a:ext>
            </a:extLst>
          </p:cNvPr>
          <p:cNvSpPr txBox="1"/>
          <p:nvPr/>
        </p:nvSpPr>
        <p:spPr>
          <a:xfrm rot="19840705">
            <a:off x="6484710" y="2201041"/>
            <a:ext cx="1173621"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31394D"/>
                </a:solidFill>
                <a:effectLst/>
                <a:uLnTx/>
                <a:uFillTx/>
                <a:latin typeface="Roboto"/>
                <a:ea typeface="Roboto"/>
                <a:cs typeface="Roboto"/>
                <a:sym typeface="Roboto"/>
              </a:rPr>
              <a:t>Pays 5% p.a. </a:t>
            </a:r>
            <a:endParaRPr kumimoji="0" sz="1000" b="0" i="0" u="none" strike="noStrike" kern="0" cap="none" spc="0" normalizeH="0" baseline="0" noProof="0" dirty="0">
              <a:ln>
                <a:noFill/>
              </a:ln>
              <a:solidFill>
                <a:srgbClr val="31394D"/>
              </a:solidFill>
              <a:effectLst/>
              <a:uLnTx/>
              <a:uFillTx/>
              <a:latin typeface="Arial"/>
              <a:cs typeface="Arial"/>
              <a:sym typeface="Arial"/>
            </a:endParaRPr>
          </a:p>
        </p:txBody>
      </p:sp>
      <p:sp>
        <p:nvSpPr>
          <p:cNvPr id="26" name="Google Shape;250;p27">
            <a:extLst>
              <a:ext uri="{FF2B5EF4-FFF2-40B4-BE49-F238E27FC236}">
                <a16:creationId xmlns:a16="http://schemas.microsoft.com/office/drawing/2014/main" id="{B51516B3-93A2-D03C-3197-858BED84E142}"/>
              </a:ext>
            </a:extLst>
          </p:cNvPr>
          <p:cNvSpPr txBox="1"/>
          <p:nvPr/>
        </p:nvSpPr>
        <p:spPr>
          <a:xfrm rot="1762067">
            <a:off x="6600896" y="3329696"/>
            <a:ext cx="1173621"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31394D"/>
                </a:solidFill>
                <a:effectLst/>
                <a:uLnTx/>
                <a:uFillTx/>
                <a:latin typeface="Roboto"/>
                <a:ea typeface="Roboto"/>
                <a:cs typeface="Roboto"/>
                <a:sym typeface="Roboto"/>
              </a:rPr>
              <a:t>Pays 7% p.a. </a:t>
            </a:r>
            <a:endParaRPr kumimoji="0" sz="1000" b="0" i="0" u="none" strike="noStrike" kern="0" cap="none" spc="0" normalizeH="0" baseline="0" noProof="0">
              <a:ln>
                <a:noFill/>
              </a:ln>
              <a:solidFill>
                <a:srgbClr val="31394D"/>
              </a:solidFill>
              <a:effectLst/>
              <a:uLnTx/>
              <a:uFillTx/>
              <a:latin typeface="Arial"/>
              <a:cs typeface="Arial"/>
              <a:sym typeface="Arial"/>
            </a:endParaRPr>
          </a:p>
        </p:txBody>
      </p:sp>
      <p:sp>
        <p:nvSpPr>
          <p:cNvPr id="29" name="Google Shape;251;p27">
            <a:extLst>
              <a:ext uri="{FF2B5EF4-FFF2-40B4-BE49-F238E27FC236}">
                <a16:creationId xmlns:a16="http://schemas.microsoft.com/office/drawing/2014/main" id="{FDED149C-8A98-9A9F-991D-2D46CC76B45D}"/>
              </a:ext>
            </a:extLst>
          </p:cNvPr>
          <p:cNvSpPr/>
          <p:nvPr/>
        </p:nvSpPr>
        <p:spPr>
          <a:xfrm rot="10800000">
            <a:off x="4285394" y="3154425"/>
            <a:ext cx="858249"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30" name="Google Shape;250;p27">
            <a:extLst>
              <a:ext uri="{FF2B5EF4-FFF2-40B4-BE49-F238E27FC236}">
                <a16:creationId xmlns:a16="http://schemas.microsoft.com/office/drawing/2014/main" id="{1E1ED4DF-DEBD-C536-9E91-8E01C50FBEE3}"/>
              </a:ext>
            </a:extLst>
          </p:cNvPr>
          <p:cNvSpPr txBox="1"/>
          <p:nvPr/>
        </p:nvSpPr>
        <p:spPr>
          <a:xfrm rot="3823">
            <a:off x="4271085" y="2876706"/>
            <a:ext cx="975817"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31394D"/>
                </a:solidFill>
                <a:effectLst/>
                <a:uLnTx/>
                <a:uFillTx/>
                <a:latin typeface="Roboto"/>
                <a:ea typeface="Roboto"/>
                <a:cs typeface="Roboto"/>
                <a:sym typeface="Roboto"/>
              </a:rPr>
              <a:t>Pays 4% p.a. </a:t>
            </a:r>
            <a:endParaRPr kumimoji="0" sz="1000" b="0" i="0" u="none" strike="noStrike" kern="0" cap="none" spc="0" normalizeH="0" baseline="0" noProof="0">
              <a:ln>
                <a:noFill/>
              </a:ln>
              <a:solidFill>
                <a:srgbClr val="31394D"/>
              </a:solidFill>
              <a:effectLst/>
              <a:uLnTx/>
              <a:uFillTx/>
              <a:latin typeface="Arial"/>
              <a:cs typeface="Arial"/>
              <a:sym typeface="Arial"/>
            </a:endParaRPr>
          </a:p>
        </p:txBody>
      </p:sp>
    </p:spTree>
    <p:extLst>
      <p:ext uri="{BB962C8B-B14F-4D97-AF65-F5344CB8AC3E}">
        <p14:creationId xmlns:p14="http://schemas.microsoft.com/office/powerpoint/2010/main" val="238261624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88E2D76C-4BB5-C9D6-0327-F22B1CA81CDE}"/>
            </a:ext>
          </a:extLst>
        </p:cNvPr>
        <p:cNvGrpSpPr/>
        <p:nvPr/>
      </p:nvGrpSpPr>
      <p:grpSpPr>
        <a:xfrm>
          <a:off x="0" y="0"/>
          <a:ext cx="0" cy="0"/>
          <a:chOff x="0" y="0"/>
          <a:chExt cx="0" cy="0"/>
        </a:xfrm>
      </p:grpSpPr>
      <p:sp>
        <p:nvSpPr>
          <p:cNvPr id="317" name="Google Shape;317;p33">
            <a:extLst>
              <a:ext uri="{FF2B5EF4-FFF2-40B4-BE49-F238E27FC236}">
                <a16:creationId xmlns:a16="http://schemas.microsoft.com/office/drawing/2014/main" id="{31BC723C-9BD2-98D7-A391-0B8604C953F2}"/>
              </a:ext>
            </a:extLst>
          </p:cNvPr>
          <p:cNvSpPr txBox="1">
            <a:spLocks noGrp="1"/>
          </p:cNvSpPr>
          <p:nvPr>
            <p:ph type="body" sz="quarter" idx="11"/>
          </p:nvPr>
        </p:nvSpPr>
        <p:spPr>
          <a:xfrm>
            <a:off x="293300" y="1445455"/>
            <a:ext cx="2650791" cy="3375927"/>
          </a:xfrm>
          <a:prstGeom prst="rect">
            <a:avLst/>
          </a:prstGeom>
        </p:spPr>
        <p:txBody>
          <a:bodyPr spcFirstLastPara="1" wrap="square" lIns="91425" tIns="91425" rIns="91425" bIns="91425" anchor="t" anchorCtr="0">
            <a:noAutofit/>
          </a:bodyPr>
          <a:lstStyle/>
          <a:p>
            <a:pPr marL="0" indent="0">
              <a:lnSpc>
                <a:spcPct val="150000"/>
              </a:lnSpc>
              <a:buNone/>
            </a:pPr>
            <a:r>
              <a:rPr lang="en-US" sz="1400" b="1" dirty="0">
                <a:solidFill>
                  <a:schemeClr val="accent4"/>
                </a:solidFill>
              </a:rPr>
              <a:t>SLIDIs would consist of two components</a:t>
            </a:r>
            <a:r>
              <a:rPr lang="en" sz="1400" b="1" dirty="0">
                <a:solidFill>
                  <a:schemeClr val="accent4"/>
                </a:solidFill>
              </a:rPr>
              <a:t>:</a:t>
            </a:r>
          </a:p>
          <a:p>
            <a:pPr marL="285750" indent="-285750">
              <a:lnSpc>
                <a:spcPct val="150000"/>
              </a:lnSpc>
              <a:buFont typeface="+mj-lt"/>
              <a:buAutoNum type="arabicPeriod"/>
            </a:pPr>
            <a:r>
              <a:rPr lang="en-US" sz="1200" dirty="0">
                <a:solidFill>
                  <a:srgbClr val="002F4A"/>
                </a:solidFill>
              </a:rPr>
              <a:t>Standard sovereign bonds with fixed coupons, but tagged ‘green’ (because of second component…)</a:t>
            </a:r>
          </a:p>
          <a:p>
            <a:pPr marL="285750" indent="-285750">
              <a:lnSpc>
                <a:spcPct val="150000"/>
              </a:lnSpc>
              <a:buFont typeface="+mj-lt"/>
              <a:buAutoNum type="arabicPeriod"/>
            </a:pPr>
            <a:r>
              <a:rPr lang="en-US" sz="1200" dirty="0">
                <a:solidFill>
                  <a:srgbClr val="002F4A"/>
                </a:solidFill>
              </a:rPr>
              <a:t>WB payments conditional on a) achievement of KPIs and b) sufficient private sector interest in the first component</a:t>
            </a:r>
          </a:p>
          <a:p>
            <a:pPr marL="285750" indent="-285750">
              <a:lnSpc>
                <a:spcPct val="150000"/>
              </a:lnSpc>
              <a:buFont typeface="+mj-lt"/>
              <a:buAutoNum type="arabicPeriod"/>
            </a:pPr>
            <a:endParaRPr lang="en-US" sz="1200" dirty="0">
              <a:solidFill>
                <a:srgbClr val="002F4A"/>
              </a:solidFill>
            </a:endParaRPr>
          </a:p>
        </p:txBody>
      </p:sp>
      <p:sp>
        <p:nvSpPr>
          <p:cNvPr id="3" name="Subtitle 2">
            <a:extLst>
              <a:ext uri="{FF2B5EF4-FFF2-40B4-BE49-F238E27FC236}">
                <a16:creationId xmlns:a16="http://schemas.microsoft.com/office/drawing/2014/main" id="{934D4685-0435-B7D7-A875-DED68C183999}"/>
              </a:ext>
            </a:extLst>
          </p:cNvPr>
          <p:cNvSpPr>
            <a:spLocks noGrp="1"/>
          </p:cNvSpPr>
          <p:nvPr>
            <p:ph type="subTitle" idx="1"/>
          </p:nvPr>
        </p:nvSpPr>
        <p:spPr/>
        <p:txBody>
          <a:bodyPr>
            <a:normAutofit fontScale="92500" lnSpcReduction="20000"/>
          </a:bodyPr>
          <a:lstStyle/>
          <a:p>
            <a:r>
              <a:rPr lang="en"/>
              <a:t>How To Implement </a:t>
            </a:r>
            <a:r>
              <a:rPr lang="en-US"/>
              <a:t>SLIDIs</a:t>
            </a:r>
            <a:r>
              <a:rPr lang="en"/>
              <a:t>: Option Two – Trusted Intermediary</a:t>
            </a:r>
          </a:p>
          <a:p>
            <a:endParaRPr lang="en-US"/>
          </a:p>
        </p:txBody>
      </p:sp>
      <p:grpSp>
        <p:nvGrpSpPr>
          <p:cNvPr id="8" name="Google Shape;230;p26">
            <a:extLst>
              <a:ext uri="{FF2B5EF4-FFF2-40B4-BE49-F238E27FC236}">
                <a16:creationId xmlns:a16="http://schemas.microsoft.com/office/drawing/2014/main" id="{B07A8872-3874-373C-E702-D8A8C4FEDE7D}"/>
              </a:ext>
            </a:extLst>
          </p:cNvPr>
          <p:cNvGrpSpPr/>
          <p:nvPr/>
        </p:nvGrpSpPr>
        <p:grpSpPr>
          <a:xfrm>
            <a:off x="5144611" y="2543982"/>
            <a:ext cx="1332390" cy="1220886"/>
            <a:chOff x="5040038" y="2459523"/>
            <a:chExt cx="1718739" cy="966655"/>
          </a:xfrm>
        </p:grpSpPr>
        <p:sp>
          <p:nvSpPr>
            <p:cNvPr id="9" name="Google Shape;231;p26">
              <a:extLst>
                <a:ext uri="{FF2B5EF4-FFF2-40B4-BE49-F238E27FC236}">
                  <a16:creationId xmlns:a16="http://schemas.microsoft.com/office/drawing/2014/main" id="{F51CD341-7FC2-BE14-967D-4E506F7475A9}"/>
                </a:ext>
              </a:extLst>
            </p:cNvPr>
            <p:cNvSpPr/>
            <p:nvPr/>
          </p:nvSpPr>
          <p:spPr>
            <a:xfrm>
              <a:off x="5040038" y="2707678"/>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US" sz="1000" dirty="0">
                  <a:solidFill>
                    <a:srgbClr val="FFFFFF"/>
                  </a:solidFill>
                </a:rPr>
                <a:t>Borrows at AAA financing rate thanks to guarantees. Receives 5-7%</a:t>
              </a:r>
              <a:endParaRPr sz="1000" dirty="0">
                <a:solidFill>
                  <a:srgbClr val="FFFFFF"/>
                </a:solidFill>
              </a:endParaRPr>
            </a:p>
          </p:txBody>
        </p:sp>
        <p:sp>
          <p:nvSpPr>
            <p:cNvPr id="10" name="Google Shape;232;p26">
              <a:extLst>
                <a:ext uri="{FF2B5EF4-FFF2-40B4-BE49-F238E27FC236}">
                  <a16:creationId xmlns:a16="http://schemas.microsoft.com/office/drawing/2014/main" id="{E7FCB302-6711-7661-651C-7F4CB1605C91}"/>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SPV or WB</a:t>
              </a:r>
              <a:endParaRPr sz="1200">
                <a:solidFill>
                  <a:srgbClr val="FFFFFF"/>
                </a:solidFill>
              </a:endParaRPr>
            </a:p>
          </p:txBody>
        </p:sp>
      </p:grpSp>
      <p:grpSp>
        <p:nvGrpSpPr>
          <p:cNvPr id="11" name="Google Shape;233;p26">
            <a:extLst>
              <a:ext uri="{FF2B5EF4-FFF2-40B4-BE49-F238E27FC236}">
                <a16:creationId xmlns:a16="http://schemas.microsoft.com/office/drawing/2014/main" id="{23F78598-C81B-C3A6-57AF-F4F1384FF8C0}"/>
              </a:ext>
            </a:extLst>
          </p:cNvPr>
          <p:cNvGrpSpPr/>
          <p:nvPr/>
        </p:nvGrpSpPr>
        <p:grpSpPr>
          <a:xfrm>
            <a:off x="7855527" y="1382570"/>
            <a:ext cx="1073728" cy="1295717"/>
            <a:chOff x="4432886" y="647329"/>
            <a:chExt cx="873020" cy="1052915"/>
          </a:xfrm>
        </p:grpSpPr>
        <p:sp>
          <p:nvSpPr>
            <p:cNvPr id="12" name="Google Shape;234;p26">
              <a:extLst>
                <a:ext uri="{FF2B5EF4-FFF2-40B4-BE49-F238E27FC236}">
                  <a16:creationId xmlns:a16="http://schemas.microsoft.com/office/drawing/2014/main" id="{19172850-CD93-0629-820A-DADE1EBD12FC}"/>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Achieves KPI</a:t>
              </a:r>
              <a:endParaRPr sz="1000">
                <a:solidFill>
                  <a:srgbClr val="FFFFFF"/>
                </a:solidFill>
              </a:endParaRPr>
            </a:p>
          </p:txBody>
        </p:sp>
        <p:sp>
          <p:nvSpPr>
            <p:cNvPr id="13" name="Google Shape;235;p26">
              <a:extLst>
                <a:ext uri="{FF2B5EF4-FFF2-40B4-BE49-F238E27FC236}">
                  <a16:creationId xmlns:a16="http://schemas.microsoft.com/office/drawing/2014/main" id="{C65E950C-E9CB-4514-2BAF-1146735DE660}"/>
                </a:ext>
              </a:extLst>
            </p:cNvPr>
            <p:cNvSpPr/>
            <p:nvPr/>
          </p:nvSpPr>
          <p:spPr>
            <a:xfrm>
              <a:off x="4432886" y="647329"/>
              <a:ext cx="87302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 1</a:t>
              </a:r>
              <a:endParaRPr sz="1200">
                <a:solidFill>
                  <a:srgbClr val="FFFFFF"/>
                </a:solidFill>
              </a:endParaRPr>
            </a:p>
          </p:txBody>
        </p:sp>
      </p:grpSp>
      <p:grpSp>
        <p:nvGrpSpPr>
          <p:cNvPr id="14" name="Google Shape;236;p26">
            <a:extLst>
              <a:ext uri="{FF2B5EF4-FFF2-40B4-BE49-F238E27FC236}">
                <a16:creationId xmlns:a16="http://schemas.microsoft.com/office/drawing/2014/main" id="{F5928925-377E-D0B5-71D2-402B23EDC091}"/>
              </a:ext>
            </a:extLst>
          </p:cNvPr>
          <p:cNvGrpSpPr/>
          <p:nvPr/>
        </p:nvGrpSpPr>
        <p:grpSpPr>
          <a:xfrm>
            <a:off x="3108419" y="2522975"/>
            <a:ext cx="1176007" cy="1220885"/>
            <a:chOff x="2465775" y="2422675"/>
            <a:chExt cx="1332300" cy="914658"/>
          </a:xfrm>
        </p:grpSpPr>
        <p:sp>
          <p:nvSpPr>
            <p:cNvPr id="15" name="Google Shape;237;p26">
              <a:extLst>
                <a:ext uri="{FF2B5EF4-FFF2-40B4-BE49-F238E27FC236}">
                  <a16:creationId xmlns:a16="http://schemas.microsoft.com/office/drawing/2014/main" id="{490E2C86-682B-EC96-7C62-22EF3B85C458}"/>
                </a:ext>
              </a:extLst>
            </p:cNvPr>
            <p:cNvSpPr/>
            <p:nvPr/>
          </p:nvSpPr>
          <p:spPr>
            <a:xfrm>
              <a:off x="2465775" y="2707674"/>
              <a:ext cx="1332300" cy="629659"/>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FFFF"/>
                  </a:solidFill>
                  <a:latin typeface="Roboto"/>
                  <a:ea typeface="Roboto"/>
                  <a:cs typeface="Roboto"/>
                  <a:sym typeface="Roboto"/>
                </a:rPr>
                <a:t>Receives</a:t>
              </a:r>
              <a:r>
                <a:rPr lang="en" sz="1000">
                  <a:solidFill>
                    <a:srgbClr val="FFFFFF"/>
                  </a:solidFill>
                  <a:latin typeface="Roboto"/>
                  <a:ea typeface="Roboto"/>
                  <a:cs typeface="Roboto"/>
                  <a:sym typeface="Roboto"/>
                </a:rPr>
                <a:t> stable payment of coupon from SPV</a:t>
              </a:r>
              <a:endParaRPr sz="1000">
                <a:solidFill>
                  <a:srgbClr val="FFFFFF"/>
                </a:solidFill>
              </a:endParaRPr>
            </a:p>
          </p:txBody>
        </p:sp>
        <p:sp>
          <p:nvSpPr>
            <p:cNvPr id="16" name="Google Shape;238;p26">
              <a:extLst>
                <a:ext uri="{FF2B5EF4-FFF2-40B4-BE49-F238E27FC236}">
                  <a16:creationId xmlns:a16="http://schemas.microsoft.com/office/drawing/2014/main" id="{D1A98517-0668-0C13-AF6E-6B777E289284}"/>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rgbClr val="FFFFFF"/>
                  </a:solidFill>
                  <a:latin typeface="Roboto"/>
                  <a:ea typeface="Roboto"/>
                  <a:cs typeface="Roboto"/>
                  <a:sym typeface="Roboto"/>
                </a:rPr>
                <a:t>Investor</a:t>
              </a:r>
              <a:endParaRPr sz="1200" dirty="0">
                <a:solidFill>
                  <a:srgbClr val="FFFFFF"/>
                </a:solidFill>
              </a:endParaRPr>
            </a:p>
          </p:txBody>
        </p:sp>
      </p:grpSp>
      <p:grpSp>
        <p:nvGrpSpPr>
          <p:cNvPr id="4" name="Google Shape;233;p26">
            <a:extLst>
              <a:ext uri="{FF2B5EF4-FFF2-40B4-BE49-F238E27FC236}">
                <a16:creationId xmlns:a16="http://schemas.microsoft.com/office/drawing/2014/main" id="{6C344702-7599-F974-CDD6-4F6BF24B5F27}"/>
              </a:ext>
            </a:extLst>
          </p:cNvPr>
          <p:cNvGrpSpPr/>
          <p:nvPr/>
        </p:nvGrpSpPr>
        <p:grpSpPr>
          <a:xfrm>
            <a:off x="7855528" y="3154425"/>
            <a:ext cx="1073727" cy="1295717"/>
            <a:chOff x="4432886" y="647329"/>
            <a:chExt cx="873019" cy="1052915"/>
          </a:xfrm>
        </p:grpSpPr>
        <p:sp>
          <p:nvSpPr>
            <p:cNvPr id="5" name="Google Shape;234;p26">
              <a:extLst>
                <a:ext uri="{FF2B5EF4-FFF2-40B4-BE49-F238E27FC236}">
                  <a16:creationId xmlns:a16="http://schemas.microsoft.com/office/drawing/2014/main" id="{836836A5-DF28-54B3-50B4-1E9ED31E0F65}"/>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r>
                <a:rPr lang="en-US" sz="1000" dirty="0">
                  <a:solidFill>
                    <a:srgbClr val="FFFFFF"/>
                  </a:solidFill>
                </a:rPr>
                <a:t>Does not achieve KPI </a:t>
              </a:r>
            </a:p>
          </p:txBody>
        </p:sp>
        <p:sp>
          <p:nvSpPr>
            <p:cNvPr id="6" name="Google Shape;235;p26">
              <a:extLst>
                <a:ext uri="{FF2B5EF4-FFF2-40B4-BE49-F238E27FC236}">
                  <a16:creationId xmlns:a16="http://schemas.microsoft.com/office/drawing/2014/main" id="{6BA75934-F008-47EF-CA28-825610C3C554}"/>
                </a:ext>
              </a:extLst>
            </p:cNvPr>
            <p:cNvSpPr/>
            <p:nvPr/>
          </p:nvSpPr>
          <p:spPr>
            <a:xfrm>
              <a:off x="4432886" y="647329"/>
              <a:ext cx="873017"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 2</a:t>
              </a:r>
              <a:endParaRPr sz="1200">
                <a:solidFill>
                  <a:srgbClr val="FFFFFF"/>
                </a:solidFill>
              </a:endParaRPr>
            </a:p>
          </p:txBody>
        </p:sp>
      </p:grpSp>
      <p:sp>
        <p:nvSpPr>
          <p:cNvPr id="7" name="Google Shape;251;p27">
            <a:extLst>
              <a:ext uri="{FF2B5EF4-FFF2-40B4-BE49-F238E27FC236}">
                <a16:creationId xmlns:a16="http://schemas.microsoft.com/office/drawing/2014/main" id="{E56A3200-81F4-6282-23E4-9A0CA27CBC50}"/>
              </a:ext>
            </a:extLst>
          </p:cNvPr>
          <p:cNvSpPr/>
          <p:nvPr/>
        </p:nvSpPr>
        <p:spPr>
          <a:xfrm rot="9036882">
            <a:off x="6499020" y="2478653"/>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3" name="Google Shape;251;p27">
            <a:extLst>
              <a:ext uri="{FF2B5EF4-FFF2-40B4-BE49-F238E27FC236}">
                <a16:creationId xmlns:a16="http://schemas.microsoft.com/office/drawing/2014/main" id="{0B6B40AB-1C67-4CED-98A6-6E1D2D9D6045}"/>
              </a:ext>
            </a:extLst>
          </p:cNvPr>
          <p:cNvSpPr/>
          <p:nvPr/>
        </p:nvSpPr>
        <p:spPr>
          <a:xfrm rot="12622189">
            <a:off x="6430128" y="3586555"/>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4" name="Google Shape;250;p27">
            <a:extLst>
              <a:ext uri="{FF2B5EF4-FFF2-40B4-BE49-F238E27FC236}">
                <a16:creationId xmlns:a16="http://schemas.microsoft.com/office/drawing/2014/main" id="{77CD7E4A-3740-A876-9850-BF0671336A6F}"/>
              </a:ext>
            </a:extLst>
          </p:cNvPr>
          <p:cNvSpPr txBox="1"/>
          <p:nvPr/>
        </p:nvSpPr>
        <p:spPr>
          <a:xfrm rot="19840705">
            <a:off x="6484710" y="2201041"/>
            <a:ext cx="1173621" cy="338524"/>
          </a:xfrm>
          <a:prstGeom prst="rect">
            <a:avLst/>
          </a:prstGeom>
          <a:noFill/>
          <a:ln>
            <a:noFill/>
          </a:ln>
        </p:spPr>
        <p:txBody>
          <a:bodyPr spcFirstLastPara="1" wrap="square" lIns="91425" tIns="91425" rIns="91425" bIns="91425" anchor="t" anchorCtr="0">
            <a:spAutoFit/>
          </a:bodyPr>
          <a:lstStyle/>
          <a:p>
            <a:pPr algn="ctr"/>
            <a:r>
              <a:rPr lang="en" sz="1000" dirty="0">
                <a:solidFill>
                  <a:schemeClr val="dk1"/>
                </a:solidFill>
                <a:latin typeface="Roboto"/>
                <a:ea typeface="Roboto"/>
                <a:cs typeface="Roboto"/>
                <a:sym typeface="Roboto"/>
              </a:rPr>
              <a:t>Pays 5% p.a. </a:t>
            </a:r>
            <a:endParaRPr sz="1000" dirty="0">
              <a:solidFill>
                <a:schemeClr val="dk1"/>
              </a:solidFill>
            </a:endParaRPr>
          </a:p>
        </p:txBody>
      </p:sp>
      <p:sp>
        <p:nvSpPr>
          <p:cNvPr id="26" name="Google Shape;250;p27">
            <a:extLst>
              <a:ext uri="{FF2B5EF4-FFF2-40B4-BE49-F238E27FC236}">
                <a16:creationId xmlns:a16="http://schemas.microsoft.com/office/drawing/2014/main" id="{B51516B3-93A2-D03C-3197-858BED84E142}"/>
              </a:ext>
            </a:extLst>
          </p:cNvPr>
          <p:cNvSpPr txBox="1"/>
          <p:nvPr/>
        </p:nvSpPr>
        <p:spPr>
          <a:xfrm rot="1762067">
            <a:off x="6600896" y="3329696"/>
            <a:ext cx="1173621" cy="338524"/>
          </a:xfrm>
          <a:prstGeom prst="rect">
            <a:avLst/>
          </a:prstGeom>
          <a:noFill/>
          <a:ln>
            <a:noFill/>
          </a:ln>
        </p:spPr>
        <p:txBody>
          <a:bodyPr spcFirstLastPara="1" wrap="square" lIns="91425" tIns="91425" rIns="91425" bIns="91425" anchor="t" anchorCtr="0">
            <a:spAutoFit/>
          </a:bodyPr>
          <a:lstStyle/>
          <a:p>
            <a:pPr algn="ctr"/>
            <a:r>
              <a:rPr lang="en" sz="1000">
                <a:solidFill>
                  <a:schemeClr val="dk1"/>
                </a:solidFill>
                <a:latin typeface="Roboto"/>
                <a:ea typeface="Roboto"/>
                <a:cs typeface="Roboto"/>
                <a:sym typeface="Roboto"/>
              </a:rPr>
              <a:t>Pays 7% p.a. </a:t>
            </a:r>
            <a:endParaRPr sz="1000">
              <a:solidFill>
                <a:schemeClr val="dk1"/>
              </a:solidFill>
            </a:endParaRPr>
          </a:p>
        </p:txBody>
      </p:sp>
      <p:sp>
        <p:nvSpPr>
          <p:cNvPr id="29" name="Google Shape;251;p27">
            <a:extLst>
              <a:ext uri="{FF2B5EF4-FFF2-40B4-BE49-F238E27FC236}">
                <a16:creationId xmlns:a16="http://schemas.microsoft.com/office/drawing/2014/main" id="{FDED149C-8A98-9A9F-991D-2D46CC76B45D}"/>
              </a:ext>
            </a:extLst>
          </p:cNvPr>
          <p:cNvSpPr/>
          <p:nvPr/>
        </p:nvSpPr>
        <p:spPr>
          <a:xfrm rot="10800000">
            <a:off x="4285394" y="3154425"/>
            <a:ext cx="858249"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0" name="Google Shape;250;p27">
            <a:extLst>
              <a:ext uri="{FF2B5EF4-FFF2-40B4-BE49-F238E27FC236}">
                <a16:creationId xmlns:a16="http://schemas.microsoft.com/office/drawing/2014/main" id="{1E1ED4DF-DEBD-C536-9E91-8E01C50FBEE3}"/>
              </a:ext>
            </a:extLst>
          </p:cNvPr>
          <p:cNvSpPr txBox="1"/>
          <p:nvPr/>
        </p:nvSpPr>
        <p:spPr>
          <a:xfrm rot="3823">
            <a:off x="4271085" y="2876706"/>
            <a:ext cx="975817" cy="338524"/>
          </a:xfrm>
          <a:prstGeom prst="rect">
            <a:avLst/>
          </a:prstGeom>
          <a:noFill/>
          <a:ln>
            <a:noFill/>
          </a:ln>
        </p:spPr>
        <p:txBody>
          <a:bodyPr spcFirstLastPara="1" wrap="square" lIns="91425" tIns="91425" rIns="91425" bIns="91425" anchor="t" anchorCtr="0">
            <a:spAutoFit/>
          </a:bodyPr>
          <a:lstStyle/>
          <a:p>
            <a:pPr algn="ctr"/>
            <a:r>
              <a:rPr lang="en" sz="1000">
                <a:solidFill>
                  <a:schemeClr val="dk1"/>
                </a:solidFill>
                <a:latin typeface="Roboto"/>
                <a:ea typeface="Roboto"/>
                <a:cs typeface="Roboto"/>
                <a:sym typeface="Roboto"/>
              </a:rPr>
              <a:t>Pays 4% p.a. </a:t>
            </a:r>
            <a:endParaRPr sz="1000">
              <a:solidFill>
                <a:schemeClr val="dk1"/>
              </a:solidFill>
            </a:endParaRPr>
          </a:p>
        </p:txBody>
      </p:sp>
    </p:spTree>
    <p:extLst>
      <p:ext uri="{BB962C8B-B14F-4D97-AF65-F5344CB8AC3E}">
        <p14:creationId xmlns:p14="http://schemas.microsoft.com/office/powerpoint/2010/main" val="8387001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4B9CEE40-C7ED-5F57-AD3D-60F4A50F2F3C}"/>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AE9BF3A1-8884-4D4A-29B3-AEDABE3795A1}"/>
              </a:ext>
            </a:extLst>
          </p:cNvPr>
          <p:cNvSpPr>
            <a:spLocks noGrp="1"/>
          </p:cNvSpPr>
          <p:nvPr>
            <p:ph type="subTitle" idx="1"/>
          </p:nvPr>
        </p:nvSpPr>
        <p:spPr>
          <a:xfrm>
            <a:off x="3318782" y="3951791"/>
            <a:ext cx="5825218" cy="794828"/>
          </a:xfrm>
        </p:spPr>
        <p:txBody>
          <a:bodyPr>
            <a:normAutofit fontScale="77500" lnSpcReduction="20000"/>
          </a:bodyPr>
          <a:lstStyle/>
          <a:p>
            <a:pPr lvl="0"/>
            <a:r>
              <a:rPr lang="en-US"/>
              <a:t>Implementing SLIDIs</a:t>
            </a:r>
          </a:p>
          <a:p>
            <a:r>
              <a:rPr lang="en-US">
                <a:latin typeface="Merriweather"/>
              </a:rPr>
              <a:t>Options Summary</a:t>
            </a:r>
            <a:endParaRPr lang="en-US"/>
          </a:p>
        </p:txBody>
      </p:sp>
    </p:spTree>
    <p:extLst>
      <p:ext uri="{BB962C8B-B14F-4D97-AF65-F5344CB8AC3E}">
        <p14:creationId xmlns:p14="http://schemas.microsoft.com/office/powerpoint/2010/main" val="43701847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CA4F28F8-3E12-B610-DAEA-CCFE664E9ABB}"/>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A1304680-3F5D-CB03-186E-516B16E15090}"/>
              </a:ext>
            </a:extLst>
          </p:cNvPr>
          <p:cNvSpPr>
            <a:spLocks noGrp="1"/>
          </p:cNvSpPr>
          <p:nvPr>
            <p:ph type="body" sz="quarter" idx="11"/>
          </p:nvPr>
        </p:nvSpPr>
        <p:spPr/>
        <p:txBody>
          <a:bodyPr/>
          <a:lstStyle/>
          <a:p>
            <a:pPr marL="285750" indent="-285750">
              <a:lnSpc>
                <a:spcPct val="160000"/>
              </a:lnSpc>
              <a:buClr>
                <a:schemeClr val="accent1"/>
              </a:buClr>
              <a:buSzPts val="1200"/>
              <a:buFont typeface="Arial" panose="020B0604020202020204" pitchFamily="34" charset="0"/>
              <a:buChar char="•"/>
            </a:pP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Two potential models ('Subsidy' and 'Intermediary’).</a:t>
            </a:r>
          </a:p>
          <a:p>
            <a:pPr marL="842963" lvl="1" indent="-285750">
              <a:lnSpc>
                <a:spcPct val="160000"/>
              </a:lnSpc>
              <a:buClr>
                <a:schemeClr val="accent1"/>
              </a:buClr>
              <a:buSzPts val="1200"/>
            </a:pPr>
            <a:r>
              <a:rPr lang="en" sz="1450" b="1" dirty="0">
                <a:solidFill>
                  <a:srgbClr val="B85741"/>
                </a:solidFill>
                <a:latin typeface="Roboto" panose="02000000000000000000" pitchFamily="2" charset="0"/>
                <a:ea typeface="Roboto" panose="02000000000000000000" pitchFamily="2" charset="0"/>
                <a:cs typeface="Roboto" panose="02000000000000000000" pitchFamily="2" charset="0"/>
              </a:rPr>
              <a:t>Subsidy</a:t>
            </a:r>
            <a:r>
              <a:rPr lang="en" sz="1450" dirty="0">
                <a:solidFill>
                  <a:srgbClr val="002F4A"/>
                </a:solidFill>
                <a:latin typeface="Roboto" panose="02000000000000000000" pitchFamily="2" charset="0"/>
                <a:ea typeface="Roboto" panose="02000000000000000000" pitchFamily="2" charset="0"/>
                <a:cs typeface="Roboto" panose="02000000000000000000" pitchFamily="2" charset="0"/>
              </a:rPr>
              <a:t> needs a source of funding</a:t>
            </a:r>
          </a:p>
          <a:p>
            <a:pPr marL="842963" lvl="1" indent="-285750">
              <a:lnSpc>
                <a:spcPct val="160000"/>
              </a:lnSpc>
              <a:buClr>
                <a:schemeClr val="accent1"/>
              </a:buClr>
              <a:buSzPts val="1200"/>
            </a:pPr>
            <a:r>
              <a:rPr lang="en" sz="1450" b="1" dirty="0">
                <a:solidFill>
                  <a:srgbClr val="B85741"/>
                </a:solidFill>
                <a:latin typeface="Roboto" panose="02000000000000000000" pitchFamily="2" charset="0"/>
                <a:ea typeface="Roboto" panose="02000000000000000000" pitchFamily="2" charset="0"/>
                <a:cs typeface="Roboto" panose="02000000000000000000" pitchFamily="2" charset="0"/>
              </a:rPr>
              <a:t>Intermediary model</a:t>
            </a:r>
            <a:r>
              <a:rPr lang="en" sz="1450" b="1" dirty="0">
                <a:solidFill>
                  <a:srgbClr val="002F4A"/>
                </a:solidFill>
                <a:latin typeface="Roboto" panose="02000000000000000000" pitchFamily="2" charset="0"/>
                <a:ea typeface="Roboto" panose="02000000000000000000" pitchFamily="2" charset="0"/>
                <a:cs typeface="Roboto" panose="02000000000000000000" pitchFamily="2" charset="0"/>
              </a:rPr>
              <a:t> </a:t>
            </a:r>
            <a:r>
              <a:rPr lang="en" sz="1450" dirty="0">
                <a:solidFill>
                  <a:srgbClr val="002F4A"/>
                </a:solidFill>
                <a:latin typeface="Roboto" panose="02000000000000000000" pitchFamily="2" charset="0"/>
                <a:ea typeface="Roboto" panose="02000000000000000000" pitchFamily="2" charset="0"/>
                <a:cs typeface="Roboto" panose="02000000000000000000" pitchFamily="2" charset="0"/>
              </a:rPr>
              <a:t>relies on low credit risk from intermediary and guarantees</a:t>
            </a:r>
          </a:p>
          <a:p>
            <a:pPr marL="285750" indent="-285750">
              <a:lnSpc>
                <a:spcPct val="160000"/>
              </a:lnSpc>
              <a:buClr>
                <a:schemeClr val="accent1"/>
              </a:buClr>
              <a:buSzPts val="1200"/>
              <a:buFont typeface="Arial" panose="020B0604020202020204" pitchFamily="34" charset="0"/>
              <a:buChar char="•"/>
            </a:pPr>
            <a:r>
              <a:rPr lang="en-GB" sz="1600" dirty="0">
                <a:solidFill>
                  <a:srgbClr val="002F4A"/>
                </a:solidFill>
                <a:latin typeface="Roboto" panose="02000000000000000000" pitchFamily="2" charset="0"/>
                <a:ea typeface="Roboto" panose="02000000000000000000" pitchFamily="2" charset="0"/>
                <a:cs typeface="Roboto" panose="02000000000000000000" pitchFamily="2" charset="0"/>
              </a:rPr>
              <a:t>P</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rimary operational focus is on a de-risked fund managed by WB or another MLDB as intermediary</a:t>
            </a:r>
          </a:p>
          <a:p>
            <a:pPr marL="285750" indent="-285750">
              <a:lnSpc>
                <a:spcPct val="160000"/>
              </a:lnSpc>
              <a:buClr>
                <a:schemeClr val="accent1"/>
              </a:buClr>
              <a:buSzPts val="1200"/>
              <a:buFont typeface="Arial" panose="020B0604020202020204" pitchFamily="34" charset="0"/>
              <a:buChar char="•"/>
            </a:pP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Cooperation with </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development agency partners </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(e.g. GiZ, AFD) can improve effectiveness</a:t>
            </a:r>
          </a:p>
          <a:p>
            <a:pPr marL="285750" indent="-285750">
              <a:lnSpc>
                <a:spcPct val="160000"/>
              </a:lnSpc>
              <a:buClr>
                <a:schemeClr val="accent1"/>
              </a:buClr>
              <a:buSzPts val="1200"/>
              <a:buFont typeface="Arial" panose="020B0604020202020204" pitchFamily="34" charset="0"/>
              <a:buChar char="•"/>
            </a:pP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Additional features </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to maximize private sector demand </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can be added to basic </a:t>
            </a:r>
            <a:r>
              <a:rPr lang="en-US" sz="1600" dirty="0">
                <a:solidFill>
                  <a:srgbClr val="002F4A"/>
                </a:solidFill>
                <a:latin typeface="Roboto" panose="02000000000000000000" pitchFamily="2" charset="0"/>
                <a:ea typeface="Roboto" panose="02000000000000000000" pitchFamily="2" charset="0"/>
                <a:cs typeface="Roboto" panose="02000000000000000000" pitchFamily="2" charset="0"/>
              </a:rPr>
              <a:t>SLIDI</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 design</a:t>
            </a:r>
            <a:endParaRPr lang="en-US" dirty="0"/>
          </a:p>
        </p:txBody>
      </p:sp>
      <p:sp>
        <p:nvSpPr>
          <p:cNvPr id="229" name="Google Shape;229;p26">
            <a:extLst>
              <a:ext uri="{FF2B5EF4-FFF2-40B4-BE49-F238E27FC236}">
                <a16:creationId xmlns:a16="http://schemas.microsoft.com/office/drawing/2014/main" id="{A1DE46E1-D172-1DF6-7093-F9415C6D6862}"/>
              </a:ext>
            </a:extLst>
          </p:cNvPr>
          <p:cNvSpPr txBox="1">
            <a:spLocks noGrp="1"/>
          </p:cNvSpPr>
          <p:nvPr>
            <p:ph type="subTitle" idx="1"/>
          </p:nvPr>
        </p:nvSpPr>
        <p:spPr/>
        <p:txBody>
          <a:bodyPr spcFirstLastPara="1" wrap="square" lIns="91425" tIns="91425" rIns="91425" bIns="91425" anchor="t" anchorCtr="0">
            <a:noAutofit/>
          </a:bodyPr>
          <a:lstStyle/>
          <a:p>
            <a:r>
              <a:rPr lang="en-US"/>
              <a:t>SLIDIs</a:t>
            </a:r>
            <a:r>
              <a:rPr lang="en"/>
              <a:t>: </a:t>
            </a:r>
            <a:r>
              <a:rPr lang="en-AU"/>
              <a:t>Options Summary</a:t>
            </a:r>
            <a:endParaRPr lang="en"/>
          </a:p>
        </p:txBody>
      </p:sp>
    </p:spTree>
    <p:extLst>
      <p:ext uri="{BB962C8B-B14F-4D97-AF65-F5344CB8AC3E}">
        <p14:creationId xmlns:p14="http://schemas.microsoft.com/office/powerpoint/2010/main" val="179024556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9">
          <a:extLst>
            <a:ext uri="{FF2B5EF4-FFF2-40B4-BE49-F238E27FC236}">
              <a16:creationId xmlns:a16="http://schemas.microsoft.com/office/drawing/2014/main" id="{77BACC38-4E75-6929-DF5C-6F9DD7B7629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D0CB4FE-F1AC-C087-9826-A030411E38DC}"/>
              </a:ext>
            </a:extLst>
          </p:cNvPr>
          <p:cNvSpPr>
            <a:spLocks noGrp="1"/>
          </p:cNvSpPr>
          <p:nvPr>
            <p:ph type="subTitle" idx="1"/>
          </p:nvPr>
        </p:nvSpPr>
        <p:spPr>
          <a:xfrm>
            <a:off x="3318782" y="3951791"/>
            <a:ext cx="5825218" cy="794828"/>
          </a:xfrm>
        </p:spPr>
        <p:txBody>
          <a:bodyPr/>
          <a:lstStyle/>
          <a:p>
            <a:r>
              <a:rPr lang="en"/>
              <a:t>Development Partner Roles</a:t>
            </a:r>
            <a:endParaRPr lang="en-US"/>
          </a:p>
        </p:txBody>
      </p:sp>
    </p:spTree>
    <p:extLst>
      <p:ext uri="{BB962C8B-B14F-4D97-AF65-F5344CB8AC3E}">
        <p14:creationId xmlns:p14="http://schemas.microsoft.com/office/powerpoint/2010/main" val="280730493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D0093-C0CD-FA75-86AE-68E6DE7CB0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76B511-2DE4-2032-CB03-01621CE22CC9}"/>
              </a:ext>
            </a:extLst>
          </p:cNvPr>
          <p:cNvSpPr>
            <a:spLocks noGrp="1"/>
          </p:cNvSpPr>
          <p:nvPr>
            <p:ph type="body" sz="quarter" idx="11"/>
          </p:nvPr>
        </p:nvSpPr>
        <p:spPr>
          <a:xfrm>
            <a:off x="293300" y="1273628"/>
            <a:ext cx="3921513" cy="3698045"/>
          </a:xfrm>
        </p:spPr>
        <p:txBody>
          <a:bodyPr>
            <a:noAutofit/>
          </a:bodyPr>
          <a:lstStyle/>
          <a:p>
            <a:pPr marL="285750" indent="-285750"/>
            <a:r>
              <a:rPr lang="en-US" sz="1600" dirty="0">
                <a:solidFill>
                  <a:srgbClr val="002F4A"/>
                </a:solidFill>
              </a:rPr>
              <a:t>Facilitate the design and </a:t>
            </a:r>
            <a:r>
              <a:rPr lang="en-US" sz="1600" b="1" dirty="0">
                <a:solidFill>
                  <a:srgbClr val="002F4A"/>
                </a:solidFill>
              </a:rPr>
              <a:t>structure of KPIs</a:t>
            </a:r>
            <a:endParaRPr lang="en-US" sz="1600" dirty="0">
              <a:solidFill>
                <a:srgbClr val="002F4A"/>
              </a:solidFill>
            </a:endParaRPr>
          </a:p>
          <a:p>
            <a:pPr marL="285750" indent="-285750"/>
            <a:r>
              <a:rPr lang="en-US" sz="1600" dirty="0">
                <a:solidFill>
                  <a:srgbClr val="002F4A"/>
                </a:solidFill>
              </a:rPr>
              <a:t>Perhaps provide additional </a:t>
            </a:r>
            <a:r>
              <a:rPr lang="en-US" sz="1600" b="1" dirty="0">
                <a:solidFill>
                  <a:srgbClr val="002F4A"/>
                </a:solidFill>
              </a:rPr>
              <a:t>financial guarantees</a:t>
            </a:r>
            <a:r>
              <a:rPr lang="en-US" sz="1600" dirty="0">
                <a:solidFill>
                  <a:srgbClr val="002F4A"/>
                </a:solidFill>
              </a:rPr>
              <a:t> to reassure investors</a:t>
            </a:r>
          </a:p>
          <a:p>
            <a:pPr marL="285750" indent="-285750"/>
            <a:r>
              <a:rPr lang="en-US" sz="1600" dirty="0">
                <a:solidFill>
                  <a:srgbClr val="002F4A"/>
                </a:solidFill>
              </a:rPr>
              <a:t>Assist in </a:t>
            </a:r>
            <a:r>
              <a:rPr lang="en-US" sz="1600" b="1" dirty="0">
                <a:solidFill>
                  <a:srgbClr val="002F4A"/>
                </a:solidFill>
              </a:rPr>
              <a:t>monitoring and evaluating </a:t>
            </a:r>
            <a:r>
              <a:rPr lang="en-US" sz="1600" dirty="0">
                <a:solidFill>
                  <a:srgbClr val="002F4A"/>
                </a:solidFill>
              </a:rPr>
              <a:t>KPIs</a:t>
            </a:r>
          </a:p>
          <a:p>
            <a:pPr marL="285750" indent="-285750"/>
            <a:r>
              <a:rPr lang="en-US" sz="1600" dirty="0">
                <a:solidFill>
                  <a:srgbClr val="002F4A"/>
                </a:solidFill>
              </a:rPr>
              <a:t>Provide </a:t>
            </a:r>
            <a:r>
              <a:rPr lang="en-US" sz="1600" b="1" dirty="0">
                <a:solidFill>
                  <a:srgbClr val="002F4A"/>
                </a:solidFill>
              </a:rPr>
              <a:t>technical assistance </a:t>
            </a:r>
            <a:r>
              <a:rPr lang="en-US" sz="1600" dirty="0">
                <a:solidFill>
                  <a:srgbClr val="002F4A"/>
                </a:solidFill>
              </a:rPr>
              <a:t>and </a:t>
            </a:r>
            <a:r>
              <a:rPr lang="en-US" sz="1600" b="1" dirty="0">
                <a:solidFill>
                  <a:srgbClr val="002F4A"/>
                </a:solidFill>
              </a:rPr>
              <a:t>capacity building </a:t>
            </a:r>
            <a:r>
              <a:rPr lang="en-US" sz="1600" dirty="0">
                <a:solidFill>
                  <a:srgbClr val="002F4A"/>
                </a:solidFill>
              </a:rPr>
              <a:t>to assist sovereigns in achieving KPIs</a:t>
            </a:r>
          </a:p>
          <a:p>
            <a:pPr indent="0">
              <a:buNone/>
            </a:pPr>
            <a:endParaRPr lang="en-US" dirty="0"/>
          </a:p>
        </p:txBody>
      </p:sp>
      <p:sp>
        <p:nvSpPr>
          <p:cNvPr id="3" name="Subtitle 2">
            <a:extLst>
              <a:ext uri="{FF2B5EF4-FFF2-40B4-BE49-F238E27FC236}">
                <a16:creationId xmlns:a16="http://schemas.microsoft.com/office/drawing/2014/main" id="{007FEF88-4CEC-1943-EB1E-7F0CC161CD06}"/>
              </a:ext>
            </a:extLst>
          </p:cNvPr>
          <p:cNvSpPr>
            <a:spLocks noGrp="1"/>
          </p:cNvSpPr>
          <p:nvPr>
            <p:ph type="subTitle" idx="1"/>
          </p:nvPr>
        </p:nvSpPr>
        <p:spPr/>
        <p:txBody>
          <a:bodyPr>
            <a:normAutofit fontScale="92500" lnSpcReduction="20000"/>
          </a:bodyPr>
          <a:lstStyle/>
          <a:p>
            <a:r>
              <a:rPr lang="en-US" dirty="0"/>
              <a:t>Development Partner Roles (e.g., </a:t>
            </a:r>
            <a:r>
              <a:rPr lang="en-US" dirty="0" err="1"/>
              <a:t>GiZ</a:t>
            </a:r>
            <a:r>
              <a:rPr lang="en-US" dirty="0"/>
              <a:t> or AFD)</a:t>
            </a:r>
          </a:p>
        </p:txBody>
      </p:sp>
      <p:sp>
        <p:nvSpPr>
          <p:cNvPr id="5" name="Rectangle 4">
            <a:extLst>
              <a:ext uri="{FF2B5EF4-FFF2-40B4-BE49-F238E27FC236}">
                <a16:creationId xmlns:a16="http://schemas.microsoft.com/office/drawing/2014/main" id="{BF4BEDEE-F758-A84C-DB9E-E0C7E00C8C50}"/>
              </a:ext>
            </a:extLst>
          </p:cNvPr>
          <p:cNvSpPr/>
          <p:nvPr/>
        </p:nvSpPr>
        <p:spPr>
          <a:xfrm>
            <a:off x="4724399" y="1400175"/>
            <a:ext cx="4278701" cy="335416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oogle Shape;230;p26">
            <a:extLst>
              <a:ext uri="{FF2B5EF4-FFF2-40B4-BE49-F238E27FC236}">
                <a16:creationId xmlns:a16="http://schemas.microsoft.com/office/drawing/2014/main" id="{8CA87BE6-503F-EE70-26E3-54B56828FBCA}"/>
              </a:ext>
            </a:extLst>
          </p:cNvPr>
          <p:cNvGrpSpPr/>
          <p:nvPr/>
        </p:nvGrpSpPr>
        <p:grpSpPr>
          <a:xfrm>
            <a:off x="4838199" y="3361884"/>
            <a:ext cx="2196033" cy="1220887"/>
            <a:chOff x="5040038" y="2459523"/>
            <a:chExt cx="1718739" cy="966656"/>
          </a:xfrm>
        </p:grpSpPr>
        <p:sp>
          <p:nvSpPr>
            <p:cNvPr id="7" name="Google Shape;231;p26">
              <a:extLst>
                <a:ext uri="{FF2B5EF4-FFF2-40B4-BE49-F238E27FC236}">
                  <a16:creationId xmlns:a16="http://schemas.microsoft.com/office/drawing/2014/main" id="{CCB1262A-5AD6-0B48-4C3C-D4836E286614}"/>
                </a:ext>
              </a:extLst>
            </p:cNvPr>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 sz="1000" b="1">
                  <a:solidFill>
                    <a:srgbClr val="FFFFFF"/>
                  </a:solidFill>
                  <a:latin typeface="Roboto"/>
                  <a:ea typeface="Roboto"/>
                  <a:cs typeface="Roboto"/>
                  <a:sym typeface="Roboto"/>
                </a:rPr>
                <a:t>Guarantees</a:t>
              </a:r>
              <a:r>
                <a:rPr lang="en" sz="1000">
                  <a:solidFill>
                    <a:srgbClr val="FFFFFF"/>
                  </a:solidFill>
                  <a:latin typeface="Roboto"/>
                  <a:ea typeface="Roboto"/>
                  <a:cs typeface="Roboto"/>
                  <a:sym typeface="Roboto"/>
                </a:rPr>
                <a:t> the coupon rate for the investor and </a:t>
              </a:r>
              <a:r>
                <a:rPr lang="en" sz="1000" b="1">
                  <a:solidFill>
                    <a:srgbClr val="FFFFFF"/>
                  </a:solidFill>
                  <a:latin typeface="Roboto"/>
                  <a:ea typeface="Roboto"/>
                  <a:cs typeface="Roboto"/>
                  <a:sym typeface="Roboto"/>
                </a:rPr>
                <a:t>lowers the rate </a:t>
              </a:r>
              <a:r>
                <a:rPr lang="en" sz="1000">
                  <a:solidFill>
                    <a:srgbClr val="FFFFFF"/>
                  </a:solidFill>
                  <a:latin typeface="Roboto"/>
                  <a:ea typeface="Roboto"/>
                  <a:cs typeface="Roboto"/>
                  <a:sym typeface="Roboto"/>
                </a:rPr>
                <a:t>for the sovereign depending on target achievement. </a:t>
              </a:r>
              <a:endParaRPr sz="1000">
                <a:solidFill>
                  <a:srgbClr val="FFFFFF"/>
                </a:solidFill>
              </a:endParaRPr>
            </a:p>
          </p:txBody>
        </p:sp>
        <p:sp>
          <p:nvSpPr>
            <p:cNvPr id="8" name="Google Shape;232;p26">
              <a:extLst>
                <a:ext uri="{FF2B5EF4-FFF2-40B4-BE49-F238E27FC236}">
                  <a16:creationId xmlns:a16="http://schemas.microsoft.com/office/drawing/2014/main" id="{8166F170-93D2-B476-D496-252E77B07462}"/>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WB</a:t>
              </a:r>
              <a:endParaRPr sz="1200">
                <a:solidFill>
                  <a:srgbClr val="FFFFFF"/>
                </a:solidFill>
              </a:endParaRPr>
            </a:p>
          </p:txBody>
        </p:sp>
      </p:grpSp>
      <p:grpSp>
        <p:nvGrpSpPr>
          <p:cNvPr id="9" name="Google Shape;233;p26">
            <a:extLst>
              <a:ext uri="{FF2B5EF4-FFF2-40B4-BE49-F238E27FC236}">
                <a16:creationId xmlns:a16="http://schemas.microsoft.com/office/drawing/2014/main" id="{D3738589-3488-56B0-8D64-60A04156EE4D}"/>
              </a:ext>
            </a:extLst>
          </p:cNvPr>
          <p:cNvGrpSpPr/>
          <p:nvPr/>
        </p:nvGrpSpPr>
        <p:grpSpPr>
          <a:xfrm>
            <a:off x="7212104" y="1586869"/>
            <a:ext cx="1638596" cy="1295717"/>
            <a:chOff x="3798075" y="647329"/>
            <a:chExt cx="1332300" cy="1052915"/>
          </a:xfrm>
        </p:grpSpPr>
        <p:sp>
          <p:nvSpPr>
            <p:cNvPr id="10" name="Google Shape;234;p26">
              <a:extLst>
                <a:ext uri="{FF2B5EF4-FFF2-40B4-BE49-F238E27FC236}">
                  <a16:creationId xmlns:a16="http://schemas.microsoft.com/office/drawing/2014/main" id="{C6701D46-5DB9-0653-DC14-5B7AA46DCD47}"/>
                </a:ext>
              </a:extLst>
            </p:cNvPr>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Pays </a:t>
              </a:r>
              <a:r>
                <a:rPr lang="en" sz="1000" b="1">
                  <a:solidFill>
                    <a:srgbClr val="FFFFFF"/>
                  </a:solidFill>
                  <a:latin typeface="Roboto"/>
                  <a:ea typeface="Roboto"/>
                  <a:cs typeface="Roboto"/>
                  <a:sym typeface="Roboto"/>
                </a:rPr>
                <a:t>lower coupon </a:t>
              </a:r>
              <a:r>
                <a:rPr lang="en" sz="1000">
                  <a:solidFill>
                    <a:srgbClr val="FFFFFF"/>
                  </a:solidFill>
                  <a:latin typeface="Roboto"/>
                  <a:ea typeface="Roboto"/>
                  <a:cs typeface="Roboto"/>
                  <a:sym typeface="Roboto"/>
                </a:rPr>
                <a:t>payments when certain targets are met. Is incentivized to pursue climate action.</a:t>
              </a:r>
              <a:endParaRPr sz="1000">
                <a:solidFill>
                  <a:srgbClr val="FFFFFF"/>
                </a:solidFill>
              </a:endParaRPr>
            </a:p>
          </p:txBody>
        </p:sp>
        <p:sp>
          <p:nvSpPr>
            <p:cNvPr id="11" name="Google Shape;235;p26">
              <a:extLst>
                <a:ext uri="{FF2B5EF4-FFF2-40B4-BE49-F238E27FC236}">
                  <a16:creationId xmlns:a16="http://schemas.microsoft.com/office/drawing/2014/main" id="{C3D3E535-5394-0AAC-DC2D-83EBFA0E76EC}"/>
                </a:ext>
              </a:extLst>
            </p:cNvPr>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12" name="Google Shape;236;p26">
            <a:extLst>
              <a:ext uri="{FF2B5EF4-FFF2-40B4-BE49-F238E27FC236}">
                <a16:creationId xmlns:a16="http://schemas.microsoft.com/office/drawing/2014/main" id="{CB3C142E-ACA1-98E6-B323-3049A4E949A6}"/>
              </a:ext>
            </a:extLst>
          </p:cNvPr>
          <p:cNvGrpSpPr/>
          <p:nvPr/>
        </p:nvGrpSpPr>
        <p:grpSpPr>
          <a:xfrm>
            <a:off x="4838199" y="1552239"/>
            <a:ext cx="1638596" cy="1325411"/>
            <a:chOff x="2465775" y="2422675"/>
            <a:chExt cx="1332300" cy="992966"/>
          </a:xfrm>
        </p:grpSpPr>
        <p:sp>
          <p:nvSpPr>
            <p:cNvPr id="13" name="Google Shape;237;p26">
              <a:extLst>
                <a:ext uri="{FF2B5EF4-FFF2-40B4-BE49-F238E27FC236}">
                  <a16:creationId xmlns:a16="http://schemas.microsoft.com/office/drawing/2014/main" id="{D2131379-6BD2-E583-A990-9A7A4B6BF9E0}"/>
                </a:ext>
              </a:extLst>
            </p:cNvPr>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FFFF"/>
                  </a:solidFill>
                  <a:latin typeface="Roboto"/>
                  <a:ea typeface="Roboto"/>
                  <a:cs typeface="Roboto"/>
                  <a:sym typeface="Roboto"/>
                </a:rPr>
                <a:t>Guaranteed</a:t>
              </a:r>
              <a:r>
                <a:rPr lang="en" sz="1000">
                  <a:solidFill>
                    <a:srgbClr val="FFFFFF"/>
                  </a:solidFill>
                  <a:latin typeface="Roboto"/>
                  <a:ea typeface="Roboto"/>
                  <a:cs typeface="Roboto"/>
                  <a:sym typeface="Roboto"/>
                </a:rPr>
                <a:t> to receive stable returns and is incentivized to invest.</a:t>
              </a:r>
              <a:endParaRPr sz="1000">
                <a:solidFill>
                  <a:srgbClr val="FFFFFF"/>
                </a:solidFill>
              </a:endParaRPr>
            </a:p>
          </p:txBody>
        </p:sp>
        <p:sp>
          <p:nvSpPr>
            <p:cNvPr id="14" name="Google Shape;238;p26">
              <a:extLst>
                <a:ext uri="{FF2B5EF4-FFF2-40B4-BE49-F238E27FC236}">
                  <a16:creationId xmlns:a16="http://schemas.microsoft.com/office/drawing/2014/main" id="{34F7055B-101E-924D-F030-9596C49151D6}"/>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grpSp>
        <p:nvGrpSpPr>
          <p:cNvPr id="15" name="Google Shape;236;p26">
            <a:extLst>
              <a:ext uri="{FF2B5EF4-FFF2-40B4-BE49-F238E27FC236}">
                <a16:creationId xmlns:a16="http://schemas.microsoft.com/office/drawing/2014/main" id="{1461DBDF-84AA-26DC-CA83-13BFEC725160}"/>
              </a:ext>
            </a:extLst>
          </p:cNvPr>
          <p:cNvGrpSpPr/>
          <p:nvPr/>
        </p:nvGrpSpPr>
        <p:grpSpPr>
          <a:xfrm>
            <a:off x="7246788" y="3242058"/>
            <a:ext cx="1638596" cy="1325411"/>
            <a:chOff x="2465775" y="2422675"/>
            <a:chExt cx="1332300" cy="992966"/>
          </a:xfrm>
        </p:grpSpPr>
        <p:sp>
          <p:nvSpPr>
            <p:cNvPr id="16" name="Google Shape;237;p26">
              <a:extLst>
                <a:ext uri="{FF2B5EF4-FFF2-40B4-BE49-F238E27FC236}">
                  <a16:creationId xmlns:a16="http://schemas.microsoft.com/office/drawing/2014/main" id="{6D49BAE1-0FA5-BED3-8BE4-BFA000D0E634}"/>
                </a:ext>
              </a:extLst>
            </p:cNvPr>
            <p:cNvSpPr/>
            <p:nvPr/>
          </p:nvSpPr>
          <p:spPr>
            <a:xfrm>
              <a:off x="2465775" y="2707674"/>
              <a:ext cx="1332300" cy="707967"/>
            </a:xfrm>
            <a:prstGeom prst="rect">
              <a:avLst/>
            </a:prstGeom>
            <a:solidFill>
              <a:schemeClr val="accent6">
                <a:lumMod val="25000"/>
              </a:schemeClr>
            </a:solidFill>
            <a:ln>
              <a:solidFill>
                <a:schemeClr val="accent6">
                  <a:lumMod val="25000"/>
                </a:schemeClr>
              </a:solid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latin typeface="Roboto"/>
                  <a:ea typeface="Roboto"/>
                  <a:cs typeface="Roboto"/>
                  <a:sym typeface="Roboto"/>
                </a:rPr>
                <a:t>Provides</a:t>
              </a:r>
              <a:r>
                <a:rPr lang="en" sz="1000" b="1">
                  <a:solidFill>
                    <a:srgbClr val="FFFFFF"/>
                  </a:solidFill>
                  <a:latin typeface="Roboto"/>
                  <a:ea typeface="Roboto"/>
                  <a:cs typeface="Roboto"/>
                  <a:sym typeface="Roboto"/>
                </a:rPr>
                <a:t> technical assistance </a:t>
              </a:r>
              <a:r>
                <a:rPr lang="en" sz="1000">
                  <a:solidFill>
                    <a:srgbClr val="FFFFFF"/>
                  </a:solidFill>
                  <a:latin typeface="Roboto"/>
                  <a:ea typeface="Roboto"/>
                  <a:cs typeface="Roboto"/>
                  <a:sym typeface="Roboto"/>
                </a:rPr>
                <a:t>to ensure KPIs are met.</a:t>
              </a:r>
              <a:endParaRPr sz="1000">
                <a:solidFill>
                  <a:srgbClr val="FFFFFF"/>
                </a:solidFill>
              </a:endParaRPr>
            </a:p>
          </p:txBody>
        </p:sp>
        <p:sp>
          <p:nvSpPr>
            <p:cNvPr id="17" name="Google Shape;238;p26">
              <a:extLst>
                <a:ext uri="{FF2B5EF4-FFF2-40B4-BE49-F238E27FC236}">
                  <a16:creationId xmlns:a16="http://schemas.microsoft.com/office/drawing/2014/main" id="{BFE1F1FF-6543-165F-D29B-5F76EB0D1C9C}"/>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Partner Agency</a:t>
              </a:r>
              <a:endParaRPr sz="1200">
                <a:solidFill>
                  <a:srgbClr val="FFFFFF"/>
                </a:solidFill>
              </a:endParaRPr>
            </a:p>
          </p:txBody>
        </p:sp>
      </p:grpSp>
      <p:sp>
        <p:nvSpPr>
          <p:cNvPr id="18" name="Google Shape;182;p22">
            <a:extLst>
              <a:ext uri="{FF2B5EF4-FFF2-40B4-BE49-F238E27FC236}">
                <a16:creationId xmlns:a16="http://schemas.microsoft.com/office/drawing/2014/main" id="{009E4B5F-8749-874A-D616-DD7C0B415F97}"/>
              </a:ext>
            </a:extLst>
          </p:cNvPr>
          <p:cNvSpPr/>
          <p:nvPr/>
        </p:nvSpPr>
        <p:spPr>
          <a:xfrm rot="16200000">
            <a:off x="5481364" y="3026722"/>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 name="Google Shape;182;p22">
            <a:extLst>
              <a:ext uri="{FF2B5EF4-FFF2-40B4-BE49-F238E27FC236}">
                <a16:creationId xmlns:a16="http://schemas.microsoft.com/office/drawing/2014/main" id="{DCD28330-9354-AF12-39FC-76FEAB9F2B8E}"/>
              </a:ext>
            </a:extLst>
          </p:cNvPr>
          <p:cNvSpPr/>
          <p:nvPr/>
        </p:nvSpPr>
        <p:spPr>
          <a:xfrm rot="8031831">
            <a:off x="6700987" y="2968218"/>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 name="Google Shape;182;p22">
            <a:extLst>
              <a:ext uri="{FF2B5EF4-FFF2-40B4-BE49-F238E27FC236}">
                <a16:creationId xmlns:a16="http://schemas.microsoft.com/office/drawing/2014/main" id="{87EA4C7C-B02E-509F-44F6-9B7F590881B6}"/>
              </a:ext>
            </a:extLst>
          </p:cNvPr>
          <p:cNvSpPr/>
          <p:nvPr/>
        </p:nvSpPr>
        <p:spPr>
          <a:xfrm rot="16200000">
            <a:off x="8331100" y="3169465"/>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extLst>
      <p:ext uri="{BB962C8B-B14F-4D97-AF65-F5344CB8AC3E}">
        <p14:creationId xmlns:p14="http://schemas.microsoft.com/office/powerpoint/2010/main" val="402077379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261F-FAEA-7D51-8E8F-C120E8257D9A}"/>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BD4E397-D301-474E-4FAB-E4E4D312EAD9}"/>
              </a:ext>
            </a:extLst>
          </p:cNvPr>
          <p:cNvSpPr>
            <a:spLocks noGrp="1"/>
          </p:cNvSpPr>
          <p:nvPr>
            <p:ph type="subTitle" idx="1"/>
          </p:nvPr>
        </p:nvSpPr>
        <p:spPr/>
        <p:txBody>
          <a:bodyPr/>
          <a:lstStyle/>
          <a:p>
            <a:r>
              <a:rPr lang="en-US"/>
              <a:t>Structuring KPIs</a:t>
            </a:r>
          </a:p>
        </p:txBody>
      </p:sp>
    </p:spTree>
    <p:extLst>
      <p:ext uri="{BB962C8B-B14F-4D97-AF65-F5344CB8AC3E}">
        <p14:creationId xmlns:p14="http://schemas.microsoft.com/office/powerpoint/2010/main" val="256309458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DC531D5D-E7CD-772A-C910-1ACF4034FF5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5AB4EE9-5840-B01D-3844-8CFDD1574828}"/>
              </a:ext>
            </a:extLst>
          </p:cNvPr>
          <p:cNvSpPr>
            <a:spLocks noGrp="1"/>
          </p:cNvSpPr>
          <p:nvPr>
            <p:ph type="body" sz="quarter" idx="11"/>
          </p:nvPr>
        </p:nvSpPr>
        <p:spPr>
          <a:xfrm>
            <a:off x="4572000" y="1205234"/>
            <a:ext cx="4278701" cy="3465738"/>
          </a:xfrm>
        </p:spPr>
        <p:txBody>
          <a:bodyPr>
            <a:noAutofit/>
          </a:bodyPr>
          <a:lstStyle/>
          <a:p>
            <a:pPr marL="0" lvl="0" indent="0" algn="l" rtl="0">
              <a:spcAft>
                <a:spcPts val="0"/>
              </a:spcAft>
              <a:buSzPts val="770"/>
              <a:buNone/>
            </a:pPr>
            <a:r>
              <a:rPr lang="en-GB" sz="1400" b="1" dirty="0">
                <a:solidFill>
                  <a:schemeClr val="accent4"/>
                </a:solidFill>
              </a:rPr>
              <a:t>Nature of KPIs:</a:t>
            </a:r>
          </a:p>
          <a:p>
            <a:pPr marL="457200" lvl="0" indent="-292735" algn="l" rtl="0">
              <a:spcBef>
                <a:spcPts val="1200"/>
              </a:spcBef>
              <a:spcAft>
                <a:spcPts val="0"/>
              </a:spcAft>
              <a:buClr>
                <a:schemeClr val="accent1"/>
              </a:buClr>
              <a:buSzPts val="1010"/>
              <a:buChar char="●"/>
            </a:pPr>
            <a:r>
              <a:rPr lang="en-GB" sz="1200" dirty="0">
                <a:solidFill>
                  <a:schemeClr val="accent1"/>
                </a:solidFill>
              </a:rPr>
              <a:t>Define KPIs that are specific, measurable, achievable, relevant, and time-bound (SMART)</a:t>
            </a:r>
          </a:p>
          <a:p>
            <a:pPr marL="457200" lvl="0" indent="-292735" algn="l" rtl="0">
              <a:spcBef>
                <a:spcPts val="0"/>
              </a:spcBef>
              <a:spcAft>
                <a:spcPts val="0"/>
              </a:spcAft>
              <a:buClr>
                <a:schemeClr val="accent1"/>
              </a:buClr>
              <a:buSzPts val="1010"/>
              <a:buChar char="●"/>
            </a:pPr>
            <a:r>
              <a:rPr lang="en-GB" sz="1200" dirty="0">
                <a:solidFill>
                  <a:schemeClr val="accent1"/>
                </a:solidFill>
              </a:rPr>
              <a:t>Tailor KPIs to reflect both short-term milestones and long-term climate impact</a:t>
            </a:r>
          </a:p>
          <a:p>
            <a:pPr marL="457200" indent="-292735">
              <a:buClr>
                <a:schemeClr val="accent1"/>
              </a:buClr>
              <a:buSzPts val="1010"/>
            </a:pPr>
            <a:r>
              <a:rPr lang="en-GB" sz="1200" dirty="0">
                <a:solidFill>
                  <a:schemeClr val="accent1"/>
                </a:solidFill>
              </a:rPr>
              <a:t>KPIs need to be achievable within the bond's life, reflecting longer-term policy goals and ensuring consistency across political administrations</a:t>
            </a:r>
          </a:p>
          <a:p>
            <a:pPr marL="914400" lvl="1" indent="-293687" algn="l" rtl="0">
              <a:spcBef>
                <a:spcPts val="0"/>
              </a:spcBef>
              <a:spcAft>
                <a:spcPts val="0"/>
              </a:spcAft>
              <a:buClr>
                <a:srgbClr val="000000"/>
              </a:buClr>
              <a:buSzPct val="100000"/>
              <a:buChar char="○"/>
            </a:pPr>
            <a:endParaRPr lang="en-GB" sz="1400" dirty="0">
              <a:solidFill>
                <a:srgbClr val="000000"/>
              </a:solidFill>
            </a:endParaRPr>
          </a:p>
          <a:p>
            <a:endParaRPr lang="en-US" dirty="0"/>
          </a:p>
        </p:txBody>
      </p:sp>
      <p:sp>
        <p:nvSpPr>
          <p:cNvPr id="4" name="Text Placeholder 3">
            <a:extLst>
              <a:ext uri="{FF2B5EF4-FFF2-40B4-BE49-F238E27FC236}">
                <a16:creationId xmlns:a16="http://schemas.microsoft.com/office/drawing/2014/main" id="{38417233-964A-D216-1969-F5A9C4FAF07B}"/>
              </a:ext>
            </a:extLst>
          </p:cNvPr>
          <p:cNvSpPr>
            <a:spLocks noGrp="1"/>
          </p:cNvSpPr>
          <p:nvPr>
            <p:ph type="body" sz="quarter" idx="10"/>
          </p:nvPr>
        </p:nvSpPr>
        <p:spPr>
          <a:xfrm>
            <a:off x="293300" y="1205234"/>
            <a:ext cx="4278700" cy="3465738"/>
          </a:xfrm>
        </p:spPr>
        <p:txBody>
          <a:bodyPr>
            <a:noAutofit/>
          </a:bodyPr>
          <a:lstStyle/>
          <a:p>
            <a:pPr marL="0" lvl="0" indent="0" algn="l" rtl="0">
              <a:spcBef>
                <a:spcPts val="0"/>
              </a:spcBef>
              <a:spcAft>
                <a:spcPts val="0"/>
              </a:spcAft>
              <a:buNone/>
            </a:pPr>
            <a:r>
              <a:rPr lang="en-GB" sz="1400" b="1" dirty="0">
                <a:solidFill>
                  <a:schemeClr val="accent4"/>
                </a:solidFill>
              </a:rPr>
              <a:t>Capacity Assessment:</a:t>
            </a:r>
          </a:p>
          <a:p>
            <a:pPr marL="457200" lvl="0" indent="-293687" algn="l" rtl="0">
              <a:spcBef>
                <a:spcPts val="1200"/>
              </a:spcBef>
              <a:spcAft>
                <a:spcPts val="0"/>
              </a:spcAft>
              <a:buClr>
                <a:srgbClr val="000000"/>
              </a:buClr>
              <a:buSzPct val="100000"/>
              <a:buChar char="●"/>
            </a:pPr>
            <a:r>
              <a:rPr lang="en-GB" sz="1200" dirty="0">
                <a:solidFill>
                  <a:srgbClr val="002F4A"/>
                </a:solidFill>
              </a:rPr>
              <a:t>Evaluate the issuer's capability to deliver on ambitious climate targets and sustainable infrastructure projects</a:t>
            </a:r>
          </a:p>
          <a:p>
            <a:pPr marL="457200" lvl="0" indent="-293687" algn="l" rtl="0">
              <a:spcBef>
                <a:spcPts val="0"/>
              </a:spcBef>
              <a:spcAft>
                <a:spcPts val="0"/>
              </a:spcAft>
              <a:buClr>
                <a:srgbClr val="000000"/>
              </a:buClr>
              <a:buSzPct val="100000"/>
              <a:buChar char="●"/>
            </a:pPr>
            <a:r>
              <a:rPr lang="en-GB" sz="1200" dirty="0">
                <a:solidFill>
                  <a:srgbClr val="002F4A"/>
                </a:solidFill>
              </a:rPr>
              <a:t>Consider technical expertise, institutional capacity, and historical performance</a:t>
            </a:r>
          </a:p>
          <a:p>
            <a:pPr marL="457200" lvl="0" indent="-293687" algn="l" rtl="0">
              <a:spcBef>
                <a:spcPts val="0"/>
              </a:spcBef>
              <a:spcAft>
                <a:spcPts val="0"/>
              </a:spcAft>
              <a:buClr>
                <a:srgbClr val="000000"/>
              </a:buClr>
              <a:buSzPct val="100000"/>
              <a:buChar char="●"/>
            </a:pPr>
            <a:endParaRPr lang="en-GB" sz="1100" dirty="0">
              <a:solidFill>
                <a:srgbClr val="002F4A"/>
              </a:solidFill>
            </a:endParaRPr>
          </a:p>
          <a:p>
            <a:pPr marL="0" lvl="0" indent="0" algn="l" rtl="0">
              <a:spcAft>
                <a:spcPts val="0"/>
              </a:spcAft>
              <a:buNone/>
            </a:pPr>
            <a:r>
              <a:rPr lang="en-GB" sz="1400" b="1" dirty="0">
                <a:solidFill>
                  <a:schemeClr val="accent4"/>
                </a:solidFill>
              </a:rPr>
              <a:t>Negotiations with Stakeholders:</a:t>
            </a:r>
          </a:p>
          <a:p>
            <a:pPr marL="457200" lvl="0" indent="-293687" algn="l" rtl="0">
              <a:spcBef>
                <a:spcPts val="0"/>
              </a:spcBef>
              <a:spcAft>
                <a:spcPts val="0"/>
              </a:spcAft>
              <a:buClr>
                <a:srgbClr val="000000"/>
              </a:buClr>
              <a:buSzPct val="100000"/>
              <a:buChar char="●"/>
            </a:pPr>
            <a:endParaRPr lang="en-GB" sz="1100" dirty="0">
              <a:solidFill>
                <a:srgbClr val="002F4A"/>
              </a:solidFill>
            </a:endParaRPr>
          </a:p>
          <a:p>
            <a:pPr marL="457200" lvl="0" indent="-293687" algn="l" rtl="0">
              <a:spcBef>
                <a:spcPts val="0"/>
              </a:spcBef>
              <a:spcAft>
                <a:spcPts val="0"/>
              </a:spcAft>
              <a:buClr>
                <a:srgbClr val="000000"/>
              </a:buClr>
              <a:buSzPct val="100000"/>
              <a:buChar char="●"/>
            </a:pPr>
            <a:r>
              <a:rPr lang="en-GB" sz="1200" dirty="0">
                <a:solidFill>
                  <a:srgbClr val="002F4A"/>
                </a:solidFill>
              </a:rPr>
              <a:t>Align KPIs with both issuer's climate goals and partner's expectations</a:t>
            </a:r>
          </a:p>
          <a:p>
            <a:pPr marL="163513" lvl="0" indent="0" algn="l" rtl="0">
              <a:spcBef>
                <a:spcPts val="0"/>
              </a:spcBef>
              <a:spcAft>
                <a:spcPts val="0"/>
              </a:spcAft>
              <a:buClr>
                <a:srgbClr val="000000"/>
              </a:buClr>
              <a:buSzPct val="100000"/>
              <a:buNone/>
            </a:pPr>
            <a:endParaRPr lang="en-GB" sz="1050" dirty="0">
              <a:solidFill>
                <a:srgbClr val="002F4A"/>
              </a:solidFill>
            </a:endParaRPr>
          </a:p>
          <a:p>
            <a:endParaRPr lang="en-US" dirty="0"/>
          </a:p>
        </p:txBody>
      </p:sp>
      <p:sp>
        <p:nvSpPr>
          <p:cNvPr id="6" name="Subtitle 5">
            <a:extLst>
              <a:ext uri="{FF2B5EF4-FFF2-40B4-BE49-F238E27FC236}">
                <a16:creationId xmlns:a16="http://schemas.microsoft.com/office/drawing/2014/main" id="{A8FA1F08-EC83-E586-7B5D-C8D1B4AE6A51}"/>
              </a:ext>
            </a:extLst>
          </p:cNvPr>
          <p:cNvSpPr>
            <a:spLocks noGrp="1"/>
          </p:cNvSpPr>
          <p:nvPr>
            <p:ph type="subTitle" idx="1"/>
          </p:nvPr>
        </p:nvSpPr>
        <p:spPr/>
        <p:txBody>
          <a:bodyPr>
            <a:normAutofit fontScale="92500" lnSpcReduction="20000"/>
          </a:bodyPr>
          <a:lstStyle/>
          <a:p>
            <a:r>
              <a:rPr lang="en" sz="2000"/>
              <a:t>How to Structure KPIs?</a:t>
            </a:r>
            <a:endParaRPr lang="en-US"/>
          </a:p>
        </p:txBody>
      </p:sp>
    </p:spTree>
    <p:extLst>
      <p:ext uri="{BB962C8B-B14F-4D97-AF65-F5344CB8AC3E}">
        <p14:creationId xmlns:p14="http://schemas.microsoft.com/office/powerpoint/2010/main" val="34034358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5B148762-D60F-F55D-AE0C-9BA6798C37D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C38EE1B-515C-6A49-B614-83CD867EB0DD}"/>
              </a:ext>
            </a:extLst>
          </p:cNvPr>
          <p:cNvSpPr>
            <a:spLocks noGrp="1"/>
          </p:cNvSpPr>
          <p:nvPr>
            <p:ph type="subTitle" idx="1"/>
          </p:nvPr>
        </p:nvSpPr>
        <p:spPr/>
        <p:txBody>
          <a:bodyPr>
            <a:normAutofit fontScale="92500" lnSpcReduction="20000"/>
          </a:bodyPr>
          <a:lstStyle/>
          <a:p>
            <a:r>
              <a:rPr lang="en-US"/>
              <a:t>Structuring KPIs and Capitalizing Intermediaries: Further Proposals</a:t>
            </a:r>
          </a:p>
        </p:txBody>
      </p:sp>
      <p:graphicFrame>
        <p:nvGraphicFramePr>
          <p:cNvPr id="7" name="Table 7">
            <a:extLst>
              <a:ext uri="{FF2B5EF4-FFF2-40B4-BE49-F238E27FC236}">
                <a16:creationId xmlns:a16="http://schemas.microsoft.com/office/drawing/2014/main" id="{37EC8159-55F3-27C5-5844-9EB9B380591D}"/>
              </a:ext>
            </a:extLst>
          </p:cNvPr>
          <p:cNvGraphicFramePr>
            <a:graphicFrameLocks noGrp="1"/>
          </p:cNvGraphicFramePr>
          <p:nvPr>
            <p:extLst>
              <p:ext uri="{D42A27DB-BD31-4B8C-83A1-F6EECF244321}">
                <p14:modId xmlns:p14="http://schemas.microsoft.com/office/powerpoint/2010/main" val="1245453696"/>
              </p:ext>
            </p:extLst>
          </p:nvPr>
        </p:nvGraphicFramePr>
        <p:xfrm>
          <a:off x="475956" y="1423513"/>
          <a:ext cx="8049066" cy="3436504"/>
        </p:xfrm>
        <a:graphic>
          <a:graphicData uri="http://schemas.openxmlformats.org/drawingml/2006/table">
            <a:tbl>
              <a:tblPr firstRow="1" bandRow="1">
                <a:tableStyleId>{5C22544A-7EE6-4342-B048-85BDC9FD1C3A}</a:tableStyleId>
              </a:tblPr>
              <a:tblGrid>
                <a:gridCol w="2683022">
                  <a:extLst>
                    <a:ext uri="{9D8B030D-6E8A-4147-A177-3AD203B41FA5}">
                      <a16:colId xmlns:a16="http://schemas.microsoft.com/office/drawing/2014/main" val="1278786295"/>
                    </a:ext>
                  </a:extLst>
                </a:gridCol>
                <a:gridCol w="3741225">
                  <a:extLst>
                    <a:ext uri="{9D8B030D-6E8A-4147-A177-3AD203B41FA5}">
                      <a16:colId xmlns:a16="http://schemas.microsoft.com/office/drawing/2014/main" val="26124143"/>
                    </a:ext>
                  </a:extLst>
                </a:gridCol>
                <a:gridCol w="1624819">
                  <a:extLst>
                    <a:ext uri="{9D8B030D-6E8A-4147-A177-3AD203B41FA5}">
                      <a16:colId xmlns:a16="http://schemas.microsoft.com/office/drawing/2014/main" val="1018346668"/>
                    </a:ext>
                  </a:extLst>
                </a:gridCol>
              </a:tblGrid>
              <a:tr h="388504">
                <a:tc>
                  <a:txBody>
                    <a:bodyPr/>
                    <a:lstStyle/>
                    <a:p>
                      <a:r>
                        <a:rPr lang="en-US">
                          <a:latin typeface="Roboto"/>
                        </a:rPr>
                        <a:t>Issue</a:t>
                      </a:r>
                    </a:p>
                  </a:txBody>
                  <a:tcPr>
                    <a:solidFill>
                      <a:srgbClr val="A72A1E"/>
                    </a:solidFill>
                  </a:tcPr>
                </a:tc>
                <a:tc>
                  <a:txBody>
                    <a:bodyPr/>
                    <a:lstStyle/>
                    <a:p>
                      <a:r>
                        <a:rPr lang="en-US">
                          <a:latin typeface="Roboto"/>
                        </a:rPr>
                        <a:t>Solution</a:t>
                      </a:r>
                    </a:p>
                  </a:txBody>
                  <a:tcPr>
                    <a:solidFill>
                      <a:srgbClr val="A72A1E"/>
                    </a:solidFill>
                  </a:tcPr>
                </a:tc>
                <a:tc>
                  <a:txBody>
                    <a:bodyPr/>
                    <a:lstStyle/>
                    <a:p>
                      <a:r>
                        <a:rPr lang="en-US">
                          <a:latin typeface="Roboto"/>
                        </a:rPr>
                        <a:t>Proposal</a:t>
                      </a:r>
                    </a:p>
                  </a:txBody>
                  <a:tcPr>
                    <a:solidFill>
                      <a:srgbClr val="A72A1E"/>
                    </a:solidFill>
                  </a:tcPr>
                </a:tc>
                <a:extLst>
                  <a:ext uri="{0D108BD9-81ED-4DB2-BD59-A6C34878D82A}">
                    <a16:rowId xmlns:a16="http://schemas.microsoft.com/office/drawing/2014/main" val="2800248201"/>
                  </a:ext>
                </a:extLst>
              </a:tr>
              <a:tr h="11519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dirty="0">
                          <a:solidFill>
                            <a:schemeClr val="tx1"/>
                          </a:solidFill>
                          <a:latin typeface="Roboto"/>
                        </a:rPr>
                        <a:t>KPI approaches need to reflect the </a:t>
                      </a:r>
                      <a:r>
                        <a:rPr lang="en" sz="1400" b="1" dirty="0">
                          <a:solidFill>
                            <a:schemeClr val="tx1"/>
                          </a:solidFill>
                          <a:latin typeface="Roboto"/>
                        </a:rPr>
                        <a:t>stocks </a:t>
                      </a:r>
                      <a:r>
                        <a:rPr lang="en" sz="1400" dirty="0">
                          <a:solidFill>
                            <a:schemeClr val="tx1"/>
                          </a:solidFill>
                          <a:latin typeface="Roboto"/>
                        </a:rPr>
                        <a:t>of carbon, not just flows. Carbon markets can give </a:t>
                      </a:r>
                      <a:r>
                        <a:rPr lang="en" sz="1400" b="1" dirty="0">
                          <a:solidFill>
                            <a:schemeClr val="tx1"/>
                          </a:solidFill>
                          <a:latin typeface="Roboto"/>
                        </a:rPr>
                        <a:t>perverse incentives </a:t>
                      </a:r>
                      <a:r>
                        <a:rPr lang="en" sz="1400" dirty="0">
                          <a:solidFill>
                            <a:schemeClr val="tx1"/>
                          </a:solidFill>
                          <a:latin typeface="Roboto"/>
                        </a:rPr>
                        <a:t>because of lack of permanence</a:t>
                      </a:r>
                      <a:endParaRPr lang="en-US" dirty="0">
                        <a:latin typeface="Roboto"/>
                      </a:endParaRP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latin typeface="Roboto"/>
                        </a:rPr>
                        <a:t>Define a permanent ‘</a:t>
                      </a:r>
                      <a:r>
                        <a:rPr lang="en" sz="1400" b="1">
                          <a:solidFill>
                            <a:schemeClr val="tx1"/>
                          </a:solidFill>
                          <a:latin typeface="Roboto"/>
                        </a:rPr>
                        <a:t>Notional Capitalized Value</a:t>
                      </a:r>
                      <a:r>
                        <a:rPr lang="en" sz="1400">
                          <a:solidFill>
                            <a:schemeClr val="tx1"/>
                          </a:solidFill>
                          <a:latin typeface="Roboto"/>
                        </a:rPr>
                        <a:t>’ (NCV) of the stock of forest in each country and pay an ‘interest rate’ (e.g. to begin 0.1% pa) on those values globally according to available funds.</a:t>
                      </a: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a:solidFill>
                            <a:schemeClr val="tx1"/>
                          </a:solidFill>
                          <a:latin typeface="Roboto"/>
                        </a:rPr>
                        <a:t>Notional Capitalized Value KPIs</a:t>
                      </a:r>
                    </a:p>
                  </a:txBody>
                  <a:tcPr>
                    <a:solidFill>
                      <a:schemeClr val="accent4">
                        <a:lumMod val="20000"/>
                        <a:lumOff val="80000"/>
                      </a:schemeClr>
                    </a:solidFill>
                  </a:tcPr>
                </a:tc>
                <a:extLst>
                  <a:ext uri="{0D108BD9-81ED-4DB2-BD59-A6C34878D82A}">
                    <a16:rowId xmlns:a16="http://schemas.microsoft.com/office/drawing/2014/main" val="1521048234"/>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US" sz="1400" b="1" dirty="0">
                          <a:solidFill>
                            <a:schemeClr val="tx1"/>
                          </a:solidFill>
                          <a:latin typeface="Roboto"/>
                        </a:rPr>
                        <a:t>SLIDIs</a:t>
                      </a:r>
                      <a:r>
                        <a:rPr lang="en" sz="1400" b="1" dirty="0">
                          <a:solidFill>
                            <a:schemeClr val="tx1"/>
                          </a:solidFill>
                          <a:latin typeface="Roboto"/>
                        </a:rPr>
                        <a:t> non-WB Trusted-Intermediary </a:t>
                      </a:r>
                      <a:r>
                        <a:rPr lang="en" sz="1400" dirty="0">
                          <a:solidFill>
                            <a:schemeClr val="tx1"/>
                          </a:solidFill>
                          <a:latin typeface="Roboto"/>
                        </a:rPr>
                        <a:t>option needs an </a:t>
                      </a:r>
                      <a:r>
                        <a:rPr lang="en" sz="1400" b="1" dirty="0">
                          <a:solidFill>
                            <a:schemeClr val="tx1"/>
                          </a:solidFill>
                          <a:latin typeface="Roboto"/>
                        </a:rPr>
                        <a:t>additional capital buffer </a:t>
                      </a:r>
                      <a:r>
                        <a:rPr lang="en" sz="1400" b="0" dirty="0">
                          <a:solidFill>
                            <a:schemeClr val="tx1"/>
                          </a:solidFill>
                          <a:latin typeface="Roboto"/>
                        </a:rPr>
                        <a:t>and/or </a:t>
                      </a:r>
                      <a:r>
                        <a:rPr lang="en" sz="1400" b="1" dirty="0">
                          <a:solidFill>
                            <a:schemeClr val="tx1"/>
                          </a:solidFill>
                          <a:latin typeface="Roboto"/>
                        </a:rPr>
                        <a:t>guarantees</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1" dirty="0">
                          <a:solidFill>
                            <a:schemeClr val="tx1"/>
                          </a:solidFill>
                          <a:latin typeface="Roboto"/>
                        </a:rPr>
                        <a:t>Climate Incentive Trust (CIT)</a:t>
                      </a:r>
                      <a:r>
                        <a:rPr lang="en" sz="1400" dirty="0">
                          <a:solidFill>
                            <a:schemeClr val="tx1"/>
                          </a:solidFill>
                          <a:latin typeface="Roboto"/>
                        </a:rPr>
                        <a:t> collateral funds at national level</a:t>
                      </a:r>
                    </a:p>
                  </a:txBody>
                  <a:tcPr>
                    <a:solidFill>
                      <a:schemeClr val="accent2">
                        <a:lumMod val="20000"/>
                        <a:lumOff val="80000"/>
                      </a:schemeClr>
                    </a:solidFill>
                  </a:tcPr>
                </a:tc>
                <a:tc rowSpan="2">
                  <a:txBody>
                    <a:bodyPr/>
                    <a:lstStyle/>
                    <a:p>
                      <a:r>
                        <a:rPr lang="en" sz="1400" b="1">
                          <a:solidFill>
                            <a:schemeClr val="tx1"/>
                          </a:solidFill>
                          <a:latin typeface="Roboto"/>
                        </a:rPr>
                        <a:t>Climate Incentive Trust </a:t>
                      </a:r>
                      <a:r>
                        <a:rPr lang="en" sz="1400">
                          <a:solidFill>
                            <a:schemeClr val="tx1"/>
                          </a:solidFill>
                          <a:latin typeface="Roboto"/>
                        </a:rPr>
                        <a:t> </a:t>
                      </a:r>
                      <a:endParaRPr lang="en-US">
                        <a:latin typeface="Roboto"/>
                      </a:endParaRPr>
                    </a:p>
                  </a:txBody>
                  <a:tcPr>
                    <a:solidFill>
                      <a:schemeClr val="accent2">
                        <a:lumMod val="20000"/>
                        <a:lumOff val="80000"/>
                      </a:schemeClr>
                    </a:solidFill>
                  </a:tcPr>
                </a:tc>
                <a:extLst>
                  <a:ext uri="{0D108BD9-81ED-4DB2-BD59-A6C34878D82A}">
                    <a16:rowId xmlns:a16="http://schemas.microsoft.com/office/drawing/2014/main" val="2346238512"/>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dirty="0">
                          <a:solidFill>
                            <a:schemeClr val="tx1"/>
                          </a:solidFill>
                          <a:latin typeface="Roboto"/>
                        </a:rPr>
                        <a:t>Forest protection (including NCV) and maintenance of CIT needs source of </a:t>
                      </a:r>
                      <a:r>
                        <a:rPr lang="en" sz="1400" b="1" dirty="0">
                          <a:solidFill>
                            <a:schemeClr val="tx1"/>
                          </a:solidFill>
                          <a:latin typeface="Roboto"/>
                        </a:rPr>
                        <a:t>funding </a:t>
                      </a:r>
                      <a:r>
                        <a:rPr lang="en" sz="1400" dirty="0">
                          <a:solidFill>
                            <a:schemeClr val="tx1"/>
                          </a:solidFill>
                          <a:latin typeface="Roboto"/>
                        </a:rPr>
                        <a:t>or financial </a:t>
                      </a:r>
                      <a:r>
                        <a:rPr lang="en" sz="1400" b="1" dirty="0">
                          <a:solidFill>
                            <a:schemeClr val="tx1"/>
                          </a:solidFill>
                          <a:latin typeface="Roboto"/>
                        </a:rPr>
                        <a:t>returns</a:t>
                      </a: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latin typeface="Roboto"/>
                        </a:rPr>
                        <a:t>Invest </a:t>
                      </a:r>
                      <a:r>
                        <a:rPr lang="en" sz="1400" dirty="0">
                          <a:solidFill>
                            <a:schemeClr val="tx1"/>
                          </a:solidFill>
                          <a:latin typeface="Roboto"/>
                        </a:rPr>
                        <a:t>the CIT funds in the construction stage of Renewable Energy projects that are </a:t>
                      </a:r>
                      <a:r>
                        <a:rPr lang="en" sz="1400" b="1" dirty="0">
                          <a:solidFill>
                            <a:schemeClr val="tx1"/>
                          </a:solidFill>
                          <a:latin typeface="Roboto"/>
                        </a:rPr>
                        <a:t>refinanced </a:t>
                      </a:r>
                      <a:r>
                        <a:rPr lang="en" sz="1400" dirty="0">
                          <a:solidFill>
                            <a:schemeClr val="tx1"/>
                          </a:solidFill>
                          <a:latin typeface="Roboto"/>
                        </a:rPr>
                        <a:t>at low financing cost when complete</a:t>
                      </a:r>
                      <a:endParaRPr lang="en" sz="1400" b="1" dirty="0">
                        <a:solidFill>
                          <a:schemeClr val="tx1"/>
                        </a:solidFill>
                        <a:latin typeface="Roboto"/>
                      </a:endParaRPr>
                    </a:p>
                  </a:txBody>
                  <a:tcPr>
                    <a:solidFill>
                      <a:schemeClr val="accent4">
                        <a:lumMod val="20000"/>
                        <a:lumOff val="80000"/>
                      </a:schemeClr>
                    </a:solidFill>
                  </a:tcPr>
                </a:tc>
                <a:tc vMerge="1">
                  <a:txBody>
                    <a:bodyPr/>
                    <a:lstStyle/>
                    <a:p>
                      <a:endParaRPr lang="en-US"/>
                    </a:p>
                  </a:txBody>
                  <a:tcPr/>
                </a:tc>
                <a:extLst>
                  <a:ext uri="{0D108BD9-81ED-4DB2-BD59-A6C34878D82A}">
                    <a16:rowId xmlns:a16="http://schemas.microsoft.com/office/drawing/2014/main" val="958560927"/>
                  </a:ext>
                </a:extLst>
              </a:tr>
            </a:tbl>
          </a:graphicData>
        </a:graphic>
      </p:graphicFrame>
    </p:spTree>
    <p:extLst>
      <p:ext uri="{BB962C8B-B14F-4D97-AF65-F5344CB8AC3E}">
        <p14:creationId xmlns:p14="http://schemas.microsoft.com/office/powerpoint/2010/main" val="175051369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3">
          <a:extLst>
            <a:ext uri="{FF2B5EF4-FFF2-40B4-BE49-F238E27FC236}">
              <a16:creationId xmlns:a16="http://schemas.microsoft.com/office/drawing/2014/main" id="{C2BD6C25-CA1F-DC0D-B731-A199E524115B}"/>
            </a:ext>
          </a:extLst>
        </p:cNvPr>
        <p:cNvGrpSpPr/>
        <p:nvPr/>
      </p:nvGrpSpPr>
      <p:grpSpPr>
        <a:xfrm>
          <a:off x="0" y="0"/>
          <a:ext cx="0" cy="0"/>
          <a:chOff x="0" y="0"/>
          <a:chExt cx="0" cy="0"/>
        </a:xfrm>
      </p:grpSpPr>
      <p:sp>
        <p:nvSpPr>
          <p:cNvPr id="304" name="Google Shape;304;p31">
            <a:extLst>
              <a:ext uri="{FF2B5EF4-FFF2-40B4-BE49-F238E27FC236}">
                <a16:creationId xmlns:a16="http://schemas.microsoft.com/office/drawing/2014/main" id="{6C320B53-8D34-FC64-C1D7-D6B1F7ADD277}"/>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Additional Aspects for Operationalisation</a:t>
            </a:r>
            <a:endParaRPr sz="2250"/>
          </a:p>
        </p:txBody>
      </p:sp>
      <p:sp>
        <p:nvSpPr>
          <p:cNvPr id="305" name="Google Shape;305;p31">
            <a:extLst>
              <a:ext uri="{FF2B5EF4-FFF2-40B4-BE49-F238E27FC236}">
                <a16:creationId xmlns:a16="http://schemas.microsoft.com/office/drawing/2014/main" id="{184374F4-2765-C19C-3A80-E954CB5449F1}"/>
              </a:ext>
            </a:extLst>
          </p:cNvPr>
          <p:cNvSpPr txBox="1">
            <a:spLocks noGrp="1"/>
          </p:cNvSpPr>
          <p:nvPr>
            <p:ph type="body" idx="2"/>
          </p:nvPr>
        </p:nvSpPr>
        <p:spPr>
          <a:xfrm>
            <a:off x="4738255" y="215917"/>
            <a:ext cx="4405745" cy="5034461"/>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018"/>
              <a:buNone/>
            </a:pPr>
            <a:r>
              <a:rPr lang="en" sz="1200" b="1" dirty="0">
                <a:solidFill>
                  <a:schemeClr val="accent4"/>
                </a:solidFill>
              </a:rPr>
              <a:t>Regulating KPI Targets and Achievements:</a:t>
            </a:r>
            <a:endParaRPr sz="1200" b="1" dirty="0">
              <a:solidFill>
                <a:schemeClr val="accent4"/>
              </a:solidFill>
            </a:endParaRPr>
          </a:p>
          <a:p>
            <a:pPr marL="457200" lvl="0" indent="-305435" algn="l" rtl="0">
              <a:lnSpc>
                <a:spcPct val="150000"/>
              </a:lnSpc>
              <a:spcBef>
                <a:spcPts val="1200"/>
              </a:spcBef>
              <a:spcAft>
                <a:spcPts val="0"/>
              </a:spcAft>
              <a:buClr>
                <a:schemeClr val="accent1"/>
              </a:buClr>
              <a:buSzPts val="1210"/>
              <a:buChar char="●"/>
            </a:pPr>
            <a:r>
              <a:rPr lang="en" sz="1200" dirty="0">
                <a:solidFill>
                  <a:schemeClr val="accent1"/>
                </a:solidFill>
              </a:rPr>
              <a:t>Guarantee targets are relevant, ambitious, and achievable</a:t>
            </a:r>
            <a:endParaRPr sz="1200" dirty="0">
              <a:solidFill>
                <a:schemeClr val="accent1"/>
              </a:solidFill>
            </a:endParaRPr>
          </a:p>
          <a:p>
            <a:pPr marL="457200" lvl="0" indent="-305435" algn="l" rtl="0">
              <a:lnSpc>
                <a:spcPct val="150000"/>
              </a:lnSpc>
              <a:spcBef>
                <a:spcPts val="0"/>
              </a:spcBef>
              <a:spcAft>
                <a:spcPts val="0"/>
              </a:spcAft>
              <a:buClr>
                <a:schemeClr val="accent1"/>
              </a:buClr>
              <a:buSzPts val="1210"/>
              <a:buChar char="●"/>
            </a:pPr>
            <a:r>
              <a:rPr lang="en" sz="1200" dirty="0">
                <a:solidFill>
                  <a:schemeClr val="accent1"/>
                </a:solidFill>
              </a:rPr>
              <a:t>Commit to supervising KPI achievement; avoid greenwashing</a:t>
            </a:r>
          </a:p>
          <a:p>
            <a:pPr marL="457200" lvl="0" indent="-305435" algn="l" rtl="0">
              <a:lnSpc>
                <a:spcPct val="150000"/>
              </a:lnSpc>
              <a:spcBef>
                <a:spcPts val="0"/>
              </a:spcBef>
              <a:spcAft>
                <a:spcPts val="0"/>
              </a:spcAft>
              <a:buClr>
                <a:schemeClr val="accent1"/>
              </a:buClr>
              <a:buSzPts val="1210"/>
              <a:buChar char="●"/>
            </a:pPr>
            <a:r>
              <a:rPr lang="en" sz="1200" dirty="0">
                <a:solidFill>
                  <a:schemeClr val="accent1"/>
                </a:solidFill>
              </a:rPr>
              <a:t>Establish institutions responsible for monitoring and evaluating sustainability performance targets</a:t>
            </a:r>
            <a:endParaRPr sz="1200" dirty="0">
              <a:solidFill>
                <a:schemeClr val="accent1"/>
              </a:solidFill>
            </a:endParaRPr>
          </a:p>
          <a:p>
            <a:pPr marL="0" lvl="0" indent="0" algn="l" rtl="0">
              <a:lnSpc>
                <a:spcPct val="150000"/>
              </a:lnSpc>
              <a:spcBef>
                <a:spcPts val="1200"/>
              </a:spcBef>
              <a:spcAft>
                <a:spcPts val="0"/>
              </a:spcAft>
              <a:buSzPts val="1018"/>
              <a:buNone/>
            </a:pPr>
            <a:r>
              <a:rPr lang="en" sz="1200" b="1" dirty="0">
                <a:solidFill>
                  <a:schemeClr val="accent4"/>
                </a:solidFill>
              </a:rPr>
              <a:t>Private Sector Participation Threshold:</a:t>
            </a:r>
            <a:endParaRPr sz="1200" b="1" dirty="0">
              <a:solidFill>
                <a:schemeClr val="accent4"/>
              </a:solidFill>
            </a:endParaRPr>
          </a:p>
          <a:p>
            <a:pPr marL="457200" lvl="0" indent="-305435" algn="l" rtl="0">
              <a:lnSpc>
                <a:spcPct val="150000"/>
              </a:lnSpc>
              <a:spcBef>
                <a:spcPts val="1200"/>
              </a:spcBef>
              <a:spcAft>
                <a:spcPts val="0"/>
              </a:spcAft>
              <a:buClr>
                <a:schemeClr val="accent1"/>
              </a:buClr>
              <a:buSzPts val="1210"/>
              <a:buChar char="●"/>
            </a:pPr>
            <a:r>
              <a:rPr lang="en" sz="1200" dirty="0">
                <a:solidFill>
                  <a:schemeClr val="accent1"/>
                </a:solidFill>
              </a:rPr>
              <a:t>Negotiate sovereign &amp; private sector participation thresholds</a:t>
            </a:r>
            <a:endParaRPr sz="1400" dirty="0">
              <a:solidFill>
                <a:schemeClr val="accent1"/>
              </a:solidFill>
            </a:endParaRPr>
          </a:p>
          <a:p>
            <a:pPr marL="0" lvl="0" indent="0" algn="l" rtl="0">
              <a:lnSpc>
                <a:spcPct val="150000"/>
              </a:lnSpc>
              <a:spcBef>
                <a:spcPts val="1200"/>
              </a:spcBef>
              <a:spcAft>
                <a:spcPts val="0"/>
              </a:spcAft>
              <a:buSzPts val="1018"/>
              <a:buNone/>
            </a:pPr>
            <a:r>
              <a:rPr lang="en" sz="1200" b="1" dirty="0">
                <a:solidFill>
                  <a:schemeClr val="accent4"/>
                </a:solidFill>
              </a:rPr>
              <a:t>Results Framework:</a:t>
            </a:r>
            <a:endParaRPr sz="1200" b="1" dirty="0">
              <a:solidFill>
                <a:schemeClr val="accent4"/>
              </a:solidFill>
            </a:endParaRPr>
          </a:p>
          <a:p>
            <a:pPr marL="457200" lvl="0" indent="-305435" algn="l" rtl="0">
              <a:lnSpc>
                <a:spcPct val="150000"/>
              </a:lnSpc>
              <a:spcBef>
                <a:spcPts val="1200"/>
              </a:spcBef>
              <a:spcAft>
                <a:spcPts val="0"/>
              </a:spcAft>
              <a:buClr>
                <a:schemeClr val="accent1"/>
              </a:buClr>
              <a:buSzPts val="1210"/>
              <a:buChar char="●"/>
            </a:pPr>
            <a:r>
              <a:rPr lang="en" sz="1200" dirty="0">
                <a:solidFill>
                  <a:srgbClr val="002F4A"/>
                </a:solidFill>
              </a:rPr>
              <a:t>Develop and agree on a results framework outlining desired outcomes</a:t>
            </a:r>
            <a:endParaRPr sz="1200" dirty="0">
              <a:solidFill>
                <a:srgbClr val="002F4A"/>
              </a:solidFill>
            </a:endParaRPr>
          </a:p>
          <a:p>
            <a:pPr marL="457200" lvl="0" indent="-305435" algn="l" rtl="0">
              <a:lnSpc>
                <a:spcPct val="150000"/>
              </a:lnSpc>
              <a:spcBef>
                <a:spcPts val="0"/>
              </a:spcBef>
              <a:spcAft>
                <a:spcPts val="0"/>
              </a:spcAft>
              <a:buClr>
                <a:schemeClr val="accent1"/>
              </a:buClr>
              <a:buSzPts val="1210"/>
              <a:buChar char="●"/>
            </a:pPr>
            <a:r>
              <a:rPr lang="en" sz="1200" dirty="0">
                <a:solidFill>
                  <a:srgbClr val="002F4A"/>
                </a:solidFill>
              </a:rPr>
              <a:t>Clearly define success metrics and indicators</a:t>
            </a:r>
            <a:endParaRPr sz="1200" dirty="0">
              <a:solidFill>
                <a:srgbClr val="002F4A"/>
              </a:solidFill>
            </a:endParaRPr>
          </a:p>
        </p:txBody>
      </p:sp>
    </p:spTree>
    <p:extLst>
      <p:ext uri="{BB962C8B-B14F-4D97-AF65-F5344CB8AC3E}">
        <p14:creationId xmlns:p14="http://schemas.microsoft.com/office/powerpoint/2010/main" val="2071028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9"/>
        <p:cNvGrpSpPr/>
        <p:nvPr/>
      </p:nvGrpSpPr>
      <p:grpSpPr>
        <a:xfrm>
          <a:off x="0" y="0"/>
          <a:ext cx="0" cy="0"/>
          <a:chOff x="0" y="0"/>
          <a:chExt cx="0" cy="0"/>
        </a:xfrm>
      </p:grpSpPr>
      <p:sp>
        <p:nvSpPr>
          <p:cNvPr id="3" name="Subtitle 2">
            <a:extLst>
              <a:ext uri="{FF2B5EF4-FFF2-40B4-BE49-F238E27FC236}">
                <a16:creationId xmlns:a16="http://schemas.microsoft.com/office/drawing/2014/main" id="{02309E0B-079C-FF10-461B-101D5AA08402}"/>
              </a:ext>
            </a:extLst>
          </p:cNvPr>
          <p:cNvSpPr>
            <a:spLocks noGrp="1"/>
          </p:cNvSpPr>
          <p:nvPr>
            <p:ph type="subTitle" idx="1"/>
          </p:nvPr>
        </p:nvSpPr>
        <p:spPr>
          <a:xfrm>
            <a:off x="3318782" y="3951791"/>
            <a:ext cx="5825218" cy="794828"/>
          </a:xfrm>
        </p:spPr>
        <p:txBody>
          <a:bodyPr/>
          <a:lstStyle/>
          <a:p>
            <a:r>
              <a:rPr lang="en"/>
              <a:t>Conclusions</a:t>
            </a:r>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0520196E-3FFF-7B7C-9E83-E0E46A1DAF8C}"/>
            </a:ext>
          </a:extLst>
        </p:cNvPr>
        <p:cNvGrpSpPr/>
        <p:nvPr/>
      </p:nvGrpSpPr>
      <p:grpSpPr>
        <a:xfrm>
          <a:off x="0" y="0"/>
          <a:ext cx="0" cy="0"/>
          <a:chOff x="0" y="0"/>
          <a:chExt cx="0" cy="0"/>
        </a:xfrm>
      </p:grpSpPr>
      <p:sp>
        <p:nvSpPr>
          <p:cNvPr id="317" name="Google Shape;317;p33">
            <a:extLst>
              <a:ext uri="{FF2B5EF4-FFF2-40B4-BE49-F238E27FC236}">
                <a16:creationId xmlns:a16="http://schemas.microsoft.com/office/drawing/2014/main" id="{C38283E4-4DBB-613B-F662-625C3D75F975}"/>
              </a:ext>
            </a:extLst>
          </p:cNvPr>
          <p:cNvSpPr txBox="1">
            <a:spLocks noGrp="1"/>
          </p:cNvSpPr>
          <p:nvPr>
            <p:ph type="subTitle" idx="1"/>
          </p:nvPr>
        </p:nvSpPr>
        <p:spPr>
          <a:prstGeom prst="rect">
            <a:avLst/>
          </a:prstGeom>
        </p:spPr>
        <p:txBody>
          <a:bodyPr spcFirstLastPara="1" wrap="square" lIns="91425" tIns="91425" rIns="91425" bIns="91425" anchor="t" anchorCtr="0">
            <a:noAutofit/>
          </a:bodyPr>
          <a:lstStyle/>
          <a:p>
            <a:pPr marL="0" indent="0">
              <a:lnSpc>
                <a:spcPct val="110000"/>
              </a:lnSpc>
              <a:buNone/>
            </a:pPr>
            <a:r>
              <a:rPr lang="en" dirty="0"/>
              <a:t>Conclusions</a:t>
            </a:r>
          </a:p>
        </p:txBody>
      </p:sp>
      <p:grpSp>
        <p:nvGrpSpPr>
          <p:cNvPr id="7" name="Google Shape;318;p33">
            <a:extLst>
              <a:ext uri="{FF2B5EF4-FFF2-40B4-BE49-F238E27FC236}">
                <a16:creationId xmlns:a16="http://schemas.microsoft.com/office/drawing/2014/main" id="{0F7ABCF3-6C5D-155D-DDB8-52384B120EDF}"/>
              </a:ext>
            </a:extLst>
          </p:cNvPr>
          <p:cNvGrpSpPr/>
          <p:nvPr/>
        </p:nvGrpSpPr>
        <p:grpSpPr>
          <a:xfrm>
            <a:off x="5968721" y="1361508"/>
            <a:ext cx="2863604" cy="1235946"/>
            <a:chOff x="3071454" y="2013875"/>
            <a:chExt cx="2154300" cy="1589991"/>
          </a:xfrm>
        </p:grpSpPr>
        <p:sp>
          <p:nvSpPr>
            <p:cNvPr id="4" name="Google Shape;319;p33">
              <a:extLst>
                <a:ext uri="{FF2B5EF4-FFF2-40B4-BE49-F238E27FC236}">
                  <a16:creationId xmlns:a16="http://schemas.microsoft.com/office/drawing/2014/main" id="{D4CFA291-D546-3679-76FF-5D5AC2B0DB21}"/>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20;p33">
              <a:extLst>
                <a:ext uri="{FF2B5EF4-FFF2-40B4-BE49-F238E27FC236}">
                  <a16:creationId xmlns:a16="http://schemas.microsoft.com/office/drawing/2014/main" id="{E5A618BD-A97F-BC65-AFD5-2F5851C3CACD}"/>
                </a:ext>
              </a:extLst>
            </p:cNvPr>
            <p:cNvSpPr txBox="1"/>
            <p:nvPr/>
          </p:nvSpPr>
          <p:spPr>
            <a:xfrm>
              <a:off x="3276556" y="2184138"/>
              <a:ext cx="1557900" cy="328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lang="en" sz="1200" b="1">
                <a:solidFill>
                  <a:schemeClr val="accent1"/>
                </a:solidFill>
                <a:latin typeface="Roboto"/>
                <a:ea typeface="Roboto"/>
                <a:cs typeface="Roboto"/>
              </a:endParaRPr>
            </a:p>
          </p:txBody>
        </p:sp>
        <p:sp>
          <p:nvSpPr>
            <p:cNvPr id="6" name="Google Shape;321;p33">
              <a:extLst>
                <a:ext uri="{FF2B5EF4-FFF2-40B4-BE49-F238E27FC236}">
                  <a16:creationId xmlns:a16="http://schemas.microsoft.com/office/drawing/2014/main" id="{6DD4FF8C-43B4-BF70-92ED-FCBFC9896E37}"/>
                </a:ext>
              </a:extLst>
            </p:cNvPr>
            <p:cNvSpPr txBox="1"/>
            <p:nvPr/>
          </p:nvSpPr>
          <p:spPr>
            <a:xfrm>
              <a:off x="3231496" y="2069782"/>
              <a:ext cx="1929923" cy="1534084"/>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158750">
                <a:lnSpc>
                  <a:spcPct val="150000"/>
                </a:lnSpc>
                <a:buClr>
                  <a:srgbClr val="FFFFFF"/>
                </a:buClr>
                <a:buSzPts val="1108"/>
              </a:pPr>
              <a:r>
                <a:rPr lang="en" sz="1000" b="1" dirty="0">
                  <a:solidFill>
                    <a:schemeClr val="bg1"/>
                  </a:solidFill>
                  <a:latin typeface="Roboto"/>
                  <a:ea typeface="Roboto"/>
                  <a:cs typeface="Roboto"/>
                </a:rPr>
                <a:t>Next Steps:</a:t>
              </a: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Refinement and Exploration </a:t>
              </a:r>
              <a:endParaRPr lang="en-US" sz="1000" dirty="0">
                <a:solidFill>
                  <a:srgbClr val="002060"/>
                </a:solidFill>
                <a:latin typeface="Roboto"/>
                <a:ea typeface="Roboto"/>
                <a:cs typeface="Roboto"/>
              </a:endParaRP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Feedback and Collaboration</a:t>
              </a:r>
              <a:endParaRPr lang="en" sz="1000" dirty="0">
                <a:solidFill>
                  <a:srgbClr val="002060"/>
                </a:solidFill>
                <a:latin typeface="Roboto"/>
                <a:ea typeface="Roboto"/>
                <a:cs typeface="Roboto"/>
              </a:endParaRP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Scaling Impact</a:t>
              </a:r>
              <a:endParaRPr lang="en" sz="1000" dirty="0">
                <a:solidFill>
                  <a:srgbClr val="002060"/>
                </a:solidFill>
                <a:latin typeface="Roboto"/>
                <a:ea typeface="Roboto"/>
                <a:cs typeface="Roboto"/>
              </a:endParaRPr>
            </a:p>
          </p:txBody>
        </p:sp>
      </p:grpSp>
      <p:sp>
        <p:nvSpPr>
          <p:cNvPr id="3" name="Google Shape;317;p33">
            <a:extLst>
              <a:ext uri="{FF2B5EF4-FFF2-40B4-BE49-F238E27FC236}">
                <a16:creationId xmlns:a16="http://schemas.microsoft.com/office/drawing/2014/main" id="{DE15D7C1-76F1-CE4F-1FBE-D812132649B2}"/>
              </a:ext>
            </a:extLst>
          </p:cNvPr>
          <p:cNvSpPr txBox="1">
            <a:spLocks/>
          </p:cNvSpPr>
          <p:nvPr/>
        </p:nvSpPr>
        <p:spPr>
          <a:xfrm>
            <a:off x="397192" y="1347814"/>
            <a:ext cx="8453510" cy="35670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nSpc>
                <a:spcPct val="150000"/>
              </a:lnSpc>
            </a:pPr>
            <a:r>
              <a:rPr lang="en" sz="1400" b="1" dirty="0">
                <a:solidFill>
                  <a:schemeClr val="accent4"/>
                </a:solidFill>
                <a:latin typeface="Roboto" panose="02000000000000000000" pitchFamily="2" charset="0"/>
                <a:ea typeface="Roboto" panose="02000000000000000000" pitchFamily="2" charset="0"/>
                <a:cs typeface="Roboto" panose="02000000000000000000" pitchFamily="2" charset="0"/>
              </a:rPr>
              <a:t>Challenge Overview:</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Urgent need for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innovative solutions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to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mobilize private capital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for </a:t>
            </a:r>
          </a:p>
          <a:p>
            <a:pPr>
              <a:lnSpc>
                <a:spcPct val="150000"/>
              </a:lnSpc>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sustainable objectives.</a:t>
            </a:r>
          </a:p>
          <a:p>
            <a:pPr>
              <a:lnSpc>
                <a:spcPct val="150000"/>
              </a:lnSpc>
            </a:pPr>
            <a:endParaRPr lang="en-US" sz="1200" b="1" dirty="0">
              <a:solidFill>
                <a:schemeClr val="accent4"/>
              </a:solidFill>
              <a:latin typeface="Roboto" panose="02000000000000000000" pitchFamily="2" charset="0"/>
              <a:ea typeface="Roboto" panose="02000000000000000000" pitchFamily="2" charset="0"/>
              <a:cs typeface="Roboto" panose="02000000000000000000" pitchFamily="2" charset="0"/>
            </a:endParaRPr>
          </a:p>
          <a:p>
            <a:pPr>
              <a:lnSpc>
                <a:spcPct val="150000"/>
              </a:lnSpc>
            </a:pPr>
            <a:r>
              <a:rPr lang="en-US" sz="1400" b="1" dirty="0">
                <a:solidFill>
                  <a:schemeClr val="accent4"/>
                </a:solidFill>
                <a:latin typeface="Roboto" panose="02000000000000000000" pitchFamily="2" charset="0"/>
                <a:ea typeface="Roboto" panose="02000000000000000000" pitchFamily="2" charset="0"/>
                <a:cs typeface="Roboto" panose="02000000000000000000" pitchFamily="2" charset="0"/>
              </a:rPr>
              <a:t>Room for Improvement - SLBs:</a:t>
            </a:r>
          </a:p>
          <a:p>
            <a:pPr marL="285750" indent="-285750">
              <a:lnSpc>
                <a:spcPct val="150000"/>
              </a:lnSpc>
              <a:buFont typeface="Arial" panose="020B0604020202020204" pitchFamily="34" charset="0"/>
              <a:buChar char="•"/>
            </a:pP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Challenges</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observed in existing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SLBs</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complexity, variable coupon payments, and market resistance.</a:t>
            </a:r>
          </a:p>
          <a:p>
            <a:pPr>
              <a:lnSpc>
                <a:spcPct val="150000"/>
              </a:lnSpc>
            </a:pPr>
            <a:endParaRPr lang="en-US" sz="120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a:lnSpc>
                <a:spcPct val="150000"/>
              </a:lnSpc>
            </a:pPr>
            <a:r>
              <a:rPr lang="en-US" sz="1400" b="1" dirty="0">
                <a:solidFill>
                  <a:schemeClr val="accent4"/>
                </a:solidFill>
                <a:latin typeface="Roboto" panose="02000000000000000000" pitchFamily="2" charset="0"/>
                <a:ea typeface="Roboto" panose="02000000000000000000" pitchFamily="2" charset="0"/>
                <a:cs typeface="Roboto" panose="02000000000000000000" pitchFamily="2" charset="0"/>
              </a:rPr>
              <a:t>Enhanced Approach- SLIDIs with WB Operationalization:</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A more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attractive and effective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financial instrument for investors and sovereigns.</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Choice of ‘Prior Action’ or RBCF system, with former choice reducing financial risk to WB and latter offering stronger performance incentives to client country.</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Development agency partner participation to enhance private sector confidence and achieve sustainability objectives.</a:t>
            </a:r>
          </a:p>
          <a:p>
            <a:pPr>
              <a:lnSpc>
                <a:spcPct val="110000"/>
              </a:lnSpc>
            </a:pPr>
            <a:endParaRPr lang="en" dirty="0"/>
          </a:p>
        </p:txBody>
      </p:sp>
    </p:spTree>
    <p:extLst>
      <p:ext uri="{BB962C8B-B14F-4D97-AF65-F5344CB8AC3E}">
        <p14:creationId xmlns:p14="http://schemas.microsoft.com/office/powerpoint/2010/main" val="115780273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9">
          <a:extLst>
            <a:ext uri="{FF2B5EF4-FFF2-40B4-BE49-F238E27FC236}">
              <a16:creationId xmlns:a16="http://schemas.microsoft.com/office/drawing/2014/main" id="{086FDFC8-EC80-00CA-79FC-60AF4C9A0D78}"/>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B94EF978-E445-15BD-0A16-FFF11CFA7B6F}"/>
              </a:ext>
            </a:extLst>
          </p:cNvPr>
          <p:cNvSpPr>
            <a:spLocks noGrp="1"/>
          </p:cNvSpPr>
          <p:nvPr>
            <p:ph type="subTitle" idx="1"/>
          </p:nvPr>
        </p:nvSpPr>
        <p:spPr>
          <a:xfrm>
            <a:off x="5012393" y="396345"/>
            <a:ext cx="3684662" cy="481076"/>
          </a:xfrm>
        </p:spPr>
        <p:txBody>
          <a:bodyPr>
            <a:normAutofit fontScale="92500" lnSpcReduction="20000"/>
          </a:bodyPr>
          <a:lstStyle/>
          <a:p>
            <a:r>
              <a:rPr lang="en-GB"/>
              <a:t>SLIDIs</a:t>
            </a:r>
          </a:p>
          <a:p>
            <a:endParaRPr lang="en-US"/>
          </a:p>
        </p:txBody>
      </p:sp>
      <p:sp>
        <p:nvSpPr>
          <p:cNvPr id="4" name="Text Placeholder 3">
            <a:extLst>
              <a:ext uri="{FF2B5EF4-FFF2-40B4-BE49-F238E27FC236}">
                <a16:creationId xmlns:a16="http://schemas.microsoft.com/office/drawing/2014/main" id="{B2C0B36D-EC1D-4BEC-C15B-B614E01C2D4C}"/>
              </a:ext>
            </a:extLst>
          </p:cNvPr>
          <p:cNvSpPr>
            <a:spLocks noGrp="1"/>
          </p:cNvSpPr>
          <p:nvPr>
            <p:ph type="body" sz="quarter" idx="11"/>
          </p:nvPr>
        </p:nvSpPr>
        <p:spPr>
          <a:xfrm>
            <a:off x="5011738" y="1008063"/>
            <a:ext cx="3954462" cy="3984625"/>
          </a:xfrm>
        </p:spPr>
        <p:txBody>
          <a:bodyPr>
            <a:normAutofit/>
          </a:bodyPr>
          <a:lstStyle/>
          <a:p>
            <a:pPr marL="0" lvl="0" indent="0">
              <a:buNone/>
            </a:pPr>
            <a:endParaRPr lang="en-GB" sz="2800">
              <a:solidFill>
                <a:srgbClr val="002F4A"/>
              </a:solidFill>
              <a:latin typeface="Merriweather" pitchFamily="2" charset="77"/>
            </a:endParaRPr>
          </a:p>
          <a:p>
            <a:pPr marL="0" lvl="0" indent="0">
              <a:buNone/>
            </a:pPr>
            <a:r>
              <a:rPr lang="en-GB" sz="2800">
                <a:solidFill>
                  <a:srgbClr val="002F4A"/>
                </a:solidFill>
                <a:latin typeface="Merriweather" pitchFamily="2" charset="77"/>
              </a:rPr>
              <a:t>Thank you! Discussion.</a:t>
            </a:r>
            <a:endParaRPr lang="en-US" sz="2800">
              <a:solidFill>
                <a:srgbClr val="002F4A"/>
              </a:solidFill>
              <a:latin typeface="Merriweather" pitchFamily="2" charset="77"/>
            </a:endParaRPr>
          </a:p>
        </p:txBody>
      </p:sp>
    </p:spTree>
    <p:extLst>
      <p:ext uri="{BB962C8B-B14F-4D97-AF65-F5344CB8AC3E}">
        <p14:creationId xmlns:p14="http://schemas.microsoft.com/office/powerpoint/2010/main" val="35526686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a2575f19-ccfc-4947-a811-9b717af3c70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AB9018FA3249548A5BDA34FD45E4298" ma:contentTypeVersion="20" ma:contentTypeDescription="Create a new document." ma:contentTypeScope="" ma:versionID="7be92835e16f41697ccac75a263c081e">
  <xsd:schema xmlns:xsd="http://www.w3.org/2001/XMLSchema" xmlns:xs="http://www.w3.org/2001/XMLSchema" xmlns:p="http://schemas.microsoft.com/office/2006/metadata/properties" xmlns:ns1="http://schemas.microsoft.com/sharepoint/v3" xmlns:ns3="a2575f19-ccfc-4947-a811-9b717af3c709" xmlns:ns4="404e9e9c-15d8-4aca-92ae-5f86d37582cd" targetNamespace="http://schemas.microsoft.com/office/2006/metadata/properties" ma:root="true" ma:fieldsID="7ad49b465ab6f4fc995392a8b7010ed0" ns1:_="" ns3:_="" ns4:_="">
    <xsd:import namespace="http://schemas.microsoft.com/sharepoint/v3"/>
    <xsd:import namespace="a2575f19-ccfc-4947-a811-9b717af3c709"/>
    <xsd:import namespace="404e9e9c-15d8-4aca-92ae-5f86d37582c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575f19-ccfc-4947-a811-9b717af3c7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4e9e9c-15d8-4aca-92ae-5f86d37582c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7D7837-F8D7-4813-A753-AD88A8236BF1}">
  <ds:schemaRefs>
    <ds:schemaRef ds:uri="http://schemas.microsoft.com/sharepoint/v3"/>
    <ds:schemaRef ds:uri="http://schemas.microsoft.com/office/2006/documentManagement/types"/>
    <ds:schemaRef ds:uri="http://purl.org/dc/dcmitype/"/>
    <ds:schemaRef ds:uri="http://schemas.microsoft.com/office/2006/metadata/properties"/>
    <ds:schemaRef ds:uri="a2575f19-ccfc-4947-a811-9b717af3c709"/>
    <ds:schemaRef ds:uri="http://purl.org/dc/terms/"/>
    <ds:schemaRef ds:uri="http://schemas.microsoft.com/office/infopath/2007/PartnerControls"/>
    <ds:schemaRef ds:uri="http://schemas.openxmlformats.org/package/2006/metadata/core-properties"/>
    <ds:schemaRef ds:uri="404e9e9c-15d8-4aca-92ae-5f86d37582cd"/>
    <ds:schemaRef ds:uri="http://www.w3.org/XML/1998/namespace"/>
    <ds:schemaRef ds:uri="http://purl.org/dc/elements/1.1/"/>
  </ds:schemaRefs>
</ds:datastoreItem>
</file>

<file path=customXml/itemProps2.xml><?xml version="1.0" encoding="utf-8"?>
<ds:datastoreItem xmlns:ds="http://schemas.openxmlformats.org/officeDocument/2006/customXml" ds:itemID="{8A035E8A-9DE3-4785-AF76-F1078CBCC5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575f19-ccfc-4947-a811-9b717af3c709"/>
    <ds:schemaRef ds:uri="404e9e9c-15d8-4aca-92ae-5f86d37582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F9D67E-8A72-4093-BAEB-50D662CD2A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315</TotalTime>
  <Words>3735</Words>
  <Application>Microsoft Office PowerPoint</Application>
  <PresentationFormat>On-screen Show (16:9)</PresentationFormat>
  <Paragraphs>388</Paragraphs>
  <Slides>43</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Courier New</vt:lpstr>
      <vt:lpstr>Arial</vt:lpstr>
      <vt:lpstr>Merriweather</vt:lpstr>
      <vt:lpstr>Arial,Sans-Serif</vt:lpstr>
      <vt:lpstr>Roboto</vt:lpstr>
      <vt:lpstr>Paradigm</vt:lpstr>
      <vt:lpstr>Sustainability-Linked Intermediated Debt Instruments (SLIDIs)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SLBs Shortcomings  </vt:lpstr>
      <vt:lpstr>PowerPoint Presentation</vt:lpstr>
      <vt:lpstr>PowerPoint Presentation</vt:lpstr>
      <vt:lpstr>PowerPoint Presentation</vt:lpstr>
      <vt:lpstr>PowerPoint Presentation</vt:lpstr>
      <vt:lpstr>Option One: WB Payment to Pay For The Difference</vt:lpstr>
      <vt:lpstr>PowerPoint Presentation</vt:lpstr>
      <vt:lpstr>PowerPoint Presentation</vt:lpstr>
      <vt:lpstr>PowerPoint Presentation</vt:lpstr>
      <vt:lpstr>PowerPoint Presentation</vt:lpstr>
      <vt:lpstr>Option Two: Trusted  Intermediary</vt:lpstr>
      <vt:lpstr>Option Two: Trusted  Intermediary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Additional Aspects for Operationalisation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Bonds</dc:title>
  <dc:creator>Nils Burkhard Patrik Zimmermann</dc:creator>
  <cp:lastModifiedBy>Stephen John Stretton</cp:lastModifiedBy>
  <cp:revision>10</cp:revision>
  <dcterms:modified xsi:type="dcterms:W3CDTF">2024-10-29T23:04:28Z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0x0101006AB9018FA3249548A5BDA34FD45E4298</vt:lpwstr>
  </property>
</Properties>
</file>