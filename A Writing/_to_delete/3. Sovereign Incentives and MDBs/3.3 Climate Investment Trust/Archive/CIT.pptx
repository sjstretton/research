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9"/>
  </p:notesMasterIdLst>
  <p:handoutMasterIdLst>
    <p:handoutMasterId r:id="rId10"/>
  </p:handoutMasterIdLst>
  <p:sldIdLst>
    <p:sldId id="256" r:id="rId2"/>
    <p:sldId id="273" r:id="rId3"/>
    <p:sldId id="297" r:id="rId4"/>
    <p:sldId id="295" r:id="rId5"/>
    <p:sldId id="290" r:id="rId6"/>
    <p:sldId id="298" r:id="rId7"/>
    <p:sldId id="27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8472421-E47D-E891-E5F0-C39FE19C5E1C}" name="Franz Ulrich Ruch" initials="FUR" userId="S::fruch@worldbank.org::ef836dd7-eed9-43bd-94cc-28d462bd2336" providerId="AD"/>
  <p188:author id="{6F66E68B-B951-F083-565F-63EA1B809B48}" name="Julio Velasco" initials="JV" userId="S::jvelasco@worldbank.org::6f1ff5e7-17b2-4024-9717-e56c01bf05d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6152"/>
    <a:srgbClr val="EBF4D6"/>
    <a:srgbClr val="ECF4D6"/>
    <a:srgbClr val="1B5336"/>
    <a:srgbClr val="012903"/>
    <a:srgbClr val="DAF4ED"/>
    <a:srgbClr val="EBF1ED"/>
    <a:srgbClr val="A8E2C5"/>
    <a:srgbClr val="F4F9E8"/>
    <a:srgbClr val="3193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348" autoAdjust="0"/>
    <p:restoredTop sz="95816" autoAdjust="0"/>
  </p:normalViewPr>
  <p:slideViewPr>
    <p:cSldViewPr snapToGrid="0">
      <p:cViewPr>
        <p:scale>
          <a:sx n="94" d="100"/>
          <a:sy n="94" d="100"/>
        </p:scale>
        <p:origin x="1576" y="784"/>
      </p:cViewPr>
      <p:guideLst/>
    </p:cSldViewPr>
  </p:slideViewPr>
  <p:outlineViewPr>
    <p:cViewPr>
      <p:scale>
        <a:sx n="20" d="100"/>
        <a:sy n="20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8/10/relationships/authors" Target="author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FAEE9BA-26E0-9BD1-3263-DEAF490E844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48CF16-7CA3-05AD-6921-7CD14AB9A93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AB395E-127E-471D-8229-1A3314E01AAD}" type="datetimeFigureOut">
              <a:rPr lang="en-US" smtClean="0"/>
              <a:t>5/2/24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96C14E-49DA-63A2-44B7-3AFA733A9C7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5D8EA9-555D-1A98-FB5D-32EA8BAF968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086A6-A573-4E5A-ADCE-3AF15C4FE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00826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34436E-5EFD-4F04-AAD4-07ABA7425AB0}" type="datetimeFigureOut">
              <a:rPr lang="en-US" smtClean="0"/>
              <a:t>5/2/24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701472-DBED-4D58-983F-D26D468178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51443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701472-DBED-4D58-983F-D26D468178A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250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oking up at the sky through the trees&#10;&#10;Description automatically generated">
            <a:extLst>
              <a:ext uri="{FF2B5EF4-FFF2-40B4-BE49-F238E27FC236}">
                <a16:creationId xmlns:a16="http://schemas.microsoft.com/office/drawing/2014/main" id="{93E89D5A-95FC-C9B6-1B0C-99FF0E10BC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1716"/>
          <a:stretch/>
        </p:blipFill>
        <p:spPr>
          <a:xfrm>
            <a:off x="-1" y="152227"/>
            <a:ext cx="12192001" cy="6705774"/>
          </a:xfrm>
          <a:prstGeom prst="rect">
            <a:avLst/>
          </a:prstGeom>
        </p:spPr>
      </p:pic>
      <p:sp>
        <p:nvSpPr>
          <p:cNvPr id="28" name="Google Shape;10;p2">
            <a:extLst>
              <a:ext uri="{FF2B5EF4-FFF2-40B4-BE49-F238E27FC236}">
                <a16:creationId xmlns:a16="http://schemas.microsoft.com/office/drawing/2014/main" id="{5228A903-53C0-8F47-64A3-A47C5B74A222}"/>
              </a:ext>
            </a:extLst>
          </p:cNvPr>
          <p:cNvSpPr/>
          <p:nvPr userDrawn="1"/>
        </p:nvSpPr>
        <p:spPr>
          <a:xfrm>
            <a:off x="0" y="0"/>
            <a:ext cx="12192000" cy="64770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8529B4-9A66-3967-93D1-B1E1D764EE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070" y="641434"/>
            <a:ext cx="1043178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5400" b="1" i="0">
                <a:solidFill>
                  <a:srgbClr val="012903"/>
                </a:solidFill>
                <a:latin typeface="+mj-lt"/>
                <a:cs typeface="Arial Hebrew" pitchFamily="2" charset="-79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D037B6-4255-92E8-A047-EA43DE80A0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0070" y="3238500"/>
            <a:ext cx="6172200" cy="6414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i="0">
                <a:solidFill>
                  <a:srgbClr val="20615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305172B-6733-BD95-91C3-40B44DC1B9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03660" y="5015753"/>
            <a:ext cx="2729566" cy="1575547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24776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4A1690-501B-E3A8-EC14-F39DD4830685}"/>
              </a:ext>
            </a:extLst>
          </p:cNvPr>
          <p:cNvSpPr>
            <a:spLocks noChangeArrowheads="1"/>
          </p:cNvSpPr>
          <p:nvPr userDrawn="1"/>
        </p:nvSpPr>
        <p:spPr bwMode="auto">
          <a:xfrm flipV="1">
            <a:off x="0" y="0"/>
            <a:ext cx="12192000" cy="4479925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 lIns="0" tIns="0" rIns="0" bIns="0"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F460CF-7279-C343-F39E-33739C82BF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308" y="2536694"/>
            <a:ext cx="10955383" cy="1066818"/>
          </a:xfrm>
        </p:spPr>
        <p:txBody>
          <a:bodyPr anchor="b"/>
          <a:lstStyle>
            <a:lvl1pPr algn="l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EEF29-1660-B535-28CA-CDB76C2A94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8308" y="3610452"/>
            <a:ext cx="10955383" cy="491290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DAEFB8"/>
                </a:solidFill>
                <a:latin typeface="Aptos Light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D466BD-30A3-5235-DD6E-0AE34EA4C34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4448157"/>
            <a:ext cx="12192000" cy="8309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  <p:sp>
        <p:nvSpPr>
          <p:cNvPr id="10" name="Text Placeholder 331">
            <a:extLst>
              <a:ext uri="{FF2B5EF4-FFF2-40B4-BE49-F238E27FC236}">
                <a16:creationId xmlns:a16="http://schemas.microsoft.com/office/drawing/2014/main" id="{07F963C1-B46B-E73C-0D6F-78ACDC434F3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88062" y="5247968"/>
            <a:ext cx="3885629" cy="1093938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marR="0" indent="0" algn="r" defTabSz="914400" rtl="0" eaLnBrk="1" fontAlgn="base" latinLnBrk="0" hangingPunct="1">
              <a:lnSpc>
                <a:spcPct val="115000"/>
              </a:lnSpc>
              <a:spcBef>
                <a:spcPts val="0"/>
              </a:spcBef>
              <a:spcAft>
                <a:spcPct val="0"/>
              </a:spcAft>
              <a:buClr>
                <a:srgbClr val="00783C"/>
              </a:buClr>
              <a:buSzTx/>
              <a:buFontTx/>
              <a:buNone/>
              <a:tabLst/>
              <a:defRPr sz="1600" b="0" i="0" baseline="0">
                <a:solidFill>
                  <a:srgbClr val="022A03"/>
                </a:solidFill>
                <a:latin typeface="Aptos Light" panose="020B0004020202020204" pitchFamily="34" charset="0"/>
                <a:cs typeface="Arial"/>
              </a:defRPr>
            </a:lvl1pPr>
            <a:lvl2pPr marL="0" marR="0" indent="0" algn="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783C"/>
              </a:buClr>
              <a:buSzTx/>
              <a:buFont typeface="Wingdings" charset="0"/>
              <a:buNone/>
              <a:tabLst/>
              <a:defRPr sz="1600" b="0" i="0">
                <a:solidFill>
                  <a:srgbClr val="022A03"/>
                </a:solidFill>
                <a:latin typeface="Aptos Light" panose="020B0004020202020204" pitchFamily="34" charset="0"/>
                <a:cs typeface="Andes ExtraLight"/>
              </a:defRPr>
            </a:lvl2pPr>
            <a:lvl3pPr>
              <a:defRPr b="0" i="0">
                <a:latin typeface="Andes ExtraLight"/>
                <a:cs typeface="Andes ExtraLight"/>
              </a:defRPr>
            </a:lvl3pPr>
            <a:lvl4pPr>
              <a:defRPr b="0" i="0">
                <a:latin typeface="Andes ExtraLight"/>
                <a:cs typeface="Andes ExtraLight"/>
              </a:defRPr>
            </a:lvl4pPr>
            <a:lvl5pPr>
              <a:defRPr b="0" i="0">
                <a:latin typeface="Andes ExtraLight"/>
                <a:cs typeface="Andes ExtraLigh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879378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460CF-7279-C343-F39E-33739C82BF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308" y="5279894"/>
            <a:ext cx="10955383" cy="1066818"/>
          </a:xfrm>
          <a:solidFill>
            <a:schemeClr val="tx1"/>
          </a:solidFill>
        </p:spPr>
        <p:txBody>
          <a:bodyPr lIns="0" tIns="0" rIns="0" bIns="0" anchor="b"/>
          <a:lstStyle>
            <a:lvl1pPr algn="l">
              <a:defRPr sz="6000" b="1">
                <a:solidFill>
                  <a:srgbClr val="022A0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4" name="Picture 3" descr="A road through a forest&#10;&#10;Description automatically generated">
            <a:extLst>
              <a:ext uri="{FF2B5EF4-FFF2-40B4-BE49-F238E27FC236}">
                <a16:creationId xmlns:a16="http://schemas.microsoft.com/office/drawing/2014/main" id="{968505F6-D10F-F3F2-069D-D9803AFF55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73" b="17096"/>
          <a:stretch/>
        </p:blipFill>
        <p:spPr>
          <a:xfrm>
            <a:off x="-1" y="-1077066"/>
            <a:ext cx="12191999" cy="570810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739B807-FF59-567E-4263-5A96FBAA982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4631037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5128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4A1690-501B-E3A8-EC14-F39DD4830685}"/>
              </a:ext>
            </a:extLst>
          </p:cNvPr>
          <p:cNvSpPr>
            <a:spLocks noChangeArrowheads="1"/>
          </p:cNvSpPr>
          <p:nvPr userDrawn="1"/>
        </p:nvSpPr>
        <p:spPr bwMode="auto">
          <a:xfrm flipV="1">
            <a:off x="0" y="-3"/>
            <a:ext cx="4251962" cy="6858001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F460CF-7279-C343-F39E-33739C82BF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310" y="502920"/>
            <a:ext cx="3293290" cy="1676400"/>
          </a:xfrm>
        </p:spPr>
        <p:txBody>
          <a:bodyPr lIns="0" tIns="0" rIns="0" bIns="0" anchor="t">
            <a:normAutofit/>
          </a:bodyPr>
          <a:lstStyle>
            <a:lvl1pPr algn="l"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D466BD-30A3-5235-DD6E-0AE34EA4C34A}"/>
              </a:ext>
            </a:extLst>
          </p:cNvPr>
          <p:cNvSpPr>
            <a:spLocks noChangeArrowheads="1"/>
          </p:cNvSpPr>
          <p:nvPr userDrawn="1"/>
        </p:nvSpPr>
        <p:spPr bwMode="auto">
          <a:xfrm rot="16200000">
            <a:off x="800103" y="3406141"/>
            <a:ext cx="6857999" cy="45719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bg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7EED4C-3CAC-6637-0225-8789721FD0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6605" y="502920"/>
            <a:ext cx="7027086" cy="6069330"/>
          </a:xfrm>
        </p:spPr>
        <p:txBody>
          <a:bodyPr/>
          <a:lstStyle>
            <a:lvl1pPr marL="514350" indent="-514350">
              <a:buFont typeface="+mj-lt"/>
              <a:buAutoNum type="arabicPeriod"/>
              <a:defRPr>
                <a:latin typeface="Aptos Light" panose="020B0004020202020204" pitchFamily="34" charset="0"/>
              </a:defRPr>
            </a:lvl1pPr>
            <a:lvl2pPr marL="914400" indent="-457200">
              <a:buFont typeface="+mj-lt"/>
              <a:buAutoNum type="alphaLcPeriod"/>
              <a:defRPr>
                <a:latin typeface="Aptos Light" panose="020B0004020202020204" pitchFamily="34" charset="0"/>
              </a:defRPr>
            </a:lvl2pPr>
            <a:lvl3pPr marL="1371600" indent="-457200">
              <a:buFont typeface="+mj-lt"/>
              <a:buAutoNum type="alphaLcPeriod"/>
              <a:defRPr>
                <a:latin typeface="Aptos Light" panose="020B0004020202020204" pitchFamily="34" charset="0"/>
              </a:defRPr>
            </a:lvl3pPr>
            <a:lvl4pPr marL="1714500" indent="-342900">
              <a:buFont typeface="+mj-lt"/>
              <a:buAutoNum type="alphaLcPeriod"/>
              <a:defRPr>
                <a:latin typeface="Aptos Light" panose="020B0004020202020204" pitchFamily="34" charset="0"/>
              </a:defRPr>
            </a:lvl4pPr>
            <a:lvl5pPr marL="2171700" indent="-342900">
              <a:buFont typeface="+mj-lt"/>
              <a:buAutoNum type="alphaLcPeriod"/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265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oking up view of trees in the forest&#10;&#10;Description automatically generated">
            <a:extLst>
              <a:ext uri="{FF2B5EF4-FFF2-40B4-BE49-F238E27FC236}">
                <a16:creationId xmlns:a16="http://schemas.microsoft.com/office/drawing/2014/main" id="{20B1A34C-0D90-B616-EFBB-FDB8D03F53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8347" t="312" r="23757" b="1"/>
          <a:stretch/>
        </p:blipFill>
        <p:spPr>
          <a:xfrm>
            <a:off x="0" y="0"/>
            <a:ext cx="6096000" cy="6857999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7EED4C-3CAC-6637-0225-8789721FD0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90643" y="310551"/>
            <a:ext cx="5479304" cy="6261699"/>
          </a:xfrm>
        </p:spPr>
        <p:txBody>
          <a:bodyPr/>
          <a:lstStyle>
            <a:lvl1pPr marL="514350" indent="-514350">
              <a:buFont typeface="+mj-lt"/>
              <a:buAutoNum type="arabicPeriod"/>
              <a:defRPr>
                <a:latin typeface="Aptos Light" panose="020B0004020202020204" pitchFamily="34" charset="0"/>
              </a:defRPr>
            </a:lvl1pPr>
            <a:lvl2pPr marL="914400" indent="-457200">
              <a:buFont typeface="+mj-lt"/>
              <a:buAutoNum type="alphaLcPeriod"/>
              <a:defRPr>
                <a:latin typeface="Aptos Light" panose="020B0004020202020204" pitchFamily="34" charset="0"/>
              </a:defRPr>
            </a:lvl2pPr>
            <a:lvl3pPr marL="1371600" indent="-457200">
              <a:buFont typeface="+mj-lt"/>
              <a:buAutoNum type="alphaLcPeriod"/>
              <a:defRPr>
                <a:latin typeface="Aptos Light" panose="020B0004020202020204" pitchFamily="34" charset="0"/>
              </a:defRPr>
            </a:lvl3pPr>
            <a:lvl4pPr marL="1714500" indent="-342900">
              <a:buFont typeface="+mj-lt"/>
              <a:buAutoNum type="alphaLcPeriod"/>
              <a:defRPr>
                <a:latin typeface="Aptos Light" panose="020B0004020202020204" pitchFamily="34" charset="0"/>
              </a:defRPr>
            </a:lvl4pPr>
            <a:lvl5pPr marL="2171700" indent="-342900">
              <a:buFont typeface="+mj-lt"/>
              <a:buAutoNum type="alphaLcPeriod"/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155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8F486A1-5B10-30DF-7DA3-04446568B480}"/>
              </a:ext>
            </a:extLst>
          </p:cNvPr>
          <p:cNvSpPr/>
          <p:nvPr userDrawn="1"/>
        </p:nvSpPr>
        <p:spPr>
          <a:xfrm>
            <a:off x="0" y="1"/>
            <a:ext cx="12192000" cy="1351398"/>
          </a:xfrm>
          <a:prstGeom prst="rect">
            <a:avLst/>
          </a:prstGeom>
          <a:solidFill>
            <a:srgbClr val="022A03"/>
          </a:solidFill>
          <a:ln>
            <a:solidFill>
              <a:srgbClr val="02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21C46E-C07A-23B4-FD4E-7D2CB47B1BB7}"/>
              </a:ext>
            </a:extLst>
          </p:cNvPr>
          <p:cNvSpPr/>
          <p:nvPr userDrawn="1"/>
        </p:nvSpPr>
        <p:spPr>
          <a:xfrm>
            <a:off x="2110740" y="2028118"/>
            <a:ext cx="7970520" cy="1004641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>
            <a:solidFill>
              <a:srgbClr val="EBF1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3F7E2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D8120CB-5858-2E84-94BD-3B2A0D792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84ECE9-FB3A-2F1D-4F8A-B6156A14D49A}"/>
              </a:ext>
            </a:extLst>
          </p:cNvPr>
          <p:cNvSpPr/>
          <p:nvPr userDrawn="1"/>
        </p:nvSpPr>
        <p:spPr>
          <a:xfrm>
            <a:off x="2110740" y="3514283"/>
            <a:ext cx="7970520" cy="10046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DAF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735EB7-8A85-F1A7-484B-19DF5EDFBCF7}"/>
              </a:ext>
            </a:extLst>
          </p:cNvPr>
          <p:cNvSpPr/>
          <p:nvPr userDrawn="1"/>
        </p:nvSpPr>
        <p:spPr>
          <a:xfrm>
            <a:off x="2110740" y="5000448"/>
            <a:ext cx="7970520" cy="1004641"/>
          </a:xfrm>
          <a:prstGeom prst="rect">
            <a:avLst/>
          </a:prstGeom>
          <a:solidFill>
            <a:srgbClr val="EBF4D6"/>
          </a:solidFill>
          <a:ln>
            <a:solidFill>
              <a:srgbClr val="ECF4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DF2199-3789-DB84-6347-50303262C3CB}"/>
              </a:ext>
            </a:extLst>
          </p:cNvPr>
          <p:cNvSpPr txBox="1"/>
          <p:nvPr userDrawn="1"/>
        </p:nvSpPr>
        <p:spPr>
          <a:xfrm>
            <a:off x="2331720" y="2028118"/>
            <a:ext cx="7528560" cy="467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dirty="0">
              <a:solidFill>
                <a:srgbClr val="022A03"/>
              </a:solidFill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121D204-B214-EC89-8A00-774DF2A83F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8249" y="2028118"/>
            <a:ext cx="7192031" cy="1004641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50000"/>
              </a:lnSpc>
              <a:spcBef>
                <a:spcPts val="0"/>
              </a:spcBef>
              <a:buFontTx/>
              <a:buNone/>
              <a:defRPr sz="2000" b="1">
                <a:solidFill>
                  <a:srgbClr val="022A03"/>
                </a:solidFill>
                <a:latin typeface="+mj-lt"/>
              </a:defRPr>
            </a:lvl1pPr>
            <a:lvl2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600" b="1">
                <a:latin typeface="Aptos Light" panose="020B0004020202020204" pitchFamily="34" charset="0"/>
              </a:defRPr>
            </a:lvl2pPr>
            <a:lvl3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200">
                <a:latin typeface="Aptos Light" panose="020B0004020202020204" pitchFamily="34" charset="0"/>
              </a:defRPr>
            </a:lvl3pPr>
            <a:lvl4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100">
                <a:latin typeface="Aptos Light" panose="020B0004020202020204" pitchFamily="34" charset="0"/>
              </a:defRPr>
            </a:lvl4pPr>
            <a:lvl5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100"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11B325F-AC10-1656-7E35-68E4607B646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2668249" y="3514283"/>
            <a:ext cx="7192030" cy="1004641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50000"/>
              </a:lnSpc>
              <a:spcBef>
                <a:spcPts val="0"/>
              </a:spcBef>
              <a:buFontTx/>
              <a:buNone/>
              <a:defRPr sz="2000" b="1">
                <a:solidFill>
                  <a:srgbClr val="022A03"/>
                </a:solidFill>
                <a:latin typeface="+mj-lt"/>
              </a:defRPr>
            </a:lvl1pPr>
            <a:lvl2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600" b="1">
                <a:latin typeface="Aptos Light" panose="020B0004020202020204" pitchFamily="34" charset="0"/>
              </a:defRPr>
            </a:lvl2pPr>
            <a:lvl3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200">
                <a:latin typeface="Aptos Light" panose="020B0004020202020204" pitchFamily="34" charset="0"/>
              </a:defRPr>
            </a:lvl3pPr>
            <a:lvl4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100">
                <a:latin typeface="Aptos Light" panose="020B0004020202020204" pitchFamily="34" charset="0"/>
              </a:defRPr>
            </a:lvl4pPr>
            <a:lvl5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100"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59C0CB4-338D-ED40-8A54-E72C02A503A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2668249" y="5000447"/>
            <a:ext cx="7192029" cy="1004641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50000"/>
              </a:lnSpc>
              <a:spcBef>
                <a:spcPts val="0"/>
              </a:spcBef>
              <a:buFontTx/>
              <a:buNone/>
              <a:defRPr sz="2000" b="1">
                <a:solidFill>
                  <a:srgbClr val="022A03"/>
                </a:solidFill>
                <a:latin typeface="+mj-lt"/>
              </a:defRPr>
            </a:lvl1pPr>
            <a:lvl2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600" b="1">
                <a:latin typeface="Aptos Light" panose="020B0004020202020204" pitchFamily="34" charset="0"/>
              </a:defRPr>
            </a:lvl2pPr>
            <a:lvl3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200">
                <a:latin typeface="Aptos Light" panose="020B0004020202020204" pitchFamily="34" charset="0"/>
              </a:defRPr>
            </a:lvl3pPr>
            <a:lvl4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100">
                <a:latin typeface="Aptos Light" panose="020B0004020202020204" pitchFamily="34" charset="0"/>
              </a:defRPr>
            </a:lvl4pPr>
            <a:lvl5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100"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1D10C3E-C94C-ABFF-8AD4-E5A988B72F6E}"/>
              </a:ext>
            </a:extLst>
          </p:cNvPr>
          <p:cNvSpPr>
            <a:spLocks noChangeArrowheads="1"/>
          </p:cNvSpPr>
          <p:nvPr userDrawn="1"/>
        </p:nvSpPr>
        <p:spPr bwMode="auto">
          <a:xfrm rot="16200000">
            <a:off x="1649133" y="2475332"/>
            <a:ext cx="1030518" cy="107303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CAFB70-F0DE-04D2-6E4C-9C0E7BF36D9A}"/>
              </a:ext>
            </a:extLst>
          </p:cNvPr>
          <p:cNvSpPr>
            <a:spLocks noChangeArrowheads="1"/>
          </p:cNvSpPr>
          <p:nvPr userDrawn="1"/>
        </p:nvSpPr>
        <p:spPr bwMode="auto">
          <a:xfrm rot="16200000">
            <a:off x="1642263" y="3962951"/>
            <a:ext cx="1030518" cy="107303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D9EB62E-E343-2D52-74C0-6A97CF75238C}"/>
              </a:ext>
            </a:extLst>
          </p:cNvPr>
          <p:cNvSpPr>
            <a:spLocks noChangeArrowheads="1"/>
          </p:cNvSpPr>
          <p:nvPr userDrawn="1"/>
        </p:nvSpPr>
        <p:spPr bwMode="auto">
          <a:xfrm rot="16200000">
            <a:off x="1695915" y="5429028"/>
            <a:ext cx="1030518" cy="107303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1091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8F486A1-5B10-30DF-7DA3-04446568B480}"/>
              </a:ext>
            </a:extLst>
          </p:cNvPr>
          <p:cNvSpPr/>
          <p:nvPr userDrawn="1"/>
        </p:nvSpPr>
        <p:spPr>
          <a:xfrm>
            <a:off x="0" y="1"/>
            <a:ext cx="12192000" cy="1351398"/>
          </a:xfrm>
          <a:prstGeom prst="rect">
            <a:avLst/>
          </a:prstGeom>
          <a:solidFill>
            <a:srgbClr val="022A03"/>
          </a:solidFill>
          <a:ln>
            <a:solidFill>
              <a:srgbClr val="02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871FA0-D799-C1BA-C553-079B442A26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D8120CB-5858-2E84-94BD-3B2A0D792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631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ackgroun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ooden walkway in a forest&#10;&#10;Description automatically generated">
            <a:extLst>
              <a:ext uri="{FF2B5EF4-FFF2-40B4-BE49-F238E27FC236}">
                <a16:creationId xmlns:a16="http://schemas.microsoft.com/office/drawing/2014/main" id="{445ADA8B-D6F1-C84D-5945-C74A28012D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8348"/>
          <a:stretch/>
        </p:blipFill>
        <p:spPr>
          <a:xfrm>
            <a:off x="0" y="276351"/>
            <a:ext cx="12209253" cy="658164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8F486A1-5B10-30DF-7DA3-04446568B480}"/>
              </a:ext>
            </a:extLst>
          </p:cNvPr>
          <p:cNvSpPr/>
          <p:nvPr userDrawn="1"/>
        </p:nvSpPr>
        <p:spPr>
          <a:xfrm>
            <a:off x="0" y="1"/>
            <a:ext cx="12192000" cy="1351398"/>
          </a:xfrm>
          <a:prstGeom prst="rect">
            <a:avLst/>
          </a:prstGeom>
          <a:solidFill>
            <a:srgbClr val="022A03"/>
          </a:solidFill>
          <a:ln>
            <a:solidFill>
              <a:srgbClr val="02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D8120CB-5858-2E84-94BD-3B2A0D792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289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ackgroun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oad through a forest&#10;&#10;Description automatically generated">
            <a:extLst>
              <a:ext uri="{FF2B5EF4-FFF2-40B4-BE49-F238E27FC236}">
                <a16:creationId xmlns:a16="http://schemas.microsoft.com/office/drawing/2014/main" id="{9832E27F-9C2A-365F-A163-4E3AAD2C87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4977"/>
          <a:stretch/>
        </p:blipFill>
        <p:spPr>
          <a:xfrm>
            <a:off x="0" y="101601"/>
            <a:ext cx="12192000" cy="681853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8F486A1-5B10-30DF-7DA3-04446568B480}"/>
              </a:ext>
            </a:extLst>
          </p:cNvPr>
          <p:cNvSpPr/>
          <p:nvPr userDrawn="1"/>
        </p:nvSpPr>
        <p:spPr>
          <a:xfrm>
            <a:off x="0" y="1"/>
            <a:ext cx="12192000" cy="1351398"/>
          </a:xfrm>
          <a:prstGeom prst="rect">
            <a:avLst/>
          </a:prstGeom>
          <a:solidFill>
            <a:srgbClr val="022A03"/>
          </a:solidFill>
          <a:ln>
            <a:solidFill>
              <a:srgbClr val="02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D8120CB-5858-2E84-94BD-3B2A0D792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540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ackground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road through a forest&#10;&#10;Description automatically generated">
            <a:extLst>
              <a:ext uri="{FF2B5EF4-FFF2-40B4-BE49-F238E27FC236}">
                <a16:creationId xmlns:a16="http://schemas.microsoft.com/office/drawing/2014/main" id="{0AF91E05-FC38-FE38-4ECF-292EF2AA62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542" b="9757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8F486A1-5B10-30DF-7DA3-04446568B480}"/>
              </a:ext>
            </a:extLst>
          </p:cNvPr>
          <p:cNvSpPr/>
          <p:nvPr userDrawn="1"/>
        </p:nvSpPr>
        <p:spPr>
          <a:xfrm>
            <a:off x="0" y="1"/>
            <a:ext cx="12192000" cy="1351398"/>
          </a:xfrm>
          <a:prstGeom prst="rect">
            <a:avLst/>
          </a:prstGeom>
          <a:solidFill>
            <a:srgbClr val="022A03"/>
          </a:solidFill>
          <a:ln>
            <a:solidFill>
              <a:srgbClr val="02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D8120CB-5858-2E84-94BD-3B2A0D792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9636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ackground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oking up at a bamboo forest&#10;&#10;Description automatically generated">
            <a:extLst>
              <a:ext uri="{FF2B5EF4-FFF2-40B4-BE49-F238E27FC236}">
                <a16:creationId xmlns:a16="http://schemas.microsoft.com/office/drawing/2014/main" id="{21929F2E-9082-1906-F698-F2DB66E77C1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335" b="7335"/>
          <a:stretch/>
        </p:blipFill>
        <p:spPr>
          <a:xfrm>
            <a:off x="0" y="14909"/>
            <a:ext cx="12192000" cy="684309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8F486A1-5B10-30DF-7DA3-04446568B480}"/>
              </a:ext>
            </a:extLst>
          </p:cNvPr>
          <p:cNvSpPr/>
          <p:nvPr userDrawn="1"/>
        </p:nvSpPr>
        <p:spPr>
          <a:xfrm>
            <a:off x="0" y="1"/>
            <a:ext cx="12192000" cy="1351398"/>
          </a:xfrm>
          <a:prstGeom prst="rect">
            <a:avLst/>
          </a:prstGeom>
          <a:solidFill>
            <a:srgbClr val="022A03"/>
          </a:solidFill>
          <a:ln>
            <a:solidFill>
              <a:srgbClr val="02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D8120CB-5858-2E84-94BD-3B2A0D792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3553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A7922-DC05-E090-3733-47F38B64A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>
                <a:solidFill>
                  <a:srgbClr val="022A0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A38DF-7FA1-2EEE-B727-FE50B7F9F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59430"/>
            <a:ext cx="11430000" cy="4995894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F33BF7-518E-D456-88E0-CC757E24460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01376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A38DF-7FA1-2EEE-B727-FE50B7F9F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59430"/>
            <a:ext cx="11430000" cy="2451016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A5A3EFE-D4C6-CD71-FF12-B7BA4700E696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81000" y="4199953"/>
            <a:ext cx="11430000" cy="2451016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A14FACF-FB05-C1DF-5ED5-B96388F76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>
                <a:solidFill>
                  <a:srgbClr val="022A0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0D7F58-F86D-8FFC-DE9C-F1B5AAA9332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22742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A38DF-7FA1-2EEE-B727-FE50B7F9F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59430"/>
            <a:ext cx="5613400" cy="4995894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69D9041-DAB5-C930-72C5-3F3800198FC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97602" y="1659430"/>
            <a:ext cx="5613400" cy="4995894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7DF5A4A-C504-EC4B-9173-257B619ED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B6DE8E-8099-E1A6-5857-888283BBFBE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32693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 and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A38DF-7FA1-2EEE-B727-FE50B7F9F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59430"/>
            <a:ext cx="5613400" cy="4995894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7DF5A4A-C504-EC4B-9173-257B619ED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B6DE8E-8099-E1A6-5857-888283BBFBE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65724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 &amp; Foot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A38DF-7FA1-2EEE-B727-FE50B7F9F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2090057"/>
            <a:ext cx="5600700" cy="3988526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69D9041-DAB5-C930-72C5-3F3800198FC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10302" y="2090057"/>
            <a:ext cx="5600700" cy="3988526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57F982E-7A3C-7545-FD99-AB3C6948944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80998" y="1659429"/>
            <a:ext cx="5600700" cy="430628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latin typeface="Aptos Light" panose="020B0004020202020204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63CA293-AF07-B48E-784E-090121C7D02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10302" y="1659429"/>
            <a:ext cx="5600700" cy="430628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latin typeface="Aptos Light" panose="020B0004020202020204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E58DB2A-9A7E-122D-D4B9-6C7666CF2281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381000" y="6078583"/>
            <a:ext cx="11430000" cy="58782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latin typeface="Aptos Light" panose="020B0004020202020204" pitchFamily="34" charset="0"/>
              </a:defRPr>
            </a:lvl1pPr>
            <a:lvl2pPr>
              <a:defRPr>
                <a:latin typeface="Aptos Light" panose="020B0004020202020204" pitchFamily="34" charset="0"/>
              </a:defRPr>
            </a:lvl2pPr>
            <a:lvl3pPr>
              <a:defRPr>
                <a:latin typeface="Aptos Light" panose="020B0004020202020204" pitchFamily="34" charset="0"/>
              </a:defRPr>
            </a:lvl3pPr>
            <a:lvl4pPr>
              <a:defRPr>
                <a:latin typeface="Aptos Light" panose="020B0004020202020204" pitchFamily="34" charset="0"/>
              </a:defRPr>
            </a:lvl4pPr>
            <a:lvl5pPr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28FD8D7-CA6B-F920-3AB1-CB8A5A95C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>
                <a:solidFill>
                  <a:srgbClr val="022A0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1D5AFC-0440-485B-86C8-810AC47BC78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86800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A38DF-7FA1-2EEE-B727-FE50B7F9F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59430"/>
            <a:ext cx="3694176" cy="4995894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69D9041-DAB5-C930-72C5-3F3800198FC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115300" y="1659430"/>
            <a:ext cx="3694176" cy="4995894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C6CF8AF-8E7F-C392-6B60-25F939B99E8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248150" y="1659430"/>
            <a:ext cx="3694176" cy="4995894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4C23E97-5B22-0A3A-F786-3D00A0AE1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>
                <a:solidFill>
                  <a:srgbClr val="022A0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28C66A-A1B5-E52B-DD72-9B16AED5E2D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72847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even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A38DF-7FA1-2EEE-B727-FE50B7F9F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59430"/>
            <a:ext cx="3694176" cy="4995894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69D9041-DAB5-C930-72C5-3F3800198FC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8150" y="1659430"/>
            <a:ext cx="7561326" cy="4995894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FABAE81-F060-D0FD-2B68-9764A8A75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>
                <a:solidFill>
                  <a:srgbClr val="022A0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8CE43B-C898-AC6A-07F1-7A35FE40924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85407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even Colum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A38DF-7FA1-2EEE-B727-FE50B7F9F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59430"/>
            <a:ext cx="7561326" cy="4995894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/>
            </a:lvl1pPr>
            <a:lvl2pPr>
              <a:lnSpc>
                <a:spcPct val="150000"/>
              </a:lnSpc>
              <a:spcBef>
                <a:spcPts val="0"/>
              </a:spcBef>
              <a:defRPr/>
            </a:lvl2pPr>
            <a:lvl3pPr>
              <a:lnSpc>
                <a:spcPct val="150000"/>
              </a:lnSpc>
              <a:spcBef>
                <a:spcPts val="0"/>
              </a:spcBef>
              <a:defRPr/>
            </a:lvl3pPr>
            <a:lvl4pPr>
              <a:lnSpc>
                <a:spcPct val="150000"/>
              </a:lnSpc>
              <a:spcBef>
                <a:spcPts val="0"/>
              </a:spcBef>
              <a:defRPr/>
            </a:lvl4pPr>
            <a:lvl5pPr>
              <a:lnSpc>
                <a:spcPct val="15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69D9041-DAB5-C930-72C5-3F3800198FC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115300" y="1659430"/>
            <a:ext cx="3694176" cy="4995894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/>
            </a:lvl1pPr>
            <a:lvl2pPr>
              <a:lnSpc>
                <a:spcPct val="150000"/>
              </a:lnSpc>
              <a:spcBef>
                <a:spcPts val="0"/>
              </a:spcBef>
              <a:defRPr/>
            </a:lvl2pPr>
            <a:lvl3pPr>
              <a:lnSpc>
                <a:spcPct val="150000"/>
              </a:lnSpc>
              <a:spcBef>
                <a:spcPts val="0"/>
              </a:spcBef>
              <a:defRPr/>
            </a:lvl3pPr>
            <a:lvl4pPr>
              <a:lnSpc>
                <a:spcPct val="150000"/>
              </a:lnSpc>
              <a:spcBef>
                <a:spcPts val="0"/>
              </a:spcBef>
              <a:defRPr/>
            </a:lvl4pPr>
            <a:lvl5pPr>
              <a:lnSpc>
                <a:spcPct val="15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1DD5961-ADE9-2181-33D2-EC5BE44F2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>
                <a:solidFill>
                  <a:srgbClr val="022A0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44F587-94FB-7D0A-7054-897BD1844FF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40066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A38DF-7FA1-2EEE-B727-FE50B7F9F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59430"/>
            <a:ext cx="3694176" cy="4995894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/>
            </a:lvl1pPr>
            <a:lvl2pPr>
              <a:lnSpc>
                <a:spcPct val="150000"/>
              </a:lnSpc>
              <a:spcBef>
                <a:spcPts val="0"/>
              </a:spcBef>
              <a:defRPr/>
            </a:lvl2pPr>
            <a:lvl3pPr>
              <a:lnSpc>
                <a:spcPct val="150000"/>
              </a:lnSpc>
              <a:spcBef>
                <a:spcPts val="0"/>
              </a:spcBef>
              <a:defRPr/>
            </a:lvl3pPr>
            <a:lvl4pPr>
              <a:lnSpc>
                <a:spcPct val="150000"/>
              </a:lnSpc>
              <a:spcBef>
                <a:spcPts val="0"/>
              </a:spcBef>
              <a:defRPr/>
            </a:lvl4pPr>
            <a:lvl5pPr>
              <a:lnSpc>
                <a:spcPct val="15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42E47B4-724D-A743-4C32-A99CFAC5C79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8912" y="1659429"/>
            <a:ext cx="3694176" cy="2397673"/>
          </a:xfrm>
        </p:spPr>
        <p:txBody>
          <a:bodyPr lIns="0" tIns="0" rIns="0" bIns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800"/>
            </a:lvl1pPr>
            <a:lvl2pPr>
              <a:lnSpc>
                <a:spcPct val="150000"/>
              </a:lnSpc>
              <a:spcBef>
                <a:spcPts val="0"/>
              </a:spcBef>
              <a:defRPr sz="1600"/>
            </a:lvl2pPr>
            <a:lvl3pPr>
              <a:lnSpc>
                <a:spcPct val="150000"/>
              </a:lnSpc>
              <a:spcBef>
                <a:spcPts val="0"/>
              </a:spcBef>
              <a:defRPr sz="1400"/>
            </a:lvl3pPr>
            <a:lvl4pPr>
              <a:lnSpc>
                <a:spcPct val="150000"/>
              </a:lnSpc>
              <a:spcBef>
                <a:spcPts val="0"/>
              </a:spcBef>
              <a:defRPr sz="1200"/>
            </a:lvl4pPr>
            <a:lvl5pPr>
              <a:lnSpc>
                <a:spcPct val="15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5A7E6D-E8D4-E6DA-B873-7DD55BBEA6E4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116062" y="1659429"/>
            <a:ext cx="3694176" cy="2397673"/>
          </a:xfrm>
        </p:spPr>
        <p:txBody>
          <a:bodyPr lIns="0" tIns="0" rIns="0" bIns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800"/>
            </a:lvl1pPr>
            <a:lvl2pPr>
              <a:lnSpc>
                <a:spcPct val="150000"/>
              </a:lnSpc>
              <a:spcBef>
                <a:spcPts val="0"/>
              </a:spcBef>
              <a:defRPr sz="1600"/>
            </a:lvl2pPr>
            <a:lvl3pPr>
              <a:lnSpc>
                <a:spcPct val="150000"/>
              </a:lnSpc>
              <a:spcBef>
                <a:spcPts val="0"/>
              </a:spcBef>
              <a:defRPr sz="1400"/>
            </a:lvl3pPr>
            <a:lvl4pPr>
              <a:lnSpc>
                <a:spcPct val="150000"/>
              </a:lnSpc>
              <a:spcBef>
                <a:spcPts val="0"/>
              </a:spcBef>
              <a:defRPr sz="1200"/>
            </a:lvl4pPr>
            <a:lvl5pPr>
              <a:lnSpc>
                <a:spcPct val="15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6857C3D-DFAF-2C05-2FA1-0AE2EE70D8A4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248912" y="4240679"/>
            <a:ext cx="3694176" cy="2414644"/>
          </a:xfrm>
        </p:spPr>
        <p:txBody>
          <a:bodyPr lIns="0" tIns="0" rIns="0" bIns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800"/>
            </a:lvl1pPr>
            <a:lvl2pPr>
              <a:lnSpc>
                <a:spcPct val="150000"/>
              </a:lnSpc>
              <a:spcBef>
                <a:spcPts val="0"/>
              </a:spcBef>
              <a:defRPr sz="1600"/>
            </a:lvl2pPr>
            <a:lvl3pPr>
              <a:lnSpc>
                <a:spcPct val="150000"/>
              </a:lnSpc>
              <a:spcBef>
                <a:spcPts val="0"/>
              </a:spcBef>
              <a:defRPr sz="1400"/>
            </a:lvl3pPr>
            <a:lvl4pPr>
              <a:lnSpc>
                <a:spcPct val="150000"/>
              </a:lnSpc>
              <a:spcBef>
                <a:spcPts val="0"/>
              </a:spcBef>
              <a:defRPr sz="1200"/>
            </a:lvl4pPr>
            <a:lvl5pPr>
              <a:lnSpc>
                <a:spcPct val="15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2311C06-D0D0-F28C-7A0E-2E1DBAFCECE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116062" y="4240679"/>
            <a:ext cx="3694176" cy="2397673"/>
          </a:xfrm>
        </p:spPr>
        <p:txBody>
          <a:bodyPr lIns="0" tIns="0" rIns="0" bIns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800"/>
            </a:lvl1pPr>
            <a:lvl2pPr>
              <a:lnSpc>
                <a:spcPct val="150000"/>
              </a:lnSpc>
              <a:spcBef>
                <a:spcPts val="0"/>
              </a:spcBef>
              <a:defRPr sz="1600"/>
            </a:lvl2pPr>
            <a:lvl3pPr>
              <a:lnSpc>
                <a:spcPct val="150000"/>
              </a:lnSpc>
              <a:spcBef>
                <a:spcPts val="0"/>
              </a:spcBef>
              <a:defRPr sz="1400"/>
            </a:lvl3pPr>
            <a:lvl4pPr>
              <a:lnSpc>
                <a:spcPct val="150000"/>
              </a:lnSpc>
              <a:spcBef>
                <a:spcPts val="0"/>
              </a:spcBef>
              <a:defRPr sz="1200"/>
            </a:lvl4pPr>
            <a:lvl5pPr>
              <a:lnSpc>
                <a:spcPct val="15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158A48-4088-8821-E336-55D08AAF8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>
                <a:solidFill>
                  <a:srgbClr val="022A0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A4887F-C1C1-1B12-7812-77CC727B0DB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84946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 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A38DF-7FA1-2EEE-B727-FE50B7F9F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59430"/>
            <a:ext cx="3694176" cy="2397673"/>
          </a:xfrm>
        </p:spPr>
        <p:txBody>
          <a:bodyPr lIns="0" tIns="0" rIns="0" bIns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800"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1600"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1400"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69D9041-DAB5-C930-72C5-3F3800198FC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115300" y="1659430"/>
            <a:ext cx="3694176" cy="4995894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C6CF8AF-8E7F-C392-6B60-25F939B99E8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248150" y="1659430"/>
            <a:ext cx="3694176" cy="2397673"/>
          </a:xfrm>
        </p:spPr>
        <p:txBody>
          <a:bodyPr lIns="0" tIns="0" rIns="0" bIns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800"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1600"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1400"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E33F1A7-9B69-663A-6FCC-445F8A306714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81000" y="4240680"/>
            <a:ext cx="3694176" cy="2397673"/>
          </a:xfrm>
        </p:spPr>
        <p:txBody>
          <a:bodyPr lIns="0" tIns="0" rIns="0" bIns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800"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1600"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1400"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5B16FC6-E5D0-5E3C-FD29-0F9A5CDE76E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48150" y="4240680"/>
            <a:ext cx="3694176" cy="2397673"/>
          </a:xfrm>
        </p:spPr>
        <p:txBody>
          <a:bodyPr lIns="0" tIns="0" rIns="0" bIns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800"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1600"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1400"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3E00A60-14E6-D079-B651-45272189B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>
                <a:solidFill>
                  <a:srgbClr val="022A0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70C8F2-C127-AF53-70B7-4952579458D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77246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A38DF-7FA1-2EEE-B727-FE50B7F9F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59430"/>
            <a:ext cx="5613400" cy="2384973"/>
          </a:xfrm>
        </p:spPr>
        <p:txBody>
          <a:bodyPr lIns="0" tIns="0" rIns="0" bIns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800"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1600"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1400"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69D9041-DAB5-C930-72C5-3F3800198FC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97602" y="1659429"/>
            <a:ext cx="5613400" cy="2384973"/>
          </a:xfrm>
        </p:spPr>
        <p:txBody>
          <a:bodyPr lIns="0" tIns="0" rIns="0" bIns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800"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1600"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1400"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6C4B1BB-C5E2-974C-81F3-2FF06120B36C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80998" y="4201485"/>
            <a:ext cx="5613400" cy="2384973"/>
          </a:xfrm>
        </p:spPr>
        <p:txBody>
          <a:bodyPr lIns="0" tIns="0" rIns="0" bIns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800"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1600"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1400"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7849F3D-31FF-F086-E4A6-F57D3C5BDB6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197600" y="4201484"/>
            <a:ext cx="5613400" cy="2384973"/>
          </a:xfrm>
        </p:spPr>
        <p:txBody>
          <a:bodyPr lIns="0" tIns="0" rIns="0" bIns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800"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1600"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1400"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7DDA1A4-E243-0BD0-0643-3DEA660DC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>
                <a:solidFill>
                  <a:srgbClr val="022A0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37B879-CC67-E7A8-1C3D-AD59065A8CE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81990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7193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983212-0AE2-29C1-9A4B-0250F4060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685800"/>
            <a:ext cx="11439526" cy="100488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9D208F-AA04-F314-4451-C85FCF1D91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999" y="1825624"/>
            <a:ext cx="11439525" cy="482969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37890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1" r:id="rId2"/>
    <p:sldLayoutId id="2147483685" r:id="rId3"/>
    <p:sldLayoutId id="2147483677" r:id="rId4"/>
    <p:sldLayoutId id="2147483710" r:id="rId5"/>
    <p:sldLayoutId id="2147483701" r:id="rId6"/>
    <p:sldLayoutId id="2147483703" r:id="rId7"/>
    <p:sldLayoutId id="2147483705" r:id="rId8"/>
    <p:sldLayoutId id="2147483706" r:id="rId9"/>
    <p:sldLayoutId id="2147483707" r:id="rId10"/>
    <p:sldLayoutId id="2147483708" r:id="rId11"/>
    <p:sldLayoutId id="2147483664" r:id="rId12"/>
    <p:sldLayoutId id="2147483699" r:id="rId13"/>
    <p:sldLayoutId id="2147483678" r:id="rId14"/>
    <p:sldLayoutId id="2147483704" r:id="rId15"/>
    <p:sldLayoutId id="2147483694" r:id="rId16"/>
    <p:sldLayoutId id="2147483680" r:id="rId17"/>
    <p:sldLayoutId id="2147483697" r:id="rId18"/>
    <p:sldLayoutId id="2147483683" r:id="rId19"/>
    <p:sldLayoutId id="2147483687" r:id="rId20"/>
    <p:sldLayoutId id="2147483688" r:id="rId21"/>
    <p:sldLayoutId id="2147483686" r:id="rId22"/>
    <p:sldLayoutId id="2147483669" r:id="rId2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Aptos" panose="020B0004020202020204" pitchFamily="34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ptos Light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356D18"/>
          </a:solidFill>
          <a:latin typeface="Aptos Light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356D18"/>
          </a:solidFill>
          <a:latin typeface="Aptos Light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56D18"/>
          </a:solidFill>
          <a:latin typeface="Aptos Light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56D18"/>
          </a:solidFill>
          <a:latin typeface="Aptos Light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CFFCE-B337-EEA7-9655-60337F8D18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070" y="641434"/>
            <a:ext cx="10431780" cy="2387600"/>
          </a:xfrm>
        </p:spPr>
        <p:txBody>
          <a:bodyPr>
            <a:normAutofit/>
          </a:bodyPr>
          <a:lstStyle/>
          <a:p>
            <a:r>
              <a:rPr lang="en-US" sz="5800" dirty="0"/>
              <a:t>Climate Incentives Trust (CIT)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A6794E92-329C-32DB-A46D-C5C04E8442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0388" y="3238500"/>
            <a:ext cx="6172200" cy="641350"/>
          </a:xfrm>
        </p:spPr>
        <p:txBody>
          <a:bodyPr>
            <a:normAutofit/>
          </a:bodyPr>
          <a:lstStyle/>
          <a:p>
            <a:r>
              <a:rPr lang="en-US" dirty="0"/>
              <a:t>An Introductory Overview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DB77EDA-32C8-6550-4915-A130FA35CF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03660" y="5015753"/>
            <a:ext cx="2729566" cy="1575547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sz="1800" dirty="0"/>
              <a:t>Stephen Stretton</a:t>
            </a:r>
          </a:p>
          <a:p>
            <a:r>
              <a:rPr lang="en-US" sz="1800" dirty="0"/>
              <a:t>May 2024</a:t>
            </a:r>
          </a:p>
        </p:txBody>
      </p:sp>
    </p:spTree>
    <p:extLst>
      <p:ext uri="{BB962C8B-B14F-4D97-AF65-F5344CB8AC3E}">
        <p14:creationId xmlns:p14="http://schemas.microsoft.com/office/powerpoint/2010/main" val="4290956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10689-9B27-4981-2A2E-8C8980E99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>
            <a:normAutofit/>
          </a:bodyPr>
          <a:lstStyle/>
          <a:p>
            <a:r>
              <a:rPr lang="en-US" dirty="0"/>
              <a:t>Background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C3AFE765-321E-C0F4-E1E3-CE2F1D5A6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8249" y="2028118"/>
            <a:ext cx="7192031" cy="1004641"/>
          </a:xfrm>
        </p:spPr>
        <p:txBody>
          <a:bodyPr>
            <a:normAutofit/>
          </a:bodyPr>
          <a:lstStyle/>
          <a:p>
            <a:r>
              <a:rPr lang="en-GB" dirty="0"/>
              <a:t>Climate change necessitates substantial investments in clean energy, exceeding $1 trillion annually.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E5BFD16-89C6-8EB5-CBEB-6648275FE33B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2668249" y="3514283"/>
            <a:ext cx="7192030" cy="1004641"/>
          </a:xfrm>
        </p:spPr>
        <p:txBody>
          <a:bodyPr>
            <a:normAutofit/>
          </a:bodyPr>
          <a:lstStyle/>
          <a:p>
            <a:r>
              <a:rPr lang="en-GB" dirty="0"/>
              <a:t>The Climate Incentives Trust (CIT) proposes a solution to mobilize finance and incentivize climate action.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C588B02E-9B2A-FA76-3731-BD6CB85F55B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2668249" y="5000447"/>
            <a:ext cx="7192029" cy="1004641"/>
          </a:xfrm>
        </p:spPr>
        <p:txBody>
          <a:bodyPr>
            <a:normAutofit/>
          </a:bodyPr>
          <a:lstStyle/>
          <a:p>
            <a:r>
              <a:rPr lang="en-GB" dirty="0"/>
              <a:t>The trust aims to address challenges in funding, risk mitigation, and international cooperation.</a:t>
            </a:r>
          </a:p>
        </p:txBody>
      </p:sp>
    </p:spTree>
    <p:extLst>
      <p:ext uri="{BB962C8B-B14F-4D97-AF65-F5344CB8AC3E}">
        <p14:creationId xmlns:p14="http://schemas.microsoft.com/office/powerpoint/2010/main" val="3145398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BAC0AB6-62DF-029E-FB5F-105C0B111B6C}"/>
              </a:ext>
            </a:extLst>
          </p:cNvPr>
          <p:cNvSpPr txBox="1">
            <a:spLocks/>
          </p:cNvSpPr>
          <p:nvPr/>
        </p:nvSpPr>
        <p:spPr>
          <a:xfrm>
            <a:off x="914399" y="2096627"/>
            <a:ext cx="4405501" cy="2338895"/>
          </a:xfrm>
          <a:prstGeom prst="rect">
            <a:avLst/>
          </a:prstGeom>
          <a:solidFill>
            <a:srgbClr val="EBF4D6"/>
          </a:solidFill>
          <a:ln>
            <a:solidFill>
              <a:srgbClr val="EBF4D6"/>
            </a:solidFill>
          </a:ln>
        </p:spPr>
        <p:txBody>
          <a:bodyPr/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Merriweather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356D18"/>
                </a:solidFill>
                <a:latin typeface="Aptos Light" panose="020B00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56D18"/>
                </a:solidFill>
                <a:latin typeface="Aptos Light" panose="020B00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56D18"/>
                </a:solidFill>
                <a:latin typeface="Aptos Light" panose="020B00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56D18"/>
                </a:solidFill>
                <a:latin typeface="Aptos Light" panose="020B00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b="1" dirty="0">
              <a:solidFill>
                <a:srgbClr val="012903"/>
              </a:solidFill>
              <a:latin typeface="+mj-lt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807F7A-DD1E-1550-F666-A95902F9FE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1" y="464024"/>
            <a:ext cx="5773738" cy="610822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sz="500" b="1" dirty="0">
              <a:solidFill>
                <a:srgbClr val="012903"/>
              </a:solidFill>
              <a:latin typeface="+mn-lt"/>
            </a:endParaRPr>
          </a:p>
          <a:p>
            <a:pPr lvl="1">
              <a:buFont typeface="Wingdings" pitchFamily="2" charset="2"/>
              <a:buChar char="ü"/>
            </a:pPr>
            <a:r>
              <a:rPr lang="en-GB" b="1" dirty="0">
                <a:solidFill>
                  <a:srgbClr val="1B5336"/>
                </a:solidFill>
                <a:latin typeface="+mn-lt"/>
              </a:rPr>
              <a:t>Encouraging national growth in green energy technology and phasing out high emissions technologies.</a:t>
            </a:r>
          </a:p>
          <a:p>
            <a:pPr lvl="1">
              <a:buFont typeface="Wingdings" pitchFamily="2" charset="2"/>
              <a:buChar char="ü"/>
            </a:pPr>
            <a:r>
              <a:rPr lang="en-GB" b="1" dirty="0">
                <a:solidFill>
                  <a:srgbClr val="1B5336"/>
                </a:solidFill>
                <a:latin typeface="+mn-lt"/>
              </a:rPr>
              <a:t>Providing insurance for EMDEs at high climate risk, safeguarding their future populations. </a:t>
            </a:r>
          </a:p>
          <a:p>
            <a:pPr lvl="1">
              <a:buFont typeface="Wingdings" pitchFamily="2" charset="2"/>
              <a:buChar char="ü"/>
            </a:pPr>
            <a:r>
              <a:rPr lang="en-GB" b="1" dirty="0">
                <a:solidFill>
                  <a:srgbClr val="1B5336"/>
                </a:solidFill>
                <a:latin typeface="+mn-lt"/>
              </a:rPr>
              <a:t>Facilitating investment activity in EMDEs to accelerate the global transition to net-zero emissions. </a:t>
            </a:r>
          </a:p>
          <a:p>
            <a:endParaRPr lang="en-US" dirty="0"/>
          </a:p>
        </p:txBody>
      </p:sp>
      <p:sp>
        <p:nvSpPr>
          <p:cNvPr id="8" name="Google Shape;112;p17">
            <a:extLst>
              <a:ext uri="{FF2B5EF4-FFF2-40B4-BE49-F238E27FC236}">
                <a16:creationId xmlns:a16="http://schemas.microsoft.com/office/drawing/2014/main" id="{27838E64-9ECE-767F-707C-165B01CA01BC}"/>
              </a:ext>
            </a:extLst>
          </p:cNvPr>
          <p:cNvSpPr txBox="1"/>
          <p:nvPr/>
        </p:nvSpPr>
        <p:spPr>
          <a:xfrm>
            <a:off x="1243311" y="2265598"/>
            <a:ext cx="3856860" cy="1978856"/>
          </a:xfrm>
          <a:prstGeom prst="rect">
            <a:avLst/>
          </a:prstGeom>
          <a:solidFill>
            <a:srgbClr val="ECF4D6"/>
          </a:solidFill>
          <a:ln w="9525" cap="flat" cmpd="sng">
            <a:solidFill>
              <a:srgbClr val="ECF4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b="1" dirty="0">
                <a:solidFill>
                  <a:srgbClr val="012903"/>
                </a:solidFill>
                <a:latin typeface="+mj-lt"/>
              </a:rPr>
              <a:t>Objective:</a:t>
            </a:r>
          </a:p>
          <a:p>
            <a:r>
              <a:rPr lang="en-US" sz="2000" b="1" dirty="0">
                <a:solidFill>
                  <a:srgbClr val="206152"/>
                </a:solidFill>
                <a:latin typeface="+mj-lt"/>
              </a:rPr>
              <a:t>To expand global for-public-good loss-absorbing capital for mitigation finance before 2050, and for loss and damage protection after 2050.  </a:t>
            </a:r>
            <a:endParaRPr lang="en-GB" sz="2000" b="1" dirty="0">
              <a:solidFill>
                <a:srgbClr val="206152"/>
              </a:solidFill>
              <a:latin typeface="+mj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448061-0D90-C718-D96E-BA66BDCD5101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-214105" y="3211480"/>
            <a:ext cx="2338895" cy="109183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4919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7E1432-0B7E-6645-A3CA-438EB8651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Key Functions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A28CB3D1-6728-5539-0D77-958D9C183BBC}"/>
              </a:ext>
            </a:extLst>
          </p:cNvPr>
          <p:cNvSpPr txBox="1">
            <a:spLocks/>
          </p:cNvSpPr>
          <p:nvPr/>
        </p:nvSpPr>
        <p:spPr>
          <a:xfrm>
            <a:off x="952282" y="2431443"/>
            <a:ext cx="3088654" cy="734562"/>
          </a:xfrm>
          <a:prstGeom prst="rect">
            <a:avLst/>
          </a:prstGeom>
          <a:solidFill>
            <a:srgbClr val="EBF1ED"/>
          </a:solidFill>
          <a:ln>
            <a:solidFill>
              <a:srgbClr val="EBF1ED"/>
            </a:solidFill>
          </a:ln>
        </p:spPr>
        <p:txBody>
          <a:bodyPr/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Merriweather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356D18"/>
                </a:solidFill>
                <a:latin typeface="Aptos Light" panose="020B00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56D18"/>
                </a:solidFill>
                <a:latin typeface="Aptos Light" panose="020B00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56D18"/>
                </a:solidFill>
                <a:latin typeface="Aptos Light" panose="020B00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56D18"/>
                </a:solidFill>
                <a:latin typeface="Aptos Light" panose="020B00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solidFill>
                  <a:srgbClr val="012903"/>
                </a:solidFill>
                <a:latin typeface="+mj-lt"/>
              </a:rPr>
              <a:t>Collateral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DCE170BC-19F8-39D8-DBCC-F64879968C9F}"/>
              </a:ext>
            </a:extLst>
          </p:cNvPr>
          <p:cNvSpPr txBox="1">
            <a:spLocks/>
          </p:cNvSpPr>
          <p:nvPr/>
        </p:nvSpPr>
        <p:spPr>
          <a:xfrm>
            <a:off x="952282" y="3776800"/>
            <a:ext cx="3088654" cy="735392"/>
          </a:xfrm>
          <a:prstGeom prst="rect">
            <a:avLst/>
          </a:prstGeom>
          <a:solidFill>
            <a:srgbClr val="DAF4ED"/>
          </a:solidFill>
          <a:ln>
            <a:solidFill>
              <a:srgbClr val="DAF4ED"/>
            </a:solidFill>
          </a:ln>
        </p:spPr>
        <p:txBody>
          <a:bodyPr/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Merriweather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356D18"/>
                </a:solidFill>
                <a:latin typeface="Aptos Light" panose="020B00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56D18"/>
                </a:solidFill>
                <a:latin typeface="Aptos Light" panose="020B00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56D18"/>
                </a:solidFill>
                <a:latin typeface="Aptos Light" panose="020B00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56D18"/>
                </a:solidFill>
                <a:latin typeface="Aptos Light" panose="020B00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solidFill>
                  <a:srgbClr val="012903"/>
                </a:solidFill>
                <a:latin typeface="+mj-lt"/>
              </a:rPr>
              <a:t>Incentives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568CD513-95D8-3D21-27BF-A7877F6BE7CB}"/>
              </a:ext>
            </a:extLst>
          </p:cNvPr>
          <p:cNvSpPr txBox="1">
            <a:spLocks/>
          </p:cNvSpPr>
          <p:nvPr/>
        </p:nvSpPr>
        <p:spPr>
          <a:xfrm>
            <a:off x="952282" y="5052636"/>
            <a:ext cx="3088654" cy="735392"/>
          </a:xfrm>
          <a:prstGeom prst="rect">
            <a:avLst/>
          </a:prstGeom>
          <a:solidFill>
            <a:srgbClr val="ECF4D6"/>
          </a:solidFill>
          <a:ln>
            <a:solidFill>
              <a:srgbClr val="ECF4D6"/>
            </a:solidFill>
          </a:ln>
        </p:spPr>
        <p:txBody>
          <a:bodyPr/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Merriweather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356D18"/>
                </a:solidFill>
                <a:latin typeface="Aptos Light" panose="020B00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56D18"/>
                </a:solidFill>
                <a:latin typeface="Aptos Light" panose="020B00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56D18"/>
                </a:solidFill>
                <a:latin typeface="Aptos Light" panose="020B00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56D18"/>
                </a:solidFill>
                <a:latin typeface="Aptos Light" panose="020B00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solidFill>
                  <a:srgbClr val="012903"/>
                </a:solidFill>
                <a:latin typeface="+mj-lt"/>
              </a:rPr>
              <a:t>Investment</a:t>
            </a:r>
          </a:p>
        </p:txBody>
      </p:sp>
      <p:sp>
        <p:nvSpPr>
          <p:cNvPr id="7" name="Google Shape;80;p15">
            <a:extLst>
              <a:ext uri="{FF2B5EF4-FFF2-40B4-BE49-F238E27FC236}">
                <a16:creationId xmlns:a16="http://schemas.microsoft.com/office/drawing/2014/main" id="{4EABD1CE-D10E-23B5-8945-E2D930EBD8BD}"/>
              </a:ext>
            </a:extLst>
          </p:cNvPr>
          <p:cNvSpPr/>
          <p:nvPr/>
        </p:nvSpPr>
        <p:spPr>
          <a:xfrm>
            <a:off x="4449848" y="2309793"/>
            <a:ext cx="7233281" cy="977862"/>
          </a:xfrm>
          <a:prstGeom prst="rect">
            <a:avLst/>
          </a:prstGeom>
          <a:solidFill>
            <a:srgbClr val="EBF1ED"/>
          </a:solidFill>
          <a:ln>
            <a:solidFill>
              <a:srgbClr val="EBF1ED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42245"/>
              </a:solidFill>
            </a:endParaRPr>
          </a:p>
        </p:txBody>
      </p:sp>
      <p:sp>
        <p:nvSpPr>
          <p:cNvPr id="8" name="Google Shape;80;p15">
            <a:extLst>
              <a:ext uri="{FF2B5EF4-FFF2-40B4-BE49-F238E27FC236}">
                <a16:creationId xmlns:a16="http://schemas.microsoft.com/office/drawing/2014/main" id="{7415690C-1E72-0C09-EF3B-D7D942C6F762}"/>
              </a:ext>
            </a:extLst>
          </p:cNvPr>
          <p:cNvSpPr/>
          <p:nvPr/>
        </p:nvSpPr>
        <p:spPr>
          <a:xfrm>
            <a:off x="4437716" y="3659829"/>
            <a:ext cx="6414379" cy="938471"/>
          </a:xfrm>
          <a:prstGeom prst="rect">
            <a:avLst/>
          </a:prstGeom>
          <a:solidFill>
            <a:srgbClr val="DAF4ED"/>
          </a:solidFill>
          <a:ln>
            <a:solidFill>
              <a:srgbClr val="DAF4ED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42245"/>
              </a:solidFill>
            </a:endParaRPr>
          </a:p>
        </p:txBody>
      </p:sp>
      <p:sp>
        <p:nvSpPr>
          <p:cNvPr id="9" name="Google Shape;80;p15">
            <a:extLst>
              <a:ext uri="{FF2B5EF4-FFF2-40B4-BE49-F238E27FC236}">
                <a16:creationId xmlns:a16="http://schemas.microsoft.com/office/drawing/2014/main" id="{82EBB988-ED4C-F23C-ECD1-4E2044F2F66D}"/>
              </a:ext>
            </a:extLst>
          </p:cNvPr>
          <p:cNvSpPr/>
          <p:nvPr/>
        </p:nvSpPr>
        <p:spPr>
          <a:xfrm>
            <a:off x="4449901" y="4951097"/>
            <a:ext cx="6153622" cy="938470"/>
          </a:xfrm>
          <a:prstGeom prst="rect">
            <a:avLst/>
          </a:prstGeom>
          <a:solidFill>
            <a:srgbClr val="ECF4D6"/>
          </a:solidFill>
          <a:ln>
            <a:solidFill>
              <a:srgbClr val="ECF4D6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42245"/>
              </a:solidFill>
            </a:endParaRP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763D3487-507C-E538-CA86-EDDFCA850CF3}"/>
              </a:ext>
            </a:extLst>
          </p:cNvPr>
          <p:cNvSpPr txBox="1">
            <a:spLocks/>
          </p:cNvSpPr>
          <p:nvPr/>
        </p:nvSpPr>
        <p:spPr>
          <a:xfrm>
            <a:off x="4804012" y="2370082"/>
            <a:ext cx="6696326" cy="85728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356D18"/>
                </a:solidFill>
                <a:latin typeface="Aptos Light" panose="020B00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56D18"/>
                </a:solidFill>
                <a:latin typeface="Aptos Light" panose="020B00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56D18"/>
                </a:solidFill>
                <a:latin typeface="Aptos Light" panose="020B00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56D18"/>
                </a:solidFill>
                <a:latin typeface="Aptos Light" panose="020B00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solidFill>
                  <a:srgbClr val="012903"/>
                </a:solidFill>
                <a:latin typeface="+mn-lt"/>
              </a:rPr>
              <a:t>Absorbing risks and protecting against challenges, while enhancing EMDE’s creditworthiness, to reduce borrowing costs.</a:t>
            </a:r>
            <a:endParaRPr lang="en-US" b="1" dirty="0">
              <a:solidFill>
                <a:srgbClr val="012903"/>
              </a:solidFill>
              <a:latin typeface="+mn-lt"/>
            </a:endParaRP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BCBCCA13-24BC-2F94-636E-75BE04F90910}"/>
              </a:ext>
            </a:extLst>
          </p:cNvPr>
          <p:cNvSpPr txBox="1">
            <a:spLocks/>
          </p:cNvSpPr>
          <p:nvPr/>
        </p:nvSpPr>
        <p:spPr>
          <a:xfrm>
            <a:off x="4804012" y="3713468"/>
            <a:ext cx="5985864" cy="862056"/>
          </a:xfrm>
          <a:prstGeom prst="rect">
            <a:avLst/>
          </a:prstGeom>
          <a:solidFill>
            <a:srgbClr val="DAF4ED"/>
          </a:solidFill>
          <a:ln>
            <a:solidFill>
              <a:srgbClr val="DAF4ED"/>
            </a:solidFill>
          </a:ln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356D18"/>
                </a:solidFill>
                <a:latin typeface="Aptos Light" panose="020B00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56D18"/>
                </a:solidFill>
                <a:latin typeface="Aptos Light" panose="020B00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56D18"/>
                </a:solidFill>
                <a:latin typeface="Aptos Light" panose="020B00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56D18"/>
                </a:solidFill>
                <a:latin typeface="Aptos Light" panose="020B00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solidFill>
                  <a:srgbClr val="012903"/>
                </a:solidFill>
                <a:latin typeface="+mn-lt"/>
              </a:rPr>
              <a:t>Employs a dynamic incentive structure that rewards participating countries for taking proactive climate actions.</a:t>
            </a:r>
            <a:endParaRPr lang="en-US" b="1" dirty="0">
              <a:solidFill>
                <a:srgbClr val="012903"/>
              </a:solidFill>
              <a:latin typeface="+mn-lt"/>
            </a:endParaRPr>
          </a:p>
        </p:txBody>
      </p:sp>
      <p:sp>
        <p:nvSpPr>
          <p:cNvPr id="12" name="Text Placeholder 22">
            <a:extLst>
              <a:ext uri="{FF2B5EF4-FFF2-40B4-BE49-F238E27FC236}">
                <a16:creationId xmlns:a16="http://schemas.microsoft.com/office/drawing/2014/main" id="{CE77A659-EB37-7F79-DF31-500B1BBFF87F}"/>
              </a:ext>
            </a:extLst>
          </p:cNvPr>
          <p:cNvSpPr txBox="1">
            <a:spLocks/>
          </p:cNvSpPr>
          <p:nvPr/>
        </p:nvSpPr>
        <p:spPr>
          <a:xfrm>
            <a:off x="4804012" y="4990047"/>
            <a:ext cx="5638192" cy="862059"/>
          </a:xfrm>
          <a:prstGeom prst="rect">
            <a:avLst/>
          </a:prstGeom>
          <a:solidFill>
            <a:srgbClr val="EBF4D6"/>
          </a:solidFill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356D18"/>
                </a:solidFill>
                <a:latin typeface="Aptos Light" panose="020B00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56D18"/>
                </a:solidFill>
                <a:latin typeface="Aptos Light" panose="020B00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56D18"/>
                </a:solidFill>
                <a:latin typeface="Aptos Light" panose="020B00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56D18"/>
                </a:solidFill>
                <a:latin typeface="Aptos Light" panose="020B00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solidFill>
                  <a:srgbClr val="012903"/>
                </a:solidFill>
                <a:latin typeface="+mn-lt"/>
              </a:rPr>
              <a:t>Focusing on early-stage blended equity projects, leveraging private sources to lower the cost of capital in EMDEs.</a:t>
            </a:r>
            <a:endParaRPr lang="en-US" b="1" dirty="0">
              <a:solidFill>
                <a:srgbClr val="012903"/>
              </a:solidFill>
              <a:latin typeface="+mn-l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942DD59-42CE-C0D3-0437-0787480B8B90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603465" y="2740880"/>
            <a:ext cx="782585" cy="112244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D904055-2636-0D96-E20E-58F57B13B279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603464" y="4088374"/>
            <a:ext cx="782585" cy="112244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24E979-98F0-F4CF-7C1D-C03209004CD0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603463" y="5383261"/>
            <a:ext cx="782585" cy="112244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366D79-226D-2560-02C7-D0321B54EB72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975851" y="2745688"/>
            <a:ext cx="1010440" cy="112246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E3D1FA2-0D62-9B55-77E3-15A410516EE6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011837" y="4080858"/>
            <a:ext cx="938471" cy="112245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041FC85-2B70-D24E-1FE9-AD414947192B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018220" y="5370592"/>
            <a:ext cx="938471" cy="99478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4465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786B4B47-9D2A-B00E-7722-577741FD1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Financial Summary (1)</a:t>
            </a:r>
          </a:p>
        </p:txBody>
      </p:sp>
      <p:grpSp>
        <p:nvGrpSpPr>
          <p:cNvPr id="3" name="Google Shape;106;p17">
            <a:extLst>
              <a:ext uri="{FF2B5EF4-FFF2-40B4-BE49-F238E27FC236}">
                <a16:creationId xmlns:a16="http://schemas.microsoft.com/office/drawing/2014/main" id="{15C9C34E-2E55-1588-F3E2-860F7B3C3F29}"/>
              </a:ext>
            </a:extLst>
          </p:cNvPr>
          <p:cNvGrpSpPr/>
          <p:nvPr/>
        </p:nvGrpSpPr>
        <p:grpSpPr>
          <a:xfrm>
            <a:off x="4004492" y="2277108"/>
            <a:ext cx="4443472" cy="2208563"/>
            <a:chOff x="3065890" y="2081159"/>
            <a:chExt cx="2154300" cy="1367471"/>
          </a:xfrm>
        </p:grpSpPr>
        <p:sp>
          <p:nvSpPr>
            <p:cNvPr id="4" name="Google Shape;107;p17">
              <a:extLst>
                <a:ext uri="{FF2B5EF4-FFF2-40B4-BE49-F238E27FC236}">
                  <a16:creationId xmlns:a16="http://schemas.microsoft.com/office/drawing/2014/main" id="{4D7A6992-5DD8-9036-8BD8-2B63E266CF2C}"/>
                </a:ext>
              </a:extLst>
            </p:cNvPr>
            <p:cNvSpPr/>
            <p:nvPr/>
          </p:nvSpPr>
          <p:spPr>
            <a:xfrm rot="10800000" flipH="1">
              <a:off x="3065890" y="2081159"/>
              <a:ext cx="2154300" cy="1367471"/>
            </a:xfrm>
            <a:prstGeom prst="round2DiagRect">
              <a:avLst>
                <a:gd name="adj1" fmla="val 0"/>
                <a:gd name="adj2" fmla="val 17764"/>
              </a:avLst>
            </a:pr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08;p17">
              <a:extLst>
                <a:ext uri="{FF2B5EF4-FFF2-40B4-BE49-F238E27FC236}">
                  <a16:creationId xmlns:a16="http://schemas.microsoft.com/office/drawing/2014/main" id="{4E0AB89F-2002-1AE7-6D18-E5778012DCFF}"/>
                </a:ext>
              </a:extLst>
            </p:cNvPr>
            <p:cNvSpPr txBox="1"/>
            <p:nvPr/>
          </p:nvSpPr>
          <p:spPr>
            <a:xfrm>
              <a:off x="3276566" y="2267951"/>
              <a:ext cx="1685786" cy="993887"/>
            </a:xfrm>
            <a:prstGeom prst="rect">
              <a:avLst/>
            </a:pr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700" b="1" dirty="0">
                  <a:solidFill>
                    <a:srgbClr val="FFFFFF"/>
                  </a:solidFill>
                  <a:latin typeface="+mj-lt"/>
                  <a:ea typeface="Roboto"/>
                  <a:cs typeface="Roboto"/>
                  <a:sym typeface="Roboto"/>
                </a:rPr>
                <a:t>Leverages debt financing to scale up investment in climate projects. This debt financing could come from various sources, including financial institutions, bonds, or other debt instruments.</a:t>
              </a:r>
            </a:p>
          </p:txBody>
        </p:sp>
      </p:grpSp>
      <p:sp>
        <p:nvSpPr>
          <p:cNvPr id="9" name="Google Shape;112;p17">
            <a:extLst>
              <a:ext uri="{FF2B5EF4-FFF2-40B4-BE49-F238E27FC236}">
                <a16:creationId xmlns:a16="http://schemas.microsoft.com/office/drawing/2014/main" id="{605D55A5-1F10-0973-F3F6-07F33DDDB7F2}"/>
              </a:ext>
            </a:extLst>
          </p:cNvPr>
          <p:cNvSpPr txBox="1"/>
          <p:nvPr/>
        </p:nvSpPr>
        <p:spPr>
          <a:xfrm>
            <a:off x="697734" y="2277108"/>
            <a:ext cx="3193190" cy="218854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600"/>
              </a:spcBef>
            </a:pPr>
            <a:r>
              <a:rPr lang="en-GB" b="1" dirty="0">
                <a:solidFill>
                  <a:srgbClr val="FFFFFF"/>
                </a:solidFill>
                <a:ea typeface="Roboto"/>
                <a:cs typeface="Roboto"/>
              </a:rPr>
              <a:t>The trust is governed by a structure where control rests with donor countries, while the beneficiaries are the future populations of participating recipient countries. </a:t>
            </a:r>
          </a:p>
        </p:txBody>
      </p:sp>
      <p:grpSp>
        <p:nvGrpSpPr>
          <p:cNvPr id="11" name="Google Shape;114;p17">
            <a:extLst>
              <a:ext uri="{FF2B5EF4-FFF2-40B4-BE49-F238E27FC236}">
                <a16:creationId xmlns:a16="http://schemas.microsoft.com/office/drawing/2014/main" id="{0C53824C-AD5D-C76B-3731-2DB487AD9267}"/>
              </a:ext>
            </a:extLst>
          </p:cNvPr>
          <p:cNvGrpSpPr/>
          <p:nvPr/>
        </p:nvGrpSpPr>
        <p:grpSpPr>
          <a:xfrm>
            <a:off x="8187509" y="1778561"/>
            <a:ext cx="3655910" cy="3011805"/>
            <a:chOff x="5006077" y="2097539"/>
            <a:chExt cx="3001200" cy="944602"/>
          </a:xfrm>
          <a:solidFill>
            <a:srgbClr val="1B5336"/>
          </a:solidFill>
        </p:grpSpPr>
        <p:sp>
          <p:nvSpPr>
            <p:cNvPr id="12" name="Google Shape;115;p17">
              <a:extLst>
                <a:ext uri="{FF2B5EF4-FFF2-40B4-BE49-F238E27FC236}">
                  <a16:creationId xmlns:a16="http://schemas.microsoft.com/office/drawing/2014/main" id="{7B631258-64E8-D742-69CB-33DF0F90ED2C}"/>
                </a:ext>
              </a:extLst>
            </p:cNvPr>
            <p:cNvSpPr/>
            <p:nvPr/>
          </p:nvSpPr>
          <p:spPr>
            <a:xfrm>
              <a:off x="5006077" y="2097539"/>
              <a:ext cx="3001200" cy="944602"/>
            </a:xfrm>
            <a:prstGeom prst="round2DiagRect">
              <a:avLst>
                <a:gd name="adj1" fmla="val 0"/>
                <a:gd name="adj2" fmla="val 17764"/>
              </a:avLst>
            </a:prstGeom>
            <a:grpFill/>
            <a:ln w="9525" cap="flat" cmpd="sng">
              <a:solidFill>
                <a:srgbClr val="1B533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16;p17">
              <a:extLst>
                <a:ext uri="{FF2B5EF4-FFF2-40B4-BE49-F238E27FC236}">
                  <a16:creationId xmlns:a16="http://schemas.microsoft.com/office/drawing/2014/main" id="{63E660D2-0877-F39C-DE1A-8EBB3D03873A}"/>
                </a:ext>
              </a:extLst>
            </p:cNvPr>
            <p:cNvSpPr txBox="1"/>
            <p:nvPr/>
          </p:nvSpPr>
          <p:spPr>
            <a:xfrm>
              <a:off x="5310477" y="2162056"/>
              <a:ext cx="2417100" cy="636950"/>
            </a:xfrm>
            <a:prstGeom prst="rect">
              <a:avLst/>
            </a:prstGeom>
            <a:grpFill/>
            <a:ln w="9525" cap="flat" cmpd="sng">
              <a:solidFill>
                <a:srgbClr val="1B533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700" b="1" dirty="0">
                  <a:solidFill>
                    <a:srgbClr val="FFFFFF"/>
                  </a:solidFill>
                  <a:latin typeface="+mj-lt"/>
                  <a:ea typeface="Roboto"/>
                  <a:cs typeface="Roboto"/>
                  <a:sym typeface="Roboto"/>
                </a:rPr>
                <a:t>Implements a profit-sharing mechanism to distribute returns generated from investments. These returns may be allocated to beneficiary accounts based on performance metrics, incentivizing countries to take proactive climate actions.</a:t>
              </a: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45FC50D7-C33E-639E-C091-F9524C16D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615" y="4723374"/>
            <a:ext cx="2249319" cy="183618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9828210-21E5-991D-A79E-C198DD697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7452" y="5028068"/>
            <a:ext cx="1526112" cy="1531486"/>
          </a:xfrm>
          <a:prstGeom prst="rect">
            <a:avLst/>
          </a:prstGeom>
        </p:spPr>
      </p:pic>
      <p:grpSp>
        <p:nvGrpSpPr>
          <p:cNvPr id="24" name="Google Shape;110;p17">
            <a:extLst>
              <a:ext uri="{FF2B5EF4-FFF2-40B4-BE49-F238E27FC236}">
                <a16:creationId xmlns:a16="http://schemas.microsoft.com/office/drawing/2014/main" id="{EC52BC8C-B068-BED1-C0BC-B0EA38FA7F09}"/>
              </a:ext>
            </a:extLst>
          </p:cNvPr>
          <p:cNvGrpSpPr/>
          <p:nvPr/>
        </p:nvGrpSpPr>
        <p:grpSpPr>
          <a:xfrm>
            <a:off x="281125" y="1778560"/>
            <a:ext cx="3881164" cy="3011805"/>
            <a:chOff x="1126863" y="2013875"/>
            <a:chExt cx="1944600" cy="1569600"/>
          </a:xfrm>
        </p:grpSpPr>
        <p:sp>
          <p:nvSpPr>
            <p:cNvPr id="25" name="Google Shape;111;p17">
              <a:extLst>
                <a:ext uri="{FF2B5EF4-FFF2-40B4-BE49-F238E27FC236}">
                  <a16:creationId xmlns:a16="http://schemas.microsoft.com/office/drawing/2014/main" id="{2AA8CD25-A158-F302-CD91-80E6D6E26782}"/>
                </a:ext>
              </a:extLst>
            </p:cNvPr>
            <p:cNvSpPr/>
            <p:nvPr/>
          </p:nvSpPr>
          <p:spPr>
            <a:xfrm>
              <a:off x="1126863" y="2013875"/>
              <a:ext cx="1944600" cy="1569600"/>
            </a:xfrm>
            <a:prstGeom prst="round2DiagRect">
              <a:avLst>
                <a:gd name="adj1" fmla="val 0"/>
                <a:gd name="adj2" fmla="val 17764"/>
              </a:avLst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" name="Google Shape;112;p17">
              <a:extLst>
                <a:ext uri="{FF2B5EF4-FFF2-40B4-BE49-F238E27FC236}">
                  <a16:creationId xmlns:a16="http://schemas.microsoft.com/office/drawing/2014/main" id="{C01DB388-70AE-A84D-C098-45ADFFB96DA8}"/>
                </a:ext>
              </a:extLst>
            </p:cNvPr>
            <p:cNvSpPr txBox="1"/>
            <p:nvPr/>
          </p:nvSpPr>
          <p:spPr>
            <a:xfrm>
              <a:off x="1343612" y="2121080"/>
              <a:ext cx="1510130" cy="1270134"/>
            </a:xfrm>
            <a:prstGeom prst="rect">
              <a:avLst/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>
                <a:spcBef>
                  <a:spcPts val="600"/>
                </a:spcBef>
              </a:pPr>
              <a:r>
                <a:rPr lang="en-GB" sz="1700" b="1" dirty="0">
                  <a:solidFill>
                    <a:srgbClr val="FFFFFF"/>
                  </a:solidFill>
                  <a:latin typeface="+mj-lt"/>
                  <a:ea typeface="Roboto"/>
                  <a:cs typeface="Roboto"/>
                </a:rPr>
                <a:t>Control rests with donor countries, while the beneficiaries are the future populations of participating recipient countries. This governance model ensures accountability and transparency in fund management.</a:t>
              </a:r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AC5C2CA8-E8CF-2C87-5307-16E35C6C43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498" y="5028068"/>
            <a:ext cx="2153652" cy="1531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539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oogle Shape;110;p17">
            <a:extLst>
              <a:ext uri="{FF2B5EF4-FFF2-40B4-BE49-F238E27FC236}">
                <a16:creationId xmlns:a16="http://schemas.microsoft.com/office/drawing/2014/main" id="{3279FF1B-00BC-7F6D-87E9-232E2644B642}"/>
              </a:ext>
            </a:extLst>
          </p:cNvPr>
          <p:cNvGrpSpPr/>
          <p:nvPr/>
        </p:nvGrpSpPr>
        <p:grpSpPr>
          <a:xfrm>
            <a:off x="4451033" y="2204277"/>
            <a:ext cx="3844080" cy="2037537"/>
            <a:chOff x="1126863" y="1969515"/>
            <a:chExt cx="1944600" cy="1569600"/>
          </a:xfrm>
          <a:solidFill>
            <a:srgbClr val="EBF1ED"/>
          </a:solidFill>
        </p:grpSpPr>
        <p:sp>
          <p:nvSpPr>
            <p:cNvPr id="8" name="Google Shape;111;p17">
              <a:extLst>
                <a:ext uri="{FF2B5EF4-FFF2-40B4-BE49-F238E27FC236}">
                  <a16:creationId xmlns:a16="http://schemas.microsoft.com/office/drawing/2014/main" id="{6ABB3C72-78C9-505D-F801-256A905FC627}"/>
                </a:ext>
              </a:extLst>
            </p:cNvPr>
            <p:cNvSpPr/>
            <p:nvPr/>
          </p:nvSpPr>
          <p:spPr>
            <a:xfrm>
              <a:off x="1126863" y="1969515"/>
              <a:ext cx="1944600" cy="1569600"/>
            </a:xfrm>
            <a:prstGeom prst="round2DiagRect">
              <a:avLst>
                <a:gd name="adj1" fmla="val 0"/>
                <a:gd name="adj2" fmla="val 17764"/>
              </a:avLst>
            </a:prstGeom>
            <a:grpFill/>
            <a:ln w="9525" cap="flat" cmpd="sng">
              <a:solidFill>
                <a:srgbClr val="ECF4D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" name="Google Shape;112;p17">
              <a:extLst>
                <a:ext uri="{FF2B5EF4-FFF2-40B4-BE49-F238E27FC236}">
                  <a16:creationId xmlns:a16="http://schemas.microsoft.com/office/drawing/2014/main" id="{605D55A5-1F10-0973-F3F6-07F33DDDB7F2}"/>
                </a:ext>
              </a:extLst>
            </p:cNvPr>
            <p:cNvSpPr txBox="1"/>
            <p:nvPr/>
          </p:nvSpPr>
          <p:spPr>
            <a:xfrm>
              <a:off x="1298028" y="2184085"/>
              <a:ext cx="1584662" cy="1140458"/>
            </a:xfrm>
            <a:prstGeom prst="rect">
              <a:avLst/>
            </a:prstGeom>
            <a:grpFill/>
            <a:ln w="9525" cap="flat" cmpd="sng">
              <a:solidFill>
                <a:srgbClr val="ECF4D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>
                <a:spcBef>
                  <a:spcPts val="600"/>
                </a:spcBef>
              </a:pPr>
              <a:r>
                <a:rPr lang="en-GB" sz="1700" b="1" dirty="0">
                  <a:solidFill>
                    <a:srgbClr val="012903"/>
                  </a:solidFill>
                  <a:latin typeface="+mj-lt"/>
                  <a:ea typeface="Roboto"/>
                  <a:cs typeface="Roboto"/>
                </a:rPr>
                <a:t>Collaborates with implementing agencies, initiatives, and financial institutions to leverage expertise and resources.</a:t>
              </a:r>
            </a:p>
          </p:txBody>
        </p:sp>
      </p:grpSp>
      <p:sp>
        <p:nvSpPr>
          <p:cNvPr id="21" name="Title 20">
            <a:extLst>
              <a:ext uri="{FF2B5EF4-FFF2-40B4-BE49-F238E27FC236}">
                <a16:creationId xmlns:a16="http://schemas.microsoft.com/office/drawing/2014/main" id="{786B4B47-9D2A-B00E-7722-577741FD1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Financial Summary (2)</a:t>
            </a:r>
          </a:p>
        </p:txBody>
      </p:sp>
      <p:grpSp>
        <p:nvGrpSpPr>
          <p:cNvPr id="3" name="Google Shape;106;p17">
            <a:extLst>
              <a:ext uri="{FF2B5EF4-FFF2-40B4-BE49-F238E27FC236}">
                <a16:creationId xmlns:a16="http://schemas.microsoft.com/office/drawing/2014/main" id="{15C9C34E-2E55-1588-F3E2-860F7B3C3F29}"/>
              </a:ext>
            </a:extLst>
          </p:cNvPr>
          <p:cNvGrpSpPr/>
          <p:nvPr/>
        </p:nvGrpSpPr>
        <p:grpSpPr>
          <a:xfrm>
            <a:off x="346056" y="1696674"/>
            <a:ext cx="4212582" cy="3052747"/>
            <a:chOff x="3071454" y="2013875"/>
            <a:chExt cx="2154300" cy="1569600"/>
          </a:xfrm>
          <a:solidFill>
            <a:srgbClr val="DAF4ED"/>
          </a:solidFill>
        </p:grpSpPr>
        <p:sp>
          <p:nvSpPr>
            <p:cNvPr id="4" name="Google Shape;107;p17">
              <a:extLst>
                <a:ext uri="{FF2B5EF4-FFF2-40B4-BE49-F238E27FC236}">
                  <a16:creationId xmlns:a16="http://schemas.microsoft.com/office/drawing/2014/main" id="{4D7A6992-5DD8-9036-8BD8-2B63E266CF2C}"/>
                </a:ext>
              </a:extLst>
            </p:cNvPr>
            <p:cNvSpPr/>
            <p:nvPr/>
          </p:nvSpPr>
          <p:spPr>
            <a:xfrm rot="10800000" flipH="1">
              <a:off x="3071454" y="2013875"/>
              <a:ext cx="2154300" cy="1569600"/>
            </a:xfrm>
            <a:prstGeom prst="round2DiagRect">
              <a:avLst>
                <a:gd name="adj1" fmla="val 0"/>
                <a:gd name="adj2" fmla="val 17764"/>
              </a:avLst>
            </a:prstGeom>
            <a:grpFill/>
            <a:ln w="9525" cap="flat" cmpd="sng">
              <a:solidFill>
                <a:srgbClr val="DAF4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08;p17">
              <a:extLst>
                <a:ext uri="{FF2B5EF4-FFF2-40B4-BE49-F238E27FC236}">
                  <a16:creationId xmlns:a16="http://schemas.microsoft.com/office/drawing/2014/main" id="{4E0AB89F-2002-1AE7-6D18-E5778012DCFF}"/>
                </a:ext>
              </a:extLst>
            </p:cNvPr>
            <p:cNvSpPr txBox="1"/>
            <p:nvPr/>
          </p:nvSpPr>
          <p:spPr>
            <a:xfrm>
              <a:off x="3276565" y="2267951"/>
              <a:ext cx="1762475" cy="1047620"/>
            </a:xfrm>
            <a:prstGeom prst="rect">
              <a:avLst/>
            </a:prstGeom>
            <a:grpFill/>
            <a:ln w="9525" cap="flat" cmpd="sng">
              <a:solidFill>
                <a:srgbClr val="DAF4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700" b="1" dirty="0">
                  <a:solidFill>
                    <a:srgbClr val="012903"/>
                  </a:solidFill>
                  <a:latin typeface="+mj-lt"/>
                  <a:ea typeface="Roboto"/>
                  <a:cs typeface="Roboto"/>
                  <a:sym typeface="Roboto"/>
                </a:rPr>
                <a:t>Incorporates risk mitigation measures to protect investors and reduce the cost of capital. This may include insurance contracts, guarantees, or other financial instruments aimed at mitigating policy, financial, or project-related risks.</a:t>
              </a:r>
            </a:p>
          </p:txBody>
        </p:sp>
      </p:grpSp>
      <p:grpSp>
        <p:nvGrpSpPr>
          <p:cNvPr id="11" name="Google Shape;114;p17">
            <a:extLst>
              <a:ext uri="{FF2B5EF4-FFF2-40B4-BE49-F238E27FC236}">
                <a16:creationId xmlns:a16="http://schemas.microsoft.com/office/drawing/2014/main" id="{0C53824C-AD5D-C76B-3731-2DB487AD9267}"/>
              </a:ext>
            </a:extLst>
          </p:cNvPr>
          <p:cNvGrpSpPr/>
          <p:nvPr/>
        </p:nvGrpSpPr>
        <p:grpSpPr>
          <a:xfrm>
            <a:off x="8187508" y="1819617"/>
            <a:ext cx="3655910" cy="2806858"/>
            <a:chOff x="5006077" y="2097539"/>
            <a:chExt cx="3001200" cy="944602"/>
          </a:xfrm>
          <a:solidFill>
            <a:srgbClr val="ECF4D6"/>
          </a:solidFill>
        </p:grpSpPr>
        <p:sp>
          <p:nvSpPr>
            <p:cNvPr id="12" name="Google Shape;115;p17">
              <a:extLst>
                <a:ext uri="{FF2B5EF4-FFF2-40B4-BE49-F238E27FC236}">
                  <a16:creationId xmlns:a16="http://schemas.microsoft.com/office/drawing/2014/main" id="{7B631258-64E8-D742-69CB-33DF0F90ED2C}"/>
                </a:ext>
              </a:extLst>
            </p:cNvPr>
            <p:cNvSpPr/>
            <p:nvPr/>
          </p:nvSpPr>
          <p:spPr>
            <a:xfrm>
              <a:off x="5006077" y="2097539"/>
              <a:ext cx="3001200" cy="944602"/>
            </a:xfrm>
            <a:prstGeom prst="round2DiagRect">
              <a:avLst>
                <a:gd name="adj1" fmla="val 0"/>
                <a:gd name="adj2" fmla="val 17764"/>
              </a:avLst>
            </a:prstGeom>
            <a:grpFill/>
            <a:ln w="9525" cap="flat" cmpd="sng">
              <a:solidFill>
                <a:srgbClr val="ECF4D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16;p17">
              <a:extLst>
                <a:ext uri="{FF2B5EF4-FFF2-40B4-BE49-F238E27FC236}">
                  <a16:creationId xmlns:a16="http://schemas.microsoft.com/office/drawing/2014/main" id="{63E660D2-0877-F39C-DE1A-8EBB3D03873A}"/>
                </a:ext>
              </a:extLst>
            </p:cNvPr>
            <p:cNvSpPr txBox="1"/>
            <p:nvPr/>
          </p:nvSpPr>
          <p:spPr>
            <a:xfrm>
              <a:off x="5298128" y="2232896"/>
              <a:ext cx="2381969" cy="636950"/>
            </a:xfrm>
            <a:prstGeom prst="rect">
              <a:avLst/>
            </a:prstGeom>
            <a:grpFill/>
            <a:ln w="9525" cap="flat" cmpd="sng">
              <a:solidFill>
                <a:srgbClr val="ECF4D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700" b="1" dirty="0">
                  <a:solidFill>
                    <a:srgbClr val="012903"/>
                  </a:solidFill>
                  <a:latin typeface="+mj-lt"/>
                  <a:ea typeface="Roboto"/>
                  <a:cs typeface="Roboto"/>
                  <a:sym typeface="Roboto"/>
                </a:rPr>
                <a:t>Designed for scalability and expansion. The establishment of regional "child" funds and national-scale climate investment pension funds are key options for fund growth.</a:t>
              </a: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11E468D9-3E48-04BE-B4DE-9432B26F2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2496" y="4503530"/>
            <a:ext cx="2186347" cy="20375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AA4F542-CF9C-D372-DC3D-62958BC02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3118" y="4907228"/>
            <a:ext cx="1698456" cy="163384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5A20BFE-A62F-E1E8-541A-642BBAD3A6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8985" y="4907228"/>
            <a:ext cx="1769992" cy="1633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409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57EE449-92EB-CBE1-2D56-F979FB286C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308" y="5279894"/>
            <a:ext cx="10955383" cy="1066818"/>
          </a:xfrm>
        </p:spPr>
        <p:txBody>
          <a:bodyPr/>
          <a:lstStyle/>
          <a:p>
            <a:r>
              <a:rPr lang="en-US" dirty="0"/>
              <a:t>Thanks!</a:t>
            </a:r>
          </a:p>
        </p:txBody>
      </p:sp>
    </p:spTree>
    <p:extLst>
      <p:ext uri="{BB962C8B-B14F-4D97-AF65-F5344CB8AC3E}">
        <p14:creationId xmlns:p14="http://schemas.microsoft.com/office/powerpoint/2010/main" val="301279946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D0AC83C3-44F1-354B-A406-D13BE5088D18}" vid="{0CBD1C04-D24F-2B40-A831-D8EA9EDDF6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1072</TotalTime>
  <Words>396</Words>
  <Application>Microsoft Macintosh PowerPoint</Application>
  <PresentationFormat>Widescreen</PresentationFormat>
  <Paragraphs>37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Andes ExtraLight</vt:lpstr>
      <vt:lpstr>Aptos</vt:lpstr>
      <vt:lpstr>Aptos Light</vt:lpstr>
      <vt:lpstr>Arial</vt:lpstr>
      <vt:lpstr>Calibri</vt:lpstr>
      <vt:lpstr>Roboto</vt:lpstr>
      <vt:lpstr>Wingdings</vt:lpstr>
      <vt:lpstr>Theme1</vt:lpstr>
      <vt:lpstr>Climate Incentives Trust (CIT)</vt:lpstr>
      <vt:lpstr>Background</vt:lpstr>
      <vt:lpstr>PowerPoint Presentation</vt:lpstr>
      <vt:lpstr>Three Key Functions</vt:lpstr>
      <vt:lpstr>Financial Summary (1)</vt:lpstr>
      <vt:lpstr>Financial Summary (2)</vt:lpstr>
      <vt:lpstr>Thanks!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Climate Incentives Trust (CIT)</dc:title>
  <dc:creator>Evie Davey</dc:creator>
  <cp:lastModifiedBy>Evie Davey</cp:lastModifiedBy>
  <cp:revision>14</cp:revision>
  <dcterms:created xsi:type="dcterms:W3CDTF">2024-05-02T15:50:05Z</dcterms:created>
  <dcterms:modified xsi:type="dcterms:W3CDTF">2024-05-03T09:42:45Z</dcterms:modified>
</cp:coreProperties>
</file>