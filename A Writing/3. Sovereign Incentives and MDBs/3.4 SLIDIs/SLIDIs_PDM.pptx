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4553" r:id="rId4"/>
  </p:sldMasterIdLst>
  <p:notesMasterIdLst>
    <p:notesMasterId r:id="rId39"/>
  </p:notesMasterIdLst>
  <p:sldIdLst>
    <p:sldId id="350" r:id="rId5"/>
    <p:sldId id="332" r:id="rId6"/>
    <p:sldId id="256" r:id="rId7"/>
    <p:sldId id="257" r:id="rId8"/>
    <p:sldId id="295" r:id="rId9"/>
    <p:sldId id="258" r:id="rId10"/>
    <p:sldId id="259" r:id="rId11"/>
    <p:sldId id="260" r:id="rId12"/>
    <p:sldId id="358" r:id="rId13"/>
    <p:sldId id="361" r:id="rId14"/>
    <p:sldId id="302" r:id="rId15"/>
    <p:sldId id="263" r:id="rId16"/>
    <p:sldId id="351" r:id="rId17"/>
    <p:sldId id="352" r:id="rId18"/>
    <p:sldId id="267" r:id="rId19"/>
    <p:sldId id="362" r:id="rId20"/>
    <p:sldId id="353" r:id="rId21"/>
    <p:sldId id="364" r:id="rId22"/>
    <p:sldId id="270" r:id="rId23"/>
    <p:sldId id="338" r:id="rId24"/>
    <p:sldId id="323" r:id="rId25"/>
    <p:sldId id="359" r:id="rId26"/>
    <p:sldId id="363" r:id="rId27"/>
    <p:sldId id="356" r:id="rId28"/>
    <p:sldId id="365" r:id="rId29"/>
    <p:sldId id="326" r:id="rId30"/>
    <p:sldId id="337" r:id="rId31"/>
    <p:sldId id="354" r:id="rId32"/>
    <p:sldId id="319" r:id="rId33"/>
    <p:sldId id="355" r:id="rId34"/>
    <p:sldId id="331" r:id="rId35"/>
    <p:sldId id="276" r:id="rId36"/>
    <p:sldId id="366" r:id="rId37"/>
    <p:sldId id="304" r:id="rId38"/>
  </p:sldIdLst>
  <p:sldSz cx="9144000" cy="5143500" type="screen16x9"/>
  <p:notesSz cx="6858000" cy="9144000"/>
  <p:embeddedFontLst>
    <p:embeddedFont>
      <p:font typeface="Merriweather" panose="00000500000000000000" pitchFamily="2" charset="0"/>
      <p:regular r:id="rId40"/>
      <p:bold r:id="rId41"/>
      <p:italic r:id="rId42"/>
      <p:boldItalic r:id="rId43"/>
    </p:embeddedFont>
    <p:embeddedFont>
      <p:font typeface="Roboto" panose="02000000000000000000" pitchFamily="2" charset="0"/>
      <p:regular r:id="rId44"/>
      <p:bold r:id="rId45"/>
      <p:italic r:id="rId46"/>
      <p:boldItalic r:id="rId47"/>
    </p:embeddedFont>
    <p:embeddedFont>
      <p:font typeface="Roboto Medium" panose="02000000000000000000" pitchFamily="2" charset="0"/>
      <p:regular r:id="rId48"/>
      <p:italic r:id="rId4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205F30B-DBA9-B108-89CA-A7CC2A3B6867}" name="Stephen John Stretton" initials="SS" userId="S::sstretton@worldbank.org::da8c780b-1aa2-4e36-94fb-871dc8111504" providerId="AD"/>
  <p188:author id="{F1613D9F-A197-850F-AE93-A634A7B4F7E2}" name="Nils Burkhard Patrik Zimmermann" initials="NBPZ" userId="S::nzimmermann@worldbank.org::ff02bda6-aa1d-49f9-bc1c-920e1083daef" providerId="AD"/>
  <p188:author id="{E0C990E1-2261-E0F6-54FB-973D4E73BA73}" name="Marcello Estevao" initials="ME" userId="S::mestevao@worldbank.org::3eb6c5ce-2aa9-4828-8ac9-dd7e4220b49e" providerId="AD"/>
  <p188:author id="{C7E0E7ED-2EB3-C63C-569F-637E32197C19}" name="Evie Davey" initials="ED" userId="08f35b59f79c2c7e"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F4A"/>
    <a:srgbClr val="203617"/>
    <a:srgbClr val="B85641"/>
    <a:srgbClr val="FFFFFF"/>
    <a:srgbClr val="042F4A"/>
    <a:srgbClr val="99CCFF"/>
    <a:srgbClr val="039384"/>
    <a:srgbClr val="5FAD01"/>
    <a:srgbClr val="B85741"/>
    <a:srgbClr val="A72A1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A5068D-CF79-4D5C-8775-B9C7141315D7}" v="5" dt="2024-10-29T21:11:28.638"/>
    <p1510:client id="{BAA38263-6921-4E48-9825-BD671D9EFB86}" v="7" dt="2024-10-29T23:16:05.3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1158" autoAdjust="0"/>
    <p:restoredTop sz="94719"/>
  </p:normalViewPr>
  <p:slideViewPr>
    <p:cSldViewPr snapToGrid="0">
      <p:cViewPr varScale="1">
        <p:scale>
          <a:sx n="74" d="100"/>
          <a:sy n="74" d="100"/>
        </p:scale>
        <p:origin x="288" y="5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font" Target="fonts/font1.fntdata"/><Relationship Id="rId45" Type="http://schemas.openxmlformats.org/officeDocument/2006/relationships/font" Target="fonts/font6.fntdata"/><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5.fntdata"/><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4.fntdata"/><Relationship Id="rId48" Type="http://schemas.openxmlformats.org/officeDocument/2006/relationships/font" Target="fonts/font9.fntdata"/><Relationship Id="rId56" Type="http://schemas.microsoft.com/office/2018/10/relationships/authors" Target="authors.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7.fntdata"/><Relationship Id="rId20" Type="http://schemas.openxmlformats.org/officeDocument/2006/relationships/slide" Target="slides/slide16.xml"/><Relationship Id="rId41" Type="http://schemas.openxmlformats.org/officeDocument/2006/relationships/font" Target="fonts/font2.fntdata"/><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10.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phen Stretton" userId="d46b5d2afcd4ceb0" providerId="LiveId" clId="{63A5068D-CF79-4D5C-8775-B9C7141315D7}"/>
    <pc:docChg chg="undo redo custSel addSld delSld modSld sldOrd">
      <pc:chgData name="Stephen Stretton" userId="d46b5d2afcd4ceb0" providerId="LiveId" clId="{63A5068D-CF79-4D5C-8775-B9C7141315D7}" dt="2024-10-29T21:29:12.871" v="1850" actId="700"/>
      <pc:docMkLst>
        <pc:docMk/>
      </pc:docMkLst>
      <pc:sldChg chg="modSp mod">
        <pc:chgData name="Stephen Stretton" userId="d46b5d2afcd4ceb0" providerId="LiveId" clId="{63A5068D-CF79-4D5C-8775-B9C7141315D7}" dt="2024-10-29T21:16:33.476" v="1812" actId="14100"/>
        <pc:sldMkLst>
          <pc:docMk/>
          <pc:sldMk cId="0" sldId="256"/>
        </pc:sldMkLst>
        <pc:spChg chg="mod">
          <ac:chgData name="Stephen Stretton" userId="d46b5d2afcd4ceb0" providerId="LiveId" clId="{63A5068D-CF79-4D5C-8775-B9C7141315D7}" dt="2024-10-29T21:16:28.349" v="1810" actId="1076"/>
          <ac:spMkLst>
            <pc:docMk/>
            <pc:sldMk cId="0" sldId="256"/>
            <ac:spMk id="3" creationId="{EC282D93-2641-DAEF-43FD-3C2EBA6ED868}"/>
          </ac:spMkLst>
        </pc:spChg>
        <pc:spChg chg="mod">
          <ac:chgData name="Stephen Stretton" userId="d46b5d2afcd4ceb0" providerId="LiveId" clId="{63A5068D-CF79-4D5C-8775-B9C7141315D7}" dt="2024-10-29T21:16:33.476" v="1812" actId="14100"/>
          <ac:spMkLst>
            <pc:docMk/>
            <pc:sldMk cId="0" sldId="256"/>
            <ac:spMk id="5" creationId="{B862295B-9C7E-2DFA-0EE5-255DC8AD3A3A}"/>
          </ac:spMkLst>
        </pc:spChg>
        <pc:spChg chg="mod">
          <ac:chgData name="Stephen Stretton" userId="d46b5d2afcd4ceb0" providerId="LiveId" clId="{63A5068D-CF79-4D5C-8775-B9C7141315D7}" dt="2024-10-29T21:03:07.723" v="921" actId="113"/>
          <ac:spMkLst>
            <pc:docMk/>
            <pc:sldMk cId="0" sldId="256"/>
            <ac:spMk id="66" creationId="{00000000-0000-0000-0000-000000000000}"/>
          </ac:spMkLst>
        </pc:spChg>
      </pc:sldChg>
      <pc:sldChg chg="modSp mod">
        <pc:chgData name="Stephen Stretton" userId="d46b5d2afcd4ceb0" providerId="LiveId" clId="{63A5068D-CF79-4D5C-8775-B9C7141315D7}" dt="2024-10-29T21:17:01.173" v="1849" actId="20577"/>
        <pc:sldMkLst>
          <pc:docMk/>
          <pc:sldMk cId="0" sldId="257"/>
        </pc:sldMkLst>
        <pc:spChg chg="mod">
          <ac:chgData name="Stephen Stretton" userId="d46b5d2afcd4ceb0" providerId="LiveId" clId="{63A5068D-CF79-4D5C-8775-B9C7141315D7}" dt="2024-10-29T21:17:01.173" v="1849" actId="20577"/>
          <ac:spMkLst>
            <pc:docMk/>
            <pc:sldMk cId="0" sldId="257"/>
            <ac:spMk id="72" creationId="{00000000-0000-0000-0000-000000000000}"/>
          </ac:spMkLst>
        </pc:spChg>
      </pc:sldChg>
      <pc:sldChg chg="modSp mod">
        <pc:chgData name="Stephen Stretton" userId="d46b5d2afcd4ceb0" providerId="LiveId" clId="{63A5068D-CF79-4D5C-8775-B9C7141315D7}" dt="2024-10-29T18:56:40.229" v="358" actId="20577"/>
        <pc:sldMkLst>
          <pc:docMk/>
          <pc:sldMk cId="0" sldId="260"/>
        </pc:sldMkLst>
        <pc:spChg chg="mod">
          <ac:chgData name="Stephen Stretton" userId="d46b5d2afcd4ceb0" providerId="LiveId" clId="{63A5068D-CF79-4D5C-8775-B9C7141315D7}" dt="2024-10-29T18:56:40.229" v="358" actId="20577"/>
          <ac:spMkLst>
            <pc:docMk/>
            <pc:sldMk cId="0" sldId="260"/>
            <ac:spMk id="10" creationId="{2E9A4454-9C96-FA09-C9E2-86234AA8F843}"/>
          </ac:spMkLst>
        </pc:spChg>
      </pc:sldChg>
      <pc:sldChg chg="modSp mod">
        <pc:chgData name="Stephen Stretton" userId="d46b5d2afcd4ceb0" providerId="LiveId" clId="{63A5068D-CF79-4D5C-8775-B9C7141315D7}" dt="2024-10-29T18:49:51.885" v="9" actId="20577"/>
        <pc:sldMkLst>
          <pc:docMk/>
          <pc:sldMk cId="0" sldId="263"/>
        </pc:sldMkLst>
        <pc:spChg chg="mod">
          <ac:chgData name="Stephen Stretton" userId="d46b5d2afcd4ceb0" providerId="LiveId" clId="{63A5068D-CF79-4D5C-8775-B9C7141315D7}" dt="2024-10-29T18:49:51.885" v="9" actId="20577"/>
          <ac:spMkLst>
            <pc:docMk/>
            <pc:sldMk cId="0" sldId="263"/>
            <ac:spMk id="3" creationId="{EEF8EC68-4424-C4F8-CEBF-7671BE0EC886}"/>
          </ac:spMkLst>
        </pc:spChg>
      </pc:sldChg>
      <pc:sldChg chg="modSp mod">
        <pc:chgData name="Stephen Stretton" userId="d46b5d2afcd4ceb0" providerId="LiveId" clId="{63A5068D-CF79-4D5C-8775-B9C7141315D7}" dt="2024-10-29T18:58:37.987" v="465" actId="20577"/>
        <pc:sldMkLst>
          <pc:docMk/>
          <pc:sldMk cId="0" sldId="267"/>
        </pc:sldMkLst>
        <pc:spChg chg="mod">
          <ac:chgData name="Stephen Stretton" userId="d46b5d2afcd4ceb0" providerId="LiveId" clId="{63A5068D-CF79-4D5C-8775-B9C7141315D7}" dt="2024-10-29T18:58:37.987" v="465" actId="20577"/>
          <ac:spMkLst>
            <pc:docMk/>
            <pc:sldMk cId="0" sldId="267"/>
            <ac:spMk id="7" creationId="{8ECB144B-9D03-6B48-2904-EC8BFF2D9B92}"/>
          </ac:spMkLst>
        </pc:spChg>
      </pc:sldChg>
      <pc:sldChg chg="modSp mod modClrScheme chgLayout">
        <pc:chgData name="Stephen Stretton" userId="d46b5d2afcd4ceb0" providerId="LiveId" clId="{63A5068D-CF79-4D5C-8775-B9C7141315D7}" dt="2024-10-29T21:05:38.098" v="1119" actId="700"/>
        <pc:sldMkLst>
          <pc:docMk/>
          <pc:sldMk cId="360777889" sldId="270"/>
        </pc:sldMkLst>
        <pc:spChg chg="mod ord">
          <ac:chgData name="Stephen Stretton" userId="d46b5d2afcd4ceb0" providerId="LiveId" clId="{63A5068D-CF79-4D5C-8775-B9C7141315D7}" dt="2024-10-29T21:05:38.098" v="1119" actId="700"/>
          <ac:spMkLst>
            <pc:docMk/>
            <pc:sldMk cId="360777889" sldId="270"/>
            <ac:spMk id="247" creationId="{BDA15AB4-6F1E-81D8-9C61-4CDC3094B5C3}"/>
          </ac:spMkLst>
        </pc:spChg>
      </pc:sldChg>
      <pc:sldChg chg="modSp mod">
        <pc:chgData name="Stephen Stretton" userId="d46b5d2afcd4ceb0" providerId="LiveId" clId="{63A5068D-CF79-4D5C-8775-B9C7141315D7}" dt="2024-10-29T18:49:43.409" v="2" actId="20577"/>
        <pc:sldMkLst>
          <pc:docMk/>
          <pc:sldMk cId="701908447" sldId="295"/>
        </pc:sldMkLst>
        <pc:spChg chg="mod">
          <ac:chgData name="Stephen Stretton" userId="d46b5d2afcd4ceb0" providerId="LiveId" clId="{63A5068D-CF79-4D5C-8775-B9C7141315D7}" dt="2024-10-29T18:49:43.409" v="2" actId="20577"/>
          <ac:spMkLst>
            <pc:docMk/>
            <pc:sldMk cId="701908447" sldId="295"/>
            <ac:spMk id="5" creationId="{6ACBF3F9-6AC9-F556-6E76-DFECC4C3B86B}"/>
          </ac:spMkLst>
        </pc:spChg>
      </pc:sldChg>
      <pc:sldChg chg="modSp mod">
        <pc:chgData name="Stephen Stretton" userId="d46b5d2afcd4ceb0" providerId="LiveId" clId="{63A5068D-CF79-4D5C-8775-B9C7141315D7}" dt="2024-10-29T21:13:19.232" v="1703" actId="20577"/>
        <pc:sldMkLst>
          <pc:docMk/>
          <pc:sldMk cId="1157802730" sldId="319"/>
        </pc:sldMkLst>
        <pc:spChg chg="mod">
          <ac:chgData name="Stephen Stretton" userId="d46b5d2afcd4ceb0" providerId="LiveId" clId="{63A5068D-CF79-4D5C-8775-B9C7141315D7}" dt="2024-10-29T21:13:19.232" v="1703" actId="20577"/>
          <ac:spMkLst>
            <pc:docMk/>
            <pc:sldMk cId="1157802730" sldId="319"/>
            <ac:spMk id="3" creationId="{DE15D7C1-76F1-CE4F-1FBE-D812132649B2}"/>
          </ac:spMkLst>
        </pc:spChg>
      </pc:sldChg>
      <pc:sldChg chg="addSp delSp modSp mod">
        <pc:chgData name="Stephen Stretton" userId="d46b5d2afcd4ceb0" providerId="LiveId" clId="{63A5068D-CF79-4D5C-8775-B9C7141315D7}" dt="2024-10-29T18:54:21.104" v="302" actId="20577"/>
        <pc:sldMkLst>
          <pc:docMk/>
          <pc:sldMk cId="2807304930" sldId="326"/>
        </pc:sldMkLst>
        <pc:spChg chg="mod">
          <ac:chgData name="Stephen Stretton" userId="d46b5d2afcd4ceb0" providerId="LiveId" clId="{63A5068D-CF79-4D5C-8775-B9C7141315D7}" dt="2024-10-29T18:54:21.104" v="302" actId="20577"/>
          <ac:spMkLst>
            <pc:docMk/>
            <pc:sldMk cId="2807304930" sldId="326"/>
            <ac:spMk id="3" creationId="{DD0CB4FE-F1AC-C087-9826-A030411E38DC}"/>
          </ac:spMkLst>
        </pc:spChg>
        <pc:graphicFrameChg chg="add del modGraphic">
          <ac:chgData name="Stephen Stretton" userId="d46b5d2afcd4ceb0" providerId="LiveId" clId="{63A5068D-CF79-4D5C-8775-B9C7141315D7}" dt="2024-10-29T18:51:20.195" v="97" actId="27309"/>
          <ac:graphicFrameMkLst>
            <pc:docMk/>
            <pc:sldMk cId="2807304930" sldId="326"/>
            <ac:graphicFrameMk id="4" creationId="{B2C9E288-73B2-14C6-14FF-42C320EB6A07}"/>
          </ac:graphicFrameMkLst>
        </pc:graphicFrameChg>
      </pc:sldChg>
      <pc:sldChg chg="modSp mod">
        <pc:chgData name="Stephen Stretton" userId="d46b5d2afcd4ceb0" providerId="LiveId" clId="{63A5068D-CF79-4D5C-8775-B9C7141315D7}" dt="2024-10-29T21:16:20.697" v="1809" actId="20577"/>
        <pc:sldMkLst>
          <pc:docMk/>
          <pc:sldMk cId="2269282609" sldId="332"/>
        </pc:sldMkLst>
        <pc:spChg chg="mod">
          <ac:chgData name="Stephen Stretton" userId="d46b5d2afcd4ceb0" providerId="LiveId" clId="{63A5068D-CF79-4D5C-8775-B9C7141315D7}" dt="2024-10-29T21:16:20.697" v="1809" actId="20577"/>
          <ac:spMkLst>
            <pc:docMk/>
            <pc:sldMk cId="2269282609" sldId="332"/>
            <ac:spMk id="7" creationId="{7F312E0E-26F3-02C5-20AB-A640EBF08C2C}"/>
          </ac:spMkLst>
        </pc:spChg>
      </pc:sldChg>
      <pc:sldChg chg="addSp modSp mod modClrScheme chgLayout">
        <pc:chgData name="Stephen Stretton" userId="d46b5d2afcd4ceb0" providerId="LiveId" clId="{63A5068D-CF79-4D5C-8775-B9C7141315D7}" dt="2024-10-29T21:29:12.871" v="1850" actId="700"/>
        <pc:sldMkLst>
          <pc:docMk/>
          <pc:sldMk cId="159856808" sldId="338"/>
        </pc:sldMkLst>
        <pc:spChg chg="add mod">
          <ac:chgData name="Stephen Stretton" userId="d46b5d2afcd4ceb0" providerId="LiveId" clId="{63A5068D-CF79-4D5C-8775-B9C7141315D7}" dt="2024-10-29T21:09:24.342" v="1227" actId="21"/>
          <ac:spMkLst>
            <pc:docMk/>
            <pc:sldMk cId="159856808" sldId="338"/>
            <ac:spMk id="3" creationId="{52372CD9-8493-C2AF-106D-61AF156FD275}"/>
          </ac:spMkLst>
        </pc:spChg>
        <pc:spChg chg="mod ord">
          <ac:chgData name="Stephen Stretton" userId="d46b5d2afcd4ceb0" providerId="LiveId" clId="{63A5068D-CF79-4D5C-8775-B9C7141315D7}" dt="2024-10-29T21:29:12.871" v="1850" actId="700"/>
          <ac:spMkLst>
            <pc:docMk/>
            <pc:sldMk cId="159856808" sldId="338"/>
            <ac:spMk id="247" creationId="{BDA15AB4-6F1E-81D8-9C61-4CDC3094B5C3}"/>
          </ac:spMkLst>
        </pc:spChg>
      </pc:sldChg>
      <pc:sldChg chg="modSp mod">
        <pc:chgData name="Stephen Stretton" userId="d46b5d2afcd4ceb0" providerId="LiveId" clId="{63A5068D-CF79-4D5C-8775-B9C7141315D7}" dt="2024-10-29T21:00:42.115" v="890" actId="20577"/>
        <pc:sldMkLst>
          <pc:docMk/>
          <pc:sldMk cId="1961683587" sldId="352"/>
        </pc:sldMkLst>
        <pc:spChg chg="mod">
          <ac:chgData name="Stephen Stretton" userId="d46b5d2afcd4ceb0" providerId="LiveId" clId="{63A5068D-CF79-4D5C-8775-B9C7141315D7}" dt="2024-10-29T21:00:42.115" v="890" actId="20577"/>
          <ac:spMkLst>
            <pc:docMk/>
            <pc:sldMk cId="1961683587" sldId="352"/>
            <ac:spMk id="2" creationId="{F03736D0-5754-62BF-9544-09C6DFBCC553}"/>
          </ac:spMkLst>
        </pc:spChg>
      </pc:sldChg>
      <pc:sldChg chg="modSp mod">
        <pc:chgData name="Stephen Stretton" userId="d46b5d2afcd4ceb0" providerId="LiveId" clId="{63A5068D-CF79-4D5C-8775-B9C7141315D7}" dt="2024-10-29T18:56:28.523" v="357" actId="20577"/>
        <pc:sldMkLst>
          <pc:docMk/>
          <pc:sldMk cId="3257726604" sldId="353"/>
        </pc:sldMkLst>
        <pc:spChg chg="mod">
          <ac:chgData name="Stephen Stretton" userId="d46b5d2afcd4ceb0" providerId="LiveId" clId="{63A5068D-CF79-4D5C-8775-B9C7141315D7}" dt="2024-10-29T18:56:28.523" v="357" actId="20577"/>
          <ac:spMkLst>
            <pc:docMk/>
            <pc:sldMk cId="3257726604" sldId="353"/>
            <ac:spMk id="3" creationId="{D6342A48-E69E-92E6-2683-C25DC412591F}"/>
          </ac:spMkLst>
        </pc:spChg>
      </pc:sldChg>
      <pc:sldChg chg="modSp mod">
        <pc:chgData name="Stephen Stretton" userId="d46b5d2afcd4ceb0" providerId="LiveId" clId="{63A5068D-CF79-4D5C-8775-B9C7141315D7}" dt="2024-10-29T21:15:10.639" v="1778" actId="14100"/>
        <pc:sldMkLst>
          <pc:docMk/>
          <pc:sldMk cId="408199110" sldId="354"/>
        </pc:sldMkLst>
        <pc:spChg chg="mod">
          <ac:chgData name="Stephen Stretton" userId="d46b5d2afcd4ceb0" providerId="LiveId" clId="{63A5068D-CF79-4D5C-8775-B9C7141315D7}" dt="2024-10-29T21:15:10.639" v="1778" actId="14100"/>
          <ac:spMkLst>
            <pc:docMk/>
            <pc:sldMk cId="408199110" sldId="354"/>
            <ac:spMk id="2" creationId="{0CC05522-3048-972A-BF47-BB2BA6DB5655}"/>
          </ac:spMkLst>
        </pc:spChg>
      </pc:sldChg>
      <pc:sldChg chg="addSp modSp mod ord">
        <pc:chgData name="Stephen Stretton" userId="d46b5d2afcd4ceb0" providerId="LiveId" clId="{63A5068D-CF79-4D5C-8775-B9C7141315D7}" dt="2024-10-29T21:14:44.069" v="1754" actId="20577"/>
        <pc:sldMkLst>
          <pc:docMk/>
          <pc:sldMk cId="1933841989" sldId="356"/>
        </pc:sldMkLst>
        <pc:spChg chg="mod">
          <ac:chgData name="Stephen Stretton" userId="d46b5d2afcd4ceb0" providerId="LiveId" clId="{63A5068D-CF79-4D5C-8775-B9C7141315D7}" dt="2024-10-29T21:14:44.069" v="1754" actId="20577"/>
          <ac:spMkLst>
            <pc:docMk/>
            <pc:sldMk cId="1933841989" sldId="356"/>
            <ac:spMk id="2" creationId="{507EF195-6918-4B58-B5CC-D9308909884A}"/>
          </ac:spMkLst>
        </pc:spChg>
        <pc:spChg chg="add mod">
          <ac:chgData name="Stephen Stretton" userId="d46b5d2afcd4ceb0" providerId="LiveId" clId="{63A5068D-CF79-4D5C-8775-B9C7141315D7}" dt="2024-10-29T21:06:36.427" v="1152" actId="21"/>
          <ac:spMkLst>
            <pc:docMk/>
            <pc:sldMk cId="1933841989" sldId="356"/>
            <ac:spMk id="3" creationId="{7B9A2F0B-2096-4399-BBF6-5D5A1EDC9F40}"/>
          </ac:spMkLst>
        </pc:spChg>
        <pc:spChg chg="mod">
          <ac:chgData name="Stephen Stretton" userId="d46b5d2afcd4ceb0" providerId="LiveId" clId="{63A5068D-CF79-4D5C-8775-B9C7141315D7}" dt="2024-10-29T21:10:54.403" v="1385" actId="20577"/>
          <ac:spMkLst>
            <pc:docMk/>
            <pc:sldMk cId="1933841989" sldId="356"/>
            <ac:spMk id="6" creationId="{01253E3B-688B-B39B-591D-FE4015CE7D6A}"/>
          </ac:spMkLst>
        </pc:spChg>
      </pc:sldChg>
      <pc:sldChg chg="addSp delSp del mod">
        <pc:chgData name="Stephen Stretton" userId="d46b5d2afcd4ceb0" providerId="LiveId" clId="{63A5068D-CF79-4D5C-8775-B9C7141315D7}" dt="2024-10-29T21:10:26.111" v="1359" actId="47"/>
        <pc:sldMkLst>
          <pc:docMk/>
          <pc:sldMk cId="1940668414" sldId="357"/>
        </pc:sldMkLst>
        <pc:spChg chg="del">
          <ac:chgData name="Stephen Stretton" userId="d46b5d2afcd4ceb0" providerId="LiveId" clId="{63A5068D-CF79-4D5C-8775-B9C7141315D7}" dt="2024-10-29T21:06:22.628" v="1148" actId="21"/>
          <ac:spMkLst>
            <pc:docMk/>
            <pc:sldMk cId="1940668414" sldId="357"/>
            <ac:spMk id="3" creationId="{7B9A2F0B-2096-4399-BBF6-5D5A1EDC9F40}"/>
          </ac:spMkLst>
        </pc:spChg>
        <pc:spChg chg="add">
          <ac:chgData name="Stephen Stretton" userId="d46b5d2afcd4ceb0" providerId="LiveId" clId="{63A5068D-CF79-4D5C-8775-B9C7141315D7}" dt="2024-10-29T21:09:26.929" v="1228" actId="22"/>
          <ac:spMkLst>
            <pc:docMk/>
            <pc:sldMk cId="1940668414" sldId="357"/>
            <ac:spMk id="5" creationId="{4FC8C255-9EEB-0091-3BC4-7939E4A0446D}"/>
          </ac:spMkLst>
        </pc:spChg>
      </pc:sldChg>
      <pc:sldChg chg="ord">
        <pc:chgData name="Stephen Stretton" userId="d46b5d2afcd4ceb0" providerId="LiveId" clId="{63A5068D-CF79-4D5C-8775-B9C7141315D7}" dt="2024-10-29T18:57:41.604" v="360"/>
        <pc:sldMkLst>
          <pc:docMk/>
          <pc:sldMk cId="4075654008" sldId="358"/>
        </pc:sldMkLst>
      </pc:sldChg>
      <pc:sldChg chg="modSp mod ord">
        <pc:chgData name="Stephen Stretton" userId="d46b5d2afcd4ceb0" providerId="LiveId" clId="{63A5068D-CF79-4D5C-8775-B9C7141315D7}" dt="2024-10-29T21:15:03.381" v="1777" actId="20577"/>
        <pc:sldMkLst>
          <pc:docMk/>
          <pc:sldMk cId="2649812394" sldId="359"/>
        </pc:sldMkLst>
        <pc:spChg chg="mod">
          <ac:chgData name="Stephen Stretton" userId="d46b5d2afcd4ceb0" providerId="LiveId" clId="{63A5068D-CF79-4D5C-8775-B9C7141315D7}" dt="2024-10-29T21:15:03.381" v="1777" actId="20577"/>
          <ac:spMkLst>
            <pc:docMk/>
            <pc:sldMk cId="2649812394" sldId="359"/>
            <ac:spMk id="3" creationId="{75DF5940-5387-8BF4-2968-4C26A4EC6FA8}"/>
          </ac:spMkLst>
        </pc:spChg>
      </pc:sldChg>
      <pc:sldChg chg="modSp mod ord">
        <pc:chgData name="Stephen Stretton" userId="d46b5d2afcd4ceb0" providerId="LiveId" clId="{63A5068D-CF79-4D5C-8775-B9C7141315D7}" dt="2024-10-29T21:14:32.055" v="1734" actId="27636"/>
        <pc:sldMkLst>
          <pc:docMk/>
          <pc:sldMk cId="3173404109" sldId="363"/>
        </pc:sldMkLst>
        <pc:spChg chg="mod">
          <ac:chgData name="Stephen Stretton" userId="d46b5d2afcd4ceb0" providerId="LiveId" clId="{63A5068D-CF79-4D5C-8775-B9C7141315D7}" dt="2024-10-29T21:14:32.055" v="1734" actId="27636"/>
          <ac:spMkLst>
            <pc:docMk/>
            <pc:sldMk cId="3173404109" sldId="363"/>
            <ac:spMk id="3" creationId="{733CF2E9-B1D0-C2A9-FC83-15EB6F099A91}"/>
          </ac:spMkLst>
        </pc:spChg>
      </pc:sldChg>
      <pc:sldChg chg="modSp add mod">
        <pc:chgData name="Stephen Stretton" userId="d46b5d2afcd4ceb0" providerId="LiveId" clId="{63A5068D-CF79-4D5C-8775-B9C7141315D7}" dt="2024-10-29T19:02:16.721" v="868" actId="20577"/>
        <pc:sldMkLst>
          <pc:docMk/>
          <pc:sldMk cId="1876128559" sldId="364"/>
        </pc:sldMkLst>
        <pc:spChg chg="mod">
          <ac:chgData name="Stephen Stretton" userId="d46b5d2afcd4ceb0" providerId="LiveId" clId="{63A5068D-CF79-4D5C-8775-B9C7141315D7}" dt="2024-10-29T19:02:16.721" v="868" actId="20577"/>
          <ac:spMkLst>
            <pc:docMk/>
            <pc:sldMk cId="1876128559" sldId="364"/>
            <ac:spMk id="2" creationId="{59008AAB-3B82-2A33-22B4-63D04ABE36CF}"/>
          </ac:spMkLst>
        </pc:spChg>
        <pc:spChg chg="mod">
          <ac:chgData name="Stephen Stretton" userId="d46b5d2afcd4ceb0" providerId="LiveId" clId="{63A5068D-CF79-4D5C-8775-B9C7141315D7}" dt="2024-10-29T18:55:10.117" v="338" actId="20577"/>
          <ac:spMkLst>
            <pc:docMk/>
            <pc:sldMk cId="1876128559" sldId="364"/>
            <ac:spMk id="3" creationId="{F1C16811-DEC5-BA5B-064E-3EE71A58B825}"/>
          </ac:spMkLst>
        </pc:spChg>
      </pc:sldChg>
      <pc:sldChg chg="add del">
        <pc:chgData name="Stephen Stretton" userId="d46b5d2afcd4ceb0" providerId="LiveId" clId="{63A5068D-CF79-4D5C-8775-B9C7141315D7}" dt="2024-10-29T18:53:08.227" v="268" actId="2890"/>
        <pc:sldMkLst>
          <pc:docMk/>
          <pc:sldMk cId="3076032754" sldId="364"/>
        </pc:sldMkLst>
      </pc:sldChg>
      <pc:sldChg chg="addSp delSp modSp add del mod ord modClrScheme chgLayout">
        <pc:chgData name="Stephen Stretton" userId="d46b5d2afcd4ceb0" providerId="LiveId" clId="{63A5068D-CF79-4D5C-8775-B9C7141315D7}" dt="2024-10-29T21:09:09.070" v="1222" actId="47"/>
        <pc:sldMkLst>
          <pc:docMk/>
          <pc:sldMk cId="1882300925" sldId="365"/>
        </pc:sldMkLst>
        <pc:spChg chg="del mod ord">
          <ac:chgData name="Stephen Stretton" userId="d46b5d2afcd4ceb0" providerId="LiveId" clId="{63A5068D-CF79-4D5C-8775-B9C7141315D7}" dt="2024-10-29T21:07:41.821" v="1183" actId="21"/>
          <ac:spMkLst>
            <pc:docMk/>
            <pc:sldMk cId="1882300925" sldId="365"/>
            <ac:spMk id="2" creationId="{52372CD9-8493-C2AF-106D-61AF156FD275}"/>
          </ac:spMkLst>
        </pc:spChg>
        <pc:spChg chg="add del mod ord">
          <ac:chgData name="Stephen Stretton" userId="d46b5d2afcd4ceb0" providerId="LiveId" clId="{63A5068D-CF79-4D5C-8775-B9C7141315D7}" dt="2024-10-29T21:04:51.133" v="1113" actId="700"/>
          <ac:spMkLst>
            <pc:docMk/>
            <pc:sldMk cId="1882300925" sldId="365"/>
            <ac:spMk id="3" creationId="{657380B1-9706-B026-7B0A-8A71BBF26769}"/>
          </ac:spMkLst>
        </pc:spChg>
        <pc:spChg chg="add mod">
          <ac:chgData name="Stephen Stretton" userId="d46b5d2afcd4ceb0" providerId="LiveId" clId="{63A5068D-CF79-4D5C-8775-B9C7141315D7}" dt="2024-10-29T21:07:41.821" v="1183" actId="21"/>
          <ac:spMkLst>
            <pc:docMk/>
            <pc:sldMk cId="1882300925" sldId="365"/>
            <ac:spMk id="5" creationId="{8BFE0E89-2203-C04D-0FE5-22F7327B75A3}"/>
          </ac:spMkLst>
        </pc:spChg>
        <pc:spChg chg="del mod">
          <ac:chgData name="Stephen Stretton" userId="d46b5d2afcd4ceb0" providerId="LiveId" clId="{63A5068D-CF79-4D5C-8775-B9C7141315D7}" dt="2024-10-29T21:06:01.440" v="1145" actId="478"/>
          <ac:spMkLst>
            <pc:docMk/>
            <pc:sldMk cId="1882300925" sldId="365"/>
            <ac:spMk id="6" creationId="{F7300BFF-C820-8636-3448-D8DE7F670257}"/>
          </ac:spMkLst>
        </pc:spChg>
      </pc:sldChg>
      <pc:sldChg chg="modSp add mod modClrScheme chgLayout">
        <pc:chgData name="Stephen Stretton" userId="d46b5d2afcd4ceb0" providerId="LiveId" clId="{63A5068D-CF79-4D5C-8775-B9C7141315D7}" dt="2024-10-29T21:14:24.003" v="1723" actId="27636"/>
        <pc:sldMkLst>
          <pc:docMk/>
          <pc:sldMk cId="4155065187" sldId="365"/>
        </pc:sldMkLst>
        <pc:spChg chg="mod ord">
          <ac:chgData name="Stephen Stretton" userId="d46b5d2afcd4ceb0" providerId="LiveId" clId="{63A5068D-CF79-4D5C-8775-B9C7141315D7}" dt="2024-10-29T21:14:10.215" v="1707" actId="255"/>
          <ac:spMkLst>
            <pc:docMk/>
            <pc:sldMk cId="4155065187" sldId="365"/>
            <ac:spMk id="2" creationId="{2D91BCDA-2EB3-1172-82F8-EB3424E9C3D4}"/>
          </ac:spMkLst>
        </pc:spChg>
        <pc:spChg chg="mod">
          <ac:chgData name="Stephen Stretton" userId="d46b5d2afcd4ceb0" providerId="LiveId" clId="{63A5068D-CF79-4D5C-8775-B9C7141315D7}" dt="2024-10-29T21:14:24.003" v="1723" actId="27636"/>
          <ac:spMkLst>
            <pc:docMk/>
            <pc:sldMk cId="4155065187" sldId="365"/>
            <ac:spMk id="3" creationId="{DB1153AB-F16B-01E3-E889-B8BE8EF7BC40}"/>
          </ac:spMkLst>
        </pc:spChg>
      </pc:sldChg>
    </pc:docChg>
  </pc:docChgLst>
  <pc:docChgLst>
    <pc:chgData name="Stephen John Stretton" userId="da8c780b-1aa2-4e36-94fb-871dc8111504" providerId="ADAL" clId="{BAA38263-6921-4E48-9825-BD671D9EFB86}"/>
    <pc:docChg chg="undo custSel addSld delSld modSld sldOrd">
      <pc:chgData name="Stephen John Stretton" userId="da8c780b-1aa2-4e36-94fb-871dc8111504" providerId="ADAL" clId="{BAA38263-6921-4E48-9825-BD671D9EFB86}" dt="2024-10-29T23:20:12.423" v="914" actId="14100"/>
      <pc:docMkLst>
        <pc:docMk/>
      </pc:docMkLst>
      <pc:sldChg chg="modSp add mod setBg">
        <pc:chgData name="Stephen John Stretton" userId="da8c780b-1aa2-4e36-94fb-871dc8111504" providerId="ADAL" clId="{BAA38263-6921-4E48-9825-BD671D9EFB86}" dt="2024-10-29T22:59:26.287" v="24" actId="20577"/>
        <pc:sldMkLst>
          <pc:docMk/>
          <pc:sldMk cId="0" sldId="258"/>
        </pc:sldMkLst>
        <pc:spChg chg="mod">
          <ac:chgData name="Stephen John Stretton" userId="da8c780b-1aa2-4e36-94fb-871dc8111504" providerId="ADAL" clId="{BAA38263-6921-4E48-9825-BD671D9EFB86}" dt="2024-10-29T22:59:26.287" v="24" actId="20577"/>
          <ac:spMkLst>
            <pc:docMk/>
            <pc:sldMk cId="0" sldId="258"/>
            <ac:spMk id="90" creationId="{00000000-0000-0000-0000-000000000000}"/>
          </ac:spMkLst>
        </pc:spChg>
      </pc:sldChg>
      <pc:sldChg chg="add mod ord modShow">
        <pc:chgData name="Stephen John Stretton" userId="da8c780b-1aa2-4e36-94fb-871dc8111504" providerId="ADAL" clId="{BAA38263-6921-4E48-9825-BD671D9EFB86}" dt="2024-10-29T23:04:56.405" v="103" actId="729"/>
        <pc:sldMkLst>
          <pc:docMk/>
          <pc:sldMk cId="0" sldId="276"/>
        </pc:sldMkLst>
      </pc:sldChg>
      <pc:sldChg chg="ord">
        <pc:chgData name="Stephen John Stretton" userId="da8c780b-1aa2-4e36-94fb-871dc8111504" providerId="ADAL" clId="{BAA38263-6921-4E48-9825-BD671D9EFB86}" dt="2024-10-29T22:59:43.341" v="30"/>
        <pc:sldMkLst>
          <pc:docMk/>
          <pc:sldMk cId="3497004109" sldId="302"/>
        </pc:sldMkLst>
      </pc:sldChg>
      <pc:sldChg chg="add mod modShow">
        <pc:chgData name="Stephen John Stretton" userId="da8c780b-1aa2-4e36-94fb-871dc8111504" providerId="ADAL" clId="{BAA38263-6921-4E48-9825-BD671D9EFB86}" dt="2024-10-29T23:15:16.765" v="802" actId="729"/>
        <pc:sldMkLst>
          <pc:docMk/>
          <pc:sldMk cId="1750513697" sldId="304"/>
        </pc:sldMkLst>
      </pc:sldChg>
      <pc:sldChg chg="modSp add del mod ord modClrScheme chgLayout">
        <pc:chgData name="Stephen John Stretton" userId="da8c780b-1aa2-4e36-94fb-871dc8111504" providerId="ADAL" clId="{BAA38263-6921-4E48-9825-BD671D9EFB86}" dt="2024-10-29T23:13:22.944" v="798" actId="2696"/>
        <pc:sldMkLst>
          <pc:docMk/>
          <pc:sldMk cId="2083642290" sldId="323"/>
        </pc:sldMkLst>
        <pc:spChg chg="mod ord">
          <ac:chgData name="Stephen John Stretton" userId="da8c780b-1aa2-4e36-94fb-871dc8111504" providerId="ADAL" clId="{BAA38263-6921-4E48-9825-BD671D9EFB86}" dt="2024-10-29T23:00:37.609" v="99" actId="14100"/>
          <ac:spMkLst>
            <pc:docMk/>
            <pc:sldMk cId="2083642290" sldId="323"/>
            <ac:spMk id="2" creationId="{E0271326-58B4-E0F6-C6B9-C9B0FEF61880}"/>
          </ac:spMkLst>
        </pc:spChg>
        <pc:spChg chg="mod">
          <ac:chgData name="Stephen John Stretton" userId="da8c780b-1aa2-4e36-94fb-871dc8111504" providerId="ADAL" clId="{BAA38263-6921-4E48-9825-BD671D9EFB86}" dt="2024-10-29T22:56:48.586" v="15" actId="693"/>
          <ac:spMkLst>
            <pc:docMk/>
            <pc:sldMk cId="2083642290" sldId="323"/>
            <ac:spMk id="5" creationId="{1C7F36DD-8EBC-CFC4-3688-8D258A10313E}"/>
          </ac:spMkLst>
        </pc:spChg>
        <pc:spChg chg="mod ord">
          <ac:chgData name="Stephen John Stretton" userId="da8c780b-1aa2-4e36-94fb-871dc8111504" providerId="ADAL" clId="{BAA38263-6921-4E48-9825-BD671D9EFB86}" dt="2024-10-29T23:00:34.336" v="98" actId="27636"/>
          <ac:spMkLst>
            <pc:docMk/>
            <pc:sldMk cId="2083642290" sldId="323"/>
            <ac:spMk id="19" creationId="{4EDB45CC-E118-1480-808D-484091FD5A79}"/>
          </ac:spMkLst>
        </pc:spChg>
      </pc:sldChg>
      <pc:sldChg chg="add mod modShow">
        <pc:chgData name="Stephen John Stretton" userId="da8c780b-1aa2-4e36-94fb-871dc8111504" providerId="ADAL" clId="{BAA38263-6921-4E48-9825-BD671D9EFB86}" dt="2024-10-29T23:13:29.598" v="800" actId="729"/>
        <pc:sldMkLst>
          <pc:docMk/>
          <pc:sldMk cId="4161958206" sldId="323"/>
        </pc:sldMkLst>
      </pc:sldChg>
      <pc:sldChg chg="modSp add mod ord modShow">
        <pc:chgData name="Stephen John Stretton" userId="da8c780b-1aa2-4e36-94fb-871dc8111504" providerId="ADAL" clId="{BAA38263-6921-4E48-9825-BD671D9EFB86}" dt="2024-10-29T23:16:28.155" v="834" actId="20577"/>
        <pc:sldMkLst>
          <pc:docMk/>
          <pc:sldMk cId="1174603827" sldId="331"/>
        </pc:sldMkLst>
        <pc:spChg chg="mod">
          <ac:chgData name="Stephen John Stretton" userId="da8c780b-1aa2-4e36-94fb-871dc8111504" providerId="ADAL" clId="{BAA38263-6921-4E48-9825-BD671D9EFB86}" dt="2024-10-29T23:16:28.155" v="834" actId="20577"/>
          <ac:spMkLst>
            <pc:docMk/>
            <pc:sldMk cId="1174603827" sldId="331"/>
            <ac:spMk id="229" creationId="{64BCDA48-FB99-B1E4-5ADA-BA7EDAACF527}"/>
          </ac:spMkLst>
        </pc:spChg>
      </pc:sldChg>
      <pc:sldChg chg="modSp mod modClrScheme chgLayout">
        <pc:chgData name="Stephen John Stretton" userId="da8c780b-1aa2-4e36-94fb-871dc8111504" providerId="ADAL" clId="{BAA38263-6921-4E48-9825-BD671D9EFB86}" dt="2024-10-29T23:09:43.657" v="722" actId="14100"/>
        <pc:sldMkLst>
          <pc:docMk/>
          <pc:sldMk cId="159856808" sldId="338"/>
        </pc:sldMkLst>
        <pc:spChg chg="mod ord">
          <ac:chgData name="Stephen John Stretton" userId="da8c780b-1aa2-4e36-94fb-871dc8111504" providerId="ADAL" clId="{BAA38263-6921-4E48-9825-BD671D9EFB86}" dt="2024-10-29T23:09:43.657" v="722" actId="14100"/>
          <ac:spMkLst>
            <pc:docMk/>
            <pc:sldMk cId="159856808" sldId="338"/>
            <ac:spMk id="247" creationId="{BDA15AB4-6F1E-81D8-9C61-4CDC3094B5C3}"/>
          </ac:spMkLst>
        </pc:spChg>
        <pc:grpChg chg="mod">
          <ac:chgData name="Stephen John Stretton" userId="da8c780b-1aa2-4e36-94fb-871dc8111504" providerId="ADAL" clId="{BAA38263-6921-4E48-9825-BD671D9EFB86}" dt="2024-10-29T23:09:26.271" v="720" actId="14100"/>
          <ac:grpSpMkLst>
            <pc:docMk/>
            <pc:sldMk cId="159856808" sldId="338"/>
            <ac:grpSpMk id="260" creationId="{268CB901-463F-A805-6126-91F1097B3FB8}"/>
          </ac:grpSpMkLst>
        </pc:grpChg>
      </pc:sldChg>
      <pc:sldChg chg="modSp mod ord">
        <pc:chgData name="Stephen John Stretton" userId="da8c780b-1aa2-4e36-94fb-871dc8111504" providerId="ADAL" clId="{BAA38263-6921-4E48-9825-BD671D9EFB86}" dt="2024-10-29T23:20:01.923" v="904"/>
        <pc:sldMkLst>
          <pc:docMk/>
          <pc:sldMk cId="1933841989" sldId="356"/>
        </pc:sldMkLst>
        <pc:spChg chg="mod">
          <ac:chgData name="Stephen John Stretton" userId="da8c780b-1aa2-4e36-94fb-871dc8111504" providerId="ADAL" clId="{BAA38263-6921-4E48-9825-BD671D9EFB86}" dt="2024-10-29T23:19:52.830" v="902" actId="313"/>
          <ac:spMkLst>
            <pc:docMk/>
            <pc:sldMk cId="1933841989" sldId="356"/>
            <ac:spMk id="2" creationId="{507EF195-6918-4B58-B5CC-D9308909884A}"/>
          </ac:spMkLst>
        </pc:spChg>
        <pc:spChg chg="mod">
          <ac:chgData name="Stephen John Stretton" userId="da8c780b-1aa2-4e36-94fb-871dc8111504" providerId="ADAL" clId="{BAA38263-6921-4E48-9825-BD671D9EFB86}" dt="2024-10-29T23:19:30.844" v="875" actId="20577"/>
          <ac:spMkLst>
            <pc:docMk/>
            <pc:sldMk cId="1933841989" sldId="356"/>
            <ac:spMk id="6" creationId="{01253E3B-688B-B39B-591D-FE4015CE7D6A}"/>
          </ac:spMkLst>
        </pc:spChg>
      </pc:sldChg>
      <pc:sldChg chg="modSp mod">
        <pc:chgData name="Stephen John Stretton" userId="da8c780b-1aa2-4e36-94fb-871dc8111504" providerId="ADAL" clId="{BAA38263-6921-4E48-9825-BD671D9EFB86}" dt="2024-10-29T23:08:50.956" v="713" actId="20577"/>
        <pc:sldMkLst>
          <pc:docMk/>
          <pc:sldMk cId="1876128559" sldId="364"/>
        </pc:sldMkLst>
        <pc:spChg chg="mod">
          <ac:chgData name="Stephen John Stretton" userId="da8c780b-1aa2-4e36-94fb-871dc8111504" providerId="ADAL" clId="{BAA38263-6921-4E48-9825-BD671D9EFB86}" dt="2024-10-29T23:08:50.956" v="713" actId="20577"/>
          <ac:spMkLst>
            <pc:docMk/>
            <pc:sldMk cId="1876128559" sldId="364"/>
            <ac:spMk id="2" creationId="{59008AAB-3B82-2A33-22B4-63D04ABE36CF}"/>
          </ac:spMkLst>
        </pc:spChg>
      </pc:sldChg>
      <pc:sldChg chg="modSp mod">
        <pc:chgData name="Stephen John Stretton" userId="da8c780b-1aa2-4e36-94fb-871dc8111504" providerId="ADAL" clId="{BAA38263-6921-4E48-9825-BD671D9EFB86}" dt="2024-10-29T23:20:12.423" v="914" actId="14100"/>
        <pc:sldMkLst>
          <pc:docMk/>
          <pc:sldMk cId="4155065187" sldId="365"/>
        </pc:sldMkLst>
        <pc:spChg chg="mod">
          <ac:chgData name="Stephen John Stretton" userId="da8c780b-1aa2-4e36-94fb-871dc8111504" providerId="ADAL" clId="{BAA38263-6921-4E48-9825-BD671D9EFB86}" dt="2024-10-29T23:18:59.351" v="841" actId="20577"/>
          <ac:spMkLst>
            <pc:docMk/>
            <pc:sldMk cId="4155065187" sldId="365"/>
            <ac:spMk id="2" creationId="{2D91BCDA-2EB3-1172-82F8-EB3424E9C3D4}"/>
          </ac:spMkLst>
        </pc:spChg>
        <pc:spChg chg="mod">
          <ac:chgData name="Stephen John Stretton" userId="da8c780b-1aa2-4e36-94fb-871dc8111504" providerId="ADAL" clId="{BAA38263-6921-4E48-9825-BD671D9EFB86}" dt="2024-10-29T23:20:12.423" v="914" actId="14100"/>
          <ac:spMkLst>
            <pc:docMk/>
            <pc:sldMk cId="4155065187" sldId="365"/>
            <ac:spMk id="3" creationId="{DB1153AB-F16B-01E3-E889-B8BE8EF7BC40}"/>
          </ac:spMkLst>
        </pc:spChg>
      </pc:sldChg>
      <pc:sldChg chg="add mod modShow">
        <pc:chgData name="Stephen John Stretton" userId="da8c780b-1aa2-4e36-94fb-871dc8111504" providerId="ADAL" clId="{BAA38263-6921-4E48-9825-BD671D9EFB86}" dt="2024-10-29T23:10:47.028" v="797" actId="729"/>
        <pc:sldMkLst>
          <pc:docMk/>
          <pc:sldMk cId="2382616249" sldId="36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 me venture a paraphrase of what President Kennedy said in 1962, when he announced the US would go to the moon, updated for today. He might now say:</a:t>
            </a:r>
          </a:p>
          <a:p>
            <a:r>
              <a:rPr lang="en-US" dirty="0"/>
              <a:t>We choose to go to net zero emissions in every country on Earth, in the coming quarter century, by 2050 or sooner, and do the other things that have to be done to protect the stability of our climate and biosphere even as we deliver clean energy in abundance to everyone on Earth, leaving no-one behind, not because these things are easy, but because they are necessary, and because we know that we can.</a:t>
            </a:r>
            <a:br>
              <a:rPr lang="en-US" dirty="0"/>
            </a:br>
            <a:r>
              <a:rPr lang="en-US" dirty="0"/>
              <a:t>Let’s look at how this might be financed. We already have the technologies we need in hand. What about the financial engineering?</a:t>
            </a:r>
          </a:p>
        </p:txBody>
      </p:sp>
    </p:spTree>
    <p:extLst>
      <p:ext uri="{BB962C8B-B14F-4D97-AF65-F5344CB8AC3E}">
        <p14:creationId xmlns:p14="http://schemas.microsoft.com/office/powerpoint/2010/main" val="39808296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 core question of our time is how we can increase private investment flows to developing countries to fully finance sustainable development, leaving no-one behind, and making sure as we do so that we return within the global envelope of safety, within the crucial planetary boundaries that define sustainability. We have to redirect vast flows of financial savings in the direction of sustainability. How can we do that? Here’s a hypothesis: We can do it by de-risking sustainability-linked bonds and loans in ways that allow us to scale them up to trillions of dollars a year. Let’s look at how that could perhaps be done. </a:t>
            </a:r>
          </a:p>
        </p:txBody>
      </p:sp>
    </p:spTree>
    <p:extLst>
      <p:ext uri="{BB962C8B-B14F-4D97-AF65-F5344CB8AC3E}">
        <p14:creationId xmlns:p14="http://schemas.microsoft.com/office/powerpoint/2010/main" val="31030970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2a07d1cf71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2a07d1cf71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a23badba93_1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a23badba93_1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997670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2a07d1cf71e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2a07d1cf71e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2a0ac66233e_1_3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2a0ac66233e_1_3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228600" algn="l" rtl="0">
              <a:spcBef>
                <a:spcPts val="0"/>
              </a:spcBef>
              <a:spcAft>
                <a:spcPts val="0"/>
              </a:spcAft>
              <a:buAutoNum type="arabicPeriod"/>
            </a:pPr>
            <a:r>
              <a:rPr lang="en-GB" sz="1100" dirty="0">
                <a:solidFill>
                  <a:srgbClr val="002F4A"/>
                </a:solidFill>
              </a:rPr>
              <a:t>To achieve global net zero by 2050, annual investments from</a:t>
            </a:r>
            <a:r>
              <a:rPr lang="en-GB" sz="1100" dirty="0">
                <a:solidFill>
                  <a:srgbClr val="B85741"/>
                </a:solidFill>
              </a:rPr>
              <a:t> </a:t>
            </a:r>
            <a:r>
              <a:rPr lang="en-GB" sz="1100" b="1" dirty="0">
                <a:solidFill>
                  <a:srgbClr val="B85741"/>
                </a:solidFill>
              </a:rPr>
              <a:t>US$3.4 trillion to $8.1 trillion </a:t>
            </a:r>
            <a:r>
              <a:rPr lang="en-GB" sz="1100" dirty="0">
                <a:solidFill>
                  <a:srgbClr val="002F4A"/>
                </a:solidFill>
              </a:rPr>
              <a:t>are needed globally (Yilmaz et al. 2022)</a:t>
            </a:r>
          </a:p>
          <a:p>
            <a:pPr marL="228600" marR="0" lvl="0" indent="-228600" algn="l" defTabSz="914400" rtl="0" eaLnBrk="1" fontAlgn="auto" latinLnBrk="0" hangingPunct="1">
              <a:lnSpc>
                <a:spcPct val="100000"/>
              </a:lnSpc>
              <a:spcBef>
                <a:spcPts val="0"/>
              </a:spcBef>
              <a:spcAft>
                <a:spcPts val="0"/>
              </a:spcAft>
              <a:buClr>
                <a:srgbClr val="000000"/>
              </a:buClr>
              <a:buSzPts val="1100"/>
              <a:buFont typeface="Arial"/>
              <a:buAutoNum type="arabicPeriod"/>
              <a:tabLst/>
              <a:defRPr/>
            </a:pPr>
            <a:r>
              <a:rPr lang="en-GB" sz="1100" dirty="0">
                <a:solidFill>
                  <a:srgbClr val="002F4A"/>
                </a:solidFill>
                <a:latin typeface="Merriweather" pitchFamily="2" charset="77"/>
              </a:rPr>
              <a:t>Flow of climate finance from developed to developing countries in 2020 was estimated at $21 to $83.3 billion (UNFCCC), </a:t>
            </a:r>
            <a:r>
              <a:rPr lang="en-GB" sz="1100" b="1" dirty="0">
                <a:solidFill>
                  <a:srgbClr val="B85741"/>
                </a:solidFill>
                <a:latin typeface="Merriweather" pitchFamily="2" charset="77"/>
              </a:rPr>
              <a:t>far below </a:t>
            </a:r>
            <a:r>
              <a:rPr lang="en-GB" sz="1100" dirty="0">
                <a:solidFill>
                  <a:srgbClr val="002F4A"/>
                </a:solidFill>
                <a:latin typeface="Merriweather" pitchFamily="2" charset="77"/>
              </a:rPr>
              <a:t>required level</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a23badba93_1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2a23badba93_1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100" dirty="0">
                <a:solidFill>
                  <a:srgbClr val="002F4A"/>
                </a:solidFill>
                <a:latin typeface="Roboto"/>
                <a:ea typeface="Roboto"/>
                <a:cs typeface="Roboto"/>
                <a:sym typeface="Roboto"/>
              </a:rPr>
              <a:t>1. Countries with low financial development and less developed financial institutions are less able to attract private capital. 2. High cost of capital makes the initial investment requirements for many projects, like renewable energy, infeasible. 3. In many developing countries, dramatic reductions in the cost of capital and access to low-cost financing will be necessary to enable a boom in clean infrastructure projects</a:t>
            </a:r>
            <a:r>
              <a:rPr lang="en-GB" sz="1600" dirty="0">
                <a:solidFill>
                  <a:srgbClr val="002F4A"/>
                </a:solidFill>
                <a:latin typeface="Roboto"/>
                <a:ea typeface="Roboto"/>
                <a:cs typeface="Roboto"/>
                <a:sym typeface="Roboto"/>
              </a:rPr>
              <a:t>.</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a23badba93_1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2a23badba93_1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This presentation looks at how developing country sovereigns could best borrow large volumes of money cheaply from private sources to finance their transitions to clean energy abundance within a global transition to net zero greenhouse gas emissions. As populations and prosperity rise, most future emissions will come from developing economies. A big challenge is that developing countries generally have to pay high interest rates, due to foreign exchange and other country risks. One answer that has been offered to incentivize policy shifts toward lower emissions are “sustainability-linked bonds,” or SLBs, in which a sovereign pays a lower interest rate on bonds to the bond buyers if the country meets some key performance indicators, such as a target level of emissions per unit of GDP, and a higher rate if it fails to meet the target specified in the bond covenants, the bond’s terms and conditions. To date, sustainability-linked bonds have mostly been issued by corporations, not sovereigns. SLBs are a good idea and a step in the right direction, but we think this idea can be improved upon, and applied to sovereign borrowing. In our paper, we present two different possible ways SLBs could be adapted and improved to help developing-country sovereigns access lower-cost financing in exchange for sustainability-enhancing policy changes and infrastructure investments. For reasons that will become clear, we refer to these instruments as SLIDIs, or sustainability-linked intermediated debt instruments. SLIDIs are designed to de-risk lending to developing country sovereigns and at the same time, reward developing country sovereigns for achieving measurable improvements in agreed sustainability indicators. </a:t>
            </a:r>
          </a:p>
        </p:txBody>
      </p:sp>
    </p:spTree>
    <p:extLst>
      <p:ext uri="{BB962C8B-B14F-4D97-AF65-F5344CB8AC3E}">
        <p14:creationId xmlns:p14="http://schemas.microsoft.com/office/powerpoint/2010/main" val="22900286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a23badba93_1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a23badba93_1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AU" dirty="0"/>
              <a:t>Most SLBs are corporate SLBs e.g. ENEL </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F4922670-BD7A-1422-4C74-4A949B8AED8F}"/>
            </a:ext>
          </a:extLst>
        </p:cNvPr>
        <p:cNvGrpSpPr/>
        <p:nvPr/>
      </p:nvGrpSpPr>
      <p:grpSpPr>
        <a:xfrm>
          <a:off x="0" y="0"/>
          <a:ext cx="0" cy="0"/>
          <a:chOff x="0" y="0"/>
          <a:chExt cx="0" cy="0"/>
        </a:xfrm>
      </p:grpSpPr>
      <p:sp>
        <p:nvSpPr>
          <p:cNvPr id="156" name="Google Shape;156;g2a07d1cf71e_0_10:notes">
            <a:extLst>
              <a:ext uri="{FF2B5EF4-FFF2-40B4-BE49-F238E27FC236}">
                <a16:creationId xmlns:a16="http://schemas.microsoft.com/office/drawing/2014/main" id="{555C794F-054C-E5C7-557A-EB591AB89B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a07d1cf71e_0_10:notes">
            <a:extLst>
              <a:ext uri="{FF2B5EF4-FFF2-40B4-BE49-F238E27FC236}">
                <a16:creationId xmlns:a16="http://schemas.microsoft.com/office/drawing/2014/main" id="{39E118FF-640D-3700-07BE-AF090389FF0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It’s worth noting that the overwhelming majority of SLBs that have been issued to date, since SLBs first were introduced in 2019, have been corporate SLBs, not sovereign SLBs; there have only been a couple of sovereign SLBs. And the volume of corporate SLBs has been declining since a peak two or three years ago. We think that might have to do with some design flaws in the current generation of SLBs. </a:t>
            </a:r>
            <a:endParaRPr dirty="0"/>
          </a:p>
        </p:txBody>
      </p:sp>
    </p:spTree>
    <p:extLst>
      <p:ext uri="{BB962C8B-B14F-4D97-AF65-F5344CB8AC3E}">
        <p14:creationId xmlns:p14="http://schemas.microsoft.com/office/powerpoint/2010/main" val="5472360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2a08979779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2a08979779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GB" sz="1200" b="1" dirty="0">
                <a:latin typeface="Roboto"/>
                <a:ea typeface="Roboto"/>
                <a:cs typeface="Roboto"/>
                <a:sym typeface="Roboto"/>
              </a:rPr>
              <a:t>Disincentives for Investors:</a:t>
            </a:r>
          </a:p>
          <a:p>
            <a:pPr marL="457200" lvl="0" indent="-298450" algn="l" rtl="0">
              <a:lnSpc>
                <a:spcPct val="115000"/>
              </a:lnSpc>
              <a:spcBef>
                <a:spcPts val="1200"/>
              </a:spcBef>
              <a:spcAft>
                <a:spcPts val="0"/>
              </a:spcAft>
              <a:buClr>
                <a:schemeClr val="accent1"/>
              </a:buClr>
              <a:buSzPts val="1100"/>
              <a:buFont typeface="Roboto"/>
              <a:buChar char="●"/>
            </a:pPr>
            <a:r>
              <a:rPr lang="en-GB" sz="1100" dirty="0">
                <a:solidFill>
                  <a:srgbClr val="002F4A"/>
                </a:solidFill>
                <a:latin typeface="Roboto"/>
                <a:ea typeface="Roboto"/>
                <a:cs typeface="Roboto"/>
                <a:sym typeface="Roboto"/>
              </a:rPr>
              <a:t>Activist investors are uncomfortable with </a:t>
            </a:r>
            <a:r>
              <a:rPr lang="en-GB" sz="1100" b="1" dirty="0">
                <a:solidFill>
                  <a:srgbClr val="002F4A"/>
                </a:solidFill>
                <a:latin typeface="Roboto"/>
                <a:ea typeface="Roboto"/>
                <a:cs typeface="Roboto"/>
                <a:sym typeface="Roboto"/>
              </a:rPr>
              <a:t>higher</a:t>
            </a:r>
            <a:r>
              <a:rPr lang="en-GB" sz="1100" dirty="0">
                <a:solidFill>
                  <a:srgbClr val="002F4A"/>
                </a:solidFill>
                <a:latin typeface="Roboto"/>
                <a:ea typeface="Roboto"/>
                <a:cs typeface="Roboto"/>
                <a:sym typeface="Roboto"/>
              </a:rPr>
              <a:t> coupon payments linked to </a:t>
            </a:r>
            <a:r>
              <a:rPr lang="en-GB" sz="1100" b="1" dirty="0">
                <a:solidFill>
                  <a:srgbClr val="002F4A"/>
                </a:solidFill>
                <a:latin typeface="Roboto"/>
                <a:ea typeface="Roboto"/>
                <a:cs typeface="Roboto"/>
                <a:sym typeface="Roboto"/>
              </a:rPr>
              <a:t>failure</a:t>
            </a:r>
            <a:r>
              <a:rPr lang="en-GB" sz="1100" dirty="0">
                <a:solidFill>
                  <a:srgbClr val="002F4A"/>
                </a:solidFill>
                <a:latin typeface="Roboto"/>
                <a:ea typeface="Roboto"/>
                <a:cs typeface="Roboto"/>
                <a:sym typeface="Roboto"/>
              </a:rPr>
              <a:t> to achieve climate objectives</a:t>
            </a:r>
          </a:p>
          <a:p>
            <a:pPr marL="457200" lvl="0" indent="-298450" algn="l" rtl="0">
              <a:lnSpc>
                <a:spcPct val="115000"/>
              </a:lnSpc>
              <a:spcBef>
                <a:spcPts val="0"/>
              </a:spcBef>
              <a:spcAft>
                <a:spcPts val="0"/>
              </a:spcAft>
              <a:buClr>
                <a:schemeClr val="accent1"/>
              </a:buClr>
              <a:buSzPts val="1100"/>
              <a:buFont typeface="Roboto"/>
              <a:buChar char="●"/>
            </a:pPr>
            <a:r>
              <a:rPr lang="en-GB" sz="1100" dirty="0">
                <a:solidFill>
                  <a:srgbClr val="002F4A"/>
                </a:solidFill>
                <a:latin typeface="Roboto"/>
                <a:ea typeface="Roboto"/>
                <a:cs typeface="Roboto"/>
                <a:sym typeface="Roboto"/>
              </a:rPr>
              <a:t>Investors are exposed to </a:t>
            </a:r>
            <a:r>
              <a:rPr lang="en-GB" sz="1100" b="1" dirty="0">
                <a:solidFill>
                  <a:srgbClr val="002F4A"/>
                </a:solidFill>
                <a:latin typeface="Roboto"/>
                <a:ea typeface="Roboto"/>
                <a:cs typeface="Roboto"/>
                <a:sym typeface="Roboto"/>
              </a:rPr>
              <a:t>risks</a:t>
            </a:r>
            <a:r>
              <a:rPr lang="en-GB" sz="1100" dirty="0">
                <a:solidFill>
                  <a:srgbClr val="002F4A"/>
                </a:solidFill>
                <a:latin typeface="Roboto"/>
                <a:ea typeface="Roboto"/>
                <a:cs typeface="Roboto"/>
                <a:sym typeface="Roboto"/>
              </a:rPr>
              <a:t> related to non-payments</a:t>
            </a:r>
          </a:p>
          <a:p>
            <a:pPr marL="0" lvl="0" indent="0" algn="l" rtl="0">
              <a:lnSpc>
                <a:spcPct val="115000"/>
              </a:lnSpc>
              <a:spcBef>
                <a:spcPts val="0"/>
              </a:spcBef>
              <a:spcAft>
                <a:spcPts val="0"/>
              </a:spcAft>
              <a:buNone/>
            </a:pPr>
            <a:r>
              <a:rPr lang="en-GB" sz="1200" b="1" dirty="0">
                <a:latin typeface="Roboto"/>
                <a:ea typeface="Roboto"/>
                <a:cs typeface="Roboto"/>
                <a:sym typeface="Roboto"/>
              </a:rPr>
              <a:t>Disincentives for Sovereign:</a:t>
            </a:r>
          </a:p>
          <a:p>
            <a:pPr marL="457200" lvl="0" indent="-298450" algn="l" rtl="0">
              <a:lnSpc>
                <a:spcPct val="115000"/>
              </a:lnSpc>
              <a:spcBef>
                <a:spcPts val="1200"/>
              </a:spcBef>
              <a:spcAft>
                <a:spcPts val="0"/>
              </a:spcAft>
              <a:buClr>
                <a:schemeClr val="dk1"/>
              </a:buClr>
              <a:buSzPts val="1100"/>
              <a:buFont typeface="Roboto"/>
              <a:buChar char="●"/>
            </a:pPr>
            <a:r>
              <a:rPr lang="en-GB" sz="1100" dirty="0">
                <a:solidFill>
                  <a:srgbClr val="002F4A"/>
                </a:solidFill>
                <a:latin typeface="Roboto"/>
                <a:ea typeface="Roboto"/>
                <a:cs typeface="Roboto"/>
                <a:sym typeface="Roboto"/>
              </a:rPr>
              <a:t>Nearly 95% of SLBs employ a step-up coupon structure (</a:t>
            </a:r>
            <a:r>
              <a:rPr lang="en-GB" sz="1100" dirty="0" err="1">
                <a:solidFill>
                  <a:srgbClr val="002F4A"/>
                </a:solidFill>
                <a:latin typeface="Roboto"/>
                <a:ea typeface="Roboto"/>
                <a:cs typeface="Roboto"/>
                <a:sym typeface="Roboto"/>
              </a:rPr>
              <a:t>Berrada</a:t>
            </a:r>
            <a:r>
              <a:rPr lang="en-GB" sz="1100" dirty="0">
                <a:solidFill>
                  <a:srgbClr val="002F4A"/>
                </a:solidFill>
                <a:latin typeface="Roboto"/>
                <a:ea typeface="Roboto"/>
                <a:cs typeface="Roboto"/>
                <a:sym typeface="Roboto"/>
              </a:rPr>
              <a:t> et al., 2022)</a:t>
            </a:r>
          </a:p>
          <a:p>
            <a:pPr marL="914400" lvl="1" indent="-298450" algn="l" rtl="0">
              <a:lnSpc>
                <a:spcPct val="115000"/>
              </a:lnSpc>
              <a:spcBef>
                <a:spcPts val="0"/>
              </a:spcBef>
              <a:spcAft>
                <a:spcPts val="0"/>
              </a:spcAft>
              <a:buClr>
                <a:schemeClr val="dk1"/>
              </a:buClr>
              <a:buSzPts val="1100"/>
              <a:buFont typeface="Roboto"/>
              <a:buChar char="○"/>
            </a:pPr>
            <a:r>
              <a:rPr lang="en-GB" sz="1100" dirty="0">
                <a:solidFill>
                  <a:srgbClr val="002F4A"/>
                </a:solidFill>
                <a:latin typeface="Roboto"/>
                <a:ea typeface="Roboto"/>
                <a:cs typeface="Roboto"/>
                <a:sym typeface="Roboto"/>
              </a:rPr>
              <a:t>Sovereigns are financially </a:t>
            </a:r>
            <a:r>
              <a:rPr lang="en-GB" sz="1100" b="1" dirty="0">
                <a:solidFill>
                  <a:srgbClr val="002F4A"/>
                </a:solidFill>
                <a:latin typeface="Roboto"/>
                <a:ea typeface="Roboto"/>
                <a:cs typeface="Roboto"/>
                <a:sym typeface="Roboto"/>
              </a:rPr>
              <a:t>penalized</a:t>
            </a:r>
            <a:r>
              <a:rPr lang="en-GB" sz="1100" dirty="0">
                <a:solidFill>
                  <a:srgbClr val="002F4A"/>
                </a:solidFill>
                <a:latin typeface="Roboto"/>
                <a:ea typeface="Roboto"/>
                <a:cs typeface="Roboto"/>
                <a:sym typeface="Roboto"/>
              </a:rPr>
              <a:t> for not achieving KPI targets, rather than being </a:t>
            </a:r>
            <a:r>
              <a:rPr lang="en-GB" sz="1100" b="1" dirty="0">
                <a:solidFill>
                  <a:srgbClr val="002F4A"/>
                </a:solidFill>
                <a:latin typeface="Roboto"/>
                <a:ea typeface="Roboto"/>
                <a:cs typeface="Roboto"/>
                <a:sym typeface="Roboto"/>
              </a:rPr>
              <a:t>rewarded</a:t>
            </a:r>
            <a:r>
              <a:rPr lang="en-GB" sz="1100" dirty="0">
                <a:solidFill>
                  <a:srgbClr val="002F4A"/>
                </a:solidFill>
                <a:latin typeface="Roboto"/>
                <a:ea typeface="Roboto"/>
                <a:cs typeface="Roboto"/>
                <a:sym typeface="Roboto"/>
              </a:rPr>
              <a:t> for outperforming</a:t>
            </a:r>
          </a:p>
          <a:p>
            <a:pPr marL="0" lvl="0" indent="0" algn="l" rtl="0">
              <a:lnSpc>
                <a:spcPct val="115000"/>
              </a:lnSpc>
              <a:spcBef>
                <a:spcPts val="0"/>
              </a:spcBef>
              <a:spcAft>
                <a:spcPts val="0"/>
              </a:spcAft>
              <a:buNone/>
            </a:pPr>
            <a:r>
              <a:rPr lang="en-GB" sz="1200" b="1" dirty="0">
                <a:latin typeface="Roboto"/>
                <a:ea typeface="Roboto"/>
                <a:cs typeface="Roboto"/>
                <a:sym typeface="Roboto"/>
              </a:rPr>
              <a:t>Complexity:</a:t>
            </a:r>
          </a:p>
          <a:p>
            <a:pPr marL="457200" lvl="0" indent="-298450" algn="l" rtl="0">
              <a:lnSpc>
                <a:spcPct val="115000"/>
              </a:lnSpc>
              <a:spcBef>
                <a:spcPts val="1200"/>
              </a:spcBef>
              <a:spcAft>
                <a:spcPts val="0"/>
              </a:spcAft>
              <a:buClr>
                <a:schemeClr val="accent1"/>
              </a:buClr>
              <a:buSzPts val="1100"/>
              <a:buFont typeface="Roboto"/>
              <a:buChar char="●"/>
            </a:pPr>
            <a:r>
              <a:rPr lang="en-GB" sz="1100" dirty="0">
                <a:solidFill>
                  <a:srgbClr val="002F4A"/>
                </a:solidFill>
                <a:latin typeface="Roboto"/>
                <a:ea typeface="Roboto"/>
                <a:cs typeface="Roboto"/>
                <a:sym typeface="Roboto"/>
              </a:rPr>
              <a:t>While SLBs hold great potential, they have not seen widespread adoption from sovereigns or financial institutions </a:t>
            </a:r>
          </a:p>
          <a:p>
            <a:pPr marL="914400" lvl="1" indent="-298450" algn="l" rtl="0">
              <a:lnSpc>
                <a:spcPct val="115000"/>
              </a:lnSpc>
              <a:spcBef>
                <a:spcPts val="0"/>
              </a:spcBef>
              <a:spcAft>
                <a:spcPts val="0"/>
              </a:spcAft>
              <a:buClr>
                <a:schemeClr val="accent1"/>
              </a:buClr>
              <a:buSzPts val="1100"/>
              <a:buFont typeface="Roboto"/>
              <a:buChar char="○"/>
            </a:pPr>
            <a:r>
              <a:rPr lang="en-GB" sz="1100" dirty="0">
                <a:solidFill>
                  <a:srgbClr val="002F4A"/>
                </a:solidFill>
                <a:latin typeface="Roboto"/>
                <a:ea typeface="Roboto"/>
                <a:cs typeface="Roboto"/>
                <a:sym typeface="Roboto"/>
              </a:rPr>
              <a:t>Perceived </a:t>
            </a:r>
            <a:r>
              <a:rPr lang="en-GB" sz="1100" b="1" dirty="0">
                <a:solidFill>
                  <a:srgbClr val="002F4A"/>
                </a:solidFill>
                <a:latin typeface="Roboto"/>
                <a:ea typeface="Roboto"/>
                <a:cs typeface="Roboto"/>
                <a:sym typeface="Roboto"/>
              </a:rPr>
              <a:t>complexity</a:t>
            </a:r>
            <a:r>
              <a:rPr lang="en-GB" sz="1100" dirty="0">
                <a:solidFill>
                  <a:srgbClr val="002F4A"/>
                </a:solidFill>
                <a:latin typeface="Roboto"/>
                <a:ea typeface="Roboto"/>
                <a:cs typeface="Roboto"/>
                <a:sym typeface="Roboto"/>
              </a:rPr>
              <a:t> is a key deterrent</a:t>
            </a:r>
          </a:p>
          <a:p>
            <a:pPr marL="914400" lvl="1" indent="-298450" algn="l" rtl="0">
              <a:lnSpc>
                <a:spcPct val="115000"/>
              </a:lnSpc>
              <a:spcBef>
                <a:spcPts val="0"/>
              </a:spcBef>
              <a:spcAft>
                <a:spcPts val="0"/>
              </a:spcAft>
              <a:buClr>
                <a:schemeClr val="accent1"/>
              </a:buClr>
              <a:buSzPts val="1100"/>
              <a:buFont typeface="Roboto"/>
              <a:buChar char="○"/>
            </a:pPr>
            <a:r>
              <a:rPr lang="en-GB" sz="1100" dirty="0">
                <a:solidFill>
                  <a:srgbClr val="002F4A"/>
                </a:solidFill>
                <a:latin typeface="Roboto"/>
                <a:ea typeface="Roboto"/>
                <a:cs typeface="Roboto"/>
                <a:sym typeface="Roboto"/>
              </a:rPr>
              <a:t>Uptake of </a:t>
            </a:r>
            <a:r>
              <a:rPr lang="en-GB" sz="1100" b="1" dirty="0">
                <a:solidFill>
                  <a:srgbClr val="002F4A"/>
                </a:solidFill>
                <a:latin typeface="Roboto"/>
                <a:ea typeface="Roboto"/>
                <a:cs typeface="Roboto"/>
                <a:sym typeface="Roboto"/>
              </a:rPr>
              <a:t>uniform standards </a:t>
            </a:r>
            <a:r>
              <a:rPr lang="en-GB" sz="1100" dirty="0">
                <a:solidFill>
                  <a:srgbClr val="002F4A"/>
                </a:solidFill>
                <a:latin typeface="Roboto"/>
                <a:ea typeface="Roboto"/>
                <a:cs typeface="Roboto"/>
                <a:sym typeface="Roboto"/>
              </a:rPr>
              <a:t>for targets</a:t>
            </a:r>
            <a:r>
              <a:rPr lang="en-GB" sz="1100" b="1" dirty="0">
                <a:solidFill>
                  <a:srgbClr val="002F4A"/>
                </a:solidFill>
                <a:latin typeface="Roboto"/>
                <a:ea typeface="Roboto"/>
                <a:cs typeface="Roboto"/>
                <a:sym typeface="Roboto"/>
              </a:rPr>
              <a:t> </a:t>
            </a:r>
            <a:r>
              <a:rPr lang="en-GB" sz="1100" dirty="0">
                <a:solidFill>
                  <a:srgbClr val="002F4A"/>
                </a:solidFill>
                <a:latin typeface="Roboto"/>
                <a:ea typeface="Roboto"/>
                <a:cs typeface="Roboto"/>
                <a:sym typeface="Roboto"/>
              </a:rPr>
              <a:t>has been slow</a:t>
            </a:r>
            <a:endParaRPr lang="en-GB" sz="1100" dirty="0">
              <a:solidFill>
                <a:srgbClr val="002F4A"/>
              </a:solidFill>
              <a:latin typeface="Roboto"/>
              <a:ea typeface="Roboto"/>
              <a:cs typeface="Roboto"/>
            </a:endParaRPr>
          </a:p>
          <a:p>
            <a:pPr marL="914400" lvl="1" indent="-298450" algn="l" rtl="0">
              <a:lnSpc>
                <a:spcPct val="115000"/>
              </a:lnSpc>
              <a:spcBef>
                <a:spcPts val="0"/>
              </a:spcBef>
              <a:spcAft>
                <a:spcPts val="0"/>
              </a:spcAft>
              <a:buClr>
                <a:schemeClr val="dk1"/>
              </a:buClr>
              <a:buSzPts val="1100"/>
              <a:buFont typeface="Roboto"/>
              <a:buChar char="○"/>
            </a:pPr>
            <a:endParaRPr lang="en-GB" sz="1100" dirty="0">
              <a:solidFill>
                <a:srgbClr val="002F4A"/>
              </a:solidFill>
              <a:latin typeface="Roboto"/>
              <a:ea typeface="Roboto"/>
              <a:cs typeface="Roboto"/>
              <a:sym typeface="Roboto"/>
            </a:endParaRPr>
          </a:p>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a:extLst>
            <a:ext uri="{FF2B5EF4-FFF2-40B4-BE49-F238E27FC236}">
              <a16:creationId xmlns:a16="http://schemas.microsoft.com/office/drawing/2014/main" id="{159A03EE-8F80-32AD-132C-2DB279837AC0}"/>
            </a:ext>
          </a:extLst>
        </p:cNvPr>
        <p:cNvGrpSpPr/>
        <p:nvPr/>
      </p:nvGrpSpPr>
      <p:grpSpPr>
        <a:xfrm>
          <a:off x="0" y="0"/>
          <a:ext cx="0" cy="0"/>
          <a:chOff x="0" y="0"/>
          <a:chExt cx="0" cy="0"/>
        </a:xfrm>
      </p:grpSpPr>
      <p:sp>
        <p:nvSpPr>
          <p:cNvPr id="150" name="Google Shape;150;g2a23badba93_1_106:notes">
            <a:extLst>
              <a:ext uri="{FF2B5EF4-FFF2-40B4-BE49-F238E27FC236}">
                <a16:creationId xmlns:a16="http://schemas.microsoft.com/office/drawing/2014/main" id="{A96546F0-58B3-E2A2-7DEB-8FB0F09C78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a23badba93_1_106:notes">
            <a:extLst>
              <a:ext uri="{FF2B5EF4-FFF2-40B4-BE49-F238E27FC236}">
                <a16:creationId xmlns:a16="http://schemas.microsoft.com/office/drawing/2014/main" id="{C0291CCD-85BB-4BC3-5601-67D36CABCCC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1" dirty="0">
                <a:latin typeface="Roboto" panose="02000000000000000000" pitchFamily="2" charset="0"/>
                <a:ea typeface="Roboto" panose="02000000000000000000" pitchFamily="2" charset="0"/>
              </a:rPr>
              <a:t>We offer two very different possible SLIDI designs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2226578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a:extLst>
            <a:ext uri="{FF2B5EF4-FFF2-40B4-BE49-F238E27FC236}">
              <a16:creationId xmlns:a16="http://schemas.microsoft.com/office/drawing/2014/main" id="{60185898-FDCB-90C1-32A7-42D82CEC58ED}"/>
            </a:ext>
          </a:extLst>
        </p:cNvPr>
        <p:cNvGrpSpPr/>
        <p:nvPr/>
      </p:nvGrpSpPr>
      <p:grpSpPr>
        <a:xfrm>
          <a:off x="0" y="0"/>
          <a:ext cx="0" cy="0"/>
          <a:chOff x="0" y="0"/>
          <a:chExt cx="0" cy="0"/>
        </a:xfrm>
      </p:grpSpPr>
      <p:sp>
        <p:nvSpPr>
          <p:cNvPr id="242" name="Google Shape;242;g2a0ac66233e_1_3533:notes">
            <a:extLst>
              <a:ext uri="{FF2B5EF4-FFF2-40B4-BE49-F238E27FC236}">
                <a16:creationId xmlns:a16="http://schemas.microsoft.com/office/drawing/2014/main" id="{836516CF-9E7A-6FB2-4502-3BE56A4B65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2a0ac66233e_1_3533:notes">
            <a:extLst>
              <a:ext uri="{FF2B5EF4-FFF2-40B4-BE49-F238E27FC236}">
                <a16:creationId xmlns:a16="http://schemas.microsoft.com/office/drawing/2014/main" id="{E748E527-D8F1-E2B1-4A9A-5F0E6E15FF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donor might be a coalition including several oil-rich nations and the European Union, for example </a:t>
            </a:r>
            <a:endParaRPr dirty="0"/>
          </a:p>
        </p:txBody>
      </p:sp>
    </p:spTree>
    <p:extLst>
      <p:ext uri="{BB962C8B-B14F-4D97-AF65-F5344CB8AC3E}">
        <p14:creationId xmlns:p14="http://schemas.microsoft.com/office/powerpoint/2010/main" val="39592286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a:extLst>
            <a:ext uri="{FF2B5EF4-FFF2-40B4-BE49-F238E27FC236}">
              <a16:creationId xmlns:a16="http://schemas.microsoft.com/office/drawing/2014/main" id="{60185898-FDCB-90C1-32A7-42D82CEC58ED}"/>
            </a:ext>
          </a:extLst>
        </p:cNvPr>
        <p:cNvGrpSpPr/>
        <p:nvPr/>
      </p:nvGrpSpPr>
      <p:grpSpPr>
        <a:xfrm>
          <a:off x="0" y="0"/>
          <a:ext cx="0" cy="0"/>
          <a:chOff x="0" y="0"/>
          <a:chExt cx="0" cy="0"/>
        </a:xfrm>
      </p:grpSpPr>
      <p:sp>
        <p:nvSpPr>
          <p:cNvPr id="242" name="Google Shape;242;g2a0ac66233e_1_3533:notes">
            <a:extLst>
              <a:ext uri="{FF2B5EF4-FFF2-40B4-BE49-F238E27FC236}">
                <a16:creationId xmlns:a16="http://schemas.microsoft.com/office/drawing/2014/main" id="{836516CF-9E7A-6FB2-4502-3BE56A4B65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2a0ac66233e_1_3533:notes">
            <a:extLst>
              <a:ext uri="{FF2B5EF4-FFF2-40B4-BE49-F238E27FC236}">
                <a16:creationId xmlns:a16="http://schemas.microsoft.com/office/drawing/2014/main" id="{E748E527-D8F1-E2B1-4A9A-5F0E6E15FF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Some key points here are that we know development banks are a proven model, and that the reason we might need a separate vehicle with its own balance sheet for this purpose is that it’s unlikely that all shareholders of the World Bank or other existing development banks will agree to increase the size of the existing banks’ balance sheets to the extent required, so instead, it might be possible to create a separate balance sheet backed by a coalition of willing wealthy sovereigns, yet managed by an existing development bank. I’ll emphasize again that my co-authors and I are floating ideas here in a purely personal capacity, this is not a policy under development in the World Bank or any other development bank, and we’re not speaking for any existing institution!</a:t>
            </a:r>
            <a:endParaRPr dirty="0"/>
          </a:p>
        </p:txBody>
      </p:sp>
    </p:spTree>
    <p:extLst>
      <p:ext uri="{BB962C8B-B14F-4D97-AF65-F5344CB8AC3E}">
        <p14:creationId xmlns:p14="http://schemas.microsoft.com/office/powerpoint/2010/main" val="5354244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58D2E-F8B4-66A5-AE2C-20AF076AB2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34D429-8584-8F62-3AF4-FB0F4B03634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FE28EFE-13CB-8DCA-53A7-F099EC3ABEB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9626096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a:extLst>
            <a:ext uri="{FF2B5EF4-FFF2-40B4-BE49-F238E27FC236}">
              <a16:creationId xmlns:a16="http://schemas.microsoft.com/office/drawing/2014/main" id="{7DC8F104-B108-390A-1A58-2DD6B5B8B5D2}"/>
            </a:ext>
          </a:extLst>
        </p:cNvPr>
        <p:cNvGrpSpPr/>
        <p:nvPr/>
      </p:nvGrpSpPr>
      <p:grpSpPr>
        <a:xfrm>
          <a:off x="0" y="0"/>
          <a:ext cx="0" cy="0"/>
          <a:chOff x="0" y="0"/>
          <a:chExt cx="0" cy="0"/>
        </a:xfrm>
      </p:grpSpPr>
      <p:sp>
        <p:nvSpPr>
          <p:cNvPr id="307" name="Google Shape;307;g2a23badba93_1_85:notes">
            <a:extLst>
              <a:ext uri="{FF2B5EF4-FFF2-40B4-BE49-F238E27FC236}">
                <a16:creationId xmlns:a16="http://schemas.microsoft.com/office/drawing/2014/main" id="{19A8468B-9643-9B22-D72A-AD009EA017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2a23badba93_1_85:notes">
            <a:extLst>
              <a:ext uri="{FF2B5EF4-FFF2-40B4-BE49-F238E27FC236}">
                <a16:creationId xmlns:a16="http://schemas.microsoft.com/office/drawing/2014/main" id="{49587D12-2A55-575F-0C5E-4A1DE68BAE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0503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a:extLst>
            <a:ext uri="{FF2B5EF4-FFF2-40B4-BE49-F238E27FC236}">
              <a16:creationId xmlns:a16="http://schemas.microsoft.com/office/drawing/2014/main" id="{25F62519-CE46-1685-1273-682E9116A7A4}"/>
            </a:ext>
          </a:extLst>
        </p:cNvPr>
        <p:cNvGrpSpPr/>
        <p:nvPr/>
      </p:nvGrpSpPr>
      <p:grpSpPr>
        <a:xfrm>
          <a:off x="0" y="0"/>
          <a:ext cx="0" cy="0"/>
          <a:chOff x="0" y="0"/>
          <a:chExt cx="0" cy="0"/>
        </a:xfrm>
      </p:grpSpPr>
      <p:sp>
        <p:nvSpPr>
          <p:cNvPr id="307" name="Google Shape;307;g2a23badba93_1_85:notes">
            <a:extLst>
              <a:ext uri="{FF2B5EF4-FFF2-40B4-BE49-F238E27FC236}">
                <a16:creationId xmlns:a16="http://schemas.microsoft.com/office/drawing/2014/main" id="{5D60D3F8-BFF2-5F4E-E162-69A51A7DB6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2a23badba93_1_85:notes">
            <a:extLst>
              <a:ext uri="{FF2B5EF4-FFF2-40B4-BE49-F238E27FC236}">
                <a16:creationId xmlns:a16="http://schemas.microsoft.com/office/drawing/2014/main" id="{D00B91D6-7DDA-3998-65CB-F281DF7587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10692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a:extLst>
            <a:ext uri="{FF2B5EF4-FFF2-40B4-BE49-F238E27FC236}">
              <a16:creationId xmlns:a16="http://schemas.microsoft.com/office/drawing/2014/main" id="{60185898-FDCB-90C1-32A7-42D82CEC58ED}"/>
            </a:ext>
          </a:extLst>
        </p:cNvPr>
        <p:cNvGrpSpPr/>
        <p:nvPr/>
      </p:nvGrpSpPr>
      <p:grpSpPr>
        <a:xfrm>
          <a:off x="0" y="0"/>
          <a:ext cx="0" cy="0"/>
          <a:chOff x="0" y="0"/>
          <a:chExt cx="0" cy="0"/>
        </a:xfrm>
      </p:grpSpPr>
      <p:sp>
        <p:nvSpPr>
          <p:cNvPr id="242" name="Google Shape;242;g2a0ac66233e_1_3533:notes">
            <a:extLst>
              <a:ext uri="{FF2B5EF4-FFF2-40B4-BE49-F238E27FC236}">
                <a16:creationId xmlns:a16="http://schemas.microsoft.com/office/drawing/2014/main" id="{836516CF-9E7A-6FB2-4502-3BE56A4B65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2a0ac66233e_1_3533:notes">
            <a:extLst>
              <a:ext uri="{FF2B5EF4-FFF2-40B4-BE49-F238E27FC236}">
                <a16:creationId xmlns:a16="http://schemas.microsoft.com/office/drawing/2014/main" id="{E748E527-D8F1-E2B1-4A9A-5F0E6E15FF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782943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a:extLst>
            <a:ext uri="{FF2B5EF4-FFF2-40B4-BE49-F238E27FC236}">
              <a16:creationId xmlns:a16="http://schemas.microsoft.com/office/drawing/2014/main" id="{3875D3C9-DAB3-BD49-6F81-A39238B9DA79}"/>
            </a:ext>
          </a:extLst>
        </p:cNvPr>
        <p:cNvGrpSpPr/>
        <p:nvPr/>
      </p:nvGrpSpPr>
      <p:grpSpPr>
        <a:xfrm>
          <a:off x="0" y="0"/>
          <a:ext cx="0" cy="0"/>
          <a:chOff x="0" y="0"/>
          <a:chExt cx="0" cy="0"/>
        </a:xfrm>
      </p:grpSpPr>
      <p:sp>
        <p:nvSpPr>
          <p:cNvPr id="313" name="Google Shape;313;g2a23badba93_1_90:notes">
            <a:extLst>
              <a:ext uri="{FF2B5EF4-FFF2-40B4-BE49-F238E27FC236}">
                <a16:creationId xmlns:a16="http://schemas.microsoft.com/office/drawing/2014/main" id="{1DA32A00-E202-8C6E-49DA-2B35D4F837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2a23badba93_1_90:notes">
            <a:extLst>
              <a:ext uri="{FF2B5EF4-FFF2-40B4-BE49-F238E27FC236}">
                <a16:creationId xmlns:a16="http://schemas.microsoft.com/office/drawing/2014/main" id="{629E94F8-6437-7B9C-D095-B685422A54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1" dirty="0">
                <a:ea typeface="Roboto" panose="02000000000000000000" pitchFamily="2" charset="0"/>
                <a:cs typeface="Roboto" panose="02000000000000000000" pitchFamily="2" charset="0"/>
              </a:rPr>
              <a:t>Problems</a:t>
            </a:r>
            <a:r>
              <a:rPr lang="en-US" sz="1100" dirty="0">
                <a:ea typeface="Roboto" panose="02000000000000000000" pitchFamily="2" charset="0"/>
                <a:cs typeface="Roboto" panose="02000000000000000000" pitchFamily="2" charset="0"/>
              </a:rPr>
              <a:t> observed in existing </a:t>
            </a:r>
            <a:r>
              <a:rPr lang="en-US" sz="1100" b="1" dirty="0">
                <a:ea typeface="Roboto" panose="02000000000000000000" pitchFamily="2" charset="0"/>
                <a:cs typeface="Roboto" panose="02000000000000000000" pitchFamily="2" charset="0"/>
              </a:rPr>
              <a:t>SLBs</a:t>
            </a:r>
            <a:r>
              <a:rPr lang="en-US" sz="1100" dirty="0">
                <a:ea typeface="Roboto" panose="02000000000000000000" pitchFamily="2" charset="0"/>
                <a:cs typeface="Roboto" panose="02000000000000000000" pitchFamily="2" charset="0"/>
              </a:rPr>
              <a:t>: complexity, variable coupon payments, and market resistance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solidFill>
                  <a:srgbClr val="002F4A"/>
                </a:solidFill>
                <a:ea typeface="Roboto" panose="02000000000000000000" pitchFamily="2" charset="0"/>
                <a:cs typeface="Roboto" panose="02000000000000000000" pitchFamily="2" charset="0"/>
              </a:rPr>
              <a:t>Choice of ‘Prior Action’ or ‘Results Based Climate Finance’ system, with former choice reducing financial risk to WB and latter offering stronger performance incentives to client country</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dirty="0">
              <a:ea typeface="Roboto" panose="02000000000000000000" pitchFamily="2" charset="0"/>
              <a:cs typeface="Roboto" panose="02000000000000000000" pitchFamily="2" charset="0"/>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42210225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6DB9FEDD-326A-3A68-B87B-008EE462278F}"/>
            </a:ext>
          </a:extLst>
        </p:cNvPr>
        <p:cNvGrpSpPr/>
        <p:nvPr/>
      </p:nvGrpSpPr>
      <p:grpSpPr>
        <a:xfrm>
          <a:off x="0" y="0"/>
          <a:ext cx="0" cy="0"/>
          <a:chOff x="0" y="0"/>
          <a:chExt cx="0" cy="0"/>
        </a:xfrm>
      </p:grpSpPr>
      <p:sp>
        <p:nvSpPr>
          <p:cNvPr id="225" name="Google Shape;225;g2a0ac66233e_1_335:notes">
            <a:extLst>
              <a:ext uri="{FF2B5EF4-FFF2-40B4-BE49-F238E27FC236}">
                <a16:creationId xmlns:a16="http://schemas.microsoft.com/office/drawing/2014/main" id="{90050527-D4CA-6BF7-4895-C575C24E5F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2a0ac66233e_1_335:notes">
            <a:extLst>
              <a:ext uri="{FF2B5EF4-FFF2-40B4-BE49-F238E27FC236}">
                <a16:creationId xmlns:a16="http://schemas.microsoft.com/office/drawing/2014/main" id="{C9C7E27B-8788-7994-B3E0-DB4846A8CA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20295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2a23badba93_1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2a23badba93_1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a:extLst>
            <a:ext uri="{FF2B5EF4-FFF2-40B4-BE49-F238E27FC236}">
              <a16:creationId xmlns:a16="http://schemas.microsoft.com/office/drawing/2014/main" id="{C568FB48-0316-4879-EF92-62730FF41C31}"/>
            </a:ext>
          </a:extLst>
        </p:cNvPr>
        <p:cNvGrpSpPr/>
        <p:nvPr/>
      </p:nvGrpSpPr>
      <p:grpSpPr>
        <a:xfrm>
          <a:off x="0" y="0"/>
          <a:ext cx="0" cy="0"/>
          <a:chOff x="0" y="0"/>
          <a:chExt cx="0" cy="0"/>
        </a:xfrm>
      </p:grpSpPr>
      <p:sp>
        <p:nvSpPr>
          <p:cNvPr id="313" name="Google Shape;313;g2a23badba93_1_90:notes">
            <a:extLst>
              <a:ext uri="{FF2B5EF4-FFF2-40B4-BE49-F238E27FC236}">
                <a16:creationId xmlns:a16="http://schemas.microsoft.com/office/drawing/2014/main" id="{B629B9BF-4DC0-1B03-D03D-C57205CB67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2a23badba93_1_90:notes">
            <a:extLst>
              <a:ext uri="{FF2B5EF4-FFF2-40B4-BE49-F238E27FC236}">
                <a16:creationId xmlns:a16="http://schemas.microsoft.com/office/drawing/2014/main" id="{CDD27D09-23B9-81F9-91BA-15A227712A4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966029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a:extLst>
            <a:ext uri="{FF2B5EF4-FFF2-40B4-BE49-F238E27FC236}">
              <a16:creationId xmlns:a16="http://schemas.microsoft.com/office/drawing/2014/main" id="{BD53A8BE-0C2B-51C4-400E-39D5C2D40766}"/>
            </a:ext>
          </a:extLst>
        </p:cNvPr>
        <p:cNvGrpSpPr/>
        <p:nvPr/>
      </p:nvGrpSpPr>
      <p:grpSpPr>
        <a:xfrm>
          <a:off x="0" y="0"/>
          <a:ext cx="0" cy="0"/>
          <a:chOff x="0" y="0"/>
          <a:chExt cx="0" cy="0"/>
        </a:xfrm>
      </p:grpSpPr>
      <p:sp>
        <p:nvSpPr>
          <p:cNvPr id="394" name="Google Shape;394;g2a23badba93_1_96:notes">
            <a:extLst>
              <a:ext uri="{FF2B5EF4-FFF2-40B4-BE49-F238E27FC236}">
                <a16:creationId xmlns:a16="http://schemas.microsoft.com/office/drawing/2014/main" id="{BC96791B-C140-C999-7215-09AEA709A9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2a23badba93_1_96:notes">
            <a:extLst>
              <a:ext uri="{FF2B5EF4-FFF2-40B4-BE49-F238E27FC236}">
                <a16:creationId xmlns:a16="http://schemas.microsoft.com/office/drawing/2014/main" id="{3EA04E1F-1429-B6F0-1602-DCEEF8D602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79897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descr="Looking up at the sky through the trees&#10;&#10;Description automatically generated">
            <a:extLst>
              <a:ext uri="{FF2B5EF4-FFF2-40B4-BE49-F238E27FC236}">
                <a16:creationId xmlns:a16="http://schemas.microsoft.com/office/drawing/2014/main" id="{93E89D5A-95FC-C9B6-1B0C-99FF0E10BC1A}"/>
              </a:ext>
            </a:extLst>
          </p:cNvPr>
          <p:cNvPicPr>
            <a:picLocks noChangeAspect="1"/>
          </p:cNvPicPr>
          <p:nvPr userDrawn="1"/>
        </p:nvPicPr>
        <p:blipFill>
          <a:blip r:embed="rId2"/>
          <a:stretch>
            <a:fillRect/>
          </a:stretch>
        </p:blipFill>
        <p:spPr>
          <a:xfrm>
            <a:off x="0" y="200440"/>
            <a:ext cx="9144000" cy="4943060"/>
          </a:xfrm>
          <a:prstGeom prst="rect">
            <a:avLst/>
          </a:prstGeom>
        </p:spPr>
      </p:pic>
      <p:sp>
        <p:nvSpPr>
          <p:cNvPr id="28" name="Google Shape;10;p2">
            <a:extLst>
              <a:ext uri="{FF2B5EF4-FFF2-40B4-BE49-F238E27FC236}">
                <a16:creationId xmlns:a16="http://schemas.microsoft.com/office/drawing/2014/main" id="{5228A903-53C0-8F47-64A3-A47C5B74A222}"/>
              </a:ext>
            </a:extLst>
          </p:cNvPr>
          <p:cNvSpPr/>
          <p:nvPr userDrawn="1"/>
        </p:nvSpPr>
        <p:spPr>
          <a:xfrm>
            <a:off x="0" y="0"/>
            <a:ext cx="9144000" cy="4857750"/>
          </a:xfrm>
          <a:custGeom>
            <a:avLst/>
            <a:gdLst/>
            <a:ahLst/>
            <a:cxnLst/>
            <a:rect l="l" t="t" r="r" b="b"/>
            <a:pathLst>
              <a:path w="365770" h="175924" extrusionOk="0">
                <a:moveTo>
                  <a:pt x="0" y="0"/>
                </a:moveTo>
                <a:lnTo>
                  <a:pt x="365770" y="0"/>
                </a:lnTo>
                <a:lnTo>
                  <a:pt x="365760" y="70914"/>
                </a:lnTo>
                <a:lnTo>
                  <a:pt x="0" y="175924"/>
                </a:lnTo>
                <a:close/>
              </a:path>
            </a:pathLst>
          </a:custGeom>
          <a:solidFill>
            <a:schemeClr val="bg1"/>
          </a:solidFill>
          <a:ln>
            <a:noFill/>
          </a:ln>
        </p:spPr>
      </p:sp>
      <p:sp>
        <p:nvSpPr>
          <p:cNvPr id="2" name="Title 1">
            <a:extLst>
              <a:ext uri="{FF2B5EF4-FFF2-40B4-BE49-F238E27FC236}">
                <a16:creationId xmlns:a16="http://schemas.microsoft.com/office/drawing/2014/main" id="{568529B4-9A66-3967-93D1-B1E1D764EED2}"/>
              </a:ext>
            </a:extLst>
          </p:cNvPr>
          <p:cNvSpPr>
            <a:spLocks noGrp="1"/>
          </p:cNvSpPr>
          <p:nvPr>
            <p:ph type="ctrTitle"/>
          </p:nvPr>
        </p:nvSpPr>
        <p:spPr>
          <a:xfrm>
            <a:off x="420053" y="481076"/>
            <a:ext cx="7823835" cy="1790700"/>
          </a:xfrm>
          <a:prstGeom prst="rect">
            <a:avLst/>
          </a:prstGeom>
        </p:spPr>
        <p:txBody>
          <a:bodyPr anchor="b"/>
          <a:lstStyle>
            <a:lvl1pPr algn="l">
              <a:defRPr sz="3600" b="1" i="0">
                <a:solidFill>
                  <a:srgbClr val="042245"/>
                </a:solidFill>
                <a:latin typeface="Merriweather" pitchFamily="2" charset="77"/>
                <a:cs typeface="Arial Hebrew" pitchFamily="2" charset="-79"/>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58D037B6-4255-92E8-A047-EA43DE80A014}"/>
              </a:ext>
            </a:extLst>
          </p:cNvPr>
          <p:cNvSpPr>
            <a:spLocks noGrp="1"/>
          </p:cNvSpPr>
          <p:nvPr>
            <p:ph type="subTitle" idx="1"/>
          </p:nvPr>
        </p:nvSpPr>
        <p:spPr>
          <a:xfrm>
            <a:off x="420053" y="2428875"/>
            <a:ext cx="4629150" cy="481076"/>
          </a:xfrm>
          <a:prstGeom prst="rect">
            <a:avLst/>
          </a:prstGeom>
        </p:spPr>
        <p:txBody>
          <a:bodyPr/>
          <a:lstStyle>
            <a:lvl1pPr marL="0" indent="0" algn="l">
              <a:buNone/>
              <a:defRPr sz="1800" b="0" i="0">
                <a:solidFill>
                  <a:srgbClr val="B8564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a:p>
        </p:txBody>
      </p:sp>
      <p:sp>
        <p:nvSpPr>
          <p:cNvPr id="12" name="Text Placeholder 11">
            <a:extLst>
              <a:ext uri="{FF2B5EF4-FFF2-40B4-BE49-F238E27FC236}">
                <a16:creationId xmlns:a16="http://schemas.microsoft.com/office/drawing/2014/main" id="{C305172B-6733-BD95-91C3-40B44DC1B93D}"/>
              </a:ext>
            </a:extLst>
          </p:cNvPr>
          <p:cNvSpPr>
            <a:spLocks noGrp="1"/>
          </p:cNvSpPr>
          <p:nvPr>
            <p:ph type="body" sz="quarter" idx="10"/>
          </p:nvPr>
        </p:nvSpPr>
        <p:spPr>
          <a:xfrm>
            <a:off x="6827745" y="3761815"/>
            <a:ext cx="2047175" cy="1181660"/>
          </a:xfrm>
          <a:prstGeom prst="rect">
            <a:avLst/>
          </a:prstGeom>
        </p:spPr>
        <p:txBody>
          <a:bodyPr/>
          <a:lstStyle>
            <a:lvl1pPr marL="0" indent="0" algn="r">
              <a:lnSpc>
                <a:spcPct val="150000"/>
              </a:lnSpc>
              <a:spcBef>
                <a:spcPts val="0"/>
              </a:spcBef>
              <a:buNone/>
              <a:defRPr sz="1200">
                <a:solidFill>
                  <a:schemeClr val="bg1"/>
                </a:solidFill>
                <a:latin typeface="Merriweather" pitchFamily="2" charset="77"/>
                <a:ea typeface="Roboto" panose="02000000000000000000" pitchFamily="2" charset="0"/>
                <a:cs typeface="Roboto" panose="02000000000000000000" pitchFamily="2" charset="0"/>
              </a:defRPr>
            </a:lvl1pPr>
          </a:lstStyle>
          <a:p>
            <a:pPr lvl="0"/>
            <a:r>
              <a:rPr lang="en-GB"/>
              <a:t>Click to edit Master text styles</a:t>
            </a:r>
            <a:endParaRPr lang="en-US"/>
          </a:p>
        </p:txBody>
      </p:sp>
    </p:spTree>
    <p:extLst>
      <p:ext uri="{BB962C8B-B14F-4D97-AF65-F5344CB8AC3E}">
        <p14:creationId xmlns:p14="http://schemas.microsoft.com/office/powerpoint/2010/main" val="1245963042"/>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8D037B6-4255-92E8-A047-EA43DE80A014}"/>
              </a:ext>
            </a:extLst>
          </p:cNvPr>
          <p:cNvSpPr>
            <a:spLocks noGrp="1"/>
          </p:cNvSpPr>
          <p:nvPr>
            <p:ph type="subTitle" idx="1" hasCustomPrompt="1"/>
          </p:nvPr>
        </p:nvSpPr>
        <p:spPr>
          <a:xfrm>
            <a:off x="5012393" y="396345"/>
            <a:ext cx="3684662" cy="481076"/>
          </a:xfrm>
          <a:prstGeom prst="rect">
            <a:avLst/>
          </a:prstGeom>
        </p:spPr>
        <p:txBody>
          <a:bodyPr/>
          <a:lstStyle>
            <a:lvl1pPr marL="0" indent="0" algn="l">
              <a:buNone/>
              <a:defRPr sz="2100" b="0" i="0">
                <a:solidFill>
                  <a:srgbClr val="002F4A"/>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Contents</a:t>
            </a:r>
            <a:endParaRPr lang="en-US" dirty="0"/>
          </a:p>
        </p:txBody>
      </p:sp>
      <p:sp>
        <p:nvSpPr>
          <p:cNvPr id="8" name="Text Placeholder 10">
            <a:extLst>
              <a:ext uri="{FF2B5EF4-FFF2-40B4-BE49-F238E27FC236}">
                <a16:creationId xmlns:a16="http://schemas.microsoft.com/office/drawing/2014/main" id="{C162F2BA-E0FC-F567-87AA-D8D8A4C92F20}"/>
              </a:ext>
            </a:extLst>
          </p:cNvPr>
          <p:cNvSpPr>
            <a:spLocks noGrp="1"/>
          </p:cNvSpPr>
          <p:nvPr>
            <p:ph type="body" sz="quarter" idx="11"/>
          </p:nvPr>
        </p:nvSpPr>
        <p:spPr>
          <a:xfrm>
            <a:off x="5012393" y="1007877"/>
            <a:ext cx="3953434" cy="3984344"/>
          </a:xfrm>
          <a:prstGeom prst="rect">
            <a:avLst/>
          </a:prstGeom>
        </p:spPr>
        <p:txBody>
          <a:bodyPr>
            <a:normAutofit/>
          </a:bodyPr>
          <a:lstStyle>
            <a:lvl1pPr marL="214313" indent="-385763">
              <a:lnSpc>
                <a:spcPct val="150000"/>
              </a:lnSpc>
              <a:spcBef>
                <a:spcPts val="0"/>
              </a:spcBef>
              <a:buFont typeface="+mj-lt"/>
              <a:buAutoNum type="romanUcPeriod"/>
              <a:defRPr sz="1500" b="0" i="0">
                <a:solidFill>
                  <a:srgbClr val="B85641"/>
                </a:solidFill>
                <a:latin typeface="Merriweather" pitchFamily="2" charset="77"/>
                <a:ea typeface="Roboto" panose="02000000000000000000" pitchFamily="2" charset="0"/>
                <a:cs typeface="Roboto" panose="02000000000000000000" pitchFamily="2" charset="0"/>
              </a:defRPr>
            </a:lvl1pPr>
            <a:lvl2pPr marL="557213" indent="-214313">
              <a:lnSpc>
                <a:spcPct val="150000"/>
              </a:lnSpc>
              <a:spcBef>
                <a:spcPts val="0"/>
              </a:spcBef>
              <a:buClr>
                <a:schemeClr val="tx1"/>
              </a:buClr>
              <a:buFont typeface="Arial" panose="020B0604020202020204" pitchFamily="34" charset="0"/>
              <a:buChar char="•"/>
              <a:defRPr sz="1350" b="0" i="0">
                <a:latin typeface="Merriweather" pitchFamily="2" charset="77"/>
                <a:ea typeface="Roboto" panose="02000000000000000000" pitchFamily="2" charset="0"/>
                <a:cs typeface="Roboto" panose="02000000000000000000" pitchFamily="2" charset="0"/>
              </a:defRPr>
            </a:lvl2pPr>
            <a:lvl3pPr>
              <a:lnSpc>
                <a:spcPct val="150000"/>
              </a:lnSpc>
              <a:spcBef>
                <a:spcPts val="0"/>
              </a:spcBef>
              <a:buClr>
                <a:schemeClr val="tx1"/>
              </a:buClr>
              <a:defRPr sz="1200" b="0" i="0">
                <a:latin typeface="Merriweather" pitchFamily="2" charset="77"/>
                <a:ea typeface="Roboto" panose="02000000000000000000" pitchFamily="2" charset="0"/>
                <a:cs typeface="Roboto" panose="02000000000000000000" pitchFamily="2" charset="0"/>
              </a:defRPr>
            </a:lvl3pPr>
            <a:lvl4pPr>
              <a:lnSpc>
                <a:spcPct val="150000"/>
              </a:lnSpc>
              <a:spcBef>
                <a:spcPts val="0"/>
              </a:spcBef>
              <a:buClr>
                <a:schemeClr val="tx1"/>
              </a:buClr>
              <a:defRPr sz="1200" b="0" i="0">
                <a:latin typeface="Merriweather" pitchFamily="2" charset="77"/>
                <a:ea typeface="Roboto" panose="02000000000000000000" pitchFamily="2" charset="0"/>
                <a:cs typeface="Roboto" panose="02000000000000000000" pitchFamily="2" charset="0"/>
              </a:defRPr>
            </a:lvl4pPr>
            <a:lvl5pPr>
              <a:lnSpc>
                <a:spcPct val="150000"/>
              </a:lnSpc>
              <a:spcBef>
                <a:spcPts val="0"/>
              </a:spcBef>
              <a:buClr>
                <a:schemeClr val="tx1"/>
              </a:buClr>
              <a:defRPr sz="1200" b="0" i="0">
                <a:latin typeface="Merriweather" pitchFamily="2" charset="77"/>
                <a:ea typeface="Roboto" panose="02000000000000000000" pitchFamily="2" charset="0"/>
                <a:cs typeface="Roboto" panose="02000000000000000000"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a:p>
            <a:pPr lvl="0"/>
            <a:r>
              <a:rPr lang="en-GB" dirty="0"/>
              <a:t>Click to edit </a:t>
            </a:r>
          </a:p>
          <a:p>
            <a:pPr lvl="1"/>
            <a:r>
              <a:rPr lang="en-GB" dirty="0"/>
              <a:t>c</a:t>
            </a:r>
          </a:p>
          <a:p>
            <a:pPr lvl="0"/>
            <a:endParaRPr lang="en-US" dirty="0"/>
          </a:p>
        </p:txBody>
      </p:sp>
      <p:pic>
        <p:nvPicPr>
          <p:cNvPr id="11" name="Picture 10" descr="Looking up view of trees in the forest&#10;&#10;Description automatically generated">
            <a:extLst>
              <a:ext uri="{FF2B5EF4-FFF2-40B4-BE49-F238E27FC236}">
                <a16:creationId xmlns:a16="http://schemas.microsoft.com/office/drawing/2014/main" id="{7180AF91-3BD3-C1B3-02C5-FD0B8796D1C9}"/>
              </a:ext>
            </a:extLst>
          </p:cNvPr>
          <p:cNvPicPr>
            <a:picLocks noChangeAspect="1"/>
          </p:cNvPicPr>
          <p:nvPr userDrawn="1"/>
        </p:nvPicPr>
        <p:blipFill rotWithShape="1">
          <a:blip r:embed="rId2"/>
          <a:srcRect l="18347" r="19585"/>
          <a:stretch/>
        </p:blipFill>
        <p:spPr>
          <a:xfrm>
            <a:off x="0" y="1"/>
            <a:ext cx="4901454" cy="5159582"/>
          </a:xfrm>
          <a:prstGeom prst="rect">
            <a:avLst/>
          </a:prstGeom>
        </p:spPr>
      </p:pic>
    </p:spTree>
    <p:extLst>
      <p:ext uri="{BB962C8B-B14F-4D97-AF65-F5344CB8AC3E}">
        <p14:creationId xmlns:p14="http://schemas.microsoft.com/office/powerpoint/2010/main" val="3887618070"/>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8D037B6-4255-92E8-A047-EA43DE80A014}"/>
              </a:ext>
            </a:extLst>
          </p:cNvPr>
          <p:cNvSpPr>
            <a:spLocks noGrp="1"/>
          </p:cNvSpPr>
          <p:nvPr>
            <p:ph type="subTitle" idx="1" hasCustomPrompt="1"/>
          </p:nvPr>
        </p:nvSpPr>
        <p:spPr>
          <a:xfrm>
            <a:off x="5012393" y="396344"/>
            <a:ext cx="3684662" cy="4416815"/>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Contents</a:t>
            </a:r>
            <a:endParaRPr lang="en-US"/>
          </a:p>
        </p:txBody>
      </p:sp>
      <p:pic>
        <p:nvPicPr>
          <p:cNvPr id="4" name="Picture 3">
            <a:extLst>
              <a:ext uri="{FF2B5EF4-FFF2-40B4-BE49-F238E27FC236}">
                <a16:creationId xmlns:a16="http://schemas.microsoft.com/office/drawing/2014/main" id="{9D0D0BCD-F44D-1706-7F89-A5A6E788B453}"/>
              </a:ext>
            </a:extLst>
          </p:cNvPr>
          <p:cNvPicPr>
            <a:picLocks noChangeAspect="1"/>
          </p:cNvPicPr>
          <p:nvPr userDrawn="1"/>
        </p:nvPicPr>
        <p:blipFill rotWithShape="1">
          <a:blip r:embed="rId2"/>
          <a:srcRect l="-48841" t="-25532" r="-9973" b="-9433"/>
          <a:stretch/>
        </p:blipFill>
        <p:spPr>
          <a:xfrm>
            <a:off x="-4479010" y="-1657282"/>
            <a:ext cx="14521911" cy="8524066"/>
          </a:xfrm>
          <a:prstGeom prst="diagStripe">
            <a:avLst/>
          </a:prstGeom>
        </p:spPr>
      </p:pic>
    </p:spTree>
    <p:extLst>
      <p:ext uri="{BB962C8B-B14F-4D97-AF65-F5344CB8AC3E}">
        <p14:creationId xmlns:p14="http://schemas.microsoft.com/office/powerpoint/2010/main" val="4147021562"/>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ingle Column Text">
    <p:spTree>
      <p:nvGrpSpPr>
        <p:cNvPr id="1" name=""/>
        <p:cNvGrpSpPr/>
        <p:nvPr/>
      </p:nvGrpSpPr>
      <p:grpSpPr>
        <a:xfrm>
          <a:off x="0" y="0"/>
          <a:ext cx="0" cy="0"/>
          <a:chOff x="0" y="0"/>
          <a:chExt cx="0" cy="0"/>
        </a:xfrm>
      </p:grpSpPr>
      <p:sp>
        <p:nvSpPr>
          <p:cNvPr id="3" name="Google Shape;51;p10">
            <a:extLst>
              <a:ext uri="{FF2B5EF4-FFF2-40B4-BE49-F238E27FC236}">
                <a16:creationId xmlns:a16="http://schemas.microsoft.com/office/drawing/2014/main" id="{644A956F-8D9E-730A-8ED4-70AE9CAF9BFF}"/>
              </a:ext>
            </a:extLst>
          </p:cNvPr>
          <p:cNvSpPr/>
          <p:nvPr userDrawn="1"/>
        </p:nvSpPr>
        <p:spPr>
          <a:xfrm>
            <a:off x="0" y="4369000"/>
            <a:ext cx="9144000" cy="774300"/>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 name="Subtitle 2">
            <a:extLst>
              <a:ext uri="{FF2B5EF4-FFF2-40B4-BE49-F238E27FC236}">
                <a16:creationId xmlns:a16="http://schemas.microsoft.com/office/drawing/2014/main" id="{1065AF75-8151-A814-B641-45A094F28D43}"/>
              </a:ext>
            </a:extLst>
          </p:cNvPr>
          <p:cNvSpPr>
            <a:spLocks noGrp="1"/>
          </p:cNvSpPr>
          <p:nvPr>
            <p:ph type="subTitle" idx="1"/>
          </p:nvPr>
        </p:nvSpPr>
        <p:spPr>
          <a:xfrm>
            <a:off x="251837" y="4662424"/>
            <a:ext cx="8560046"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a:t>
            </a:r>
            <a:endParaRPr lang="en-US"/>
          </a:p>
        </p:txBody>
      </p:sp>
      <p:sp>
        <p:nvSpPr>
          <p:cNvPr id="5" name="Text Placeholder 10">
            <a:extLst>
              <a:ext uri="{FF2B5EF4-FFF2-40B4-BE49-F238E27FC236}">
                <a16:creationId xmlns:a16="http://schemas.microsoft.com/office/drawing/2014/main" id="{A8B43B10-DBFB-A02C-5C8F-67E30474F3B2}"/>
              </a:ext>
            </a:extLst>
          </p:cNvPr>
          <p:cNvSpPr>
            <a:spLocks noGrp="1"/>
          </p:cNvSpPr>
          <p:nvPr>
            <p:ph type="body" sz="quarter" idx="11"/>
          </p:nvPr>
        </p:nvSpPr>
        <p:spPr>
          <a:xfrm>
            <a:off x="299661" y="386775"/>
            <a:ext cx="8512222" cy="3792723"/>
          </a:xfrm>
          <a:prstGeom prst="rect">
            <a:avLst/>
          </a:prstGeom>
        </p:spPr>
        <p:txBody>
          <a:bodyPr>
            <a:normAutofit/>
          </a:bodyPr>
          <a:lstStyle>
            <a:lvl1pPr marL="0">
              <a:lnSpc>
                <a:spcPct val="150000"/>
              </a:lnSpc>
              <a:spcBef>
                <a:spcPts val="0"/>
              </a:spcBef>
              <a:defRPr sz="1500" b="0" i="0">
                <a:solidFill>
                  <a:srgbClr val="B85641"/>
                </a:solidFill>
                <a:latin typeface="Roboto" panose="02000000000000000000" pitchFamily="2" charset="0"/>
                <a:ea typeface="Roboto" panose="02000000000000000000" pitchFamily="2" charset="0"/>
                <a:cs typeface="Roboto" panose="02000000000000000000" pitchFamily="2" charset="0"/>
              </a:defRPr>
            </a:lvl1pPr>
            <a:lvl2pPr marL="557213" indent="-214313">
              <a:lnSpc>
                <a:spcPct val="150000"/>
              </a:lnSpc>
              <a:spcBef>
                <a:spcPts val="0"/>
              </a:spcBef>
              <a:buClr>
                <a:schemeClr val="tx1"/>
              </a:buClr>
              <a:buFont typeface="Arial" panose="020B0604020202020204" pitchFamily="34" charset="0"/>
              <a:buChar char="•"/>
              <a:defRPr sz="1350" b="0" i="0">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0"/>
            <a:r>
              <a:rPr lang="en-GB"/>
              <a:t>Click to edit </a:t>
            </a:r>
          </a:p>
          <a:p>
            <a:pPr lvl="1"/>
            <a:r>
              <a:rPr lang="en-GB"/>
              <a:t>c</a:t>
            </a:r>
          </a:p>
          <a:p>
            <a:pPr lvl="0"/>
            <a:endParaRPr lang="en-US"/>
          </a:p>
        </p:txBody>
      </p:sp>
    </p:spTree>
    <p:extLst>
      <p:ext uri="{BB962C8B-B14F-4D97-AF65-F5344CB8AC3E}">
        <p14:creationId xmlns:p14="http://schemas.microsoft.com/office/powerpoint/2010/main" val="2513750461"/>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ingle Column Text 2">
    <p:spTree>
      <p:nvGrpSpPr>
        <p:cNvPr id="1" name=""/>
        <p:cNvGrpSpPr/>
        <p:nvPr/>
      </p:nvGrpSpPr>
      <p:grpSpPr>
        <a:xfrm>
          <a:off x="0" y="0"/>
          <a:ext cx="0" cy="0"/>
          <a:chOff x="0" y="0"/>
          <a:chExt cx="0" cy="0"/>
        </a:xfrm>
      </p:grpSpPr>
      <p:sp>
        <p:nvSpPr>
          <p:cNvPr id="6" name="Google Shape;51;p10">
            <a:extLst>
              <a:ext uri="{FF2B5EF4-FFF2-40B4-BE49-F238E27FC236}">
                <a16:creationId xmlns:a16="http://schemas.microsoft.com/office/drawing/2014/main" id="{225E250B-4C8B-406B-CF64-6E0549C0FFAB}"/>
              </a:ext>
            </a:extLst>
          </p:cNvPr>
          <p:cNvSpPr/>
          <p:nvPr userDrawn="1"/>
        </p:nvSpPr>
        <p:spPr>
          <a:xfrm>
            <a:off x="0" y="0"/>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 name="Text Placeholder 10">
            <a:extLst>
              <a:ext uri="{FF2B5EF4-FFF2-40B4-BE49-F238E27FC236}">
                <a16:creationId xmlns:a16="http://schemas.microsoft.com/office/drawing/2014/main" id="{6E9B70A4-430C-DC78-7F41-725E8EED92F7}"/>
              </a:ext>
            </a:extLst>
          </p:cNvPr>
          <p:cNvSpPr>
            <a:spLocks noGrp="1"/>
          </p:cNvSpPr>
          <p:nvPr>
            <p:ph type="body" sz="quarter" idx="11"/>
          </p:nvPr>
        </p:nvSpPr>
        <p:spPr>
          <a:xfrm>
            <a:off x="293300" y="1273628"/>
            <a:ext cx="8534811" cy="3698045"/>
          </a:xfrm>
          <a:prstGeom prst="rect">
            <a:avLst/>
          </a:prstGeom>
        </p:spPr>
        <p:txBody>
          <a:bodyPr>
            <a:normAutofit/>
          </a:bodyPr>
          <a:lstStyle>
            <a:lvl1pPr marL="0">
              <a:lnSpc>
                <a:spcPct val="150000"/>
              </a:lnSpc>
              <a:spcBef>
                <a:spcPts val="0"/>
              </a:spcBef>
              <a:defRPr sz="1500" b="0" i="0">
                <a:solidFill>
                  <a:srgbClr val="B85641"/>
                </a:solidFill>
                <a:latin typeface="Roboto" panose="02000000000000000000" pitchFamily="2" charset="0"/>
                <a:ea typeface="Roboto" panose="02000000000000000000" pitchFamily="2" charset="0"/>
                <a:cs typeface="Roboto" panose="02000000000000000000" pitchFamily="2" charset="0"/>
              </a:defRPr>
            </a:lvl1pPr>
            <a:lvl2pPr marL="557213" indent="-214313">
              <a:lnSpc>
                <a:spcPct val="150000"/>
              </a:lnSpc>
              <a:spcBef>
                <a:spcPts val="0"/>
              </a:spcBef>
              <a:buClr>
                <a:schemeClr val="tx1"/>
              </a:buClr>
              <a:buFont typeface="Arial" panose="020B0604020202020204" pitchFamily="34" charset="0"/>
              <a:buChar char="•"/>
              <a:defRPr sz="1350" b="0" i="0">
                <a:latin typeface="Roboto" panose="02000000000000000000" pitchFamily="2" charset="0"/>
                <a:ea typeface="Roboto" panose="02000000000000000000" pitchFamily="2" charset="0"/>
                <a:cs typeface="Roboto" panose="02000000000000000000" pitchFamily="2" charset="0"/>
              </a:defRPr>
            </a:lvl2pPr>
            <a:lvl3pPr marL="1371600" indent="-298450">
              <a:lnSpc>
                <a:spcPct val="150000"/>
              </a:lnSpc>
              <a:spcBef>
                <a:spcPts val="0"/>
              </a:spcBef>
              <a:buClr>
                <a:schemeClr val="tx1"/>
              </a:buClr>
              <a:buFont typeface="Courier New" panose="02070309020205020404" pitchFamily="49" charset="0"/>
              <a:buChar char="o"/>
              <a:defRPr sz="1350" b="0" i="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0"/>
            <a:r>
              <a:rPr lang="en-GB"/>
              <a:t>Click to edit </a:t>
            </a:r>
          </a:p>
          <a:p>
            <a:pPr lvl="1"/>
            <a:r>
              <a:rPr lang="en-GB"/>
              <a:t>c</a:t>
            </a:r>
          </a:p>
          <a:p>
            <a:pPr lvl="0"/>
            <a:endParaRPr lang="en-US"/>
          </a:p>
        </p:txBody>
      </p:sp>
      <p:sp>
        <p:nvSpPr>
          <p:cNvPr id="7" name="Subtitle 2">
            <a:extLst>
              <a:ext uri="{FF2B5EF4-FFF2-40B4-BE49-F238E27FC236}">
                <a16:creationId xmlns:a16="http://schemas.microsoft.com/office/drawing/2014/main" id="{2EE527EC-1F3E-4121-D1F7-3658ED913FBE}"/>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2853247279"/>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Text Slide">
    <p:spTree>
      <p:nvGrpSpPr>
        <p:cNvPr id="1" name=""/>
        <p:cNvGrpSpPr/>
        <p:nvPr/>
      </p:nvGrpSpPr>
      <p:grpSpPr>
        <a:xfrm>
          <a:off x="0" y="0"/>
          <a:ext cx="0" cy="0"/>
          <a:chOff x="0" y="0"/>
          <a:chExt cx="0" cy="0"/>
        </a:xfrm>
      </p:grpSpPr>
      <p:sp>
        <p:nvSpPr>
          <p:cNvPr id="3" name="Google Shape;51;p10">
            <a:extLst>
              <a:ext uri="{FF2B5EF4-FFF2-40B4-BE49-F238E27FC236}">
                <a16:creationId xmlns:a16="http://schemas.microsoft.com/office/drawing/2014/main" id="{8E1BF2F3-06A5-4050-31FC-FE51036B6ABC}"/>
              </a:ext>
            </a:extLst>
          </p:cNvPr>
          <p:cNvSpPr/>
          <p:nvPr userDrawn="1"/>
        </p:nvSpPr>
        <p:spPr>
          <a:xfrm>
            <a:off x="0" y="-1761"/>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 name="Subtitle 2">
            <a:extLst>
              <a:ext uri="{FF2B5EF4-FFF2-40B4-BE49-F238E27FC236}">
                <a16:creationId xmlns:a16="http://schemas.microsoft.com/office/drawing/2014/main" id="{BB3B0D6B-886D-9A9D-79B9-5E1327DDC699}"/>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
        <p:nvSpPr>
          <p:cNvPr id="5" name="Text Placeholder 3">
            <a:extLst>
              <a:ext uri="{FF2B5EF4-FFF2-40B4-BE49-F238E27FC236}">
                <a16:creationId xmlns:a16="http://schemas.microsoft.com/office/drawing/2014/main" id="{8607CD20-8558-BEBC-3934-70E89D829B82}"/>
              </a:ext>
            </a:extLst>
          </p:cNvPr>
          <p:cNvSpPr>
            <a:spLocks noGrp="1"/>
          </p:cNvSpPr>
          <p:nvPr>
            <p:ph type="body" sz="quarter" idx="10"/>
          </p:nvPr>
        </p:nvSpPr>
        <p:spPr>
          <a:xfrm>
            <a:off x="293300" y="1298122"/>
            <a:ext cx="4008680" cy="3465738"/>
          </a:xfrm>
          <a:prstGeom prst="rect">
            <a:avLst/>
          </a:prstGeom>
        </p:spPr>
        <p:txBody>
          <a:bodyPr/>
          <a:lstStyle>
            <a:lvl1pPr>
              <a:lnSpc>
                <a:spcPct val="150000"/>
              </a:lnSpc>
              <a:defRPr sz="1350">
                <a:solidFill>
                  <a:srgbClr val="B8564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Text Placeholder 3">
            <a:extLst>
              <a:ext uri="{FF2B5EF4-FFF2-40B4-BE49-F238E27FC236}">
                <a16:creationId xmlns:a16="http://schemas.microsoft.com/office/drawing/2014/main" id="{B4A3D92E-6B42-22AE-27F2-4AFA182C9474}"/>
              </a:ext>
            </a:extLst>
          </p:cNvPr>
          <p:cNvSpPr>
            <a:spLocks noGrp="1"/>
          </p:cNvSpPr>
          <p:nvPr>
            <p:ph type="body" sz="quarter" idx="11"/>
          </p:nvPr>
        </p:nvSpPr>
        <p:spPr>
          <a:xfrm>
            <a:off x="4572000" y="1298122"/>
            <a:ext cx="4278701" cy="3465738"/>
          </a:xfrm>
          <a:prstGeom prst="rect">
            <a:avLst/>
          </a:prstGeom>
        </p:spPr>
        <p:txBody>
          <a:bodyPr/>
          <a:lstStyle>
            <a:lvl1pPr marL="0">
              <a:lnSpc>
                <a:spcPct val="150000"/>
              </a:lnSpc>
              <a:spcBef>
                <a:spcPts val="0"/>
              </a:spcBef>
              <a:defRPr sz="1350">
                <a:solidFill>
                  <a:srgbClr val="B8564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309163443"/>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pen Graphics Slide">
    <p:spTree>
      <p:nvGrpSpPr>
        <p:cNvPr id="1" name=""/>
        <p:cNvGrpSpPr/>
        <p:nvPr/>
      </p:nvGrpSpPr>
      <p:grpSpPr>
        <a:xfrm>
          <a:off x="0" y="0"/>
          <a:ext cx="0" cy="0"/>
          <a:chOff x="0" y="0"/>
          <a:chExt cx="0" cy="0"/>
        </a:xfrm>
      </p:grpSpPr>
      <p:sp>
        <p:nvSpPr>
          <p:cNvPr id="7" name="Google Shape;51;p10">
            <a:extLst>
              <a:ext uri="{FF2B5EF4-FFF2-40B4-BE49-F238E27FC236}">
                <a16:creationId xmlns:a16="http://schemas.microsoft.com/office/drawing/2014/main" id="{B3002143-DCE6-53A9-16FF-F111AAE27700}"/>
              </a:ext>
            </a:extLst>
          </p:cNvPr>
          <p:cNvSpPr/>
          <p:nvPr userDrawn="1"/>
        </p:nvSpPr>
        <p:spPr>
          <a:xfrm>
            <a:off x="0" y="0"/>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 name="Subtitle 2">
            <a:extLst>
              <a:ext uri="{FF2B5EF4-FFF2-40B4-BE49-F238E27FC236}">
                <a16:creationId xmlns:a16="http://schemas.microsoft.com/office/drawing/2014/main" id="{AC99EF0C-07B5-DCEF-C6E0-59F8EEAC98C3}"/>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3306749277"/>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5492197"/>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pic>
        <p:nvPicPr>
          <p:cNvPr id="2" name="Picture 1" descr="Wind turbines on a green hill&#10;&#10;Description automatically generated">
            <a:extLst>
              <a:ext uri="{FF2B5EF4-FFF2-40B4-BE49-F238E27FC236}">
                <a16:creationId xmlns:a16="http://schemas.microsoft.com/office/drawing/2014/main" id="{85C7152A-6F5F-551F-1C8C-B28EDA48E25F}"/>
              </a:ext>
            </a:extLst>
          </p:cNvPr>
          <p:cNvPicPr>
            <a:picLocks noChangeAspect="1"/>
          </p:cNvPicPr>
          <p:nvPr userDrawn="1"/>
        </p:nvPicPr>
        <p:blipFill rotWithShape="1">
          <a:blip r:embed="rId2"/>
          <a:srcRect t="13167"/>
          <a:stretch/>
        </p:blipFill>
        <p:spPr>
          <a:xfrm>
            <a:off x="0" y="0"/>
            <a:ext cx="9144000" cy="5143500"/>
          </a:xfrm>
          <a:prstGeom prst="rect">
            <a:avLst/>
          </a:prstGeom>
        </p:spPr>
      </p:pic>
    </p:spTree>
    <p:extLst>
      <p:ext uri="{BB962C8B-B14F-4D97-AF65-F5344CB8AC3E}">
        <p14:creationId xmlns:p14="http://schemas.microsoft.com/office/powerpoint/2010/main" val="3352233219"/>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cean slide">
    <p:spTree>
      <p:nvGrpSpPr>
        <p:cNvPr id="1" name=""/>
        <p:cNvGrpSpPr/>
        <p:nvPr/>
      </p:nvGrpSpPr>
      <p:grpSpPr>
        <a:xfrm>
          <a:off x="0" y="0"/>
          <a:ext cx="0" cy="0"/>
          <a:chOff x="0" y="0"/>
          <a:chExt cx="0" cy="0"/>
        </a:xfrm>
      </p:grpSpPr>
      <p:sp>
        <p:nvSpPr>
          <p:cNvPr id="27" name="Subtitle 2">
            <a:extLst>
              <a:ext uri="{FF2B5EF4-FFF2-40B4-BE49-F238E27FC236}">
                <a16:creationId xmlns:a16="http://schemas.microsoft.com/office/drawing/2014/main" id="{CF06B36E-CD52-C4E6-313F-9E502C53051D}"/>
              </a:ext>
            </a:extLst>
          </p:cNvPr>
          <p:cNvSpPr>
            <a:spLocks noGrp="1"/>
          </p:cNvSpPr>
          <p:nvPr>
            <p:ph type="subTitle" idx="1"/>
          </p:nvPr>
        </p:nvSpPr>
        <p:spPr>
          <a:xfrm>
            <a:off x="293298" y="351215"/>
            <a:ext cx="2678501" cy="3441851"/>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pic>
        <p:nvPicPr>
          <p:cNvPr id="19" name="Picture 18" descr="A close-up of a body of water&#10;&#10;Description automatically generated">
            <a:extLst>
              <a:ext uri="{FF2B5EF4-FFF2-40B4-BE49-F238E27FC236}">
                <a16:creationId xmlns:a16="http://schemas.microsoft.com/office/drawing/2014/main" id="{96E07C89-F09E-C692-7568-CBB3DEDBD5EC}"/>
              </a:ext>
            </a:extLst>
          </p:cNvPr>
          <p:cNvPicPr>
            <a:picLocks noChangeAspect="1"/>
          </p:cNvPicPr>
          <p:nvPr userDrawn="1"/>
        </p:nvPicPr>
        <p:blipFill>
          <a:blip r:embed="rId2"/>
          <a:srcRect r="22703"/>
          <a:stretch/>
        </p:blipFill>
        <p:spPr>
          <a:xfrm>
            <a:off x="3136129" y="6615"/>
            <a:ext cx="6007871" cy="5136885"/>
          </a:xfrm>
          <a:prstGeom prst="rect">
            <a:avLst/>
          </a:prstGeom>
        </p:spPr>
      </p:pic>
    </p:spTree>
    <p:extLst>
      <p:ext uri="{BB962C8B-B14F-4D97-AF65-F5344CB8AC3E}">
        <p14:creationId xmlns:p14="http://schemas.microsoft.com/office/powerpoint/2010/main" val="1555171966"/>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plit slide">
    <p:spTree>
      <p:nvGrpSpPr>
        <p:cNvPr id="1" name=""/>
        <p:cNvGrpSpPr/>
        <p:nvPr/>
      </p:nvGrpSpPr>
      <p:grpSpPr>
        <a:xfrm>
          <a:off x="0" y="0"/>
          <a:ext cx="0" cy="0"/>
          <a:chOff x="0" y="0"/>
          <a:chExt cx="0" cy="0"/>
        </a:xfrm>
      </p:grpSpPr>
      <p:pic>
        <p:nvPicPr>
          <p:cNvPr id="28" name="Picture 27" descr="A road through a forest&#10;&#10;Description automatically generated">
            <a:extLst>
              <a:ext uri="{FF2B5EF4-FFF2-40B4-BE49-F238E27FC236}">
                <a16:creationId xmlns:a16="http://schemas.microsoft.com/office/drawing/2014/main" id="{DDDCA30F-C73B-7792-5A30-082600B0103A}"/>
              </a:ext>
            </a:extLst>
          </p:cNvPr>
          <p:cNvPicPr>
            <a:picLocks noChangeAspect="1"/>
          </p:cNvPicPr>
          <p:nvPr userDrawn="1"/>
        </p:nvPicPr>
        <p:blipFill rotWithShape="1">
          <a:blip r:embed="rId2"/>
          <a:srcRect t="36321" b="9757"/>
          <a:stretch/>
        </p:blipFill>
        <p:spPr>
          <a:xfrm>
            <a:off x="0" y="0"/>
            <a:ext cx="9144000" cy="3236232"/>
          </a:xfrm>
          <a:prstGeom prst="rect">
            <a:avLst/>
          </a:prstGeom>
        </p:spPr>
      </p:pic>
      <p:sp>
        <p:nvSpPr>
          <p:cNvPr id="29" name="Subtitle 2">
            <a:extLst>
              <a:ext uri="{FF2B5EF4-FFF2-40B4-BE49-F238E27FC236}">
                <a16:creationId xmlns:a16="http://schemas.microsoft.com/office/drawing/2014/main" id="{D1DEBF63-1364-A7A9-80BB-0D563116DEC5}"/>
              </a:ext>
            </a:extLst>
          </p:cNvPr>
          <p:cNvSpPr>
            <a:spLocks noGrp="1"/>
          </p:cNvSpPr>
          <p:nvPr>
            <p:ph type="subTitle" idx="1"/>
          </p:nvPr>
        </p:nvSpPr>
        <p:spPr>
          <a:xfrm>
            <a:off x="293299" y="478215"/>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Click to edit </a:t>
            </a:r>
            <a:endParaRPr lang="en-US" dirty="0"/>
          </a:p>
        </p:txBody>
      </p:sp>
    </p:spTree>
    <p:extLst>
      <p:ext uri="{BB962C8B-B14F-4D97-AF65-F5344CB8AC3E}">
        <p14:creationId xmlns:p14="http://schemas.microsoft.com/office/powerpoint/2010/main" val="3250635135"/>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rgbClr val="002F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2F4A"/>
              </a:solidFill>
            </a:endParaRPr>
          </a:p>
        </p:txBody>
      </p:sp>
      <p:sp>
        <p:nvSpPr>
          <p:cNvPr id="46" name="Google Shape;46;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47" name="Google Shape;47;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48" name="Google Shape;48;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49" name="Google Shape;49;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193420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1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53" name="Google Shape;5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3600252993"/>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9" name="Google Shape;29;p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1" name="Google Shape;31;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422524455"/>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30000"/>
          </a:schemeClr>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a:endParaRPr dirty="0"/>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333241784"/>
      </p:ext>
    </p:extLst>
  </p:cSld>
  <p:clrMap bg1="lt1" tx1="dk1" bg2="dk2" tx2="lt2" accent1="accent1" accent2="accent2" accent3="accent3" accent4="accent4" accent5="accent5" accent6="accent6" hlink="hlink" folHlink="folHlink"/>
  <p:sldLayoutIdLst>
    <p:sldLayoutId id="2147484554" r:id="rId1"/>
    <p:sldLayoutId id="2147484556" r:id="rId2"/>
    <p:sldLayoutId id="2147484567" r:id="rId3"/>
    <p:sldLayoutId id="2147484557" r:id="rId4"/>
    <p:sldLayoutId id="2147484558" r:id="rId5"/>
    <p:sldLayoutId id="2147484559" r:id="rId6"/>
    <p:sldLayoutId id="2147484560" r:id="rId7"/>
    <p:sldLayoutId id="2147484561" r:id="rId8"/>
    <p:sldLayoutId id="2147484562" r:id="rId9"/>
    <p:sldLayoutId id="2147484564" r:id="rId10"/>
    <p:sldLayoutId id="2147484565" r:id="rId11"/>
    <p:sldLayoutId id="2147484566" r:id="rId12"/>
    <p:sldLayoutId id="2147484568" r:id="rId13"/>
    <p:sldLayoutId id="2147484569" r:id="rId14"/>
  </p:sldLayoutIdLst>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Merriweather" pitchFamily="2" charset="77"/>
          <a:ea typeface="Merriweather" pitchFamily="2" charset="77"/>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8" Type="http://schemas.microsoft.com/office/2007/relationships/hdphoto" Target="../media/hdphoto3.wdp"/><Relationship Id="rId13" Type="http://schemas.openxmlformats.org/officeDocument/2006/relationships/image" Target="../media/image14.png"/><Relationship Id="rId18" Type="http://schemas.openxmlformats.org/officeDocument/2006/relationships/image" Target="../media/image17.sv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svg"/><Relationship Id="rId17" Type="http://schemas.openxmlformats.org/officeDocument/2006/relationships/image" Target="../media/image16.png"/><Relationship Id="rId2" Type="http://schemas.openxmlformats.org/officeDocument/2006/relationships/notesSlide" Target="../notesSlides/notesSlide2.xml"/><Relationship Id="rId16" Type="http://schemas.microsoft.com/office/2007/relationships/hdphoto" Target="../media/hdphoto6.wdp"/><Relationship Id="rId1" Type="http://schemas.openxmlformats.org/officeDocument/2006/relationships/slideLayout" Target="../slideLayouts/slideLayout9.xml"/><Relationship Id="rId6" Type="http://schemas.microsoft.com/office/2007/relationships/hdphoto" Target="../media/hdphoto2.wdp"/><Relationship Id="rId11" Type="http://schemas.openxmlformats.org/officeDocument/2006/relationships/image" Target="../media/image12.png"/><Relationship Id="rId5" Type="http://schemas.openxmlformats.org/officeDocument/2006/relationships/image" Target="../media/image9.png"/><Relationship Id="rId15" Type="http://schemas.openxmlformats.org/officeDocument/2006/relationships/image" Target="../media/image15.png"/><Relationship Id="rId10" Type="http://schemas.microsoft.com/office/2007/relationships/hdphoto" Target="../media/hdphoto4.wdp"/><Relationship Id="rId4" Type="http://schemas.microsoft.com/office/2007/relationships/hdphoto" Target="../media/hdphoto1.wdp"/><Relationship Id="rId9" Type="http://schemas.openxmlformats.org/officeDocument/2006/relationships/image" Target="../media/image11.png"/><Relationship Id="rId14" Type="http://schemas.microsoft.com/office/2007/relationships/hdphoto" Target="../media/hdphoto5.wdp"/></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hyperlink" Target="https://unfccc.int/sites/default/files/resource/202208101704---KAPSARC_GST%20submission_4%20August%202022.pdf" TargetMode="External"/><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www.climatebonds.net/files/reports/cbi_slb_report_2024_04d.pdf" TargetMode="External"/><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thedocs.worldbank.org/en/doc/737327d214f08db1ac7a1d655a343029-0020012024/original/World-Bank-Climate-Finance-FY24.pdf" TargetMode="Externa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9.xml"/><Relationship Id="rId4" Type="http://schemas.openxmlformats.org/officeDocument/2006/relationships/image" Target="../media/image17.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https://sslburuguay.mef.gub.uy/innovaportal/file/30690/20/uruguay-sslb_non-deal-roadshow_october_2022.pdf" TargetMode="External"/></Relationships>
</file>

<file path=ppt/slides/_rels/slide14.xml.rels><?xml version="1.0" encoding="UTF-8" standalone="yes"?>
<Relationships xmlns="http://schemas.openxmlformats.org/package/2006/relationships"><Relationship Id="rId2" Type="http://schemas.openxmlformats.org/officeDocument/2006/relationships/hyperlink" Target="https://www.worldbank.org/en/news/press-release/2023/11/17/banco-mundial-uruguay-recibe-un-prestamo-pionero-que-premia-el-cumplimiento-de-ambiciosas-metas-ambientales" TargetMode="Externa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hyperlink" Target="https://www.climatebonds.net/files/reports/cbi_slb_report_2024_04d.pdf" TargetMode="Externa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CB928B-050B-2534-B9B3-48BCEC522DD5}"/>
              </a:ext>
            </a:extLst>
          </p:cNvPr>
          <p:cNvSpPr>
            <a:spLocks noGrp="1"/>
          </p:cNvSpPr>
          <p:nvPr>
            <p:ph type="subTitle" idx="4294967295"/>
          </p:nvPr>
        </p:nvSpPr>
        <p:spPr>
          <a:xfrm>
            <a:off x="5510587" y="425450"/>
            <a:ext cx="3525837" cy="4416425"/>
          </a:xfrm>
        </p:spPr>
        <p:txBody>
          <a:bodyPr>
            <a:normAutofit fontScale="70000" lnSpcReduction="20000"/>
          </a:bodyPr>
          <a:lstStyle/>
          <a:p>
            <a:pPr marL="146050" indent="0" algn="ctr">
              <a:buNone/>
            </a:pPr>
            <a:r>
              <a:rPr lang="en-US" sz="2800" i="1" dirty="0">
                <a:solidFill>
                  <a:srgbClr val="002F4A"/>
                </a:solidFill>
              </a:rPr>
              <a:t>“We choose to go to the moon in this decade and do the other things not because they are easy, but because they are hard. Because that goal will serve to organize and measure the best of our energies and skills, because that challenge is one that we’re willing to accept. One we are unwilling to postpone.”</a:t>
            </a:r>
          </a:p>
          <a:p>
            <a:endParaRPr lang="en-US" sz="2000" dirty="0">
              <a:solidFill>
                <a:srgbClr val="002F4A"/>
              </a:solidFill>
            </a:endParaRPr>
          </a:p>
          <a:p>
            <a:pPr marL="146050" indent="0" algn="ctr">
              <a:buNone/>
            </a:pPr>
            <a:br>
              <a:rPr lang="en-US" sz="2000" dirty="0">
                <a:solidFill>
                  <a:srgbClr val="B85741"/>
                </a:solidFill>
              </a:rPr>
            </a:br>
            <a:r>
              <a:rPr lang="en-US" sz="2300" dirty="0">
                <a:solidFill>
                  <a:srgbClr val="B85741"/>
                </a:solidFill>
              </a:rPr>
              <a:t>What would JFK say today? </a:t>
            </a:r>
            <a:endParaRPr lang="en-US" sz="2000" dirty="0">
              <a:solidFill>
                <a:srgbClr val="B85741"/>
              </a:solidFill>
            </a:endParaRPr>
          </a:p>
        </p:txBody>
      </p:sp>
      <p:pic>
        <p:nvPicPr>
          <p:cNvPr id="4098" name="Picture 2" descr="60 Years Ago, JFK Delivered His 'We Choose to Go to the Moon' Speech -  Business Insider">
            <a:extLst>
              <a:ext uri="{FF2B5EF4-FFF2-40B4-BE49-F238E27FC236}">
                <a16:creationId xmlns:a16="http://schemas.microsoft.com/office/drawing/2014/main" id="{020F9294-8EBE-F1D9-36E3-726E85B2F0C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411" t="-31" r="37381" b="31"/>
          <a:stretch/>
        </p:blipFill>
        <p:spPr bwMode="auto">
          <a:xfrm>
            <a:off x="-3344" y="1"/>
            <a:ext cx="5417317"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7713211"/>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64;p13">
            <a:extLst>
              <a:ext uri="{FF2B5EF4-FFF2-40B4-BE49-F238E27FC236}">
                <a16:creationId xmlns:a16="http://schemas.microsoft.com/office/drawing/2014/main" id="{7F312E0E-26F3-02C5-20AB-A640EBF08C2C}"/>
              </a:ext>
            </a:extLst>
          </p:cNvPr>
          <p:cNvSpPr txBox="1">
            <a:spLocks/>
          </p:cNvSpPr>
          <p:nvPr/>
        </p:nvSpPr>
        <p:spPr>
          <a:xfrm>
            <a:off x="4419598" y="417012"/>
            <a:ext cx="4629150" cy="2983811"/>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2400" dirty="0">
                <a:latin typeface="Merriweather" pitchFamily="2" charset="77"/>
                <a:sym typeface="Merriweather"/>
              </a:rPr>
              <a:t>Unlocking private capital to incentivize global public goods provision:</a:t>
            </a:r>
          </a:p>
          <a:p>
            <a:pPr algn="r"/>
            <a:r>
              <a:rPr lang="en" sz="2400" dirty="0">
                <a:solidFill>
                  <a:srgbClr val="B85641"/>
                </a:solidFill>
                <a:latin typeface="Merriweather" pitchFamily="2" charset="77"/>
                <a:sym typeface="Merriweather"/>
              </a:rPr>
              <a:t>Climate policy, clean energy finance and forest protection</a:t>
            </a:r>
            <a:endParaRPr lang="en" sz="2400" dirty="0">
              <a:solidFill>
                <a:srgbClr val="B85641"/>
              </a:solidFill>
              <a:latin typeface="Merriweather" pitchFamily="2" charset="77"/>
            </a:endParaRPr>
          </a:p>
        </p:txBody>
      </p:sp>
      <p:grpSp>
        <p:nvGrpSpPr>
          <p:cNvPr id="5" name="Group 4">
            <a:extLst>
              <a:ext uri="{FF2B5EF4-FFF2-40B4-BE49-F238E27FC236}">
                <a16:creationId xmlns:a16="http://schemas.microsoft.com/office/drawing/2014/main" id="{ED1B694F-8C07-BA11-02BA-618EACD161DC}"/>
              </a:ext>
            </a:extLst>
          </p:cNvPr>
          <p:cNvGrpSpPr/>
          <p:nvPr/>
        </p:nvGrpSpPr>
        <p:grpSpPr>
          <a:xfrm>
            <a:off x="350929" y="464278"/>
            <a:ext cx="3871249" cy="4212986"/>
            <a:chOff x="421113" y="509396"/>
            <a:chExt cx="3871249" cy="4212986"/>
          </a:xfrm>
        </p:grpSpPr>
        <p:sp>
          <p:nvSpPr>
            <p:cNvPr id="8" name="Rectangle 7">
              <a:extLst>
                <a:ext uri="{FF2B5EF4-FFF2-40B4-BE49-F238E27FC236}">
                  <a16:creationId xmlns:a16="http://schemas.microsoft.com/office/drawing/2014/main" id="{4DD9FAB5-6609-9A3B-A7D5-F1632BC3E50A}"/>
                </a:ext>
              </a:extLst>
            </p:cNvPr>
            <p:cNvSpPr/>
            <p:nvPr/>
          </p:nvSpPr>
          <p:spPr>
            <a:xfrm>
              <a:off x="423176" y="522984"/>
              <a:ext cx="3869186" cy="4199398"/>
            </a:xfrm>
            <a:prstGeom prst="rect">
              <a:avLst/>
            </a:prstGeom>
            <a:solidFill>
              <a:srgbClr val="FFFFFF">
                <a:alpha val="7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566FA0F4-1539-CD12-9E11-4CBC1DEB9EA3}"/>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3354" b="96037" l="10000" r="90000">
                          <a14:foregroundMark x1="47097" y1="24085" x2="47097" y2="24085"/>
                          <a14:foregroundMark x1="46774" y1="6250" x2="46774" y2="6250"/>
                          <a14:foregroundMark x1="46290" y1="3354" x2="46290" y2="3354"/>
                          <a14:foregroundMark x1="45645" y1="39787" x2="45645" y2="39787"/>
                          <a14:foregroundMark x1="31290" y1="50762" x2="31290" y2="50762"/>
                          <a14:foregroundMark x1="64194" y1="55945" x2="64194" y2="55945"/>
                          <a14:foregroundMark x1="60968" y1="63872" x2="60968" y2="63872"/>
                          <a14:foregroundMark x1="70323" y1="91311" x2="70323" y2="91311"/>
                          <a14:foregroundMark x1="59032" y1="96037" x2="59032" y2="96037"/>
                          <a14:foregroundMark x1="45645" y1="69055" x2="45645" y2="69055"/>
                          <a14:foregroundMark x1="31290" y1="65701" x2="31290" y2="65701"/>
                          <a14:foregroundMark x1="23226" y1="87348" x2="23226" y2="87348"/>
                          <a14:foregroundMark x1="46774" y1="80335" x2="46774" y2="80335"/>
                          <a14:foregroundMark x1="45968" y1="87957" x2="45968" y2="87957"/>
                          <a14:foregroundMark x1="45968" y1="95274" x2="45968" y2="95274"/>
                        </a14:backgroundRemoval>
                      </a14:imgEffect>
                    </a14:imgLayer>
                  </a14:imgProps>
                </a:ext>
              </a:extLst>
            </a:blip>
            <a:stretch>
              <a:fillRect/>
            </a:stretch>
          </p:blipFill>
          <p:spPr>
            <a:xfrm>
              <a:off x="421113" y="1561951"/>
              <a:ext cx="925854" cy="979613"/>
            </a:xfrm>
            <a:prstGeom prst="rect">
              <a:avLst/>
            </a:prstGeom>
          </p:spPr>
        </p:pic>
        <p:pic>
          <p:nvPicPr>
            <p:cNvPr id="11" name="Picture 10">
              <a:extLst>
                <a:ext uri="{FF2B5EF4-FFF2-40B4-BE49-F238E27FC236}">
                  <a16:creationId xmlns:a16="http://schemas.microsoft.com/office/drawing/2014/main" id="{7B575B5D-D1DB-3090-7B98-D4982208092E}"/>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4684" b="90000" l="5962" r="91058">
                          <a14:foregroundMark x1="35865" y1="20886" x2="35865" y2="20886"/>
                          <a14:foregroundMark x1="50481" y1="4810" x2="50481" y2="4810"/>
                          <a14:foregroundMark x1="19904" y1="13165" x2="19904" y2="13165"/>
                          <a14:foregroundMark x1="12308" y1="35443" x2="12308" y2="35443"/>
                          <a14:foregroundMark x1="28654" y1="38987" x2="28654" y2="38987"/>
                          <a14:foregroundMark x1="11442" y1="45696" x2="11442" y2="45696"/>
                          <a14:foregroundMark x1="5962" y1="44557" x2="5962" y2="44557"/>
                          <a14:foregroundMark x1="72596" y1="34177" x2="72596" y2="34177"/>
                          <a14:foregroundMark x1="91058" y1="42152" x2="91058" y2="42152"/>
                          <a14:foregroundMark x1="78942" y1="41266" x2="78942" y2="41266"/>
                        </a14:backgroundRemoval>
                      </a14:imgEffect>
                    </a14:imgLayer>
                  </a14:imgProps>
                </a:ext>
              </a:extLst>
            </a:blip>
            <a:stretch>
              <a:fillRect/>
            </a:stretch>
          </p:blipFill>
          <p:spPr>
            <a:xfrm>
              <a:off x="2885187" y="1536533"/>
              <a:ext cx="1399533" cy="1063106"/>
            </a:xfrm>
            <a:prstGeom prst="rect">
              <a:avLst/>
            </a:prstGeom>
          </p:spPr>
        </p:pic>
        <p:sp>
          <p:nvSpPr>
            <p:cNvPr id="39" name="Bent Arrow 38">
              <a:extLst>
                <a:ext uri="{FF2B5EF4-FFF2-40B4-BE49-F238E27FC236}">
                  <a16:creationId xmlns:a16="http://schemas.microsoft.com/office/drawing/2014/main" id="{E98313EB-3E7D-F58F-DC35-6D8161F05F5E}"/>
                </a:ext>
              </a:extLst>
            </p:cNvPr>
            <p:cNvSpPr/>
            <p:nvPr/>
          </p:nvSpPr>
          <p:spPr>
            <a:xfrm flipH="1">
              <a:off x="2874913" y="1094578"/>
              <a:ext cx="1074457" cy="382685"/>
            </a:xfrm>
            <a:prstGeom prst="bentArrow">
              <a:avLst>
                <a:gd name="adj1" fmla="val 25000"/>
                <a:gd name="adj2" fmla="val 26641"/>
                <a:gd name="adj3" fmla="val 25000"/>
                <a:gd name="adj4" fmla="val 43750"/>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1" name="Bent Arrow 40">
              <a:extLst>
                <a:ext uri="{FF2B5EF4-FFF2-40B4-BE49-F238E27FC236}">
                  <a16:creationId xmlns:a16="http://schemas.microsoft.com/office/drawing/2014/main" id="{693A9ECA-9D9B-A913-5A22-1CB5A4ACCAEA}"/>
                </a:ext>
              </a:extLst>
            </p:cNvPr>
            <p:cNvSpPr/>
            <p:nvPr/>
          </p:nvSpPr>
          <p:spPr>
            <a:xfrm rot="16200000" flipH="1">
              <a:off x="1114672" y="786627"/>
              <a:ext cx="382684" cy="1093005"/>
            </a:xfrm>
            <a:prstGeom prst="bentArrow">
              <a:avLst>
                <a:gd name="adj1" fmla="val 25000"/>
                <a:gd name="adj2" fmla="val 26641"/>
                <a:gd name="adj3" fmla="val 25000"/>
                <a:gd name="adj4" fmla="val 43750"/>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3" name="Left Arrow 42">
              <a:extLst>
                <a:ext uri="{FF2B5EF4-FFF2-40B4-BE49-F238E27FC236}">
                  <a16:creationId xmlns:a16="http://schemas.microsoft.com/office/drawing/2014/main" id="{C021C4DE-1D76-8316-5BD3-1546495099DC}"/>
                </a:ext>
              </a:extLst>
            </p:cNvPr>
            <p:cNvSpPr/>
            <p:nvPr/>
          </p:nvSpPr>
          <p:spPr>
            <a:xfrm rot="10800000">
              <a:off x="1240120" y="2263689"/>
              <a:ext cx="794253" cy="187108"/>
            </a:xfrm>
            <a:prstGeom prst="leftArrow">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 name="Picture 45">
              <a:extLst>
                <a:ext uri="{FF2B5EF4-FFF2-40B4-BE49-F238E27FC236}">
                  <a16:creationId xmlns:a16="http://schemas.microsoft.com/office/drawing/2014/main" id="{FEB03725-53A5-45E6-D0B1-9448AF4934FD}"/>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3404" b="98474" l="8753" r="94092">
                          <a14:foregroundMark x1="33589" y1="20892" x2="33589" y2="20892"/>
                          <a14:foregroundMark x1="69037" y1="21244" x2="69037" y2="21244"/>
                          <a14:foregroundMark x1="69475" y1="6338" x2="69475" y2="6338"/>
                          <a14:foregroundMark x1="54048" y1="15141" x2="54048" y2="15141"/>
                          <a14:foregroundMark x1="48687" y1="30634" x2="48687" y2="30634"/>
                          <a14:foregroundMark x1="86761" y1="12089" x2="86761" y2="12089"/>
                          <a14:foregroundMark x1="68818" y1="3638" x2="68818" y2="3638"/>
                          <a14:foregroundMark x1="91357" y1="30869" x2="91357" y2="30869"/>
                          <a14:foregroundMark x1="94201" y1="30869" x2="94201" y2="30869"/>
                          <a14:foregroundMark x1="55142" y1="15493" x2="55142" y2="15493"/>
                          <a14:foregroundMark x1="83370" y1="45775" x2="83370" y2="45775"/>
                          <a14:foregroundMark x1="69037" y1="51526" x2="69037" y2="51526"/>
                          <a14:foregroundMark x1="8862" y1="46831" x2="8862" y2="46831"/>
                          <a14:foregroundMark x1="33260" y1="92371" x2="33260" y2="92371"/>
                          <a14:foregroundMark x1="38621" y1="98474" x2="38621" y2="98474"/>
                        </a14:backgroundRemoval>
                      </a14:imgEffect>
                    </a14:imgLayer>
                  </a14:imgProps>
                </a:ext>
              </a:extLst>
            </a:blip>
            <a:stretch>
              <a:fillRect/>
            </a:stretch>
          </p:blipFill>
          <p:spPr>
            <a:xfrm>
              <a:off x="494298" y="3575827"/>
              <a:ext cx="1050898" cy="979612"/>
            </a:xfrm>
            <a:prstGeom prst="rect">
              <a:avLst/>
            </a:prstGeom>
          </p:spPr>
        </p:pic>
        <p:pic>
          <p:nvPicPr>
            <p:cNvPr id="47" name="Picture 46">
              <a:extLst>
                <a:ext uri="{FF2B5EF4-FFF2-40B4-BE49-F238E27FC236}">
                  <a16:creationId xmlns:a16="http://schemas.microsoft.com/office/drawing/2014/main" id="{151AE048-3E74-1DA2-E6D7-B1F9C298884B}"/>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3802" b="96198" l="9954" r="89931">
                          <a14:foregroundMark x1="49537" y1="3917" x2="49537" y2="3917"/>
                          <a14:foregroundMark x1="39699" y1="21889" x2="39699" y2="21889"/>
                          <a14:foregroundMark x1="63194" y1="23272" x2="63194" y2="23272"/>
                          <a14:foregroundMark x1="52315" y1="35945" x2="52315" y2="35945"/>
                          <a14:foregroundMark x1="65162" y1="54954" x2="65162" y2="54954"/>
                          <a14:foregroundMark x1="33796" y1="54954" x2="33796" y2="54954"/>
                          <a14:foregroundMark x1="50231" y1="65438" x2="50231" y2="65438"/>
                          <a14:foregroundMark x1="48958" y1="90323" x2="48958" y2="90323"/>
                          <a14:foregroundMark x1="34838" y1="96198" x2="34838" y2="96198"/>
                        </a14:backgroundRemoval>
                      </a14:imgEffect>
                    </a14:imgLayer>
                  </a14:imgProps>
                </a:ext>
              </a:extLst>
            </a:blip>
            <a:stretch>
              <a:fillRect/>
            </a:stretch>
          </p:blipFill>
          <p:spPr>
            <a:xfrm>
              <a:off x="1946028" y="1908180"/>
              <a:ext cx="1005534" cy="1010189"/>
            </a:xfrm>
            <a:prstGeom prst="rect">
              <a:avLst/>
            </a:prstGeom>
          </p:spPr>
        </p:pic>
        <p:sp>
          <p:nvSpPr>
            <p:cNvPr id="49" name="Left Arrow 48">
              <a:extLst>
                <a:ext uri="{FF2B5EF4-FFF2-40B4-BE49-F238E27FC236}">
                  <a16:creationId xmlns:a16="http://schemas.microsoft.com/office/drawing/2014/main" id="{0B228882-3438-1D04-D4C7-44A6BBBE9681}"/>
                </a:ext>
              </a:extLst>
            </p:cNvPr>
            <p:cNvSpPr/>
            <p:nvPr/>
          </p:nvSpPr>
          <p:spPr>
            <a:xfrm rot="16200000">
              <a:off x="398686" y="2953029"/>
              <a:ext cx="979611" cy="199315"/>
            </a:xfrm>
            <a:prstGeom prst="leftArrow">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Graphic 51" descr="Dollar with solid fill">
              <a:extLst>
                <a:ext uri="{FF2B5EF4-FFF2-40B4-BE49-F238E27FC236}">
                  <a16:creationId xmlns:a16="http://schemas.microsoft.com/office/drawing/2014/main" id="{A8F531AF-6AAF-9A98-2EED-7E9F09C3605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198462" y="963368"/>
              <a:ext cx="457200" cy="457200"/>
            </a:xfrm>
            <a:prstGeom prst="rect">
              <a:avLst/>
            </a:prstGeom>
          </p:spPr>
        </p:pic>
        <p:pic>
          <p:nvPicPr>
            <p:cNvPr id="54" name="Graphic 53" descr="Dollar with solid fill">
              <a:extLst>
                <a:ext uri="{FF2B5EF4-FFF2-40B4-BE49-F238E27FC236}">
                  <a16:creationId xmlns:a16="http://schemas.microsoft.com/office/drawing/2014/main" id="{A3B1C39B-E485-374F-0499-8ABAA07940B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13476" y="963368"/>
              <a:ext cx="457200" cy="457200"/>
            </a:xfrm>
            <a:prstGeom prst="rect">
              <a:avLst/>
            </a:prstGeom>
          </p:spPr>
        </p:pic>
        <p:pic>
          <p:nvPicPr>
            <p:cNvPr id="55" name="Graphic 54" descr="Dollar with solid fill">
              <a:extLst>
                <a:ext uri="{FF2B5EF4-FFF2-40B4-BE49-F238E27FC236}">
                  <a16:creationId xmlns:a16="http://schemas.microsoft.com/office/drawing/2014/main" id="{9E78C8DB-D9CE-12A8-1E31-EAF518B339A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60246" y="958713"/>
              <a:ext cx="457200" cy="457200"/>
            </a:xfrm>
            <a:prstGeom prst="rect">
              <a:avLst/>
            </a:prstGeom>
          </p:spPr>
        </p:pic>
        <p:pic>
          <p:nvPicPr>
            <p:cNvPr id="56" name="Graphic 55" descr="Dollar with solid fill">
              <a:extLst>
                <a:ext uri="{FF2B5EF4-FFF2-40B4-BE49-F238E27FC236}">
                  <a16:creationId xmlns:a16="http://schemas.microsoft.com/office/drawing/2014/main" id="{A907563B-8E64-A694-FBB2-7F7F42097FC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89767" y="963368"/>
              <a:ext cx="457200" cy="457200"/>
            </a:xfrm>
            <a:prstGeom prst="rect">
              <a:avLst/>
            </a:prstGeom>
          </p:spPr>
        </p:pic>
        <p:pic>
          <p:nvPicPr>
            <p:cNvPr id="58" name="Graphic 57" descr="Dollar with solid fill">
              <a:extLst>
                <a:ext uri="{FF2B5EF4-FFF2-40B4-BE49-F238E27FC236}">
                  <a16:creationId xmlns:a16="http://schemas.microsoft.com/office/drawing/2014/main" id="{1B1CEDF2-EA88-6580-CD0C-4431E573F43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385163" y="2114845"/>
              <a:ext cx="457200" cy="457200"/>
            </a:xfrm>
            <a:prstGeom prst="rect">
              <a:avLst/>
            </a:prstGeom>
          </p:spPr>
        </p:pic>
        <p:pic>
          <p:nvPicPr>
            <p:cNvPr id="59" name="Graphic 58" descr="Dollar with solid fill">
              <a:extLst>
                <a:ext uri="{FF2B5EF4-FFF2-40B4-BE49-F238E27FC236}">
                  <a16:creationId xmlns:a16="http://schemas.microsoft.com/office/drawing/2014/main" id="{50189246-675B-B16A-FAC1-966E896D864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6200000">
              <a:off x="648288" y="2747093"/>
              <a:ext cx="457200" cy="457200"/>
            </a:xfrm>
            <a:prstGeom prst="rect">
              <a:avLst/>
            </a:prstGeom>
          </p:spPr>
        </p:pic>
        <p:pic>
          <p:nvPicPr>
            <p:cNvPr id="62" name="Picture 61">
              <a:extLst>
                <a:ext uri="{FF2B5EF4-FFF2-40B4-BE49-F238E27FC236}">
                  <a16:creationId xmlns:a16="http://schemas.microsoft.com/office/drawing/2014/main" id="{BF3BB0D3-893A-2876-6C8C-410549858BA3}"/>
                </a:ext>
              </a:extLst>
            </p:cNvPr>
            <p:cNvPicPr>
              <a:picLocks noChangeAspect="1"/>
            </p:cNvPicPr>
            <p:nvPr/>
          </p:nvPicPr>
          <p:blipFill>
            <a:blip r:embed="rId13">
              <a:extLst>
                <a:ext uri="{BEBA8EAE-BF5A-486C-A8C5-ECC9F3942E4B}">
                  <a14:imgProps xmlns:a14="http://schemas.microsoft.com/office/drawing/2010/main">
                    <a14:imgLayer r:embed="rId14">
                      <a14:imgEffect>
                        <a14:backgroundRemoval t="5913" b="96658" l="4961" r="96345">
                          <a14:foregroundMark x1="29373" y1="37018" x2="29373" y2="37018"/>
                          <a14:foregroundMark x1="96475" y1="6041" x2="96475" y2="6041"/>
                          <a14:foregroundMark x1="70366" y1="24165" x2="70366" y2="24165"/>
                          <a14:foregroundMark x1="58225" y1="39203" x2="58225" y2="39203"/>
                          <a14:foregroundMark x1="18016" y1="49229" x2="18016" y2="49229"/>
                          <a14:foregroundMark x1="18668" y1="47943" x2="18668" y2="47943"/>
                          <a14:foregroundMark x1="66580" y1="45887" x2="66580" y2="45887"/>
                          <a14:foregroundMark x1="5091" y1="88946" x2="5091" y2="88946"/>
                          <a14:foregroundMark x1="5483" y1="96658" x2="5483" y2="96658"/>
                        </a14:backgroundRemoval>
                      </a14:imgEffect>
                    </a14:imgLayer>
                  </a14:imgProps>
                </a:ext>
              </a:extLst>
            </a:blip>
            <a:stretch>
              <a:fillRect/>
            </a:stretch>
          </p:blipFill>
          <p:spPr>
            <a:xfrm>
              <a:off x="2451348" y="3619902"/>
              <a:ext cx="1016328" cy="990588"/>
            </a:xfrm>
            <a:prstGeom prst="rect">
              <a:avLst/>
            </a:prstGeom>
          </p:spPr>
        </p:pic>
        <p:sp>
          <p:nvSpPr>
            <p:cNvPr id="63" name="Bent Arrow 62">
              <a:extLst>
                <a:ext uri="{FF2B5EF4-FFF2-40B4-BE49-F238E27FC236}">
                  <a16:creationId xmlns:a16="http://schemas.microsoft.com/office/drawing/2014/main" id="{C546FA98-C57F-7885-CA27-2F6060083432}"/>
                </a:ext>
              </a:extLst>
            </p:cNvPr>
            <p:cNvSpPr/>
            <p:nvPr/>
          </p:nvSpPr>
          <p:spPr>
            <a:xfrm rot="5400000" flipH="1">
              <a:off x="2969568" y="3153571"/>
              <a:ext cx="1480522" cy="352607"/>
            </a:xfrm>
            <a:prstGeom prst="bentArrow">
              <a:avLst>
                <a:gd name="adj1" fmla="val 25000"/>
                <a:gd name="adj2" fmla="val 26641"/>
                <a:gd name="adj3" fmla="val 25000"/>
                <a:gd name="adj4" fmla="val 43750"/>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024" name="Graphic 1023" descr="Dollar with solid fill">
              <a:extLst>
                <a:ext uri="{FF2B5EF4-FFF2-40B4-BE49-F238E27FC236}">
                  <a16:creationId xmlns:a16="http://schemas.microsoft.com/office/drawing/2014/main" id="{4D272CA9-EA9B-9129-4B84-5B572E774B4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6200000">
              <a:off x="3577467" y="2687839"/>
              <a:ext cx="457200" cy="457200"/>
            </a:xfrm>
            <a:prstGeom prst="rect">
              <a:avLst/>
            </a:prstGeom>
          </p:spPr>
        </p:pic>
        <p:pic>
          <p:nvPicPr>
            <p:cNvPr id="1025" name="Graphic 1024" descr="Dollar with solid fill">
              <a:extLst>
                <a:ext uri="{FF2B5EF4-FFF2-40B4-BE49-F238E27FC236}">
                  <a16:creationId xmlns:a16="http://schemas.microsoft.com/office/drawing/2014/main" id="{376DB6A0-07B1-DDD1-FFF3-3859E9A5972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6200000">
              <a:off x="3566838" y="2988741"/>
              <a:ext cx="457200" cy="457200"/>
            </a:xfrm>
            <a:prstGeom prst="rect">
              <a:avLst/>
            </a:prstGeom>
          </p:spPr>
        </p:pic>
        <p:sp>
          <p:nvSpPr>
            <p:cNvPr id="1027" name="Left Arrow 1026">
              <a:extLst>
                <a:ext uri="{FF2B5EF4-FFF2-40B4-BE49-F238E27FC236}">
                  <a16:creationId xmlns:a16="http://schemas.microsoft.com/office/drawing/2014/main" id="{72AC7949-DC99-75C1-6B58-10695B9D7475}"/>
                </a:ext>
              </a:extLst>
            </p:cNvPr>
            <p:cNvSpPr/>
            <p:nvPr/>
          </p:nvSpPr>
          <p:spPr>
            <a:xfrm rot="10800000">
              <a:off x="1541442" y="4182223"/>
              <a:ext cx="827704" cy="103079"/>
            </a:xfrm>
            <a:prstGeom prst="leftArrow">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descr="Dollar with solid fill">
              <a:extLst>
                <a:ext uri="{FF2B5EF4-FFF2-40B4-BE49-F238E27FC236}">
                  <a16:creationId xmlns:a16="http://schemas.microsoft.com/office/drawing/2014/main" id="{780FEBB9-A3A4-5FFA-CFFF-FD3A433F573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6200000">
              <a:off x="3566838" y="3294048"/>
              <a:ext cx="457200" cy="457200"/>
            </a:xfrm>
            <a:prstGeom prst="rect">
              <a:avLst/>
            </a:prstGeom>
          </p:spPr>
        </p:pic>
        <p:pic>
          <p:nvPicPr>
            <p:cNvPr id="3" name="Picture 2">
              <a:extLst>
                <a:ext uri="{FF2B5EF4-FFF2-40B4-BE49-F238E27FC236}">
                  <a16:creationId xmlns:a16="http://schemas.microsoft.com/office/drawing/2014/main" id="{4F03F7BF-8314-20A6-0E78-6AF30A16F9C7}"/>
                </a:ext>
              </a:extLst>
            </p:cNvPr>
            <p:cNvPicPr>
              <a:picLocks noChangeAspect="1"/>
            </p:cNvPicPr>
            <p:nvPr/>
          </p:nvPicPr>
          <p:blipFill>
            <a:blip r:embed="rId15">
              <a:extLst>
                <a:ext uri="{BEBA8EAE-BF5A-486C-A8C5-ECC9F3942E4B}">
                  <a14:imgProps xmlns:a14="http://schemas.microsoft.com/office/drawing/2010/main">
                    <a14:imgLayer r:embed="rId16">
                      <a14:imgEffect>
                        <a14:backgroundRemoval t="5598" b="96947" l="6595" r="92326">
                          <a14:foregroundMark x1="36451" y1="13486" x2="36451" y2="13486"/>
                          <a14:foregroundMark x1="27218" y1="5598" x2="27218" y2="5598"/>
                          <a14:foregroundMark x1="87530" y1="36768" x2="87530" y2="36768"/>
                          <a14:foregroundMark x1="10312" y1="35751" x2="10312" y2="35751"/>
                          <a14:foregroundMark x1="6595" y1="31934" x2="6595" y2="31934"/>
                          <a14:foregroundMark x1="92446" y1="33079" x2="92446" y2="33079"/>
                          <a14:foregroundMark x1="53717" y1="96947" x2="53717" y2="96947"/>
                          <a14:foregroundMark x1="41607" y1="64377" x2="41607" y2="64377"/>
                          <a14:foregroundMark x1="34053" y1="61196" x2="34053" y2="61196"/>
                          <a14:foregroundMark x1="31415" y1="61196" x2="31415" y2="61196"/>
                          <a14:foregroundMark x1="30815" y1="52672" x2="30815" y2="52672"/>
                          <a14:foregroundMark x1="68585" y1="50509" x2="68585" y2="50509"/>
                          <a14:foregroundMark x1="68465" y1="59033" x2="68465" y2="59033"/>
                          <a14:foregroundMark x1="67866" y1="68066" x2="67866" y2="68066"/>
                          <a14:foregroundMark x1="67626" y1="76209" x2="67626" y2="76209"/>
                          <a14:foregroundMark x1="19664" y1="44784" x2="19664" y2="44784"/>
                          <a14:backgroundMark x1="39329" y1="56616" x2="39329" y2="56616"/>
                          <a14:backgroundMark x1="39928" y1="63486" x2="39928" y2="63486"/>
                          <a14:backgroundMark x1="46043" y1="62977" x2="46043" y2="62977"/>
                          <a14:backgroundMark x1="40288" y1="69720" x2="40288" y2="69720"/>
                          <a14:backgroundMark x1="27458" y1="85242" x2="27458" y2="85242"/>
                          <a14:backgroundMark x1="71343" y1="85496" x2="71343" y2="85496"/>
                          <a14:backgroundMark x1="33333" y1="63995" x2="33333" y2="63995"/>
                        </a14:backgroundRemoval>
                      </a14:imgEffect>
                    </a14:imgLayer>
                  </a14:imgProps>
                </a:ext>
              </a:extLst>
            </a:blip>
            <a:stretch>
              <a:fillRect/>
            </a:stretch>
          </p:blipFill>
          <p:spPr>
            <a:xfrm>
              <a:off x="1626616" y="3057986"/>
              <a:ext cx="777092" cy="732367"/>
            </a:xfrm>
            <a:prstGeom prst="rect">
              <a:avLst/>
            </a:prstGeom>
          </p:spPr>
        </p:pic>
        <p:sp>
          <p:nvSpPr>
            <p:cNvPr id="4" name="Left Arrow 3">
              <a:extLst>
                <a:ext uri="{FF2B5EF4-FFF2-40B4-BE49-F238E27FC236}">
                  <a16:creationId xmlns:a16="http://schemas.microsoft.com/office/drawing/2014/main" id="{4BA73D33-C7D5-4048-4ACA-4905AB1E2F9D}"/>
                </a:ext>
              </a:extLst>
            </p:cNvPr>
            <p:cNvSpPr/>
            <p:nvPr/>
          </p:nvSpPr>
          <p:spPr>
            <a:xfrm rot="13829328">
              <a:off x="1031524" y="2781264"/>
              <a:ext cx="754242" cy="161574"/>
            </a:xfrm>
            <a:prstGeom prst="leftArrow">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descr="Dollar with solid fill">
              <a:extLst>
                <a:ext uri="{FF2B5EF4-FFF2-40B4-BE49-F238E27FC236}">
                  <a16:creationId xmlns:a16="http://schemas.microsoft.com/office/drawing/2014/main" id="{0A74C8DE-496B-430E-D32F-B0EF37F64B1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3165798">
              <a:off x="1160419" y="2576541"/>
              <a:ext cx="457200" cy="457200"/>
            </a:xfrm>
            <a:prstGeom prst="rect">
              <a:avLst/>
            </a:prstGeom>
          </p:spPr>
        </p:pic>
        <p:sp>
          <p:nvSpPr>
            <p:cNvPr id="13" name="Left Arrow 12">
              <a:extLst>
                <a:ext uri="{FF2B5EF4-FFF2-40B4-BE49-F238E27FC236}">
                  <a16:creationId xmlns:a16="http://schemas.microsoft.com/office/drawing/2014/main" id="{AC01B8E9-7BEF-3075-65F8-068A34831BCA}"/>
                </a:ext>
              </a:extLst>
            </p:cNvPr>
            <p:cNvSpPr/>
            <p:nvPr/>
          </p:nvSpPr>
          <p:spPr>
            <a:xfrm rot="10800000">
              <a:off x="1545196" y="4342236"/>
              <a:ext cx="827704" cy="103079"/>
            </a:xfrm>
            <a:prstGeom prst="leftArrow">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Graphic 16" descr="Unlock with solid fill">
              <a:extLst>
                <a:ext uri="{FF2B5EF4-FFF2-40B4-BE49-F238E27FC236}">
                  <a16:creationId xmlns:a16="http://schemas.microsoft.com/office/drawing/2014/main" id="{1289E1F2-52B9-F750-F2E0-DC3BDAF3ECE2}"/>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703224" y="509396"/>
              <a:ext cx="1334611" cy="1334611"/>
            </a:xfrm>
            <a:prstGeom prst="rect">
              <a:avLst/>
            </a:prstGeom>
          </p:spPr>
        </p:pic>
        <p:pic>
          <p:nvPicPr>
            <p:cNvPr id="18" name="Graphic 17" descr="Dollar with solid fill">
              <a:extLst>
                <a:ext uri="{FF2B5EF4-FFF2-40B4-BE49-F238E27FC236}">
                  <a16:creationId xmlns:a16="http://schemas.microsoft.com/office/drawing/2014/main" id="{74DB2BFB-1A5A-C60F-B97E-3F98BD30712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6200000">
              <a:off x="3575152" y="3575827"/>
              <a:ext cx="457200" cy="457200"/>
            </a:xfrm>
            <a:prstGeom prst="rect">
              <a:avLst/>
            </a:prstGeom>
          </p:spPr>
        </p:pic>
      </p:grpSp>
    </p:spTree>
    <p:extLst>
      <p:ext uri="{BB962C8B-B14F-4D97-AF65-F5344CB8AC3E}">
        <p14:creationId xmlns:p14="http://schemas.microsoft.com/office/powerpoint/2010/main" val="226928260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5" name="Title 4">
            <a:extLst>
              <a:ext uri="{FF2B5EF4-FFF2-40B4-BE49-F238E27FC236}">
                <a16:creationId xmlns:a16="http://schemas.microsoft.com/office/drawing/2014/main" id="{B862295B-9C7E-2DFA-0EE5-255DC8AD3A3A}"/>
              </a:ext>
            </a:extLst>
          </p:cNvPr>
          <p:cNvSpPr>
            <a:spLocks noGrp="1"/>
          </p:cNvSpPr>
          <p:nvPr>
            <p:ph type="ctrTitle"/>
          </p:nvPr>
        </p:nvSpPr>
        <p:spPr>
          <a:xfrm>
            <a:off x="348260" y="978953"/>
            <a:ext cx="7202330" cy="2397660"/>
          </a:xfrm>
        </p:spPr>
        <p:txBody>
          <a:bodyPr>
            <a:normAutofit fontScale="90000"/>
          </a:bodyPr>
          <a:lstStyle/>
          <a:p>
            <a:br>
              <a:rPr lang="en" dirty="0"/>
            </a:br>
            <a:r>
              <a:rPr lang="en-US" dirty="0" err="1"/>
              <a:t>Mobilising</a:t>
            </a:r>
            <a:r>
              <a:rPr lang="en-US" dirty="0"/>
              <a:t> Private Finance for the Climate Agenda: </a:t>
            </a:r>
            <a:br>
              <a:rPr lang="en-US" dirty="0"/>
            </a:br>
            <a:br>
              <a:rPr lang="en-US" dirty="0"/>
            </a:br>
            <a:r>
              <a:rPr lang="en-US" i="1" dirty="0"/>
              <a:t>Introducing Sustainability-Linked Intermediated Debt Instruments (SLIDIs)</a:t>
            </a:r>
          </a:p>
        </p:txBody>
      </p:sp>
      <p:sp>
        <p:nvSpPr>
          <p:cNvPr id="3" name="Subtitle 2">
            <a:extLst>
              <a:ext uri="{FF2B5EF4-FFF2-40B4-BE49-F238E27FC236}">
                <a16:creationId xmlns:a16="http://schemas.microsoft.com/office/drawing/2014/main" id="{EC282D93-2641-DAEF-43FD-3C2EBA6ED868}"/>
              </a:ext>
            </a:extLst>
          </p:cNvPr>
          <p:cNvSpPr>
            <a:spLocks noGrp="1"/>
          </p:cNvSpPr>
          <p:nvPr>
            <p:ph type="subTitle" idx="1"/>
          </p:nvPr>
        </p:nvSpPr>
        <p:spPr>
          <a:xfrm>
            <a:off x="82550" y="3424002"/>
            <a:ext cx="3698639" cy="740545"/>
          </a:xfrm>
        </p:spPr>
        <p:txBody>
          <a:bodyPr>
            <a:normAutofit fontScale="62500" lnSpcReduction="20000"/>
          </a:bodyPr>
          <a:lstStyle/>
          <a:p>
            <a:r>
              <a:rPr lang="en-US" dirty="0">
                <a:sym typeface="Roboto"/>
              </a:rPr>
              <a:t>*Please note: these remarks are made in a personal capacity and do not represent the views of any institutions we are affiliated to</a:t>
            </a:r>
          </a:p>
          <a:p>
            <a:endParaRPr lang="en-US" dirty="0"/>
          </a:p>
        </p:txBody>
      </p:sp>
      <p:sp>
        <p:nvSpPr>
          <p:cNvPr id="66" name="Google Shape;66;p13"/>
          <p:cNvSpPr txBox="1">
            <a:spLocks noGrp="1"/>
          </p:cNvSpPr>
          <p:nvPr>
            <p:ph type="body" sz="quarter" idx="10"/>
          </p:nvPr>
        </p:nvSpPr>
        <p:spPr>
          <a:xfrm>
            <a:off x="6438900" y="2971800"/>
            <a:ext cx="2436021" cy="1971675"/>
          </a:xfrm>
        </p:spPr>
        <p:txBody>
          <a:bodyPr spcFirstLastPara="1" wrap="square" lIns="91425" tIns="91425" rIns="91425" bIns="91425" anchor="t" anchorCtr="0">
            <a:noAutofit/>
          </a:bodyPr>
          <a:lstStyle/>
          <a:p>
            <a:pPr lvl="0"/>
            <a:r>
              <a:rPr lang="en-GB" b="1" dirty="0">
                <a:sym typeface="Merriweather"/>
              </a:rPr>
              <a:t>Marcello </a:t>
            </a:r>
            <a:r>
              <a:rPr lang="en-GB" b="1" dirty="0" err="1">
                <a:sym typeface="Merriweather"/>
              </a:rPr>
              <a:t>Estevão</a:t>
            </a:r>
            <a:endParaRPr lang="en-GB" b="1" dirty="0">
              <a:sym typeface="Merriweather"/>
            </a:endParaRPr>
          </a:p>
          <a:p>
            <a:r>
              <a:rPr lang="en-GB" b="1" dirty="0">
                <a:sym typeface="Merriweather"/>
              </a:rPr>
              <a:t>Stephen Stretton</a:t>
            </a:r>
          </a:p>
          <a:p>
            <a:pPr lvl="0"/>
            <a:r>
              <a:rPr lang="en-GB" b="1" dirty="0">
                <a:sym typeface="Merriweather"/>
              </a:rPr>
              <a:t>Nils (Jasper) Zimmermann*</a:t>
            </a:r>
            <a:endParaRPr lang="en-GB" sz="1100" b="1" i="1" dirty="0">
              <a:sym typeface="Merriweather"/>
            </a:endParaRPr>
          </a:p>
          <a:p>
            <a:pPr lvl="0"/>
            <a:endParaRPr lang="en-GB" sz="1100" i="1" dirty="0">
              <a:sym typeface="Merriweather"/>
            </a:endParaRPr>
          </a:p>
          <a:p>
            <a:pPr lvl="0"/>
            <a:r>
              <a:rPr lang="en-GB" sz="1100" i="1" dirty="0">
                <a:sym typeface="Merriweather"/>
              </a:rPr>
              <a:t>With thanks to Evie Davey for assistance in developing slide deck</a:t>
            </a:r>
          </a:p>
          <a:p>
            <a:pPr lvl="0"/>
            <a:r>
              <a:rPr lang="en-GB" sz="1100" i="1" dirty="0">
                <a:sym typeface="Merriweather"/>
              </a:rPr>
              <a:t>*Presenter</a:t>
            </a:r>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3" name="Subtitle 2">
            <a:extLst>
              <a:ext uri="{FF2B5EF4-FFF2-40B4-BE49-F238E27FC236}">
                <a16:creationId xmlns:a16="http://schemas.microsoft.com/office/drawing/2014/main" id="{05240FCA-0859-01A2-00C6-B59F955E3804}"/>
              </a:ext>
            </a:extLst>
          </p:cNvPr>
          <p:cNvSpPr>
            <a:spLocks noGrp="1"/>
          </p:cNvSpPr>
          <p:nvPr>
            <p:ph type="subTitle" idx="1"/>
          </p:nvPr>
        </p:nvSpPr>
        <p:spPr>
          <a:xfrm>
            <a:off x="5012393" y="253497"/>
            <a:ext cx="3684662" cy="623924"/>
          </a:xfrm>
        </p:spPr>
        <p:txBody>
          <a:bodyPr>
            <a:normAutofit/>
          </a:bodyPr>
          <a:lstStyle/>
          <a:p>
            <a:pPr algn="ctr"/>
            <a:r>
              <a:rPr lang="en-US" sz="2200" dirty="0"/>
              <a:t>Contents</a:t>
            </a:r>
            <a:endParaRPr lang="en-US" sz="2000" dirty="0"/>
          </a:p>
        </p:txBody>
      </p:sp>
      <p:sp>
        <p:nvSpPr>
          <p:cNvPr id="72" name="Google Shape;72;p14"/>
          <p:cNvSpPr txBox="1">
            <a:spLocks noGrp="1"/>
          </p:cNvSpPr>
          <p:nvPr>
            <p:ph type="body" sz="quarter" idx="11"/>
          </p:nvPr>
        </p:nvSpPr>
        <p:spPr>
          <a:xfrm>
            <a:off x="5012393" y="905659"/>
            <a:ext cx="3850620" cy="3984344"/>
          </a:xfrm>
        </p:spPr>
        <p:txBody>
          <a:bodyPr spcFirstLastPara="1" wrap="square" lIns="91425" tIns="91425" rIns="91425" bIns="91425" anchor="t" anchorCtr="0">
            <a:noAutofit/>
          </a:bodyPr>
          <a:lstStyle/>
          <a:p>
            <a:pPr marL="401638" indent="-401638">
              <a:spcAft>
                <a:spcPts val="600"/>
              </a:spcAft>
            </a:pPr>
            <a:r>
              <a:rPr lang="en-GB" b="1" dirty="0">
                <a:latin typeface="Merriweather" pitchFamily="2" charset="77"/>
                <a:sym typeface="Merriweather"/>
              </a:rPr>
              <a:t>Why SLIDIs?</a:t>
            </a:r>
          </a:p>
          <a:p>
            <a:pPr marL="401638" indent="-401638">
              <a:spcAft>
                <a:spcPts val="600"/>
              </a:spcAft>
            </a:pPr>
            <a:r>
              <a:rPr lang="en-GB" b="1" dirty="0">
                <a:latin typeface="Merriweather" pitchFamily="2" charset="77"/>
                <a:sym typeface="Merriweather"/>
              </a:rPr>
              <a:t>Sustainability-Linked-Bonds:</a:t>
            </a:r>
            <a:r>
              <a:rPr lang="en-GB" dirty="0">
                <a:latin typeface="Merriweather" pitchFamily="2" charset="77"/>
                <a:sym typeface="Merriweather"/>
              </a:rPr>
              <a:t> Current Concept &amp; Shortcomings</a:t>
            </a:r>
          </a:p>
          <a:p>
            <a:pPr marL="401638" indent="-401638">
              <a:spcAft>
                <a:spcPts val="600"/>
              </a:spcAft>
            </a:pPr>
            <a:r>
              <a:rPr lang="en-GB" b="1" noProof="0" dirty="0">
                <a:latin typeface="Merriweather" pitchFamily="2" charset="77"/>
                <a:sym typeface="Merriweather"/>
              </a:rPr>
              <a:t>SLIDI Definition &amp; Design Options</a:t>
            </a:r>
          </a:p>
          <a:p>
            <a:pPr lvl="1">
              <a:spcAft>
                <a:spcPts val="600"/>
              </a:spcAft>
            </a:pPr>
            <a:r>
              <a:rPr lang="en-GB" b="1" dirty="0">
                <a:latin typeface="Merriweather" pitchFamily="2" charset="77"/>
                <a:sym typeface="Merriweather"/>
              </a:rPr>
              <a:t>Option One: </a:t>
            </a:r>
            <a:r>
              <a:rPr lang="en-GB" dirty="0">
                <a:latin typeface="Merriweather" pitchFamily="2" charset="77"/>
                <a:sym typeface="Merriweather"/>
              </a:rPr>
              <a:t>Subsidy</a:t>
            </a:r>
          </a:p>
          <a:p>
            <a:pPr lvl="1">
              <a:spcAft>
                <a:spcPts val="600"/>
              </a:spcAft>
            </a:pPr>
            <a:r>
              <a:rPr lang="en-GB" b="1" dirty="0">
                <a:latin typeface="Merriweather" pitchFamily="2" charset="77"/>
                <a:sym typeface="Merriweather"/>
              </a:rPr>
              <a:t>Option Two: </a:t>
            </a:r>
            <a:r>
              <a:rPr lang="en-GB" dirty="0">
                <a:latin typeface="Merriweather" pitchFamily="2" charset="77"/>
                <a:sym typeface="Merriweather"/>
              </a:rPr>
              <a:t>Trusted Intermediary</a:t>
            </a:r>
            <a:endParaRPr lang="en-GB" b="1" dirty="0">
              <a:latin typeface="Merriweather" pitchFamily="2" charset="77"/>
              <a:sym typeface="Merriweather"/>
            </a:endParaRPr>
          </a:p>
          <a:p>
            <a:pPr marL="401638" indent="-401638">
              <a:spcAft>
                <a:spcPts val="600"/>
              </a:spcAft>
            </a:pPr>
            <a:r>
              <a:rPr lang="en-GB" b="1" noProof="0" dirty="0">
                <a:latin typeface="Merriweather" pitchFamily="2" charset="77"/>
                <a:sym typeface="Merriweather"/>
              </a:rPr>
              <a:t>World Bank</a:t>
            </a:r>
            <a:r>
              <a:rPr lang="en-GB" b="1">
                <a:sym typeface="Merriweather"/>
              </a:rPr>
              <a:t>/Lead MDB</a:t>
            </a:r>
            <a:r>
              <a:rPr lang="en-GB" b="1" noProof="0">
                <a:latin typeface="Merriweather" pitchFamily="2" charset="77"/>
                <a:sym typeface="Merriweather"/>
              </a:rPr>
              <a:t> </a:t>
            </a:r>
            <a:r>
              <a:rPr lang="en-GB" b="1" noProof="0" dirty="0">
                <a:latin typeface="Merriweather" pitchFamily="2" charset="77"/>
                <a:sym typeface="Merriweather"/>
              </a:rPr>
              <a:t>Role</a:t>
            </a:r>
          </a:p>
          <a:p>
            <a:pPr marL="401638" indent="-401638">
              <a:spcAft>
                <a:spcPts val="600"/>
              </a:spcAft>
            </a:pPr>
            <a:r>
              <a:rPr lang="en-GB" b="1" noProof="0" dirty="0">
                <a:latin typeface="Merriweather" pitchFamily="2" charset="77"/>
                <a:sym typeface="Merriweather"/>
              </a:rPr>
              <a:t>Development Partner Roles</a:t>
            </a:r>
          </a:p>
          <a:p>
            <a:pPr marL="401638" indent="-401638">
              <a:spcAft>
                <a:spcPts val="600"/>
              </a:spcAft>
            </a:pPr>
            <a:r>
              <a:rPr lang="en-GB" b="1" noProof="0" dirty="0">
                <a:latin typeface="Merriweather" pitchFamily="2" charset="77"/>
                <a:sym typeface="Merriweather"/>
              </a:rPr>
              <a:t>Conclusions &amp; Next Steps</a:t>
            </a:r>
            <a:endParaRPr lang="en-US" dirty="0">
              <a:latin typeface="Merriweather" pitchFamily="2" charset="77"/>
            </a:endParaRPr>
          </a:p>
          <a:p>
            <a:pPr lvl="0"/>
            <a:endParaRPr lang="en-US" dirty="0"/>
          </a:p>
          <a:p>
            <a:endParaRPr lang="en-US" dirty="0"/>
          </a:p>
          <a:p>
            <a:pPr lvl="0"/>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5" name="Subtitle 4">
            <a:extLst>
              <a:ext uri="{FF2B5EF4-FFF2-40B4-BE49-F238E27FC236}">
                <a16:creationId xmlns:a16="http://schemas.microsoft.com/office/drawing/2014/main" id="{6ACBF3F9-6AC9-F556-6E76-DFECC4C3B86B}"/>
              </a:ext>
            </a:extLst>
          </p:cNvPr>
          <p:cNvSpPr>
            <a:spLocks noGrp="1"/>
          </p:cNvSpPr>
          <p:nvPr>
            <p:ph type="subTitle" idx="1"/>
          </p:nvPr>
        </p:nvSpPr>
        <p:spPr>
          <a:xfrm>
            <a:off x="5130089" y="1946495"/>
            <a:ext cx="3684662" cy="625255"/>
          </a:xfrm>
        </p:spPr>
        <p:txBody>
          <a:bodyPr>
            <a:normAutofit fontScale="92500" lnSpcReduction="20000"/>
          </a:bodyPr>
          <a:lstStyle/>
          <a:p>
            <a:pPr algn="ctr"/>
            <a:r>
              <a:rPr lang="en-US" sz="3200" dirty="0">
                <a:latin typeface="Merriweather" pitchFamily="2" charset="77"/>
              </a:rPr>
              <a:t>I. Why SLIDIs? </a:t>
            </a:r>
          </a:p>
          <a:p>
            <a:endParaRPr lang="en-US" dirty="0"/>
          </a:p>
        </p:txBody>
      </p:sp>
    </p:spTree>
    <p:extLst>
      <p:ext uri="{BB962C8B-B14F-4D97-AF65-F5344CB8AC3E}">
        <p14:creationId xmlns:p14="http://schemas.microsoft.com/office/powerpoint/2010/main" val="701908447"/>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5"/>
          <p:cNvSpPr txBox="1">
            <a:spLocks noGrp="1"/>
          </p:cNvSpPr>
          <p:nvPr>
            <p:ph type="title" idx="4294967295"/>
          </p:nvPr>
        </p:nvSpPr>
        <p:spPr>
          <a:xfrm>
            <a:off x="311750" y="831175"/>
            <a:ext cx="5334900" cy="124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endParaRPr sz="2500"/>
          </a:p>
          <a:p>
            <a:pPr marL="0" lvl="0" indent="0" algn="l" rtl="0">
              <a:spcBef>
                <a:spcPts val="0"/>
              </a:spcBef>
              <a:spcAft>
                <a:spcPts val="0"/>
              </a:spcAft>
              <a:buSzPts val="990"/>
              <a:buNone/>
            </a:pPr>
            <a:endParaRPr sz="2500">
              <a:solidFill>
                <a:srgbClr val="FF9900"/>
              </a:solidFill>
            </a:endParaRPr>
          </a:p>
        </p:txBody>
      </p:sp>
      <p:grpSp>
        <p:nvGrpSpPr>
          <p:cNvPr id="78" name="Google Shape;78;p15"/>
          <p:cNvGrpSpPr/>
          <p:nvPr/>
        </p:nvGrpSpPr>
        <p:grpSpPr>
          <a:xfrm>
            <a:off x="311749" y="985925"/>
            <a:ext cx="8389561" cy="731700"/>
            <a:chOff x="-84325" y="996520"/>
            <a:chExt cx="8190531" cy="731700"/>
          </a:xfrm>
        </p:grpSpPr>
        <p:sp>
          <p:nvSpPr>
            <p:cNvPr id="79" name="Google Shape;79;p15"/>
            <p:cNvSpPr txBox="1"/>
            <p:nvPr/>
          </p:nvSpPr>
          <p:spPr>
            <a:xfrm>
              <a:off x="-84325" y="1018375"/>
              <a:ext cx="2799300" cy="629700"/>
            </a:xfrm>
            <a:prstGeom prst="rect">
              <a:avLst/>
            </a:prstGeom>
            <a:noFill/>
            <a:ln>
              <a:noFill/>
            </a:ln>
          </p:spPr>
          <p:txBody>
            <a:bodyPr spcFirstLastPara="1" wrap="square" lIns="91425" tIns="45700" rIns="91425" bIns="45700" anchor="ctr" anchorCtr="0">
              <a:noAutofit/>
            </a:bodyPr>
            <a:lstStyle/>
            <a:p>
              <a:pPr algn="r">
                <a:lnSpc>
                  <a:spcPct val="90000"/>
                </a:lnSpc>
              </a:pPr>
              <a:r>
                <a:rPr lang="en" sz="2200">
                  <a:solidFill>
                    <a:schemeClr val="accent1"/>
                  </a:solidFill>
                  <a:latin typeface="Merriweather"/>
                  <a:ea typeface="Merriweather"/>
                  <a:cs typeface="Merriweather"/>
                  <a:sym typeface="Merriweather"/>
                </a:rPr>
                <a:t>Mobilize Investment</a:t>
              </a:r>
              <a:r>
                <a:rPr lang="en" sz="2200">
                  <a:solidFill>
                    <a:srgbClr val="085631"/>
                  </a:solidFill>
                  <a:latin typeface="Roboto Medium"/>
                  <a:ea typeface="Roboto Medium"/>
                  <a:cs typeface="Roboto Medium"/>
                  <a:sym typeface="Roboto Medium"/>
                </a:rPr>
                <a:t> </a:t>
              </a:r>
              <a:endParaRPr sz="2200">
                <a:solidFill>
                  <a:srgbClr val="085631"/>
                </a:solidFill>
                <a:latin typeface="Roboto Medium"/>
                <a:ea typeface="Roboto Medium"/>
                <a:cs typeface="Roboto Medium"/>
                <a:sym typeface="Roboto Medium"/>
              </a:endParaRPr>
            </a:p>
          </p:txBody>
        </p:sp>
        <p:sp>
          <p:nvSpPr>
            <p:cNvPr id="80" name="Google Shape;80;p15"/>
            <p:cNvSpPr/>
            <p:nvPr/>
          </p:nvSpPr>
          <p:spPr>
            <a:xfrm>
              <a:off x="2844506" y="996520"/>
              <a:ext cx="5261700" cy="731700"/>
            </a:xfrm>
            <a:prstGeom prst="rect">
              <a:avLst/>
            </a:prstGeom>
            <a:solidFill>
              <a:schemeClr val="accent1"/>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
          <p:nvSpPr>
            <p:cNvPr id="81" name="Google Shape;81;p15"/>
            <p:cNvSpPr txBox="1"/>
            <p:nvPr/>
          </p:nvSpPr>
          <p:spPr>
            <a:xfrm>
              <a:off x="2895540" y="1077700"/>
              <a:ext cx="5029200" cy="575400"/>
            </a:xfrm>
            <a:prstGeom prst="rect">
              <a:avLst/>
            </a:prstGeom>
            <a:noFill/>
            <a:ln>
              <a:noFill/>
            </a:ln>
          </p:spPr>
          <p:txBody>
            <a:bodyPr spcFirstLastPara="1" wrap="square" lIns="91425" tIns="45700" rIns="91425" bIns="45700" anchor="ctr" anchorCtr="0">
              <a:noAutofit/>
            </a:bodyPr>
            <a:lstStyle/>
            <a:p>
              <a:pPr>
                <a:lnSpc>
                  <a:spcPct val="115000"/>
                </a:lnSpc>
                <a:spcAft>
                  <a:spcPts val="1200"/>
                </a:spcAft>
              </a:pPr>
              <a:r>
                <a:rPr lang="en" sz="1300">
                  <a:solidFill>
                    <a:schemeClr val="lt1"/>
                  </a:solidFill>
                  <a:latin typeface="Roboto"/>
                  <a:ea typeface="Roboto"/>
                  <a:cs typeface="Roboto"/>
                  <a:sym typeface="Roboto"/>
                </a:rPr>
                <a:t>There is a need to attract increased capital from private investors on a large scale to support climate action in developing countries.</a:t>
              </a:r>
              <a:endParaRPr sz="1300">
                <a:solidFill>
                  <a:schemeClr val="lt1"/>
                </a:solidFill>
                <a:latin typeface="Roboto"/>
                <a:ea typeface="Roboto"/>
                <a:cs typeface="Roboto"/>
                <a:sym typeface="Roboto"/>
              </a:endParaRPr>
            </a:p>
          </p:txBody>
        </p:sp>
      </p:grpSp>
      <p:grpSp>
        <p:nvGrpSpPr>
          <p:cNvPr id="82" name="Google Shape;82;p15"/>
          <p:cNvGrpSpPr/>
          <p:nvPr/>
        </p:nvGrpSpPr>
        <p:grpSpPr>
          <a:xfrm>
            <a:off x="178930" y="1877475"/>
            <a:ext cx="8186095" cy="757090"/>
            <a:chOff x="-289151" y="1912953"/>
            <a:chExt cx="7979429" cy="731700"/>
          </a:xfrm>
        </p:grpSpPr>
        <p:sp>
          <p:nvSpPr>
            <p:cNvPr id="83" name="Google Shape;83;p15"/>
            <p:cNvSpPr txBox="1"/>
            <p:nvPr/>
          </p:nvSpPr>
          <p:spPr>
            <a:xfrm>
              <a:off x="-289151" y="1963944"/>
              <a:ext cx="3004500" cy="6297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None/>
              </a:pPr>
              <a:r>
                <a:rPr lang="en" sz="2200">
                  <a:solidFill>
                    <a:schemeClr val="accent5"/>
                  </a:solidFill>
                  <a:latin typeface="Merriweather"/>
                  <a:ea typeface="Merriweather"/>
                  <a:cs typeface="Merriweather"/>
                  <a:sym typeface="Merriweather"/>
                </a:rPr>
                <a:t>Incentivize Action</a:t>
              </a:r>
              <a:endParaRPr sz="2200">
                <a:solidFill>
                  <a:schemeClr val="accent5"/>
                </a:solidFill>
                <a:latin typeface="Merriweather"/>
                <a:ea typeface="Merriweather"/>
                <a:cs typeface="Merriweather"/>
                <a:sym typeface="Merriweather"/>
              </a:endParaRPr>
            </a:p>
          </p:txBody>
        </p:sp>
        <p:sp>
          <p:nvSpPr>
            <p:cNvPr id="84" name="Google Shape;84;p15"/>
            <p:cNvSpPr/>
            <p:nvPr/>
          </p:nvSpPr>
          <p:spPr>
            <a:xfrm>
              <a:off x="2764578" y="1912953"/>
              <a:ext cx="4925700" cy="731700"/>
            </a:xfrm>
            <a:prstGeom prst="rect">
              <a:avLst/>
            </a:prstGeom>
            <a:solidFill>
              <a:schemeClr val="accent5"/>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
          <p:nvSpPr>
            <p:cNvPr id="85" name="Google Shape;85;p15"/>
            <p:cNvSpPr txBox="1"/>
            <p:nvPr/>
          </p:nvSpPr>
          <p:spPr>
            <a:xfrm>
              <a:off x="2851707" y="2034968"/>
              <a:ext cx="4776000" cy="486000"/>
            </a:xfrm>
            <a:prstGeom prst="rect">
              <a:avLst/>
            </a:prstGeom>
            <a:solidFill>
              <a:schemeClr val="accent5"/>
            </a:solidFill>
            <a:ln>
              <a:noFill/>
            </a:ln>
          </p:spPr>
          <p:txBody>
            <a:bodyPr spcFirstLastPara="1" wrap="square" lIns="91425" tIns="45700" rIns="91425" bIns="45700" anchor="ctr" anchorCtr="0">
              <a:noAutofit/>
            </a:bodyPr>
            <a:lstStyle/>
            <a:p>
              <a:pPr>
                <a:lnSpc>
                  <a:spcPct val="115000"/>
                </a:lnSpc>
              </a:pPr>
              <a:r>
                <a:rPr lang="en" sz="1300">
                  <a:solidFill>
                    <a:srgbClr val="FFFFFF"/>
                  </a:solidFill>
                  <a:latin typeface="Roboto"/>
                  <a:ea typeface="Roboto"/>
                  <a:cs typeface="Roboto"/>
                  <a:sym typeface="Roboto"/>
                </a:rPr>
                <a:t>Incentives must be put in place to encourage </a:t>
              </a:r>
              <a:r>
                <a:rPr lang="en" sz="1300">
                  <a:solidFill>
                    <a:schemeClr val="lt1"/>
                  </a:solidFill>
                  <a:latin typeface="Roboto"/>
                  <a:ea typeface="Roboto"/>
                  <a:cs typeface="Roboto"/>
                  <a:sym typeface="Roboto"/>
                </a:rPr>
                <a:t>developing countries to prioritize climate action and green investments.</a:t>
              </a:r>
              <a:endParaRPr sz="1300">
                <a:solidFill>
                  <a:schemeClr val="lt1"/>
                </a:solidFill>
                <a:latin typeface="Roboto"/>
                <a:ea typeface="Roboto"/>
                <a:cs typeface="Roboto"/>
                <a:sym typeface="Roboto"/>
              </a:endParaRPr>
            </a:p>
          </p:txBody>
        </p:sp>
      </p:grpSp>
      <p:grpSp>
        <p:nvGrpSpPr>
          <p:cNvPr id="86" name="Google Shape;86;p15"/>
          <p:cNvGrpSpPr/>
          <p:nvPr/>
        </p:nvGrpSpPr>
        <p:grpSpPr>
          <a:xfrm>
            <a:off x="449075" y="2783825"/>
            <a:ext cx="7371712" cy="831091"/>
            <a:chOff x="-84325" y="2783825"/>
            <a:chExt cx="7371712" cy="831091"/>
          </a:xfrm>
        </p:grpSpPr>
        <p:sp>
          <p:nvSpPr>
            <p:cNvPr id="87" name="Google Shape;87;p15"/>
            <p:cNvSpPr txBox="1"/>
            <p:nvPr/>
          </p:nvSpPr>
          <p:spPr>
            <a:xfrm>
              <a:off x="-84325" y="2883721"/>
              <a:ext cx="2799300" cy="6297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None/>
              </a:pPr>
              <a:r>
                <a:rPr lang="en" sz="2200">
                  <a:solidFill>
                    <a:schemeClr val="accent4"/>
                  </a:solidFill>
                  <a:latin typeface="Merriweather"/>
                  <a:ea typeface="Merriweather"/>
                  <a:cs typeface="Merriweather"/>
                  <a:sym typeface="Merriweather"/>
                </a:rPr>
                <a:t>Reduce the Risk</a:t>
              </a:r>
              <a:endParaRPr sz="2200">
                <a:solidFill>
                  <a:schemeClr val="accent4"/>
                </a:solidFill>
                <a:latin typeface="Merriweather"/>
                <a:ea typeface="Merriweather"/>
                <a:cs typeface="Merriweather"/>
                <a:sym typeface="Merriweather"/>
              </a:endParaRPr>
            </a:p>
          </p:txBody>
        </p:sp>
        <p:sp>
          <p:nvSpPr>
            <p:cNvPr id="88" name="Google Shape;88;p15"/>
            <p:cNvSpPr/>
            <p:nvPr/>
          </p:nvSpPr>
          <p:spPr>
            <a:xfrm>
              <a:off x="2785646" y="2783825"/>
              <a:ext cx="4501741" cy="831091"/>
            </a:xfrm>
            <a:prstGeom prst="rect">
              <a:avLst/>
            </a:prstGeom>
            <a:solidFill>
              <a:schemeClr val="accent4"/>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
          <p:nvSpPr>
            <p:cNvPr id="89" name="Google Shape;89;p15"/>
            <p:cNvSpPr txBox="1"/>
            <p:nvPr/>
          </p:nvSpPr>
          <p:spPr>
            <a:xfrm>
              <a:off x="2888244" y="2866169"/>
              <a:ext cx="4272000" cy="679711"/>
            </a:xfrm>
            <a:prstGeom prst="rect">
              <a:avLst/>
            </a:prstGeom>
            <a:noFill/>
            <a:ln>
              <a:noFill/>
            </a:ln>
          </p:spPr>
          <p:txBody>
            <a:bodyPr spcFirstLastPara="1" wrap="square" lIns="91425" tIns="45700" rIns="91425" bIns="45700" anchor="ctr" anchorCtr="0">
              <a:noAutofit/>
            </a:bodyPr>
            <a:lstStyle/>
            <a:p>
              <a:pPr>
                <a:lnSpc>
                  <a:spcPct val="115000"/>
                </a:lnSpc>
              </a:pPr>
              <a:r>
                <a:rPr lang="en" sz="1300">
                  <a:solidFill>
                    <a:srgbClr val="FFFFFF"/>
                  </a:solidFill>
                  <a:latin typeface="Roboto"/>
                  <a:ea typeface="Roboto"/>
                  <a:cs typeface="Roboto"/>
                  <a:sym typeface="Roboto"/>
                </a:rPr>
                <a:t>It is essential to de-risk this operation, minimizing variability for investors and maximizing overall impact for developing countries.</a:t>
              </a:r>
              <a:endParaRPr lang="en-US" sz="1300">
                <a:solidFill>
                  <a:srgbClr val="FFFFFF"/>
                </a:solidFill>
                <a:latin typeface="Roboto"/>
                <a:ea typeface="Roboto"/>
                <a:cs typeface="Roboto"/>
              </a:endParaRPr>
            </a:p>
          </p:txBody>
        </p:sp>
      </p:grpSp>
      <p:sp>
        <p:nvSpPr>
          <p:cNvPr id="90" name="Google Shape;90;p15"/>
          <p:cNvSpPr txBox="1"/>
          <p:nvPr/>
        </p:nvSpPr>
        <p:spPr>
          <a:xfrm>
            <a:off x="311750" y="4469700"/>
            <a:ext cx="3000000" cy="531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50" dirty="0">
                <a:solidFill>
                  <a:schemeClr val="lt1"/>
                </a:solidFill>
                <a:latin typeface="Merriweather"/>
                <a:ea typeface="Merriweather"/>
                <a:cs typeface="Merriweather"/>
                <a:sym typeface="Merriweather"/>
              </a:rPr>
              <a:t>Why SLIDIs?</a:t>
            </a:r>
            <a:endParaRPr sz="2250" dirty="0">
              <a:solidFill>
                <a:schemeClr val="lt1"/>
              </a:solidFill>
            </a:endParaRPr>
          </a:p>
        </p:txBody>
      </p:sp>
      <p:sp>
        <p:nvSpPr>
          <p:cNvPr id="2" name="Slide Number Placeholder 1">
            <a:extLst>
              <a:ext uri="{FF2B5EF4-FFF2-40B4-BE49-F238E27FC236}">
                <a16:creationId xmlns:a16="http://schemas.microsoft.com/office/drawing/2014/main" id="{C5267F8A-3426-1F94-FB5B-3DF7ABF2ECDC}"/>
              </a:ext>
            </a:extLst>
          </p:cNvPr>
          <p:cNvSpPr>
            <a:spLocks noGrp="1"/>
          </p:cNvSpPr>
          <p:nvPr>
            <p:ph type="sldNum" idx="12"/>
          </p:nvPr>
        </p:nvSpPr>
        <p:spPr/>
        <p:txBody>
          <a:bodyPr/>
          <a:lstStyle/>
          <a:p>
            <a:fld id="{00000000-1234-1234-1234-123412341234}" type="slidenum">
              <a:rPr lang="en"/>
              <a:t>6</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700">
        <p14:prism/>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3" name="Title 2">
            <a:extLst>
              <a:ext uri="{FF2B5EF4-FFF2-40B4-BE49-F238E27FC236}">
                <a16:creationId xmlns:a16="http://schemas.microsoft.com/office/drawing/2014/main" id="{AF02E355-60EE-B764-D182-77EF3EB079CB}"/>
              </a:ext>
            </a:extLst>
          </p:cNvPr>
          <p:cNvSpPr>
            <a:spLocks noGrp="1"/>
          </p:cNvSpPr>
          <p:nvPr>
            <p:ph type="title"/>
          </p:nvPr>
        </p:nvSpPr>
        <p:spPr>
          <a:xfrm>
            <a:off x="311300" y="500924"/>
            <a:ext cx="3547267" cy="3465513"/>
          </a:xfrm>
        </p:spPr>
        <p:txBody>
          <a:bodyPr>
            <a:normAutofit fontScale="90000"/>
          </a:bodyPr>
          <a:lstStyle/>
          <a:p>
            <a:pPr lvl="0"/>
            <a:r>
              <a:rPr lang="en-GB" dirty="0">
                <a:solidFill>
                  <a:schemeClr val="bg1"/>
                </a:solidFill>
                <a:latin typeface="Merriweather" pitchFamily="2" charset="77"/>
              </a:rPr>
              <a:t>Global net zero by 2050 requires annual investment of </a:t>
            </a:r>
            <a:r>
              <a:rPr lang="en-GB" dirty="0">
                <a:solidFill>
                  <a:srgbClr val="B85641"/>
                </a:solidFill>
                <a:latin typeface="Merriweather" pitchFamily="2" charset="77"/>
              </a:rPr>
              <a:t>US$3.4 trillion to $8.1 trillion </a:t>
            </a:r>
            <a:r>
              <a:rPr lang="en-GB" dirty="0">
                <a:solidFill>
                  <a:schemeClr val="bg1"/>
                </a:solidFill>
                <a:latin typeface="Merriweather" pitchFamily="2" charset="77"/>
              </a:rPr>
              <a:t>globally</a:t>
            </a:r>
            <a:br>
              <a:rPr lang="en-GB" sz="2800" dirty="0">
                <a:solidFill>
                  <a:schemeClr val="bg1"/>
                </a:solidFill>
                <a:latin typeface="Merriweather" pitchFamily="2" charset="77"/>
              </a:rPr>
            </a:br>
            <a:br>
              <a:rPr lang="en-GB" sz="2800" dirty="0">
                <a:solidFill>
                  <a:schemeClr val="bg1"/>
                </a:solidFill>
                <a:latin typeface="Merriweather" pitchFamily="2" charset="77"/>
              </a:rPr>
            </a:br>
            <a:r>
              <a:rPr lang="en-GB" sz="2200" dirty="0">
                <a:solidFill>
                  <a:schemeClr val="bg1"/>
                </a:solidFill>
                <a:latin typeface="Merriweather" pitchFamily="2" charset="77"/>
              </a:rPr>
              <a:t>(</a:t>
            </a:r>
            <a:r>
              <a:rPr lang="en-GB" sz="2200" dirty="0">
                <a:solidFill>
                  <a:schemeClr val="bg1"/>
                </a:solidFill>
                <a:latin typeface="Merriweather" pitchFamily="2" charset="77"/>
                <a:hlinkClick r:id="rId3">
                  <a:extLst>
                    <a:ext uri="{A12FA001-AC4F-418D-AE19-62706E023703}">
                      <ahyp:hlinkClr xmlns:ahyp="http://schemas.microsoft.com/office/drawing/2018/hyperlinkcolor" val="tx"/>
                    </a:ext>
                  </a:extLst>
                </a:hlinkClick>
              </a:rPr>
              <a:t>Yilmaz et al. 2022</a:t>
            </a:r>
            <a:r>
              <a:rPr lang="en-GB" sz="2200" dirty="0">
                <a:solidFill>
                  <a:schemeClr val="bg1"/>
                </a:solidFill>
                <a:latin typeface="Merriweather" pitchFamily="2" charset="77"/>
              </a:rPr>
              <a:t>)</a:t>
            </a:r>
            <a:endParaRPr lang="en-GB" sz="2800" dirty="0">
              <a:solidFill>
                <a:schemeClr val="bg1"/>
              </a:solidFill>
              <a:latin typeface="Merriweather" pitchFamily="2" charset="77"/>
            </a:endParaRPr>
          </a:p>
        </p:txBody>
      </p:sp>
      <p:sp>
        <p:nvSpPr>
          <p:cNvPr id="99" name="Google Shape;99;p16"/>
          <p:cNvSpPr txBox="1">
            <a:spLocks noGrp="1"/>
          </p:cNvSpPr>
          <p:nvPr>
            <p:ph type="subTitle" idx="1"/>
          </p:nvPr>
        </p:nvSpPr>
        <p:spPr>
          <a:xfrm>
            <a:off x="4384622" y="4323585"/>
            <a:ext cx="4607719" cy="638867"/>
          </a:xfrm>
        </p:spPr>
        <p:txBody>
          <a:bodyPr spcFirstLastPara="1" wrap="square" lIns="91425" tIns="91425" rIns="91425" bIns="91425" anchor="t" anchorCtr="0">
            <a:noAutofit/>
          </a:bodyPr>
          <a:lstStyle/>
          <a:p>
            <a:pPr lvl="0" indent="0" algn="ctr">
              <a:buNone/>
            </a:pPr>
            <a:r>
              <a:rPr lang="en-GB" sz="1050" b="1" dirty="0">
                <a:solidFill>
                  <a:srgbClr val="B85641"/>
                </a:solidFill>
                <a:latin typeface="Merriweather" pitchFamily="2" charset="77"/>
              </a:rPr>
              <a:t>Current Annual Flow of Private Sector Investments to Developing Countries (</a:t>
            </a:r>
            <a:r>
              <a:rPr lang="en-GB" sz="1050" b="1" dirty="0" err="1">
                <a:solidFill>
                  <a:srgbClr val="B85641"/>
                </a:solidFill>
                <a:latin typeface="Merriweather" pitchFamily="2" charset="77"/>
              </a:rPr>
              <a:t>US$bn</a:t>
            </a:r>
            <a:r>
              <a:rPr lang="en-GB" sz="1050" b="1" dirty="0">
                <a:solidFill>
                  <a:srgbClr val="B85641"/>
                </a:solidFill>
                <a:latin typeface="Merriweather" pitchFamily="2" charset="77"/>
              </a:rPr>
              <a:t>)</a:t>
            </a:r>
          </a:p>
          <a:p>
            <a:pPr lvl="0" indent="0" algn="ctr">
              <a:buNone/>
            </a:pPr>
            <a:endParaRPr lang="en-GB" sz="1050" b="1" dirty="0">
              <a:solidFill>
                <a:srgbClr val="B85641"/>
              </a:solidFill>
              <a:latin typeface="Merriweather" pitchFamily="2" charset="77"/>
            </a:endParaRPr>
          </a:p>
          <a:p>
            <a:pPr lvl="0" indent="0" algn="ctr">
              <a:buNone/>
            </a:pPr>
            <a:r>
              <a:rPr lang="en-GB" sz="1000" i="1" dirty="0">
                <a:solidFill>
                  <a:srgbClr val="002F4A"/>
                </a:solidFill>
                <a:latin typeface="Merriweather" pitchFamily="2" charset="77"/>
              </a:rPr>
              <a:t>Data Sources: IMF (2023); OECD (2021)</a:t>
            </a:r>
          </a:p>
        </p:txBody>
      </p:sp>
      <p:sp>
        <p:nvSpPr>
          <p:cNvPr id="96" name="Google Shape;96;p16"/>
          <p:cNvSpPr txBox="1">
            <a:spLocks noGrp="1"/>
          </p:cNvSpPr>
          <p:nvPr>
            <p:ph type="body" idx="2"/>
          </p:nvPr>
        </p:nvSpPr>
        <p:spPr>
          <a:xfrm>
            <a:off x="4797543" y="253303"/>
            <a:ext cx="3954000" cy="1737989"/>
          </a:xfrm>
        </p:spPr>
        <p:txBody>
          <a:bodyPr spcFirstLastPara="1" wrap="square" lIns="91425" tIns="91425" rIns="91425" bIns="91425" anchor="t" anchorCtr="0">
            <a:noAutofit/>
          </a:bodyPr>
          <a:lstStyle/>
          <a:p>
            <a:pPr marL="146050" lvl="0" indent="0" algn="ctr">
              <a:buNone/>
            </a:pPr>
            <a:r>
              <a:rPr lang="en-GB" sz="1400" dirty="0">
                <a:solidFill>
                  <a:srgbClr val="002F4A"/>
                </a:solidFill>
                <a:latin typeface="Merriweather" pitchFamily="2" charset="77"/>
              </a:rPr>
              <a:t>Developing countries alone need </a:t>
            </a:r>
            <a:r>
              <a:rPr lang="en-GB" sz="1400" b="1" dirty="0">
                <a:solidFill>
                  <a:srgbClr val="B85741"/>
                </a:solidFill>
                <a:latin typeface="Merriweather" pitchFamily="2" charset="77"/>
              </a:rPr>
              <a:t>$2 trillion annually</a:t>
            </a:r>
            <a:r>
              <a:rPr lang="en-GB" sz="1400" dirty="0">
                <a:solidFill>
                  <a:srgbClr val="002F4A"/>
                </a:solidFill>
                <a:latin typeface="Merriweather" pitchFamily="2" charset="77"/>
              </a:rPr>
              <a:t> (IMF, 2023)</a:t>
            </a:r>
          </a:p>
          <a:p>
            <a:pPr marL="146050" lvl="0" indent="0" algn="ctr">
              <a:buNone/>
            </a:pPr>
            <a:endParaRPr lang="en-GB" sz="1400" dirty="0">
              <a:solidFill>
                <a:srgbClr val="002F4A"/>
              </a:solidFill>
              <a:latin typeface="Merriweather" pitchFamily="2" charset="77"/>
            </a:endParaRPr>
          </a:p>
          <a:p>
            <a:pPr marL="146050" lvl="0" indent="0" algn="ctr">
              <a:buNone/>
            </a:pPr>
            <a:r>
              <a:rPr lang="en-GB" sz="1400" dirty="0">
                <a:solidFill>
                  <a:srgbClr val="002F4A"/>
                </a:solidFill>
                <a:latin typeface="Merriweather" pitchFamily="2" charset="77"/>
              </a:rPr>
              <a:t>IMF (2023) estimates </a:t>
            </a:r>
            <a:r>
              <a:rPr lang="en-GB" sz="1400" b="1" dirty="0">
                <a:solidFill>
                  <a:srgbClr val="B85741"/>
                </a:solidFill>
                <a:latin typeface="Merriweather" pitchFamily="2" charset="77"/>
              </a:rPr>
              <a:t>80%</a:t>
            </a:r>
            <a:r>
              <a:rPr lang="en-GB" sz="1400" b="1" dirty="0">
                <a:solidFill>
                  <a:srgbClr val="002F4A"/>
                </a:solidFill>
                <a:latin typeface="Merriweather" pitchFamily="2" charset="77"/>
              </a:rPr>
              <a:t> </a:t>
            </a:r>
            <a:r>
              <a:rPr lang="en-GB" sz="1400" dirty="0">
                <a:solidFill>
                  <a:srgbClr val="002F4A"/>
                </a:solidFill>
                <a:latin typeface="Merriweather" pitchFamily="2" charset="77"/>
              </a:rPr>
              <a:t>of necessary investment must come from the </a:t>
            </a:r>
            <a:r>
              <a:rPr lang="en-GB" sz="1400" b="1" dirty="0">
                <a:solidFill>
                  <a:srgbClr val="B85741"/>
                </a:solidFill>
                <a:latin typeface="Merriweather" pitchFamily="2" charset="77"/>
              </a:rPr>
              <a:t>private sector</a:t>
            </a:r>
          </a:p>
        </p:txBody>
      </p:sp>
      <p:pic>
        <p:nvPicPr>
          <p:cNvPr id="98" name="Google Shape;98;p16" title="Points scored"/>
          <p:cNvPicPr preferRelativeResize="0"/>
          <p:nvPr/>
        </p:nvPicPr>
        <p:blipFill rotWithShape="1">
          <a:blip r:embed="rId4">
            <a:alphaModFix/>
          </a:blip>
          <a:srcRect t="19707"/>
          <a:stretch/>
        </p:blipFill>
        <p:spPr>
          <a:xfrm>
            <a:off x="4979901" y="2233680"/>
            <a:ext cx="3852799" cy="2061856"/>
          </a:xfrm>
          <a:prstGeom prst="rect">
            <a:avLst/>
          </a:prstGeom>
          <a:noFill/>
          <a:ln>
            <a:noFill/>
          </a:ln>
        </p:spPr>
      </p:pic>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 name="Title 9">
            <a:extLst>
              <a:ext uri="{FF2B5EF4-FFF2-40B4-BE49-F238E27FC236}">
                <a16:creationId xmlns:a16="http://schemas.microsoft.com/office/drawing/2014/main" id="{2E9A4454-9C96-FA09-C9E2-86234AA8F843}"/>
              </a:ext>
            </a:extLst>
          </p:cNvPr>
          <p:cNvSpPr>
            <a:spLocks noGrp="1"/>
          </p:cNvSpPr>
          <p:nvPr>
            <p:ph type="title"/>
          </p:nvPr>
        </p:nvSpPr>
        <p:spPr>
          <a:xfrm>
            <a:off x="311150" y="501650"/>
            <a:ext cx="3487127" cy="3183110"/>
          </a:xfrm>
        </p:spPr>
        <p:txBody>
          <a:bodyPr>
            <a:normAutofit fontScale="90000"/>
          </a:bodyPr>
          <a:lstStyle/>
          <a:p>
            <a:r>
              <a:rPr lang="en-GB" dirty="0">
                <a:sym typeface="Roboto"/>
              </a:rPr>
              <a:t>Developing countries have difficulty </a:t>
            </a:r>
            <a:r>
              <a:rPr lang="en-GB" dirty="0">
                <a:solidFill>
                  <a:srgbClr val="B85641"/>
                </a:solidFill>
                <a:sym typeface="Roboto"/>
              </a:rPr>
              <a:t>accessing financing </a:t>
            </a:r>
            <a:r>
              <a:rPr lang="en-GB" dirty="0">
                <a:sym typeface="Roboto"/>
              </a:rPr>
              <a:t>for renewable energy infrastructure, and their </a:t>
            </a:r>
            <a:r>
              <a:rPr lang="en-GB" dirty="0">
                <a:solidFill>
                  <a:srgbClr val="B85641"/>
                </a:solidFill>
                <a:sym typeface="Roboto"/>
              </a:rPr>
              <a:t>cost of capital </a:t>
            </a:r>
            <a:r>
              <a:rPr lang="en-GB" dirty="0">
                <a:sym typeface="Roboto"/>
              </a:rPr>
              <a:t>is often high</a:t>
            </a:r>
            <a:endParaRPr lang="en-US" dirty="0"/>
          </a:p>
        </p:txBody>
      </p:sp>
      <p:sp>
        <p:nvSpPr>
          <p:cNvPr id="16" name="Text Placeholder 15">
            <a:extLst>
              <a:ext uri="{FF2B5EF4-FFF2-40B4-BE49-F238E27FC236}">
                <a16:creationId xmlns:a16="http://schemas.microsoft.com/office/drawing/2014/main" id="{26F39FCF-13BF-24A8-76D4-DE942A53552A}"/>
              </a:ext>
            </a:extLst>
          </p:cNvPr>
          <p:cNvSpPr>
            <a:spLocks noGrp="1"/>
          </p:cNvSpPr>
          <p:nvPr>
            <p:ph type="body" idx="2"/>
          </p:nvPr>
        </p:nvSpPr>
        <p:spPr>
          <a:xfrm>
            <a:off x="4703193" y="310675"/>
            <a:ext cx="4324958" cy="1782530"/>
          </a:xfrm>
        </p:spPr>
        <p:txBody>
          <a:bodyPr/>
          <a:lstStyle/>
          <a:p>
            <a:pPr marL="146050" indent="0" algn="ctr">
              <a:buNone/>
            </a:pPr>
            <a:r>
              <a:rPr lang="en-GB" sz="1400" b="0" i="0" dirty="0">
                <a:solidFill>
                  <a:srgbClr val="1F1F1F"/>
                </a:solidFill>
                <a:effectLst/>
                <a:latin typeface="Merriweather" pitchFamily="2" charset="77"/>
              </a:rPr>
              <a:t>For utility-scale solar PV projects in 2021, financing costs constituted about </a:t>
            </a:r>
            <a:r>
              <a:rPr lang="en-GB" sz="1400" b="1" i="0" dirty="0">
                <a:solidFill>
                  <a:srgbClr val="B85641"/>
                </a:solidFill>
                <a:effectLst/>
                <a:latin typeface="Merriweather" pitchFamily="2" charset="77"/>
              </a:rPr>
              <a:t>50%</a:t>
            </a:r>
            <a:r>
              <a:rPr lang="en-GB" sz="1400" b="0" i="0" dirty="0">
                <a:solidFill>
                  <a:srgbClr val="B85641"/>
                </a:solidFill>
                <a:effectLst/>
                <a:latin typeface="Merriweather" pitchFamily="2" charset="77"/>
              </a:rPr>
              <a:t> </a:t>
            </a:r>
            <a:r>
              <a:rPr lang="en-GB" sz="1400" b="0" i="0" dirty="0">
                <a:solidFill>
                  <a:srgbClr val="1F1F1F"/>
                </a:solidFill>
                <a:effectLst/>
                <a:latin typeface="Merriweather" pitchFamily="2" charset="77"/>
              </a:rPr>
              <a:t>of the LCOE in emerging markets versus </a:t>
            </a:r>
            <a:r>
              <a:rPr lang="en-GB" sz="1400" b="1" i="0" dirty="0">
                <a:solidFill>
                  <a:srgbClr val="B85641"/>
                </a:solidFill>
                <a:effectLst/>
                <a:latin typeface="Merriweather" pitchFamily="2" charset="77"/>
              </a:rPr>
              <a:t>less than 30% </a:t>
            </a:r>
            <a:r>
              <a:rPr lang="en-GB" sz="1400" b="0" i="0" dirty="0">
                <a:solidFill>
                  <a:srgbClr val="1F1F1F"/>
                </a:solidFill>
                <a:effectLst/>
                <a:latin typeface="Merriweather" pitchFamily="2" charset="77"/>
              </a:rPr>
              <a:t>for developed economies (IEA and IFC, 2023).</a:t>
            </a:r>
            <a:endParaRPr lang="en-US" sz="1400" dirty="0">
              <a:latin typeface="Merriweather" pitchFamily="2" charset="77"/>
            </a:endParaRPr>
          </a:p>
          <a:p>
            <a:endParaRPr lang="en-US" dirty="0"/>
          </a:p>
        </p:txBody>
      </p:sp>
      <p:pic>
        <p:nvPicPr>
          <p:cNvPr id="1026" name="Picture 2">
            <a:extLst>
              <a:ext uri="{FF2B5EF4-FFF2-40B4-BE49-F238E27FC236}">
                <a16:creationId xmlns:a16="http://schemas.microsoft.com/office/drawing/2014/main" id="{4AA4111B-6977-7641-882C-A410CB0BD21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390" t="5765" r="32178" b="19760"/>
          <a:stretch/>
        </p:blipFill>
        <p:spPr bwMode="auto">
          <a:xfrm>
            <a:off x="4909473" y="1840245"/>
            <a:ext cx="3923377" cy="2420101"/>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99;p16">
            <a:extLst>
              <a:ext uri="{FF2B5EF4-FFF2-40B4-BE49-F238E27FC236}">
                <a16:creationId xmlns:a16="http://schemas.microsoft.com/office/drawing/2014/main" id="{F98121F2-F554-918F-BBFC-D90BB75184A5}"/>
              </a:ext>
            </a:extLst>
          </p:cNvPr>
          <p:cNvSpPr txBox="1">
            <a:spLocks/>
          </p:cNvSpPr>
          <p:nvPr/>
        </p:nvSpPr>
        <p:spPr>
          <a:xfrm>
            <a:off x="4745663" y="4260346"/>
            <a:ext cx="4240015" cy="62638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marR="0" lvl="0" indent="-311150" algn="l" rtl="0">
              <a:lnSpc>
                <a:spcPct val="150000"/>
              </a:lnSpc>
              <a:spcBef>
                <a:spcPts val="0"/>
              </a:spcBef>
              <a:spcAft>
                <a:spcPts val="0"/>
              </a:spcAft>
              <a:buClr>
                <a:schemeClr val="dk2"/>
              </a:buClr>
              <a:buSzPts val="1300"/>
              <a:buFont typeface="Roboto"/>
              <a:buChar char="●"/>
              <a:defRPr sz="1500" b="0" i="0" u="none" strike="noStrike" cap="none">
                <a:solidFill>
                  <a:srgbClr val="B85641"/>
                </a:solidFill>
                <a:latin typeface="Roboto" panose="02000000000000000000" pitchFamily="2" charset="0"/>
                <a:ea typeface="Roboto" panose="02000000000000000000" pitchFamily="2" charset="0"/>
                <a:cs typeface="Roboto" panose="02000000000000000000" pitchFamily="2" charset="0"/>
                <a:sym typeface="Roboto"/>
              </a:defRPr>
            </a:lvl1pPr>
            <a:lvl2pPr marL="557213" marR="0" lvl="1" indent="-214313" algn="l" rtl="0">
              <a:lnSpc>
                <a:spcPct val="150000"/>
              </a:lnSpc>
              <a:spcBef>
                <a:spcPts val="0"/>
              </a:spcBef>
              <a:spcAft>
                <a:spcPts val="0"/>
              </a:spcAft>
              <a:buClr>
                <a:schemeClr val="tx1"/>
              </a:buClr>
              <a:buSzPts val="1100"/>
              <a:buFont typeface="Arial" panose="020B0604020202020204" pitchFamily="34" charset="0"/>
              <a:buChar char="•"/>
              <a:defRPr sz="135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Roboto"/>
              </a:defRPr>
            </a:lvl2pPr>
            <a:lvl3pPr marL="1371600" marR="0" lvl="2" indent="-298450" algn="l" rtl="0">
              <a:lnSpc>
                <a:spcPct val="150000"/>
              </a:lnSpc>
              <a:spcBef>
                <a:spcPts val="0"/>
              </a:spcBef>
              <a:spcAft>
                <a:spcPts val="0"/>
              </a:spcAft>
              <a:buClr>
                <a:schemeClr val="tx1"/>
              </a:buClr>
              <a:buSzPts val="1100"/>
              <a:buFont typeface="Courier New" panose="02070309020205020404" pitchFamily="49" charset="0"/>
              <a:buChar char="o"/>
              <a:defRPr sz="135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Roboto"/>
              </a:defRPr>
            </a:lvl3pPr>
            <a:lvl4pPr marL="1828800" marR="0" lvl="3" indent="-298450" algn="l" rtl="0">
              <a:lnSpc>
                <a:spcPct val="150000"/>
              </a:lnSpc>
              <a:spcBef>
                <a:spcPts val="0"/>
              </a:spcBef>
              <a:spcAft>
                <a:spcPts val="0"/>
              </a:spcAft>
              <a:buClr>
                <a:schemeClr val="tx1"/>
              </a:buClr>
              <a:buSzPts val="1100"/>
              <a:buFont typeface="Roboto"/>
              <a:buChar char="●"/>
              <a:defRPr sz="135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Roboto"/>
              </a:defRPr>
            </a:lvl4pPr>
            <a:lvl5pPr marL="2286000" marR="0" lvl="4" indent="-298450" algn="l" rtl="0">
              <a:lnSpc>
                <a:spcPct val="150000"/>
              </a:lnSpc>
              <a:spcBef>
                <a:spcPts val="0"/>
              </a:spcBef>
              <a:spcAft>
                <a:spcPts val="0"/>
              </a:spcAft>
              <a:buClr>
                <a:schemeClr val="tx1"/>
              </a:buClr>
              <a:buSzPts val="1100"/>
              <a:buFont typeface="Roboto"/>
              <a:buChar char="○"/>
              <a:defRPr sz="135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Roboto"/>
              </a:defRPr>
            </a:lvl5pPr>
            <a:lvl6pPr marL="2743200" marR="0" lvl="5"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indent="0" algn="ctr">
              <a:lnSpc>
                <a:spcPct val="100000"/>
              </a:lnSpc>
              <a:buFont typeface="Roboto"/>
              <a:buNone/>
            </a:pPr>
            <a:r>
              <a:rPr lang="en-GB" sz="1050" b="1" dirty="0">
                <a:latin typeface="Merriweather" pitchFamily="2" charset="77"/>
              </a:rPr>
              <a:t>Electricity Generation From Renewable Sources </a:t>
            </a:r>
          </a:p>
          <a:p>
            <a:pPr indent="0" algn="ctr">
              <a:lnSpc>
                <a:spcPct val="100000"/>
              </a:lnSpc>
              <a:buFont typeface="Roboto"/>
              <a:buNone/>
            </a:pPr>
            <a:r>
              <a:rPr lang="en-GB" sz="1050" b="1" dirty="0">
                <a:latin typeface="Merriweather" pitchFamily="2" charset="77"/>
              </a:rPr>
              <a:t>(per capita, per year)</a:t>
            </a:r>
          </a:p>
          <a:p>
            <a:pPr indent="0" algn="ctr">
              <a:lnSpc>
                <a:spcPct val="100000"/>
              </a:lnSpc>
              <a:buFont typeface="Roboto"/>
              <a:buNone/>
            </a:pPr>
            <a:endParaRPr lang="en-GB" sz="1050" b="1" dirty="0">
              <a:solidFill>
                <a:srgbClr val="002F4A"/>
              </a:solidFill>
              <a:latin typeface="Merriweather" pitchFamily="2" charset="77"/>
            </a:endParaRPr>
          </a:p>
          <a:p>
            <a:pPr indent="0" algn="ctr">
              <a:lnSpc>
                <a:spcPct val="100000"/>
              </a:lnSpc>
              <a:buNone/>
            </a:pPr>
            <a:r>
              <a:rPr lang="en-GB" sz="900" i="1" dirty="0">
                <a:solidFill>
                  <a:srgbClr val="002F4A"/>
                </a:solidFill>
                <a:latin typeface="Merriweather" pitchFamily="2" charset="77"/>
              </a:rPr>
              <a:t>Source: </a:t>
            </a:r>
            <a:r>
              <a:rPr lang="en-GB" sz="900" i="1" dirty="0" err="1">
                <a:solidFill>
                  <a:srgbClr val="002F4A"/>
                </a:solidFill>
                <a:latin typeface="Merriweather" pitchFamily="2" charset="77"/>
              </a:rPr>
              <a:t>Babayomi</a:t>
            </a:r>
            <a:r>
              <a:rPr lang="en-GB" sz="900" i="1" dirty="0">
                <a:solidFill>
                  <a:srgbClr val="002F4A"/>
                </a:solidFill>
                <a:latin typeface="Merriweather" pitchFamily="2" charset="77"/>
              </a:rPr>
              <a:t>, O., </a:t>
            </a:r>
            <a:r>
              <a:rPr lang="en-GB" sz="900" i="1" dirty="0" err="1">
                <a:solidFill>
                  <a:srgbClr val="002F4A"/>
                </a:solidFill>
                <a:latin typeface="Merriweather" pitchFamily="2" charset="77"/>
              </a:rPr>
              <a:t>Dahoro</a:t>
            </a:r>
            <a:r>
              <a:rPr lang="en-GB" sz="900" i="1" dirty="0">
                <a:solidFill>
                  <a:srgbClr val="002F4A"/>
                </a:solidFill>
                <a:latin typeface="Merriweather" pitchFamily="2" charset="77"/>
              </a:rPr>
              <a:t>, D. &amp; Zhang, Z. (2022).</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CE7B6-8C37-C26A-C221-18E972766294}"/>
              </a:ext>
            </a:extLst>
          </p:cNvPr>
          <p:cNvSpPr>
            <a:spLocks noGrp="1"/>
          </p:cNvSpPr>
          <p:nvPr>
            <p:ph type="title"/>
          </p:nvPr>
        </p:nvSpPr>
        <p:spPr/>
        <p:txBody>
          <a:bodyPr>
            <a:normAutofit fontScale="90000"/>
          </a:bodyPr>
          <a:lstStyle/>
          <a:p>
            <a:r>
              <a:rPr lang="en-US" dirty="0"/>
              <a:t>Current incentives structures and mechanisms are limited either in </a:t>
            </a:r>
            <a:r>
              <a:rPr lang="en-US" dirty="0">
                <a:solidFill>
                  <a:srgbClr val="B85641"/>
                </a:solidFill>
              </a:rPr>
              <a:t>scope</a:t>
            </a:r>
            <a:r>
              <a:rPr lang="en-US" dirty="0"/>
              <a:t> or in </a:t>
            </a:r>
            <a:r>
              <a:rPr lang="en-US" dirty="0">
                <a:solidFill>
                  <a:srgbClr val="B85641"/>
                </a:solidFill>
              </a:rPr>
              <a:t>scale</a:t>
            </a:r>
          </a:p>
        </p:txBody>
      </p:sp>
      <p:sp>
        <p:nvSpPr>
          <p:cNvPr id="3" name="Subtitle 2">
            <a:extLst>
              <a:ext uri="{FF2B5EF4-FFF2-40B4-BE49-F238E27FC236}">
                <a16:creationId xmlns:a16="http://schemas.microsoft.com/office/drawing/2014/main" id="{07C87C83-8847-B61D-F32A-8E2C65ABFCAE}"/>
              </a:ext>
            </a:extLst>
          </p:cNvPr>
          <p:cNvSpPr>
            <a:spLocks noGrp="1"/>
          </p:cNvSpPr>
          <p:nvPr>
            <p:ph type="subTitle" idx="1"/>
          </p:nvPr>
        </p:nvSpPr>
        <p:spPr/>
        <p:txBody>
          <a:bodyPr/>
          <a:lstStyle/>
          <a:p>
            <a:endParaRPr lang="en-US" dirty="0"/>
          </a:p>
        </p:txBody>
      </p:sp>
      <p:sp>
        <p:nvSpPr>
          <p:cNvPr id="5" name="Slide Number Placeholder 4">
            <a:extLst>
              <a:ext uri="{FF2B5EF4-FFF2-40B4-BE49-F238E27FC236}">
                <a16:creationId xmlns:a16="http://schemas.microsoft.com/office/drawing/2014/main" id="{C0A35408-E97A-32D0-E990-CEFA8A21D44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sp>
        <p:nvSpPr>
          <p:cNvPr id="7" name="Google Shape;99;p16">
            <a:extLst>
              <a:ext uri="{FF2B5EF4-FFF2-40B4-BE49-F238E27FC236}">
                <a16:creationId xmlns:a16="http://schemas.microsoft.com/office/drawing/2014/main" id="{223D505F-FEC2-7411-BC6C-2A83BB326A96}"/>
              </a:ext>
            </a:extLst>
          </p:cNvPr>
          <p:cNvSpPr txBox="1">
            <a:spLocks/>
          </p:cNvSpPr>
          <p:nvPr/>
        </p:nvSpPr>
        <p:spPr>
          <a:xfrm>
            <a:off x="4745795" y="4432378"/>
            <a:ext cx="4240015" cy="62638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marR="0" lvl="0" indent="-311150" algn="l" rtl="0">
              <a:lnSpc>
                <a:spcPct val="150000"/>
              </a:lnSpc>
              <a:spcBef>
                <a:spcPts val="0"/>
              </a:spcBef>
              <a:spcAft>
                <a:spcPts val="0"/>
              </a:spcAft>
              <a:buClr>
                <a:schemeClr val="dk2"/>
              </a:buClr>
              <a:buSzPts val="1300"/>
              <a:buFont typeface="Roboto"/>
              <a:buChar char="●"/>
              <a:defRPr sz="1500" b="0" i="0" u="none" strike="noStrike" cap="none">
                <a:solidFill>
                  <a:srgbClr val="B85641"/>
                </a:solidFill>
                <a:latin typeface="Roboto" panose="02000000000000000000" pitchFamily="2" charset="0"/>
                <a:ea typeface="Roboto" panose="02000000000000000000" pitchFamily="2" charset="0"/>
                <a:cs typeface="Roboto" panose="02000000000000000000" pitchFamily="2" charset="0"/>
                <a:sym typeface="Roboto"/>
              </a:defRPr>
            </a:lvl1pPr>
            <a:lvl2pPr marL="557213" marR="0" lvl="1" indent="-214313" algn="l" rtl="0">
              <a:lnSpc>
                <a:spcPct val="150000"/>
              </a:lnSpc>
              <a:spcBef>
                <a:spcPts val="0"/>
              </a:spcBef>
              <a:spcAft>
                <a:spcPts val="0"/>
              </a:spcAft>
              <a:buClr>
                <a:schemeClr val="tx1"/>
              </a:buClr>
              <a:buSzPts val="1100"/>
              <a:buFont typeface="Arial" panose="020B0604020202020204" pitchFamily="34" charset="0"/>
              <a:buChar char="•"/>
              <a:defRPr sz="135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Roboto"/>
              </a:defRPr>
            </a:lvl2pPr>
            <a:lvl3pPr marL="1371600" marR="0" lvl="2" indent="-298450" algn="l" rtl="0">
              <a:lnSpc>
                <a:spcPct val="150000"/>
              </a:lnSpc>
              <a:spcBef>
                <a:spcPts val="0"/>
              </a:spcBef>
              <a:spcAft>
                <a:spcPts val="0"/>
              </a:spcAft>
              <a:buClr>
                <a:schemeClr val="tx1"/>
              </a:buClr>
              <a:buSzPts val="1100"/>
              <a:buFont typeface="Courier New" panose="02070309020205020404" pitchFamily="49" charset="0"/>
              <a:buChar char="o"/>
              <a:defRPr sz="135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Roboto"/>
              </a:defRPr>
            </a:lvl3pPr>
            <a:lvl4pPr marL="1828800" marR="0" lvl="3" indent="-298450" algn="l" rtl="0">
              <a:lnSpc>
                <a:spcPct val="150000"/>
              </a:lnSpc>
              <a:spcBef>
                <a:spcPts val="0"/>
              </a:spcBef>
              <a:spcAft>
                <a:spcPts val="0"/>
              </a:spcAft>
              <a:buClr>
                <a:schemeClr val="tx1"/>
              </a:buClr>
              <a:buSzPts val="1100"/>
              <a:buFont typeface="Roboto"/>
              <a:buChar char="●"/>
              <a:defRPr sz="135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Roboto"/>
              </a:defRPr>
            </a:lvl4pPr>
            <a:lvl5pPr marL="2286000" marR="0" lvl="4" indent="-298450" algn="l" rtl="0">
              <a:lnSpc>
                <a:spcPct val="150000"/>
              </a:lnSpc>
              <a:spcBef>
                <a:spcPts val="0"/>
              </a:spcBef>
              <a:spcAft>
                <a:spcPts val="0"/>
              </a:spcAft>
              <a:buClr>
                <a:schemeClr val="tx1"/>
              </a:buClr>
              <a:buSzPts val="1100"/>
              <a:buFont typeface="Roboto"/>
              <a:buChar char="○"/>
              <a:defRPr sz="135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Roboto"/>
              </a:defRPr>
            </a:lvl5pPr>
            <a:lvl6pPr marL="2743200" marR="0" lvl="5"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indent="0" algn="ctr">
              <a:lnSpc>
                <a:spcPct val="100000"/>
              </a:lnSpc>
              <a:buFont typeface="Roboto"/>
              <a:buNone/>
            </a:pPr>
            <a:r>
              <a:rPr lang="en-GB" sz="1050" b="1" dirty="0">
                <a:latin typeface="Merriweather" pitchFamily="2" charset="77"/>
              </a:rPr>
              <a:t>Issuers of SLBs</a:t>
            </a:r>
          </a:p>
          <a:p>
            <a:pPr indent="0" algn="ctr">
              <a:lnSpc>
                <a:spcPct val="100000"/>
              </a:lnSpc>
              <a:buFont typeface="Roboto"/>
              <a:buNone/>
            </a:pPr>
            <a:endParaRPr lang="en-GB" sz="1050" b="1" dirty="0">
              <a:solidFill>
                <a:srgbClr val="002F4A"/>
              </a:solidFill>
              <a:latin typeface="Merriweather" pitchFamily="2" charset="77"/>
            </a:endParaRPr>
          </a:p>
          <a:p>
            <a:pPr indent="0" algn="ctr">
              <a:lnSpc>
                <a:spcPct val="100000"/>
              </a:lnSpc>
              <a:buNone/>
            </a:pPr>
            <a:r>
              <a:rPr lang="en-GB" sz="900" i="1" dirty="0">
                <a:solidFill>
                  <a:srgbClr val="002F4A"/>
                </a:solidFill>
                <a:latin typeface="Merriweather" pitchFamily="2" charset="77"/>
              </a:rPr>
              <a:t>Data Source: </a:t>
            </a:r>
            <a:r>
              <a:rPr lang="en-GB" sz="900" i="1" dirty="0">
                <a:solidFill>
                  <a:srgbClr val="002F4A"/>
                </a:solidFill>
                <a:latin typeface="Merriweather" pitchFamily="2" charset="77"/>
                <a:hlinkClick r:id="rId2"/>
              </a:rPr>
              <a:t>Climate Bonds Initiative (2024)</a:t>
            </a:r>
            <a:endParaRPr lang="en-GB" sz="900" i="1" dirty="0">
              <a:solidFill>
                <a:srgbClr val="002F4A"/>
              </a:solidFill>
              <a:latin typeface="Merriweather" pitchFamily="2" charset="77"/>
            </a:endParaRPr>
          </a:p>
        </p:txBody>
      </p:sp>
      <p:pic>
        <p:nvPicPr>
          <p:cNvPr id="8" name="Picture 7">
            <a:extLst>
              <a:ext uri="{FF2B5EF4-FFF2-40B4-BE49-F238E27FC236}">
                <a16:creationId xmlns:a16="http://schemas.microsoft.com/office/drawing/2014/main" id="{CDFB98C3-43AC-8B6F-B6BC-61BEE15C4C67}"/>
              </a:ext>
            </a:extLst>
          </p:cNvPr>
          <p:cNvPicPr>
            <a:picLocks noChangeAspect="1"/>
          </p:cNvPicPr>
          <p:nvPr/>
        </p:nvPicPr>
        <p:blipFill>
          <a:blip r:embed="rId3"/>
          <a:stretch>
            <a:fillRect/>
          </a:stretch>
        </p:blipFill>
        <p:spPr>
          <a:xfrm>
            <a:off x="5219892" y="1973139"/>
            <a:ext cx="3291823" cy="2543972"/>
          </a:xfrm>
          <a:prstGeom prst="rect">
            <a:avLst/>
          </a:prstGeom>
        </p:spPr>
      </p:pic>
      <p:pic>
        <p:nvPicPr>
          <p:cNvPr id="9" name="Picture 8">
            <a:extLst>
              <a:ext uri="{FF2B5EF4-FFF2-40B4-BE49-F238E27FC236}">
                <a16:creationId xmlns:a16="http://schemas.microsoft.com/office/drawing/2014/main" id="{F8BA804B-F8F9-4BB2-98F2-4D281BCF6F8D}"/>
              </a:ext>
            </a:extLst>
          </p:cNvPr>
          <p:cNvPicPr>
            <a:picLocks noChangeAspect="1"/>
          </p:cNvPicPr>
          <p:nvPr/>
        </p:nvPicPr>
        <p:blipFill>
          <a:blip r:embed="rId4"/>
          <a:stretch>
            <a:fillRect/>
          </a:stretch>
        </p:blipFill>
        <p:spPr>
          <a:xfrm>
            <a:off x="7523052" y="3767511"/>
            <a:ext cx="1485320" cy="549448"/>
          </a:xfrm>
          <a:prstGeom prst="rect">
            <a:avLst/>
          </a:prstGeom>
        </p:spPr>
      </p:pic>
      <p:sp>
        <p:nvSpPr>
          <p:cNvPr id="10" name="Text Placeholder 15">
            <a:extLst>
              <a:ext uri="{FF2B5EF4-FFF2-40B4-BE49-F238E27FC236}">
                <a16:creationId xmlns:a16="http://schemas.microsoft.com/office/drawing/2014/main" id="{4B57CC08-C1E0-42F7-D6D6-0063A3391559}"/>
              </a:ext>
            </a:extLst>
          </p:cNvPr>
          <p:cNvSpPr txBox="1">
            <a:spLocks/>
          </p:cNvSpPr>
          <p:nvPr/>
        </p:nvSpPr>
        <p:spPr>
          <a:xfrm>
            <a:off x="4723231" y="224568"/>
            <a:ext cx="4285141" cy="1874576"/>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146050" indent="0">
              <a:lnSpc>
                <a:spcPct val="110000"/>
              </a:lnSpc>
              <a:buNone/>
            </a:pPr>
            <a:r>
              <a:rPr lang="en-GB" sz="1400" dirty="0">
                <a:solidFill>
                  <a:srgbClr val="B85641"/>
                </a:solidFill>
                <a:latin typeface="Merriweather" pitchFamily="2" charset="77"/>
              </a:rPr>
              <a:t>SCOPE</a:t>
            </a:r>
            <a:r>
              <a:rPr lang="en-GB" sz="1400" dirty="0">
                <a:solidFill>
                  <a:srgbClr val="203617"/>
                </a:solidFill>
                <a:latin typeface="Merriweather" pitchFamily="2" charset="77"/>
                <a:sym typeface="Wingdings" pitchFamily="2" charset="2"/>
              </a:rPr>
              <a:t> </a:t>
            </a:r>
            <a:r>
              <a:rPr lang="en-GB" sz="1400" dirty="0">
                <a:solidFill>
                  <a:srgbClr val="203617"/>
                </a:solidFill>
                <a:latin typeface="Merriweather" pitchFamily="2" charset="77"/>
              </a:rPr>
              <a:t> Tragedy of the Commons &amp; Horizons: private sector and policymakers lack incentives to prioritise long-term climate goals.</a:t>
            </a:r>
          </a:p>
          <a:p>
            <a:pPr marL="146050" indent="0">
              <a:lnSpc>
                <a:spcPct val="110000"/>
              </a:lnSpc>
              <a:buNone/>
            </a:pPr>
            <a:r>
              <a:rPr lang="en-US" sz="1400" dirty="0">
                <a:solidFill>
                  <a:srgbClr val="B85641"/>
                </a:solidFill>
                <a:latin typeface="Merriweather" pitchFamily="2" charset="77"/>
              </a:rPr>
              <a:t>SCALE</a:t>
            </a:r>
            <a:r>
              <a:rPr lang="en-US" sz="1400" dirty="0">
                <a:solidFill>
                  <a:srgbClr val="203617"/>
                </a:solidFill>
                <a:latin typeface="Merriweather" pitchFamily="2" charset="77"/>
                <a:sym typeface="Wingdings" pitchFamily="2" charset="2"/>
              </a:rPr>
              <a:t> </a:t>
            </a:r>
            <a:r>
              <a:rPr lang="en-US" sz="1400" dirty="0">
                <a:solidFill>
                  <a:srgbClr val="203617"/>
                </a:solidFill>
                <a:latin typeface="Merriweather" pitchFamily="2" charset="77"/>
              </a:rPr>
              <a:t>SLBs primarily cover project-specific ESG goals rather than national climate goals.</a:t>
            </a:r>
          </a:p>
          <a:p>
            <a:pPr marL="146050" indent="0" defTabSz="914400">
              <a:buNone/>
            </a:pPr>
            <a:endParaRPr lang="en-US" kern="0" dirty="0"/>
          </a:p>
        </p:txBody>
      </p:sp>
    </p:spTree>
    <p:extLst>
      <p:ext uri="{BB962C8B-B14F-4D97-AF65-F5344CB8AC3E}">
        <p14:creationId xmlns:p14="http://schemas.microsoft.com/office/powerpoint/2010/main" val="40756540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13D5E86-BF49-00CF-5066-9F056AD082CE}"/>
              </a:ext>
            </a:extLst>
          </p:cNvPr>
          <p:cNvSpPr>
            <a:spLocks noGrp="1"/>
          </p:cNvSpPr>
          <p:nvPr>
            <p:ph type="title"/>
          </p:nvPr>
        </p:nvSpPr>
        <p:spPr/>
        <p:txBody>
          <a:bodyPr>
            <a:normAutofit/>
          </a:bodyPr>
          <a:lstStyle/>
          <a:p>
            <a:r>
              <a:rPr lang="en-GB" dirty="0"/>
              <a:t>Expanding the </a:t>
            </a:r>
            <a:r>
              <a:rPr lang="en-GB" dirty="0">
                <a:solidFill>
                  <a:srgbClr val="B85641"/>
                </a:solidFill>
              </a:rPr>
              <a:t>World Bank’s Role </a:t>
            </a:r>
            <a:r>
              <a:rPr lang="en-GB" dirty="0"/>
              <a:t>in Addressing Climate Change</a:t>
            </a:r>
            <a:endParaRPr lang="en-US" dirty="0"/>
          </a:p>
        </p:txBody>
      </p:sp>
      <p:sp>
        <p:nvSpPr>
          <p:cNvPr id="3" name="Text Placeholder 2">
            <a:extLst>
              <a:ext uri="{FF2B5EF4-FFF2-40B4-BE49-F238E27FC236}">
                <a16:creationId xmlns:a16="http://schemas.microsoft.com/office/drawing/2014/main" id="{20223D4A-E7AA-5DB8-2FF5-FC0BBC6C5FF5}"/>
              </a:ext>
            </a:extLst>
          </p:cNvPr>
          <p:cNvSpPr>
            <a:spLocks noGrp="1"/>
          </p:cNvSpPr>
          <p:nvPr>
            <p:ph type="body" idx="2"/>
          </p:nvPr>
        </p:nvSpPr>
        <p:spPr>
          <a:xfrm>
            <a:off x="4723075" y="293363"/>
            <a:ext cx="4317558" cy="1845538"/>
          </a:xfrm>
        </p:spPr>
        <p:txBody>
          <a:bodyPr>
            <a:normAutofit lnSpcReduction="10000"/>
          </a:bodyPr>
          <a:lstStyle/>
          <a:p>
            <a:pPr marL="146050" indent="0">
              <a:buNone/>
            </a:pPr>
            <a:r>
              <a:rPr lang="en-GB" sz="1400" dirty="0">
                <a:solidFill>
                  <a:srgbClr val="203617"/>
                </a:solidFill>
                <a:latin typeface="Merriweather" pitchFamily="2" charset="77"/>
              </a:rPr>
              <a:t>Broader objective to </a:t>
            </a:r>
            <a:r>
              <a:rPr lang="en-GB" sz="1400" dirty="0">
                <a:solidFill>
                  <a:srgbClr val="B85641"/>
                </a:solidFill>
                <a:latin typeface="Merriweather" pitchFamily="2" charset="77"/>
              </a:rPr>
              <a:t>scale up climate funding</a:t>
            </a:r>
            <a:r>
              <a:rPr lang="en-GB" sz="1400" dirty="0">
                <a:solidFill>
                  <a:srgbClr val="203617"/>
                </a:solidFill>
                <a:latin typeface="Merriweather" pitchFamily="2" charset="77"/>
              </a:rPr>
              <a:t> within the World Bank to achieve its climate finance goal of 45% of total lending for FY25.</a:t>
            </a:r>
          </a:p>
          <a:p>
            <a:pPr marL="146050" indent="0">
              <a:buNone/>
            </a:pPr>
            <a:endParaRPr lang="en-GB" sz="1400" dirty="0">
              <a:solidFill>
                <a:srgbClr val="203617"/>
              </a:solidFill>
              <a:latin typeface="Merriweather" pitchFamily="2" charset="77"/>
            </a:endParaRPr>
          </a:p>
          <a:p>
            <a:pPr marL="146050" indent="0">
              <a:buNone/>
            </a:pPr>
            <a:r>
              <a:rPr lang="en-GB" sz="1400" dirty="0">
                <a:solidFill>
                  <a:srgbClr val="203617"/>
                </a:solidFill>
                <a:latin typeface="Merriweather" pitchFamily="2" charset="77"/>
              </a:rPr>
              <a:t>Need for </a:t>
            </a:r>
            <a:r>
              <a:rPr lang="en-GB" sz="1400" dirty="0">
                <a:solidFill>
                  <a:srgbClr val="B85641"/>
                </a:solidFill>
                <a:latin typeface="Merriweather" pitchFamily="2" charset="77"/>
              </a:rPr>
              <a:t>new solutions</a:t>
            </a:r>
            <a:r>
              <a:rPr lang="en-GB" sz="1400" dirty="0">
                <a:solidFill>
                  <a:srgbClr val="203617"/>
                </a:solidFill>
                <a:latin typeface="Merriweather" pitchFamily="2" charset="77"/>
              </a:rPr>
              <a:t> to avoid conflicts between climate priorities and fiscal responsibilities.</a:t>
            </a:r>
          </a:p>
        </p:txBody>
      </p:sp>
      <p:sp>
        <p:nvSpPr>
          <p:cNvPr id="9" name="Google Shape;99;p16">
            <a:extLst>
              <a:ext uri="{FF2B5EF4-FFF2-40B4-BE49-F238E27FC236}">
                <a16:creationId xmlns:a16="http://schemas.microsoft.com/office/drawing/2014/main" id="{BA680451-E95E-5A66-1CAE-D5FB73783E0A}"/>
              </a:ext>
            </a:extLst>
          </p:cNvPr>
          <p:cNvSpPr txBox="1">
            <a:spLocks/>
          </p:cNvSpPr>
          <p:nvPr/>
        </p:nvSpPr>
        <p:spPr>
          <a:xfrm>
            <a:off x="4761846" y="4469879"/>
            <a:ext cx="4240015" cy="62638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marR="0" lvl="0" indent="-311150" algn="l" rtl="0">
              <a:lnSpc>
                <a:spcPct val="150000"/>
              </a:lnSpc>
              <a:spcBef>
                <a:spcPts val="0"/>
              </a:spcBef>
              <a:spcAft>
                <a:spcPts val="0"/>
              </a:spcAft>
              <a:buClr>
                <a:schemeClr val="dk2"/>
              </a:buClr>
              <a:buSzPts val="1300"/>
              <a:buFont typeface="Roboto"/>
              <a:buChar char="●"/>
              <a:defRPr sz="1500" b="0" i="0" u="none" strike="noStrike" cap="none">
                <a:solidFill>
                  <a:srgbClr val="B85641"/>
                </a:solidFill>
                <a:latin typeface="Roboto" panose="02000000000000000000" pitchFamily="2" charset="0"/>
                <a:ea typeface="Roboto" panose="02000000000000000000" pitchFamily="2" charset="0"/>
                <a:cs typeface="Roboto" panose="02000000000000000000" pitchFamily="2" charset="0"/>
                <a:sym typeface="Roboto"/>
              </a:defRPr>
            </a:lvl1pPr>
            <a:lvl2pPr marL="557213" marR="0" lvl="1" indent="-214313" algn="l" rtl="0">
              <a:lnSpc>
                <a:spcPct val="150000"/>
              </a:lnSpc>
              <a:spcBef>
                <a:spcPts val="0"/>
              </a:spcBef>
              <a:spcAft>
                <a:spcPts val="0"/>
              </a:spcAft>
              <a:buClr>
                <a:schemeClr val="tx1"/>
              </a:buClr>
              <a:buSzPts val="1100"/>
              <a:buFont typeface="Arial" panose="020B0604020202020204" pitchFamily="34" charset="0"/>
              <a:buChar char="•"/>
              <a:defRPr sz="135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Roboto"/>
              </a:defRPr>
            </a:lvl2pPr>
            <a:lvl3pPr marL="1371600" marR="0" lvl="2" indent="-298450" algn="l" rtl="0">
              <a:lnSpc>
                <a:spcPct val="150000"/>
              </a:lnSpc>
              <a:spcBef>
                <a:spcPts val="0"/>
              </a:spcBef>
              <a:spcAft>
                <a:spcPts val="0"/>
              </a:spcAft>
              <a:buClr>
                <a:schemeClr val="tx1"/>
              </a:buClr>
              <a:buSzPts val="1100"/>
              <a:buFont typeface="Courier New" panose="02070309020205020404" pitchFamily="49" charset="0"/>
              <a:buChar char="o"/>
              <a:defRPr sz="135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Roboto"/>
              </a:defRPr>
            </a:lvl3pPr>
            <a:lvl4pPr marL="1828800" marR="0" lvl="3" indent="-298450" algn="l" rtl="0">
              <a:lnSpc>
                <a:spcPct val="150000"/>
              </a:lnSpc>
              <a:spcBef>
                <a:spcPts val="0"/>
              </a:spcBef>
              <a:spcAft>
                <a:spcPts val="0"/>
              </a:spcAft>
              <a:buClr>
                <a:schemeClr val="tx1"/>
              </a:buClr>
              <a:buSzPts val="1100"/>
              <a:buFont typeface="Roboto"/>
              <a:buChar char="●"/>
              <a:defRPr sz="135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Roboto"/>
              </a:defRPr>
            </a:lvl4pPr>
            <a:lvl5pPr marL="2286000" marR="0" lvl="4" indent="-298450" algn="l" rtl="0">
              <a:lnSpc>
                <a:spcPct val="150000"/>
              </a:lnSpc>
              <a:spcBef>
                <a:spcPts val="0"/>
              </a:spcBef>
              <a:spcAft>
                <a:spcPts val="0"/>
              </a:spcAft>
              <a:buClr>
                <a:schemeClr val="tx1"/>
              </a:buClr>
              <a:buSzPts val="1100"/>
              <a:buFont typeface="Roboto"/>
              <a:buChar char="○"/>
              <a:defRPr sz="135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Roboto"/>
              </a:defRPr>
            </a:lvl5pPr>
            <a:lvl6pPr marL="2743200" marR="0" lvl="5"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indent="0" algn="ctr">
              <a:lnSpc>
                <a:spcPct val="100000"/>
              </a:lnSpc>
              <a:buFont typeface="Roboto"/>
              <a:buNone/>
            </a:pPr>
            <a:r>
              <a:rPr lang="en-GB" sz="1050" b="1" dirty="0">
                <a:latin typeface="Merriweather" pitchFamily="2" charset="77"/>
              </a:rPr>
              <a:t>World Bank Regional Lending FY24</a:t>
            </a:r>
          </a:p>
          <a:p>
            <a:pPr indent="0" algn="ctr">
              <a:lnSpc>
                <a:spcPct val="100000"/>
              </a:lnSpc>
              <a:buFont typeface="Roboto"/>
              <a:buNone/>
            </a:pPr>
            <a:endParaRPr lang="en-GB" sz="1050" b="1" dirty="0">
              <a:solidFill>
                <a:srgbClr val="002F4A"/>
              </a:solidFill>
              <a:latin typeface="Merriweather" pitchFamily="2" charset="77"/>
            </a:endParaRPr>
          </a:p>
          <a:p>
            <a:pPr indent="0" algn="ctr">
              <a:lnSpc>
                <a:spcPct val="100000"/>
              </a:lnSpc>
              <a:buNone/>
            </a:pPr>
            <a:r>
              <a:rPr lang="en-GB" sz="900" i="1" dirty="0">
                <a:solidFill>
                  <a:srgbClr val="002F4A"/>
                </a:solidFill>
                <a:latin typeface="Merriweather" pitchFamily="2" charset="77"/>
              </a:rPr>
              <a:t>Data Source: </a:t>
            </a:r>
            <a:r>
              <a:rPr lang="en-GB" sz="900" i="1" dirty="0">
                <a:solidFill>
                  <a:srgbClr val="002F4A"/>
                </a:solidFill>
                <a:latin typeface="Merriweather" pitchFamily="2" charset="77"/>
                <a:hlinkClick r:id="rId2"/>
              </a:rPr>
              <a:t>World Bank (2024)</a:t>
            </a:r>
            <a:endParaRPr lang="en-GB" sz="900" i="1" dirty="0">
              <a:solidFill>
                <a:srgbClr val="002F4A"/>
              </a:solidFill>
              <a:latin typeface="Merriweather" pitchFamily="2" charset="77"/>
            </a:endParaRPr>
          </a:p>
        </p:txBody>
      </p:sp>
      <p:pic>
        <p:nvPicPr>
          <p:cNvPr id="10" name="Picture 9">
            <a:extLst>
              <a:ext uri="{FF2B5EF4-FFF2-40B4-BE49-F238E27FC236}">
                <a16:creationId xmlns:a16="http://schemas.microsoft.com/office/drawing/2014/main" id="{A6406628-BA9F-911C-64C6-86E049A33C7A}"/>
              </a:ext>
            </a:extLst>
          </p:cNvPr>
          <p:cNvPicPr>
            <a:picLocks noChangeAspect="1"/>
          </p:cNvPicPr>
          <p:nvPr/>
        </p:nvPicPr>
        <p:blipFill>
          <a:blip r:embed="rId3"/>
          <a:stretch>
            <a:fillRect/>
          </a:stretch>
        </p:blipFill>
        <p:spPr>
          <a:xfrm>
            <a:off x="4800618" y="2178950"/>
            <a:ext cx="4240015" cy="2298111"/>
          </a:xfrm>
          <a:prstGeom prst="rect">
            <a:avLst/>
          </a:prstGeom>
        </p:spPr>
      </p:pic>
    </p:spTree>
    <p:extLst>
      <p:ext uri="{BB962C8B-B14F-4D97-AF65-F5344CB8AC3E}">
        <p14:creationId xmlns:p14="http://schemas.microsoft.com/office/powerpoint/2010/main" val="1864344372"/>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grpSp>
        <p:nvGrpSpPr>
          <p:cNvPr id="106" name="Google Shape;106;p17"/>
          <p:cNvGrpSpPr/>
          <p:nvPr/>
        </p:nvGrpSpPr>
        <p:grpSpPr>
          <a:xfrm>
            <a:off x="3303553" y="1045784"/>
            <a:ext cx="2674737" cy="2791280"/>
            <a:chOff x="3071454" y="2013875"/>
            <a:chExt cx="2154300" cy="1569600"/>
          </a:xfrm>
          <a:solidFill>
            <a:srgbClr val="FFFFFF">
              <a:alpha val="83137"/>
            </a:srgbClr>
          </a:solidFill>
        </p:grpSpPr>
        <p:sp>
          <p:nvSpPr>
            <p:cNvPr id="107" name="Google Shape;107;p17"/>
            <p:cNvSpPr/>
            <p:nvPr/>
          </p:nvSpPr>
          <p:spPr>
            <a:xfrm rot="10800000" flipH="1">
              <a:off x="3071454" y="2013875"/>
              <a:ext cx="2154300" cy="1569600"/>
            </a:xfrm>
            <a:prstGeom prst="round2DiagRect">
              <a:avLst>
                <a:gd name="adj1" fmla="val 0"/>
                <a:gd name="adj2" fmla="val 17764"/>
              </a:avLst>
            </a:pr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7"/>
            <p:cNvSpPr txBox="1"/>
            <p:nvPr/>
          </p:nvSpPr>
          <p:spPr>
            <a:xfrm>
              <a:off x="3338910" y="2296830"/>
              <a:ext cx="1647300" cy="848510"/>
            </a:xfrm>
            <a:prstGeom prst="rect">
              <a:avLst/>
            </a:prstGeom>
            <a:noFill/>
            <a:ln w="9525" cap="flat" cmpd="sng">
              <a:noFill/>
              <a:prstDash val="solid"/>
              <a:round/>
              <a:headEnd type="none" w="sm" len="sm"/>
              <a:tailEnd type="none" w="sm" len="sm"/>
            </a:ln>
          </p:spPr>
          <p:txBody>
            <a:bodyPr spcFirstLastPara="1" wrap="square" lIns="91425" tIns="91425" rIns="91425" bIns="91425" anchor="t" anchorCtr="0">
              <a:noAutofit/>
            </a:bodyPr>
            <a:lstStyle/>
            <a:p>
              <a:pPr>
                <a:lnSpc>
                  <a:spcPct val="115000"/>
                </a:lnSpc>
                <a:spcAft>
                  <a:spcPts val="1600"/>
                </a:spcAft>
              </a:pPr>
              <a:r>
                <a:rPr lang="en" sz="1300" b="1" dirty="0">
                  <a:solidFill>
                    <a:srgbClr val="A72A1E"/>
                  </a:solidFill>
                  <a:latin typeface="Merriweather" pitchFamily="2" charset="77"/>
                  <a:ea typeface="Roboto"/>
                  <a:cs typeface="Roboto"/>
                  <a:sym typeface="Roboto"/>
                </a:rPr>
                <a:t>Sustainability Linked Bonds (SLBs) and Sustainability-Linked Loans (SLLs) are useful innovations to achieve these goals, but have not achieved necessary scale</a:t>
              </a:r>
              <a:endParaRPr lang="en" sz="1300" b="1" dirty="0">
                <a:solidFill>
                  <a:srgbClr val="A72A1E"/>
                </a:solidFill>
                <a:latin typeface="Merriweather" pitchFamily="2" charset="77"/>
                <a:ea typeface="Roboto"/>
                <a:cs typeface="Roboto"/>
              </a:endParaRPr>
            </a:p>
          </p:txBody>
        </p:sp>
      </p:grpSp>
      <p:grpSp>
        <p:nvGrpSpPr>
          <p:cNvPr id="110" name="Google Shape;110;p17"/>
          <p:cNvGrpSpPr/>
          <p:nvPr/>
        </p:nvGrpSpPr>
        <p:grpSpPr>
          <a:xfrm>
            <a:off x="413057" y="488885"/>
            <a:ext cx="2890495" cy="2905477"/>
            <a:chOff x="1126863" y="2013875"/>
            <a:chExt cx="1944600" cy="1677882"/>
          </a:xfrm>
        </p:grpSpPr>
        <p:sp>
          <p:nvSpPr>
            <p:cNvPr id="111" name="Google Shape;111;p17"/>
            <p:cNvSpPr/>
            <p:nvPr/>
          </p:nvSpPr>
          <p:spPr>
            <a:xfrm>
              <a:off x="1126863" y="2013875"/>
              <a:ext cx="1944600" cy="1677882"/>
            </a:xfrm>
            <a:prstGeom prst="round2DiagRect">
              <a:avLst>
                <a:gd name="adj1" fmla="val 0"/>
                <a:gd name="adj2" fmla="val 17764"/>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2" name="Google Shape;112;p17"/>
            <p:cNvSpPr txBox="1"/>
            <p:nvPr/>
          </p:nvSpPr>
          <p:spPr>
            <a:xfrm>
              <a:off x="1308213" y="2103157"/>
              <a:ext cx="1573478" cy="464643"/>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a:spcBef>
                  <a:spcPts val="600"/>
                </a:spcBef>
              </a:pPr>
              <a:r>
                <a:rPr lang="en" sz="1300" b="1" dirty="0">
                  <a:solidFill>
                    <a:schemeClr val="bg1"/>
                  </a:solidFill>
                  <a:latin typeface="Merriweather" pitchFamily="2" charset="77"/>
                  <a:ea typeface="Roboto"/>
                  <a:cs typeface="Roboto"/>
                </a:rPr>
                <a:t>Countries need stronger  incentives for policy action for global GHG emissions mitigation and climate adaptation</a:t>
              </a:r>
              <a:endParaRPr lang="en" sz="1300" dirty="0">
                <a:solidFill>
                  <a:schemeClr val="bg1"/>
                </a:solidFill>
                <a:latin typeface="Merriweather" pitchFamily="2" charset="77"/>
                <a:ea typeface="Roboto"/>
              </a:endParaRPr>
            </a:p>
          </p:txBody>
        </p:sp>
        <p:sp>
          <p:nvSpPr>
            <p:cNvPr id="113" name="Google Shape;113;p17"/>
            <p:cNvSpPr txBox="1"/>
            <p:nvPr/>
          </p:nvSpPr>
          <p:spPr>
            <a:xfrm>
              <a:off x="1308213" y="2865439"/>
              <a:ext cx="1605799" cy="359577"/>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a:spcAft>
                  <a:spcPts val="600"/>
                </a:spcAft>
              </a:pPr>
              <a:r>
                <a:rPr lang="en" sz="1300" b="1" dirty="0">
                  <a:solidFill>
                    <a:schemeClr val="bg1"/>
                  </a:solidFill>
                  <a:latin typeface="Merriweather" pitchFamily="2" charset="77"/>
                  <a:ea typeface="Roboto"/>
                  <a:cs typeface="Roboto"/>
                  <a:sym typeface="Roboto"/>
                </a:rPr>
                <a:t>Developing countries are in critical need of access to cheap finance to build clean energy and climate resilient infrastructure</a:t>
              </a:r>
              <a:endParaRPr lang="en-US" sz="1300" dirty="0">
                <a:solidFill>
                  <a:schemeClr val="bg1"/>
                </a:solidFill>
                <a:latin typeface="Merriweather" pitchFamily="2" charset="77"/>
              </a:endParaRPr>
            </a:p>
            <a:p>
              <a:pPr>
                <a:spcAft>
                  <a:spcPts val="600"/>
                </a:spcAft>
              </a:pPr>
              <a:endParaRPr lang="en" sz="1000" dirty="0">
                <a:solidFill>
                  <a:srgbClr val="FFFFFF"/>
                </a:solidFill>
                <a:latin typeface="Roboto"/>
                <a:ea typeface="Roboto"/>
                <a:cs typeface="Roboto"/>
              </a:endParaRPr>
            </a:p>
            <a:p>
              <a:pPr>
                <a:lnSpc>
                  <a:spcPct val="114999"/>
                </a:lnSpc>
                <a:spcAft>
                  <a:spcPts val="1600"/>
                </a:spcAft>
              </a:pPr>
              <a:endParaRPr lang="en" sz="1100" b="1" dirty="0">
                <a:solidFill>
                  <a:srgbClr val="FFFFFF"/>
                </a:solidFill>
                <a:latin typeface="Roboto"/>
                <a:ea typeface="Roboto"/>
                <a:cs typeface="Roboto"/>
              </a:endParaRPr>
            </a:p>
          </p:txBody>
        </p:sp>
      </p:grpSp>
      <p:grpSp>
        <p:nvGrpSpPr>
          <p:cNvPr id="114" name="Google Shape;114;p17"/>
          <p:cNvGrpSpPr/>
          <p:nvPr/>
        </p:nvGrpSpPr>
        <p:grpSpPr>
          <a:xfrm>
            <a:off x="5978291" y="1963483"/>
            <a:ext cx="2752652" cy="2791280"/>
            <a:chOff x="5015938" y="2013875"/>
            <a:chExt cx="3001200" cy="1569600"/>
          </a:xfrm>
        </p:grpSpPr>
        <p:sp>
          <p:nvSpPr>
            <p:cNvPr id="115" name="Google Shape;115;p17"/>
            <p:cNvSpPr/>
            <p:nvPr/>
          </p:nvSpPr>
          <p:spPr>
            <a:xfrm>
              <a:off x="5015938" y="2013875"/>
              <a:ext cx="3001200" cy="1569600"/>
            </a:xfrm>
            <a:prstGeom prst="round2DiagRect">
              <a:avLst>
                <a:gd name="adj1" fmla="val 0"/>
                <a:gd name="adj2" fmla="val 17764"/>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16" name="Google Shape;116;p17"/>
            <p:cNvSpPr txBox="1"/>
            <p:nvPr/>
          </p:nvSpPr>
          <p:spPr>
            <a:xfrm>
              <a:off x="5379285" y="2423121"/>
              <a:ext cx="2417100" cy="803869"/>
            </a:xfrm>
            <a:prstGeom prst="rect">
              <a:avLst/>
            </a:prstGeom>
            <a:noFill/>
            <a:ln w="9525" cap="flat" cmpd="sng">
              <a:no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US" sz="1300" b="1" dirty="0">
                  <a:solidFill>
                    <a:srgbClr val="FFFFFF"/>
                  </a:solidFill>
                  <a:latin typeface="Merriweather" pitchFamily="2" charset="77"/>
                  <a:ea typeface="Roboto"/>
                  <a:cs typeface="Roboto"/>
                  <a:sym typeface="Roboto"/>
                </a:rPr>
                <a:t>Sustainability-Linked Intermediated Debt Instruments (SLIDIs) </a:t>
              </a:r>
              <a:r>
                <a:rPr lang="en" sz="1300" b="1" dirty="0">
                  <a:solidFill>
                    <a:srgbClr val="FFFFFF"/>
                  </a:solidFill>
                  <a:latin typeface="Merriweather" pitchFamily="2" charset="77"/>
                  <a:ea typeface="Roboto"/>
                  <a:cs typeface="Roboto"/>
                  <a:sym typeface="Roboto"/>
                </a:rPr>
                <a:t>build on SLBs and SLLs to </a:t>
              </a:r>
              <a:r>
                <a:rPr lang="en-AU" sz="1300" b="1" dirty="0">
                  <a:solidFill>
                    <a:schemeClr val="bg1"/>
                  </a:solidFill>
                  <a:latin typeface="Merriweather" pitchFamily="2" charset="77"/>
                  <a:ea typeface="Roboto"/>
                  <a:cs typeface="Roboto"/>
                  <a:sym typeface="Roboto"/>
                </a:rPr>
                <a:t>unlock</a:t>
              </a:r>
              <a:r>
                <a:rPr lang="en-AU" sz="1300" b="1" dirty="0">
                  <a:solidFill>
                    <a:srgbClr val="FFFFFF"/>
                  </a:solidFill>
                  <a:latin typeface="Merriweather" pitchFamily="2" charset="77"/>
                  <a:ea typeface="Roboto"/>
                  <a:cs typeface="Roboto"/>
                  <a:sym typeface="Roboto"/>
                </a:rPr>
                <a:t> </a:t>
              </a:r>
              <a:r>
                <a:rPr lang="en" sz="1300" b="1" dirty="0">
                  <a:solidFill>
                    <a:srgbClr val="FFFFFF"/>
                  </a:solidFill>
                  <a:latin typeface="Merriweather" pitchFamily="2" charset="77"/>
                  <a:ea typeface="Roboto"/>
                  <a:cs typeface="Roboto"/>
                  <a:sym typeface="Roboto"/>
                </a:rPr>
                <a:t>climate and clean energy finance flows</a:t>
              </a:r>
              <a:endParaRPr sz="1300" dirty="0">
                <a:solidFill>
                  <a:srgbClr val="FFFFFF"/>
                </a:solidFill>
                <a:latin typeface="Merriweather" pitchFamily="2" charset="77"/>
                <a:ea typeface="Roboto"/>
                <a:cs typeface="Roboto"/>
                <a:sym typeface="Roboto"/>
              </a:endParaRPr>
            </a:p>
          </p:txBody>
        </p:sp>
      </p:grpSp>
      <p:grpSp>
        <p:nvGrpSpPr>
          <p:cNvPr id="118" name="Google Shape;118;p17"/>
          <p:cNvGrpSpPr/>
          <p:nvPr/>
        </p:nvGrpSpPr>
        <p:grpSpPr>
          <a:xfrm>
            <a:off x="5847505" y="2704050"/>
            <a:ext cx="261571" cy="260379"/>
            <a:chOff x="4858109" y="2631368"/>
            <a:chExt cx="316442" cy="315000"/>
          </a:xfrm>
        </p:grpSpPr>
        <p:sp>
          <p:nvSpPr>
            <p:cNvPr id="119" name="Google Shape;119;p17"/>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7"/>
            <p:cNvSpPr/>
            <p:nvPr/>
          </p:nvSpPr>
          <p:spPr>
            <a:xfrm>
              <a:off x="4858109" y="2739300"/>
              <a:ext cx="239100" cy="99000"/>
            </a:xfrm>
            <a:prstGeom prst="rightArrow">
              <a:avLst>
                <a:gd name="adj1" fmla="val 32020"/>
                <a:gd name="adj2" fmla="val 66970"/>
              </a:avLst>
            </a:prstGeom>
            <a:solidFill>
              <a:srgbClr val="0D5D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br>
                <a:rPr lang="en"/>
              </a:br>
              <a:endParaRPr/>
            </a:p>
          </p:txBody>
        </p:sp>
      </p:grpSp>
      <p:grpSp>
        <p:nvGrpSpPr>
          <p:cNvPr id="121" name="Google Shape;121;p17"/>
          <p:cNvGrpSpPr/>
          <p:nvPr/>
        </p:nvGrpSpPr>
        <p:grpSpPr>
          <a:xfrm>
            <a:off x="3172766" y="1369372"/>
            <a:ext cx="261571" cy="260379"/>
            <a:chOff x="4858109" y="2631368"/>
            <a:chExt cx="316442" cy="315000"/>
          </a:xfrm>
        </p:grpSpPr>
        <p:sp>
          <p:nvSpPr>
            <p:cNvPr id="122" name="Google Shape;122;p17"/>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7"/>
            <p:cNvSpPr/>
            <p:nvPr/>
          </p:nvSpPr>
          <p:spPr>
            <a:xfrm>
              <a:off x="4858109" y="2739300"/>
              <a:ext cx="239100" cy="99000"/>
            </a:xfrm>
            <a:prstGeom prst="rightArrow">
              <a:avLst>
                <a:gd name="adj1" fmla="val 32020"/>
                <a:gd name="adj2" fmla="val 66970"/>
              </a:avLst>
            </a:prstGeom>
            <a:solidFill>
              <a:srgbClr val="A72A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br>
                <a:rPr lang="en"/>
              </a:br>
              <a:endParaRPr/>
            </a:p>
          </p:txBody>
        </p:sp>
      </p:grpSp>
      <p:sp>
        <p:nvSpPr>
          <p:cNvPr id="3" name="TextBox 2">
            <a:extLst>
              <a:ext uri="{FF2B5EF4-FFF2-40B4-BE49-F238E27FC236}">
                <a16:creationId xmlns:a16="http://schemas.microsoft.com/office/drawing/2014/main" id="{559D59A1-924E-E3F9-6A67-5B361A008533}"/>
              </a:ext>
            </a:extLst>
          </p:cNvPr>
          <p:cNvSpPr txBox="1"/>
          <p:nvPr/>
        </p:nvSpPr>
        <p:spPr>
          <a:xfrm>
            <a:off x="2380662" y="1652137"/>
            <a:ext cx="769545" cy="400110"/>
          </a:xfrm>
          <a:prstGeom prst="rect">
            <a:avLst/>
          </a:prstGeom>
          <a:noFill/>
        </p:spPr>
        <p:txBody>
          <a:bodyPr wrap="square" rtlCol="0">
            <a:spAutoFit/>
          </a:bodyPr>
          <a:lstStyle/>
          <a:p>
            <a:r>
              <a:rPr lang="en-US" sz="2000" dirty="0">
                <a:solidFill>
                  <a:schemeClr val="bg1"/>
                </a:solidFill>
                <a:latin typeface="Merriweather" pitchFamily="2" charset="77"/>
              </a:rPr>
              <a:t>&amp;</a:t>
            </a:r>
            <a:endParaRPr lang="en-US" dirty="0">
              <a:solidFill>
                <a:schemeClr val="bg1"/>
              </a:solidFill>
              <a:latin typeface="Merriweather" pitchFamily="2" charset="77"/>
            </a:endParaRPr>
          </a:p>
        </p:txBody>
      </p:sp>
      <p:pic>
        <p:nvPicPr>
          <p:cNvPr id="4" name="Graphic 3" descr="Unlock with solid fill">
            <a:extLst>
              <a:ext uri="{FF2B5EF4-FFF2-40B4-BE49-F238E27FC236}">
                <a16:creationId xmlns:a16="http://schemas.microsoft.com/office/drawing/2014/main" id="{A20DEB00-9260-1A2D-1896-71B7950FAE4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42455" y="515560"/>
            <a:ext cx="1334611" cy="1334611"/>
          </a:xfrm>
          <a:prstGeom prst="rect">
            <a:avLst/>
          </a:prstGeom>
        </p:spPr>
      </p:pic>
    </p:spTree>
    <p:extLst>
      <p:ext uri="{BB962C8B-B14F-4D97-AF65-F5344CB8AC3E}">
        <p14:creationId xmlns:p14="http://schemas.microsoft.com/office/powerpoint/2010/main" val="349700410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3" name="Subtitle 2">
            <a:extLst>
              <a:ext uri="{FF2B5EF4-FFF2-40B4-BE49-F238E27FC236}">
                <a16:creationId xmlns:a16="http://schemas.microsoft.com/office/drawing/2014/main" id="{EEF8EC68-4424-C4F8-CEBF-7671BE0EC886}"/>
              </a:ext>
            </a:extLst>
          </p:cNvPr>
          <p:cNvSpPr>
            <a:spLocks noGrp="1"/>
          </p:cNvSpPr>
          <p:nvPr>
            <p:ph type="subTitle" idx="1"/>
          </p:nvPr>
        </p:nvSpPr>
        <p:spPr>
          <a:xfrm>
            <a:off x="5148195" y="1862660"/>
            <a:ext cx="3684662" cy="1418179"/>
          </a:xfrm>
        </p:spPr>
        <p:txBody>
          <a:bodyPr>
            <a:normAutofit lnSpcReduction="10000"/>
          </a:bodyPr>
          <a:lstStyle/>
          <a:p>
            <a:pPr algn="ctr"/>
            <a:r>
              <a:rPr lang="en-GB" sz="2400" dirty="0"/>
              <a:t>II. Existing </a:t>
            </a:r>
          </a:p>
          <a:p>
            <a:pPr algn="ctr"/>
            <a:r>
              <a:rPr lang="en-GB" sz="2400" dirty="0"/>
              <a:t>Mechanisms &amp; Limitations</a:t>
            </a:r>
          </a:p>
        </p:txBody>
      </p:sp>
    </p:spTree>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AE785C8F-7172-15C2-D74C-E5C43989B3E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A685CAC-3D4F-55F2-EEA1-23B35CB0F8FF}"/>
              </a:ext>
            </a:extLst>
          </p:cNvPr>
          <p:cNvPicPr>
            <a:picLocks noChangeAspect="1"/>
          </p:cNvPicPr>
          <p:nvPr/>
        </p:nvPicPr>
        <p:blipFill>
          <a:blip r:embed="rId3"/>
          <a:stretch>
            <a:fillRect/>
          </a:stretch>
        </p:blipFill>
        <p:spPr>
          <a:xfrm>
            <a:off x="2976327" y="1420973"/>
            <a:ext cx="6167673" cy="3785901"/>
          </a:xfrm>
          <a:prstGeom prst="rect">
            <a:avLst/>
          </a:prstGeom>
        </p:spPr>
      </p:pic>
      <p:sp>
        <p:nvSpPr>
          <p:cNvPr id="165" name="Google Shape;165;p21">
            <a:extLst>
              <a:ext uri="{FF2B5EF4-FFF2-40B4-BE49-F238E27FC236}">
                <a16:creationId xmlns:a16="http://schemas.microsoft.com/office/drawing/2014/main" id="{20E71E44-CF11-23E3-9608-21EFC2E7782C}"/>
              </a:ext>
            </a:extLst>
          </p:cNvPr>
          <p:cNvSpPr txBox="1">
            <a:spLocks noGrp="1"/>
          </p:cNvSpPr>
          <p:nvPr>
            <p:ph type="subTitle" idx="1"/>
          </p:nvPr>
        </p:nvSpPr>
        <p:spPr/>
        <p:txBody>
          <a:bodyPr spcFirstLastPara="1" wrap="square" lIns="91425" tIns="91425" rIns="91425" bIns="91425" anchor="t" anchorCtr="0">
            <a:normAutofit fontScale="40000" lnSpcReduction="20000"/>
          </a:bodyPr>
          <a:lstStyle/>
          <a:p>
            <a:pPr marL="146050" indent="0" algn="ctr">
              <a:buNone/>
            </a:pPr>
            <a:r>
              <a:rPr lang="en" sz="2000" dirty="0">
                <a:solidFill>
                  <a:schemeClr val="bg1"/>
                </a:solidFill>
                <a:latin typeface="Merriweather" pitchFamily="2" charset="77"/>
              </a:rPr>
              <a:t>Existing Sustainability-Linked Sovereign Bonds:</a:t>
            </a:r>
          </a:p>
          <a:p>
            <a:pPr marL="146050" indent="0" algn="ctr">
              <a:buNone/>
            </a:pPr>
            <a:r>
              <a:rPr lang="en" sz="2400" dirty="0">
                <a:solidFill>
                  <a:schemeClr val="bg1"/>
                </a:solidFill>
                <a:latin typeface="Merriweather" pitchFamily="2" charset="77"/>
              </a:rPr>
              <a:t>Uruguay</a:t>
            </a:r>
            <a:endParaRPr lang="en-GB" sz="2400" dirty="0">
              <a:solidFill>
                <a:schemeClr val="bg1"/>
              </a:solidFill>
              <a:latin typeface="Merriweather" pitchFamily="2" charset="77"/>
            </a:endParaRPr>
          </a:p>
        </p:txBody>
      </p:sp>
      <p:sp>
        <p:nvSpPr>
          <p:cNvPr id="5" name="Text Placeholder 3">
            <a:extLst>
              <a:ext uri="{FF2B5EF4-FFF2-40B4-BE49-F238E27FC236}">
                <a16:creationId xmlns:a16="http://schemas.microsoft.com/office/drawing/2014/main" id="{9F25A854-6A75-0296-D8B1-03F35EDD5701}"/>
              </a:ext>
            </a:extLst>
          </p:cNvPr>
          <p:cNvSpPr txBox="1">
            <a:spLocks/>
          </p:cNvSpPr>
          <p:nvPr/>
        </p:nvSpPr>
        <p:spPr>
          <a:xfrm>
            <a:off x="2976326" y="0"/>
            <a:ext cx="6167674" cy="1430026"/>
          </a:xfrm>
          <a:prstGeom prst="rect">
            <a:avLst/>
          </a:prstGeom>
          <a:solidFill>
            <a:schemeClr val="bg1"/>
          </a:solid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214313" marR="0" lvl="0" indent="-385763" algn="l" rtl="0">
              <a:lnSpc>
                <a:spcPct val="150000"/>
              </a:lnSpc>
              <a:spcBef>
                <a:spcPts val="0"/>
              </a:spcBef>
              <a:spcAft>
                <a:spcPts val="0"/>
              </a:spcAft>
              <a:buClr>
                <a:schemeClr val="dk2"/>
              </a:buClr>
              <a:buSzPts val="1300"/>
              <a:buFont typeface="+mj-lt"/>
              <a:buAutoNum type="romanUcPeriod"/>
              <a:defRPr sz="1500" b="0" i="0" u="none" strike="noStrike" cap="none">
                <a:solidFill>
                  <a:srgbClr val="B85641"/>
                </a:solidFill>
                <a:latin typeface="Merriweather" pitchFamily="2" charset="77"/>
                <a:ea typeface="Roboto" panose="02000000000000000000" pitchFamily="2" charset="0"/>
                <a:cs typeface="Roboto" panose="02000000000000000000" pitchFamily="2" charset="0"/>
                <a:sym typeface="Roboto"/>
              </a:defRPr>
            </a:lvl1pPr>
            <a:lvl2pPr marL="557213" marR="0" lvl="1" indent="-214313" algn="l" rtl="0">
              <a:lnSpc>
                <a:spcPct val="150000"/>
              </a:lnSpc>
              <a:spcBef>
                <a:spcPts val="0"/>
              </a:spcBef>
              <a:spcAft>
                <a:spcPts val="0"/>
              </a:spcAft>
              <a:buClr>
                <a:schemeClr val="tx1"/>
              </a:buClr>
              <a:buSzPts val="1100"/>
              <a:buFont typeface="Arial" panose="020B0604020202020204" pitchFamily="34" charset="0"/>
              <a:buChar char="•"/>
              <a:defRPr sz="1350" b="0" i="0" u="none" strike="noStrike" cap="none">
                <a:solidFill>
                  <a:schemeClr val="dk2"/>
                </a:solidFill>
                <a:latin typeface="Merriweather" pitchFamily="2" charset="77"/>
                <a:ea typeface="Roboto" panose="02000000000000000000" pitchFamily="2" charset="0"/>
                <a:cs typeface="Roboto" panose="02000000000000000000" pitchFamily="2" charset="0"/>
                <a:sym typeface="Roboto"/>
              </a:defRPr>
            </a:lvl2pPr>
            <a:lvl3pPr marL="1371600" marR="0" lvl="2" indent="-298450" algn="l" rtl="0">
              <a:lnSpc>
                <a:spcPct val="150000"/>
              </a:lnSpc>
              <a:spcBef>
                <a:spcPts val="0"/>
              </a:spcBef>
              <a:spcAft>
                <a:spcPts val="0"/>
              </a:spcAft>
              <a:buClr>
                <a:schemeClr val="tx1"/>
              </a:buClr>
              <a:buSzPts val="1100"/>
              <a:buFont typeface="Roboto"/>
              <a:buChar char="■"/>
              <a:defRPr sz="1200" b="0" i="0" u="none" strike="noStrike" cap="none">
                <a:solidFill>
                  <a:schemeClr val="dk2"/>
                </a:solidFill>
                <a:latin typeface="Merriweather" pitchFamily="2" charset="77"/>
                <a:ea typeface="Roboto" panose="02000000000000000000" pitchFamily="2" charset="0"/>
                <a:cs typeface="Roboto" panose="02000000000000000000" pitchFamily="2" charset="0"/>
                <a:sym typeface="Roboto"/>
              </a:defRPr>
            </a:lvl3pPr>
            <a:lvl4pPr marL="1828800" marR="0" lvl="3" indent="-298450" algn="l" rtl="0">
              <a:lnSpc>
                <a:spcPct val="150000"/>
              </a:lnSpc>
              <a:spcBef>
                <a:spcPts val="0"/>
              </a:spcBef>
              <a:spcAft>
                <a:spcPts val="0"/>
              </a:spcAft>
              <a:buClr>
                <a:schemeClr val="tx1"/>
              </a:buClr>
              <a:buSzPts val="1100"/>
              <a:buFont typeface="Roboto"/>
              <a:buChar char="●"/>
              <a:defRPr sz="1200" b="0" i="0" u="none" strike="noStrike" cap="none">
                <a:solidFill>
                  <a:schemeClr val="dk2"/>
                </a:solidFill>
                <a:latin typeface="Merriweather" pitchFamily="2" charset="77"/>
                <a:ea typeface="Roboto" panose="02000000000000000000" pitchFamily="2" charset="0"/>
                <a:cs typeface="Roboto" panose="02000000000000000000" pitchFamily="2" charset="0"/>
                <a:sym typeface="Roboto"/>
              </a:defRPr>
            </a:lvl4pPr>
            <a:lvl5pPr marL="2286000" marR="0" lvl="4" indent="-298450" algn="l" rtl="0">
              <a:lnSpc>
                <a:spcPct val="150000"/>
              </a:lnSpc>
              <a:spcBef>
                <a:spcPts val="0"/>
              </a:spcBef>
              <a:spcAft>
                <a:spcPts val="0"/>
              </a:spcAft>
              <a:buClr>
                <a:schemeClr val="tx1"/>
              </a:buClr>
              <a:buSzPts val="1100"/>
              <a:buFont typeface="Roboto"/>
              <a:buChar char="○"/>
              <a:defRPr sz="1200" b="0" i="0" u="none" strike="noStrike" cap="none">
                <a:solidFill>
                  <a:schemeClr val="dk2"/>
                </a:solidFill>
                <a:latin typeface="Merriweather" pitchFamily="2" charset="77"/>
                <a:ea typeface="Roboto" panose="02000000000000000000" pitchFamily="2" charset="0"/>
                <a:cs typeface="Roboto" panose="02000000000000000000" pitchFamily="2" charset="0"/>
                <a:sym typeface="Roboto"/>
              </a:defRPr>
            </a:lvl5pPr>
            <a:lvl6pPr marL="2743200" marR="0" lvl="5"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0" indent="0" algn="ctr" defTabSz="914400">
              <a:buFont typeface="+mj-lt"/>
              <a:buNone/>
            </a:pPr>
            <a:endParaRPr lang="en-US" kern="0" dirty="0"/>
          </a:p>
        </p:txBody>
      </p:sp>
      <p:sp>
        <p:nvSpPr>
          <p:cNvPr id="4" name="Text Placeholder 3">
            <a:extLst>
              <a:ext uri="{FF2B5EF4-FFF2-40B4-BE49-F238E27FC236}">
                <a16:creationId xmlns:a16="http://schemas.microsoft.com/office/drawing/2014/main" id="{4C9E68B7-4464-916B-24AA-85D4BF418119}"/>
              </a:ext>
            </a:extLst>
          </p:cNvPr>
          <p:cNvSpPr>
            <a:spLocks noGrp="1"/>
          </p:cNvSpPr>
          <p:nvPr>
            <p:ph type="body" sz="quarter" idx="11"/>
          </p:nvPr>
        </p:nvSpPr>
        <p:spPr>
          <a:xfrm>
            <a:off x="3325450" y="162408"/>
            <a:ext cx="5469426" cy="1603018"/>
          </a:xfrm>
          <a:solidFill>
            <a:schemeClr val="bg1"/>
          </a:solidFill>
        </p:spPr>
        <p:txBody>
          <a:bodyPr>
            <a:normAutofit/>
          </a:bodyPr>
          <a:lstStyle/>
          <a:p>
            <a:pPr marL="0" indent="0" algn="ctr">
              <a:buNone/>
            </a:pPr>
            <a:r>
              <a:rPr lang="en" sz="2000" dirty="0"/>
              <a:t>Existing Mechanism:</a:t>
            </a:r>
          </a:p>
          <a:p>
            <a:pPr marL="0" indent="0" algn="ctr">
              <a:buNone/>
            </a:pPr>
            <a:r>
              <a:rPr lang="en" sz="1800" dirty="0">
                <a:solidFill>
                  <a:srgbClr val="042F4A"/>
                </a:solidFill>
              </a:rPr>
              <a:t>In 2022, </a:t>
            </a:r>
            <a:r>
              <a:rPr lang="en" sz="1800" dirty="0">
                <a:solidFill>
                  <a:srgbClr val="042F4A"/>
                </a:solidFill>
                <a:hlinkClick r:id="rId4">
                  <a:extLst>
                    <a:ext uri="{A12FA001-AC4F-418D-AE19-62706E023703}">
                      <ahyp:hlinkClr xmlns:ahyp="http://schemas.microsoft.com/office/drawing/2018/hyperlinkcolor" val="tx"/>
                    </a:ext>
                  </a:extLst>
                </a:hlinkClick>
              </a:rPr>
              <a:t>Uruguay</a:t>
            </a:r>
            <a:r>
              <a:rPr lang="en" sz="1800" dirty="0">
                <a:solidFill>
                  <a:srgbClr val="042F4A"/>
                </a:solidFill>
              </a:rPr>
              <a:t> issued a 3-year USbn$1.5 Sovereign SLB </a:t>
            </a:r>
            <a:endParaRPr lang="en-US" sz="1600" dirty="0">
              <a:solidFill>
                <a:srgbClr val="042F4A"/>
              </a:solidFill>
            </a:endParaRPr>
          </a:p>
        </p:txBody>
      </p:sp>
    </p:spTree>
    <p:extLst>
      <p:ext uri="{BB962C8B-B14F-4D97-AF65-F5344CB8AC3E}">
        <p14:creationId xmlns:p14="http://schemas.microsoft.com/office/powerpoint/2010/main" val="1863781097"/>
      </p:ext>
    </p:extLst>
  </p:cSld>
  <p:clrMapOvr>
    <a:masterClrMapping/>
  </p:clrMapOvr>
  <p:transition spd="med">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F03736D0-5754-62BF-9544-09C6DFBCC553}"/>
              </a:ext>
            </a:extLst>
          </p:cNvPr>
          <p:cNvSpPr>
            <a:spLocks noGrp="1"/>
          </p:cNvSpPr>
          <p:nvPr>
            <p:ph type="subTitle" idx="1"/>
          </p:nvPr>
        </p:nvSpPr>
        <p:spPr>
          <a:xfrm>
            <a:off x="29059" y="742950"/>
            <a:ext cx="3051018" cy="3203726"/>
          </a:xfrm>
        </p:spPr>
        <p:txBody>
          <a:bodyPr>
            <a:normAutofit fontScale="85000" lnSpcReduction="20000"/>
          </a:bodyPr>
          <a:lstStyle/>
          <a:p>
            <a:pPr algn="ctr"/>
            <a:r>
              <a:rPr lang="en-US" sz="2200" dirty="0">
                <a:solidFill>
                  <a:srgbClr val="B85641"/>
                </a:solidFill>
              </a:rPr>
              <a:t>Existing Mechanism:</a:t>
            </a:r>
          </a:p>
          <a:p>
            <a:pPr algn="ctr"/>
            <a:endParaRPr lang="en-US" sz="2200" dirty="0">
              <a:solidFill>
                <a:srgbClr val="B85641"/>
              </a:solidFill>
            </a:endParaRPr>
          </a:p>
          <a:p>
            <a:pPr algn="ctr"/>
            <a:r>
              <a:rPr lang="en-US" sz="2000" dirty="0">
                <a:solidFill>
                  <a:srgbClr val="042F4A"/>
                </a:solidFill>
                <a:latin typeface="Merriweather"/>
              </a:rPr>
              <a:t>In 2023, the </a:t>
            </a:r>
            <a:r>
              <a:rPr lang="en-US" sz="2000" dirty="0">
                <a:solidFill>
                  <a:srgbClr val="042F4A"/>
                </a:solidFill>
                <a:latin typeface="Merriweather"/>
                <a:hlinkClick r:id="rId2"/>
              </a:rPr>
              <a:t>World Bank</a:t>
            </a:r>
            <a:r>
              <a:rPr lang="en-US" sz="2000" dirty="0">
                <a:solidFill>
                  <a:srgbClr val="042F4A"/>
                </a:solidFill>
                <a:latin typeface="Merriweather"/>
              </a:rPr>
              <a:t>  directly issued a US$350 million Sustainability-Linked Loan also to Uruguay</a:t>
            </a:r>
          </a:p>
          <a:p>
            <a:pPr algn="ctr"/>
            <a:endParaRPr lang="en-US" sz="2000" dirty="0">
              <a:solidFill>
                <a:srgbClr val="042F4A"/>
              </a:solidFill>
              <a:latin typeface="Merriweather"/>
            </a:endParaRPr>
          </a:p>
          <a:p>
            <a:pPr algn="ctr"/>
            <a:r>
              <a:rPr lang="en-US" sz="2000" i="1" dirty="0">
                <a:solidFill>
                  <a:srgbClr val="042F4A"/>
                </a:solidFill>
                <a:latin typeface="Merriweather"/>
              </a:rPr>
              <a:t>Also note recent WB SLB/SLL transactions in Kenya and Rwanda.</a:t>
            </a:r>
            <a:endParaRPr lang="en-US" i="1" dirty="0">
              <a:solidFill>
                <a:srgbClr val="042F4A"/>
              </a:solidFill>
              <a:latin typeface="Merriweather"/>
            </a:endParaRPr>
          </a:p>
        </p:txBody>
      </p:sp>
      <p:sp>
        <p:nvSpPr>
          <p:cNvPr id="6" name="Rectangle 5">
            <a:extLst>
              <a:ext uri="{FF2B5EF4-FFF2-40B4-BE49-F238E27FC236}">
                <a16:creationId xmlns:a16="http://schemas.microsoft.com/office/drawing/2014/main" id="{86AE39E9-98CA-6B55-FFED-C5C8A0993D48}"/>
              </a:ext>
            </a:extLst>
          </p:cNvPr>
          <p:cNvSpPr/>
          <p:nvPr/>
        </p:nvSpPr>
        <p:spPr>
          <a:xfrm>
            <a:off x="4083114" y="928546"/>
            <a:ext cx="4409037" cy="3286408"/>
          </a:xfrm>
          <a:prstGeom prst="rect">
            <a:avLst/>
          </a:prstGeom>
          <a:solidFill>
            <a:srgbClr val="FFFFFF">
              <a:alpha val="7607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7478F09-ED8F-E9D9-0D4B-7D295ED7C974}"/>
              </a:ext>
            </a:extLst>
          </p:cNvPr>
          <p:cNvSpPr txBox="1"/>
          <p:nvPr/>
        </p:nvSpPr>
        <p:spPr>
          <a:xfrm>
            <a:off x="4214388" y="1363267"/>
            <a:ext cx="4146487" cy="2585323"/>
          </a:xfrm>
          <a:prstGeom prst="rect">
            <a:avLst/>
          </a:prstGeom>
          <a:noFill/>
        </p:spPr>
        <p:txBody>
          <a:bodyPr wrap="square">
            <a:spAutoFit/>
          </a:bodyPr>
          <a:lstStyle/>
          <a:p>
            <a:pPr marL="285750" indent="-285750" algn="l">
              <a:buFont typeface="Arial" panose="020B0604020202020204" pitchFamily="34" charset="0"/>
              <a:buChar char="•"/>
            </a:pPr>
            <a:r>
              <a:rPr lang="en-GB" dirty="0">
                <a:latin typeface="Merriweather" pitchFamily="2" charset="77"/>
              </a:rPr>
              <a:t>Beginning in </a:t>
            </a:r>
            <a:r>
              <a:rPr lang="en-GB" b="0" i="0" dirty="0">
                <a:effectLst/>
                <a:latin typeface="Merriweather" pitchFamily="2" charset="77"/>
              </a:rPr>
              <a:t>2028</a:t>
            </a:r>
          </a:p>
          <a:p>
            <a:pPr marL="285750" indent="-285750">
              <a:buFont typeface="Arial" panose="020B0604020202020204" pitchFamily="34" charset="0"/>
              <a:buChar char="•"/>
            </a:pPr>
            <a:r>
              <a:rPr lang="en-GB" dirty="0">
                <a:latin typeface="Merriweather" pitchFamily="2" charset="77"/>
              </a:rPr>
              <a:t>Linked to </a:t>
            </a:r>
            <a:r>
              <a:rPr lang="en-GB" b="0" i="0" dirty="0">
                <a:effectLst/>
                <a:latin typeface="Merriweather" pitchFamily="2" charset="77"/>
              </a:rPr>
              <a:t>a reduction in methane emissions per unit of cattle </a:t>
            </a:r>
          </a:p>
          <a:p>
            <a:pPr marL="285750" indent="-285750">
              <a:buFont typeface="Arial" panose="020B0604020202020204" pitchFamily="34" charset="0"/>
              <a:buChar char="•"/>
            </a:pPr>
            <a:r>
              <a:rPr lang="en-GB" dirty="0">
                <a:latin typeface="Merriweather" pitchFamily="2" charset="77"/>
              </a:rPr>
              <a:t>T</a:t>
            </a:r>
            <a:r>
              <a:rPr lang="en-GB" b="0" i="0" dirty="0">
                <a:effectLst/>
                <a:latin typeface="Merriweather" pitchFamily="2" charset="77"/>
              </a:rPr>
              <a:t>argets are 1% more ambitious than Uruguay’s</a:t>
            </a:r>
            <a:r>
              <a:rPr lang="en-GB" dirty="0">
                <a:latin typeface="Merriweather" pitchFamily="2" charset="77"/>
              </a:rPr>
              <a:t> </a:t>
            </a:r>
            <a:r>
              <a:rPr lang="en-GB" b="0" i="0" dirty="0">
                <a:effectLst/>
                <a:latin typeface="Merriweather" pitchFamily="2" charset="77"/>
              </a:rPr>
              <a:t>NDC</a:t>
            </a:r>
          </a:p>
          <a:p>
            <a:pPr marL="285750" indent="-285750">
              <a:buFont typeface="Arial" panose="020B0604020202020204" pitchFamily="34" charset="0"/>
              <a:buChar char="•"/>
            </a:pPr>
            <a:r>
              <a:rPr lang="en-GB" b="0" i="0" dirty="0">
                <a:effectLst/>
                <a:latin typeface="Merriweather" pitchFamily="2" charset="77"/>
              </a:rPr>
              <a:t>If this target is met, WB will reduce the interest rate for each year</a:t>
            </a:r>
          </a:p>
        </p:txBody>
      </p:sp>
    </p:spTree>
    <p:extLst>
      <p:ext uri="{BB962C8B-B14F-4D97-AF65-F5344CB8AC3E}">
        <p14:creationId xmlns:p14="http://schemas.microsoft.com/office/powerpoint/2010/main" val="1961683587"/>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24"/>
          <p:cNvSpPr txBox="1">
            <a:spLocks noGrp="1"/>
          </p:cNvSpPr>
          <p:nvPr>
            <p:ph type="title" idx="4294967295"/>
          </p:nvPr>
        </p:nvSpPr>
        <p:spPr>
          <a:xfrm>
            <a:off x="437226" y="437143"/>
            <a:ext cx="3705225" cy="2049463"/>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500" dirty="0">
                <a:solidFill>
                  <a:srgbClr val="042F4A"/>
                </a:solidFill>
                <a:latin typeface="Merriweather" pitchFamily="2" charset="77"/>
                <a:ea typeface="Roboto" panose="02000000000000000000" pitchFamily="2" charset="0"/>
              </a:rPr>
              <a:t>Existing SLBs’</a:t>
            </a:r>
            <a:endParaRPr sz="2500" dirty="0">
              <a:solidFill>
                <a:srgbClr val="042F4A"/>
              </a:solidFill>
              <a:latin typeface="Merriweather" pitchFamily="2" charset="77"/>
              <a:ea typeface="Roboto" panose="02000000000000000000" pitchFamily="2" charset="0"/>
            </a:endParaRPr>
          </a:p>
          <a:p>
            <a:pPr marL="0" lvl="0" indent="0" algn="l" rtl="0">
              <a:spcBef>
                <a:spcPts val="0"/>
              </a:spcBef>
              <a:spcAft>
                <a:spcPts val="0"/>
              </a:spcAft>
              <a:buNone/>
            </a:pPr>
            <a:r>
              <a:rPr lang="en-AU" sz="2500" dirty="0">
                <a:solidFill>
                  <a:srgbClr val="042F4A"/>
                </a:solidFill>
                <a:latin typeface="Merriweather" pitchFamily="2" charset="77"/>
                <a:ea typeface="Roboto" panose="02000000000000000000" pitchFamily="2" charset="0"/>
              </a:rPr>
              <a:t>Limitations</a:t>
            </a:r>
            <a:endParaRPr dirty="0"/>
          </a:p>
          <a:p>
            <a:pPr marL="0" lvl="0" indent="0" algn="l" rtl="0">
              <a:spcBef>
                <a:spcPts val="0"/>
              </a:spcBef>
              <a:spcAft>
                <a:spcPts val="0"/>
              </a:spcAft>
              <a:buNone/>
            </a:pPr>
            <a:endParaRPr dirty="0"/>
          </a:p>
        </p:txBody>
      </p:sp>
      <p:sp>
        <p:nvSpPr>
          <p:cNvPr id="209" name="Google Shape;209;p24"/>
          <p:cNvSpPr txBox="1"/>
          <p:nvPr/>
        </p:nvSpPr>
        <p:spPr>
          <a:xfrm>
            <a:off x="5228350" y="2118388"/>
            <a:ext cx="36048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endParaRPr sz="1300"/>
          </a:p>
        </p:txBody>
      </p:sp>
      <p:sp>
        <p:nvSpPr>
          <p:cNvPr id="210" name="Google Shape;210;p24"/>
          <p:cNvSpPr txBox="1"/>
          <p:nvPr/>
        </p:nvSpPr>
        <p:spPr>
          <a:xfrm>
            <a:off x="5228350" y="3431000"/>
            <a:ext cx="34020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endParaRPr sz="1300" b="1"/>
          </a:p>
        </p:txBody>
      </p:sp>
      <p:sp>
        <p:nvSpPr>
          <p:cNvPr id="212" name="Google Shape;212;p24"/>
          <p:cNvSpPr/>
          <p:nvPr/>
        </p:nvSpPr>
        <p:spPr>
          <a:xfrm>
            <a:off x="3150604" y="597659"/>
            <a:ext cx="1698313" cy="462147"/>
          </a:xfrm>
          <a:prstGeom prst="rightArrow">
            <a:avLst>
              <a:gd name="adj1" fmla="val 42312"/>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14" name="Google Shape;214;p24"/>
          <p:cNvSpPr txBox="1"/>
          <p:nvPr/>
        </p:nvSpPr>
        <p:spPr>
          <a:xfrm>
            <a:off x="5429350" y="3604500"/>
            <a:ext cx="3000000" cy="1152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sz="1300">
              <a:solidFill>
                <a:schemeClr val="accent1"/>
              </a:solidFill>
              <a:latin typeface="Roboto"/>
              <a:ea typeface="Roboto"/>
              <a:cs typeface="Roboto"/>
              <a:sym typeface="Roboto"/>
            </a:endParaRPr>
          </a:p>
          <a:p>
            <a:pPr marL="0" lvl="0" indent="0" algn="l" rtl="0">
              <a:lnSpc>
                <a:spcPct val="115000"/>
              </a:lnSpc>
              <a:spcBef>
                <a:spcPts val="1200"/>
              </a:spcBef>
              <a:spcAft>
                <a:spcPts val="0"/>
              </a:spcAft>
              <a:buNone/>
            </a:pPr>
            <a:endParaRPr sz="1300">
              <a:solidFill>
                <a:schemeClr val="accent1"/>
              </a:solidFill>
              <a:latin typeface="Roboto"/>
              <a:ea typeface="Roboto"/>
              <a:cs typeface="Roboto"/>
              <a:sym typeface="Roboto"/>
            </a:endParaRPr>
          </a:p>
          <a:p>
            <a:pPr marL="0" lvl="0" indent="0" algn="l" rtl="0">
              <a:lnSpc>
                <a:spcPct val="115000"/>
              </a:lnSpc>
              <a:spcBef>
                <a:spcPts val="1200"/>
              </a:spcBef>
              <a:spcAft>
                <a:spcPts val="1200"/>
              </a:spcAft>
              <a:buNone/>
            </a:pPr>
            <a:endParaRPr sz="1300">
              <a:solidFill>
                <a:schemeClr val="accent1"/>
              </a:solidFill>
              <a:latin typeface="Roboto"/>
              <a:ea typeface="Roboto"/>
              <a:cs typeface="Roboto"/>
              <a:sym typeface="Roboto"/>
            </a:endParaRPr>
          </a:p>
        </p:txBody>
      </p:sp>
      <p:sp>
        <p:nvSpPr>
          <p:cNvPr id="7" name="Rectangle 6">
            <a:extLst>
              <a:ext uri="{FF2B5EF4-FFF2-40B4-BE49-F238E27FC236}">
                <a16:creationId xmlns:a16="http://schemas.microsoft.com/office/drawing/2014/main" id="{8ECB144B-9D03-6B48-2904-EC8BFF2D9B92}"/>
              </a:ext>
            </a:extLst>
          </p:cNvPr>
          <p:cNvSpPr/>
          <p:nvPr/>
        </p:nvSpPr>
        <p:spPr>
          <a:xfrm>
            <a:off x="5001550" y="351353"/>
            <a:ext cx="3728101" cy="954760"/>
          </a:xfrm>
          <a:prstGeom prst="rect">
            <a:avLst/>
          </a:prstGeom>
          <a:solidFill>
            <a:srgbClr val="FFFFFF">
              <a:alpha val="7607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42F4A"/>
                </a:solidFill>
                <a:latin typeface="Merriweather" pitchFamily="2" charset="77"/>
              </a:rPr>
              <a:t>Disincentives for Investors (Perceived Risks), due to variable interest rates</a:t>
            </a:r>
          </a:p>
        </p:txBody>
      </p:sp>
      <p:sp>
        <p:nvSpPr>
          <p:cNvPr id="8" name="Google Shape;212;p24">
            <a:extLst>
              <a:ext uri="{FF2B5EF4-FFF2-40B4-BE49-F238E27FC236}">
                <a16:creationId xmlns:a16="http://schemas.microsoft.com/office/drawing/2014/main" id="{EFE7CFA3-C869-CFC3-AC73-2602FA86639C}"/>
              </a:ext>
            </a:extLst>
          </p:cNvPr>
          <p:cNvSpPr/>
          <p:nvPr/>
        </p:nvSpPr>
        <p:spPr>
          <a:xfrm>
            <a:off x="3150604" y="2255532"/>
            <a:ext cx="1698313" cy="462147"/>
          </a:xfrm>
          <a:prstGeom prst="rightArrow">
            <a:avLst>
              <a:gd name="adj1" fmla="val 42312"/>
              <a:gd name="adj2" fmla="val 50000"/>
            </a:avLst>
          </a:prstGeom>
          <a:solidFill>
            <a:srgbClr val="042F4A"/>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9" name="Rectangle 8">
            <a:extLst>
              <a:ext uri="{FF2B5EF4-FFF2-40B4-BE49-F238E27FC236}">
                <a16:creationId xmlns:a16="http://schemas.microsoft.com/office/drawing/2014/main" id="{FB1623D5-D4AA-E83E-1422-ACE96418045A}"/>
              </a:ext>
            </a:extLst>
          </p:cNvPr>
          <p:cNvSpPr/>
          <p:nvPr/>
        </p:nvSpPr>
        <p:spPr>
          <a:xfrm>
            <a:off x="5001550" y="2009225"/>
            <a:ext cx="3728101" cy="954760"/>
          </a:xfrm>
          <a:prstGeom prst="rect">
            <a:avLst/>
          </a:prstGeom>
          <a:solidFill>
            <a:srgbClr val="FFFFFF">
              <a:alpha val="7607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42F4A"/>
                </a:solidFill>
                <a:latin typeface="Merriweather" pitchFamily="2" charset="77"/>
              </a:rPr>
              <a:t>Disincentives for Sovereign (Step-Up Mechanism)</a:t>
            </a:r>
          </a:p>
        </p:txBody>
      </p:sp>
      <p:sp>
        <p:nvSpPr>
          <p:cNvPr id="10" name="Rectangle 9">
            <a:extLst>
              <a:ext uri="{FF2B5EF4-FFF2-40B4-BE49-F238E27FC236}">
                <a16:creationId xmlns:a16="http://schemas.microsoft.com/office/drawing/2014/main" id="{98376A1D-7D5E-7CF8-80F0-4833D4603103}"/>
              </a:ext>
            </a:extLst>
          </p:cNvPr>
          <p:cNvSpPr/>
          <p:nvPr/>
        </p:nvSpPr>
        <p:spPr>
          <a:xfrm>
            <a:off x="5001550" y="3667097"/>
            <a:ext cx="3728101" cy="954760"/>
          </a:xfrm>
          <a:prstGeom prst="rect">
            <a:avLst/>
          </a:prstGeom>
          <a:solidFill>
            <a:srgbClr val="FFFFFF">
              <a:alpha val="7607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42F4A"/>
                </a:solidFill>
                <a:latin typeface="Merriweather" pitchFamily="2" charset="77"/>
              </a:rPr>
              <a:t>General Market Resistance</a:t>
            </a:r>
          </a:p>
        </p:txBody>
      </p:sp>
      <p:sp>
        <p:nvSpPr>
          <p:cNvPr id="11" name="Google Shape;212;p24">
            <a:extLst>
              <a:ext uri="{FF2B5EF4-FFF2-40B4-BE49-F238E27FC236}">
                <a16:creationId xmlns:a16="http://schemas.microsoft.com/office/drawing/2014/main" id="{1C6ED594-E7E5-6982-EC0B-ECC6212941E1}"/>
              </a:ext>
            </a:extLst>
          </p:cNvPr>
          <p:cNvSpPr/>
          <p:nvPr/>
        </p:nvSpPr>
        <p:spPr>
          <a:xfrm>
            <a:off x="3146568" y="3913405"/>
            <a:ext cx="1698313" cy="462147"/>
          </a:xfrm>
          <a:prstGeom prst="rightArrow">
            <a:avLst>
              <a:gd name="adj1" fmla="val 42312"/>
              <a:gd name="adj2" fmla="val 50000"/>
            </a:avLst>
          </a:prstGeom>
          <a:solidFill>
            <a:schemeClr val="bg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C73F40E5-F4EB-34EC-7B27-6B987C846805}"/>
              </a:ext>
            </a:extLst>
          </p:cNvPr>
          <p:cNvSpPr>
            <a:spLocks noGrp="1"/>
          </p:cNvSpPr>
          <p:nvPr>
            <p:ph type="subTitle" idx="1"/>
          </p:nvPr>
        </p:nvSpPr>
        <p:spPr>
          <a:xfrm>
            <a:off x="293299" y="3349570"/>
            <a:ext cx="8557402" cy="1793930"/>
          </a:xfrm>
        </p:spPr>
        <p:txBody>
          <a:bodyPr>
            <a:noAutofit/>
          </a:bodyPr>
          <a:lstStyle/>
          <a:p>
            <a:r>
              <a:rPr lang="en-GB" sz="2000" i="1" dirty="0">
                <a:solidFill>
                  <a:srgbClr val="203617"/>
                </a:solidFill>
              </a:rPr>
              <a:t>“SLBs have, however, faced considerable criticism since their 2021 boom… But the problems lie in inadequate structural and calibration features, and weak underlying transition plans – not with the sustainability-linked concept.” (</a:t>
            </a:r>
            <a:r>
              <a:rPr lang="en-GB" sz="2000" i="1" dirty="0">
                <a:solidFill>
                  <a:srgbClr val="203617"/>
                </a:solidFill>
                <a:hlinkClick r:id="rId2"/>
              </a:rPr>
              <a:t>Climate Bonds Initiative, 2024</a:t>
            </a:r>
            <a:r>
              <a:rPr lang="en-GB" sz="2000" i="1" dirty="0">
                <a:solidFill>
                  <a:srgbClr val="203617"/>
                </a:solidFill>
              </a:rPr>
              <a:t>)</a:t>
            </a:r>
            <a:endParaRPr lang="en-US" sz="2000" i="1" dirty="0">
              <a:solidFill>
                <a:srgbClr val="203617"/>
              </a:solidFill>
            </a:endParaRPr>
          </a:p>
        </p:txBody>
      </p:sp>
    </p:spTree>
    <p:extLst>
      <p:ext uri="{BB962C8B-B14F-4D97-AF65-F5344CB8AC3E}">
        <p14:creationId xmlns:p14="http://schemas.microsoft.com/office/powerpoint/2010/main" val="3572768078"/>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2">
          <a:extLst>
            <a:ext uri="{FF2B5EF4-FFF2-40B4-BE49-F238E27FC236}">
              <a16:creationId xmlns:a16="http://schemas.microsoft.com/office/drawing/2014/main" id="{FD45D260-2FB1-EA07-D427-C6262DEF8E4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6342A48-E69E-92E6-2683-C25DC412591F}"/>
              </a:ext>
            </a:extLst>
          </p:cNvPr>
          <p:cNvSpPr>
            <a:spLocks noGrp="1"/>
          </p:cNvSpPr>
          <p:nvPr>
            <p:ph type="subTitle" idx="1"/>
          </p:nvPr>
        </p:nvSpPr>
        <p:spPr>
          <a:xfrm>
            <a:off x="5148195" y="1886907"/>
            <a:ext cx="3684662" cy="1369685"/>
          </a:xfrm>
        </p:spPr>
        <p:txBody>
          <a:bodyPr>
            <a:normAutofit/>
          </a:bodyPr>
          <a:lstStyle/>
          <a:p>
            <a:pPr algn="ctr"/>
            <a:r>
              <a:rPr lang="en-GB" sz="2400" dirty="0"/>
              <a:t>III. SLIDIs: Definition and Design Options</a:t>
            </a:r>
          </a:p>
        </p:txBody>
      </p:sp>
    </p:spTree>
    <p:extLst>
      <p:ext uri="{BB962C8B-B14F-4D97-AF65-F5344CB8AC3E}">
        <p14:creationId xmlns:p14="http://schemas.microsoft.com/office/powerpoint/2010/main" val="3257726604"/>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231AA-5A9F-1C18-BD31-2337EEF41B5C}"/>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59008AAB-3B82-2A33-22B4-63D04ABE36CF}"/>
              </a:ext>
            </a:extLst>
          </p:cNvPr>
          <p:cNvSpPr>
            <a:spLocks noGrp="1"/>
          </p:cNvSpPr>
          <p:nvPr>
            <p:ph type="subTitle" idx="1"/>
          </p:nvPr>
        </p:nvSpPr>
        <p:spPr>
          <a:xfrm>
            <a:off x="293299" y="3475857"/>
            <a:ext cx="8557402" cy="1438049"/>
          </a:xfrm>
        </p:spPr>
        <p:txBody>
          <a:bodyPr>
            <a:normAutofit fontScale="92500" lnSpcReduction="10000"/>
          </a:bodyPr>
          <a:lstStyle/>
          <a:p>
            <a:pPr algn="ctr"/>
            <a:r>
              <a:rPr lang="en-US" dirty="0">
                <a:solidFill>
                  <a:srgbClr val="203617"/>
                </a:solidFill>
              </a:rPr>
              <a:t>A Sustainability-Linked Intermediated Debt Instrument is a debt instrument (bond or loan), intermediated so that coupon/interest payments made by borrowers are KPI-linked but the coupon/interest payments to end investors are not.</a:t>
            </a:r>
          </a:p>
        </p:txBody>
      </p:sp>
      <p:sp>
        <p:nvSpPr>
          <p:cNvPr id="3" name="Subtitle 1">
            <a:extLst>
              <a:ext uri="{FF2B5EF4-FFF2-40B4-BE49-F238E27FC236}">
                <a16:creationId xmlns:a16="http://schemas.microsoft.com/office/drawing/2014/main" id="{F1C16811-DEC5-BA5B-064E-3EE71A58B825}"/>
              </a:ext>
            </a:extLst>
          </p:cNvPr>
          <p:cNvSpPr txBox="1">
            <a:spLocks/>
          </p:cNvSpPr>
          <p:nvPr/>
        </p:nvSpPr>
        <p:spPr>
          <a:xfrm>
            <a:off x="5293260" y="1723302"/>
            <a:ext cx="3684662" cy="132999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0" marR="0" lvl="0" indent="0" algn="l" rtl="0">
              <a:lnSpc>
                <a:spcPct val="115000"/>
              </a:lnSpc>
              <a:spcBef>
                <a:spcPts val="0"/>
              </a:spcBef>
              <a:spcAft>
                <a:spcPts val="0"/>
              </a:spcAft>
              <a:buClr>
                <a:schemeClr val="dk2"/>
              </a:buClr>
              <a:buSzPts val="1300"/>
              <a:buFont typeface="Roboto"/>
              <a:buNone/>
              <a:defRPr sz="2100" b="0" i="0" u="none" strike="noStrike" cap="none">
                <a:solidFill>
                  <a:schemeClr val="bg1"/>
                </a:solidFill>
                <a:latin typeface="Merriweather" pitchFamily="2" charset="77"/>
                <a:ea typeface="Roboto"/>
                <a:cs typeface="Roboto"/>
                <a:sym typeface="Roboto"/>
              </a:defRPr>
            </a:lvl1pPr>
            <a:lvl2pPr marL="342900" marR="0" lvl="1" indent="0" algn="ctr" rtl="0">
              <a:lnSpc>
                <a:spcPct val="115000"/>
              </a:lnSpc>
              <a:spcBef>
                <a:spcPts val="0"/>
              </a:spcBef>
              <a:spcAft>
                <a:spcPts val="0"/>
              </a:spcAft>
              <a:buClr>
                <a:schemeClr val="dk2"/>
              </a:buClr>
              <a:buSzPts val="1100"/>
              <a:buFont typeface="Roboto"/>
              <a:buNone/>
              <a:defRPr sz="1500" b="0" i="0" u="none" strike="noStrike" cap="none">
                <a:solidFill>
                  <a:schemeClr val="dk2"/>
                </a:solidFill>
                <a:latin typeface="Roboto"/>
                <a:ea typeface="Roboto"/>
                <a:cs typeface="Roboto"/>
                <a:sym typeface="Roboto"/>
              </a:defRPr>
            </a:lvl2pPr>
            <a:lvl3pPr marL="685800" marR="0" lvl="2" indent="0" algn="ctr" rtl="0">
              <a:lnSpc>
                <a:spcPct val="115000"/>
              </a:lnSpc>
              <a:spcBef>
                <a:spcPts val="0"/>
              </a:spcBef>
              <a:spcAft>
                <a:spcPts val="0"/>
              </a:spcAft>
              <a:buClr>
                <a:schemeClr val="dk2"/>
              </a:buClr>
              <a:buSzPts val="1100"/>
              <a:buFont typeface="Roboto"/>
              <a:buNone/>
              <a:defRPr sz="1350" b="0" i="0" u="none" strike="noStrike" cap="none">
                <a:solidFill>
                  <a:schemeClr val="dk2"/>
                </a:solidFill>
                <a:latin typeface="Roboto"/>
                <a:ea typeface="Roboto"/>
                <a:cs typeface="Roboto"/>
                <a:sym typeface="Roboto"/>
              </a:defRPr>
            </a:lvl3pPr>
            <a:lvl4pPr marL="1028700" marR="0" lvl="3"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4pPr>
            <a:lvl5pPr marL="1371600" marR="0" lvl="4"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5pPr>
            <a:lvl6pPr marL="1714500" marR="0" lvl="5"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6pPr>
            <a:lvl7pPr marL="2057400" marR="0" lvl="6"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7pPr>
            <a:lvl8pPr marL="2400300" marR="0" lvl="7"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8pPr>
            <a:lvl9pPr marL="2743200" marR="0" lvl="8"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9pPr>
          </a:lstStyle>
          <a:p>
            <a:pPr algn="r" defTabSz="914400"/>
            <a:r>
              <a:rPr lang="en-US" sz="3200" b="1" kern="0" dirty="0"/>
              <a:t>SLIDI: Definition</a:t>
            </a:r>
          </a:p>
          <a:p>
            <a:pPr defTabSz="914400"/>
            <a:endParaRPr lang="en-US" kern="0" dirty="0"/>
          </a:p>
        </p:txBody>
      </p:sp>
    </p:spTree>
    <p:extLst>
      <p:ext uri="{BB962C8B-B14F-4D97-AF65-F5344CB8AC3E}">
        <p14:creationId xmlns:p14="http://schemas.microsoft.com/office/powerpoint/2010/main" val="1876128559"/>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4">
          <a:extLst>
            <a:ext uri="{FF2B5EF4-FFF2-40B4-BE49-F238E27FC236}">
              <a16:creationId xmlns:a16="http://schemas.microsoft.com/office/drawing/2014/main" id="{6DC69604-7F71-ADDE-262F-9C0E39FDFAA0}"/>
            </a:ext>
          </a:extLst>
        </p:cNvPr>
        <p:cNvGrpSpPr/>
        <p:nvPr/>
      </p:nvGrpSpPr>
      <p:grpSpPr>
        <a:xfrm>
          <a:off x="0" y="0"/>
          <a:ext cx="0" cy="0"/>
          <a:chOff x="0" y="0"/>
          <a:chExt cx="0" cy="0"/>
        </a:xfrm>
      </p:grpSpPr>
      <p:sp>
        <p:nvSpPr>
          <p:cNvPr id="247" name="Google Shape;247;p27">
            <a:extLst>
              <a:ext uri="{FF2B5EF4-FFF2-40B4-BE49-F238E27FC236}">
                <a16:creationId xmlns:a16="http://schemas.microsoft.com/office/drawing/2014/main" id="{BDA15AB4-6F1E-81D8-9C61-4CDC3094B5C3}"/>
              </a:ext>
            </a:extLst>
          </p:cNvPr>
          <p:cNvSpPr txBox="1">
            <a:spLocks noGrp="1"/>
          </p:cNvSpPr>
          <p:nvPr>
            <p:ph type="subTitle" idx="1"/>
          </p:nvPr>
        </p:nvSpPr>
        <p:spPr>
          <a:xfrm>
            <a:off x="157555" y="4401019"/>
            <a:ext cx="8557402" cy="481076"/>
          </a:xfrm>
        </p:spPr>
        <p:txBody>
          <a:bodyPr spcFirstLastPara="1" wrap="square" lIns="91425" tIns="91425" rIns="91425" bIns="91425" anchor="t" anchorCtr="0">
            <a:normAutofit fontScale="92500" lnSpcReduction="20000"/>
          </a:bodyPr>
          <a:lstStyle/>
          <a:p>
            <a:pPr lvl="0" algn="ctr"/>
            <a:r>
              <a:rPr lang="en-GB" sz="2200" dirty="0">
                <a:solidFill>
                  <a:srgbClr val="042F4A"/>
                </a:solidFill>
              </a:rPr>
              <a:t>SLIDI Model 1: Subsidy-Providing Intermediary</a:t>
            </a:r>
          </a:p>
          <a:p>
            <a:pPr lvl="0"/>
            <a:endParaRPr lang="en-GB" dirty="0"/>
          </a:p>
          <a:p>
            <a:pPr lvl="0"/>
            <a:endParaRPr lang="en-GB" dirty="0"/>
          </a:p>
        </p:txBody>
      </p:sp>
      <p:sp>
        <p:nvSpPr>
          <p:cNvPr id="248" name="Google Shape;248;p27">
            <a:extLst>
              <a:ext uri="{FF2B5EF4-FFF2-40B4-BE49-F238E27FC236}">
                <a16:creationId xmlns:a16="http://schemas.microsoft.com/office/drawing/2014/main" id="{93ABDED8-3770-5B3E-F086-A48EE65839D3}"/>
              </a:ext>
            </a:extLst>
          </p:cNvPr>
          <p:cNvSpPr txBox="1"/>
          <p:nvPr/>
        </p:nvSpPr>
        <p:spPr>
          <a:xfrm>
            <a:off x="286675" y="3700135"/>
            <a:ext cx="1637700" cy="58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1500" dirty="0">
              <a:solidFill>
                <a:schemeClr val="lt1"/>
              </a:solidFill>
              <a:latin typeface="Roboto"/>
              <a:ea typeface="Roboto"/>
              <a:cs typeface="Roboto"/>
              <a:sym typeface="Roboto"/>
            </a:endParaRPr>
          </a:p>
          <a:p>
            <a:pPr marL="0" lvl="0" indent="0" algn="l" rtl="0">
              <a:lnSpc>
                <a:spcPct val="115000"/>
              </a:lnSpc>
              <a:spcBef>
                <a:spcPts val="0"/>
              </a:spcBef>
              <a:spcAft>
                <a:spcPts val="0"/>
              </a:spcAft>
              <a:buNone/>
            </a:pPr>
            <a:endParaRPr sz="1300" dirty="0">
              <a:solidFill>
                <a:schemeClr val="dk1"/>
              </a:solidFill>
              <a:latin typeface="Roboto"/>
              <a:ea typeface="Roboto"/>
              <a:cs typeface="Roboto"/>
              <a:sym typeface="Roboto"/>
            </a:endParaRPr>
          </a:p>
          <a:p>
            <a:pPr marL="0" lvl="0" indent="0" algn="l" rtl="0">
              <a:spcBef>
                <a:spcPts val="1200"/>
              </a:spcBef>
              <a:spcAft>
                <a:spcPts val="0"/>
              </a:spcAft>
              <a:buNone/>
            </a:pPr>
            <a:endParaRPr sz="1300" dirty="0">
              <a:solidFill>
                <a:schemeClr val="lt1"/>
              </a:solidFill>
              <a:latin typeface="Roboto"/>
              <a:ea typeface="Roboto"/>
              <a:cs typeface="Roboto"/>
              <a:sym typeface="Roboto"/>
            </a:endParaRPr>
          </a:p>
        </p:txBody>
      </p:sp>
      <p:sp>
        <p:nvSpPr>
          <p:cNvPr id="254" name="Google Shape;254;p27">
            <a:extLst>
              <a:ext uri="{FF2B5EF4-FFF2-40B4-BE49-F238E27FC236}">
                <a16:creationId xmlns:a16="http://schemas.microsoft.com/office/drawing/2014/main" id="{C70D270B-86A1-11CA-8345-9C2314B6CC1A}"/>
              </a:ext>
            </a:extLst>
          </p:cNvPr>
          <p:cNvSpPr/>
          <p:nvPr/>
        </p:nvSpPr>
        <p:spPr>
          <a:xfrm rot="-5400000" flipH="1">
            <a:off x="2726626" y="1926621"/>
            <a:ext cx="1261084" cy="2609700"/>
          </a:xfrm>
          <a:prstGeom prst="bentUpArrow">
            <a:avLst>
              <a:gd name="adj1" fmla="val 7599"/>
              <a:gd name="adj2" fmla="val 10711"/>
              <a:gd name="adj3" fmla="val 16698"/>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6" name="Google Shape;256;p27">
            <a:extLst>
              <a:ext uri="{FF2B5EF4-FFF2-40B4-BE49-F238E27FC236}">
                <a16:creationId xmlns:a16="http://schemas.microsoft.com/office/drawing/2014/main" id="{6779A3D0-9C0A-0A4A-D467-FFD952AE80FB}"/>
              </a:ext>
            </a:extLst>
          </p:cNvPr>
          <p:cNvSpPr/>
          <p:nvPr/>
        </p:nvSpPr>
        <p:spPr>
          <a:xfrm rot="-630">
            <a:off x="1985482" y="3167575"/>
            <a:ext cx="5047205" cy="245719"/>
          </a:xfrm>
          <a:prstGeom prst="rightArrow">
            <a:avLst>
              <a:gd name="adj1" fmla="val 50000"/>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257" name="Google Shape;257;p27">
            <a:extLst>
              <a:ext uri="{FF2B5EF4-FFF2-40B4-BE49-F238E27FC236}">
                <a16:creationId xmlns:a16="http://schemas.microsoft.com/office/drawing/2014/main" id="{DB7D8D23-D48D-DF54-A5FE-ABC14E7055DE}"/>
              </a:ext>
            </a:extLst>
          </p:cNvPr>
          <p:cNvGrpSpPr/>
          <p:nvPr/>
        </p:nvGrpSpPr>
        <p:grpSpPr>
          <a:xfrm>
            <a:off x="1403660" y="951573"/>
            <a:ext cx="1564042" cy="1335773"/>
            <a:chOff x="986523" y="2181585"/>
            <a:chExt cx="1944600" cy="1569600"/>
          </a:xfrm>
          <a:solidFill>
            <a:srgbClr val="FFFFFF">
              <a:alpha val="89020"/>
            </a:srgbClr>
          </a:solidFill>
        </p:grpSpPr>
        <p:sp>
          <p:nvSpPr>
            <p:cNvPr id="258" name="Google Shape;258;p27">
              <a:extLst>
                <a:ext uri="{FF2B5EF4-FFF2-40B4-BE49-F238E27FC236}">
                  <a16:creationId xmlns:a16="http://schemas.microsoft.com/office/drawing/2014/main" id="{C34814DE-F803-ADE5-8BE6-DB539D931612}"/>
                </a:ext>
              </a:extLst>
            </p:cNvPr>
            <p:cNvSpPr/>
            <p:nvPr/>
          </p:nvSpPr>
          <p:spPr>
            <a:xfrm>
              <a:off x="986523" y="2181585"/>
              <a:ext cx="1944600" cy="1569600"/>
            </a:xfrm>
            <a:prstGeom prst="round2DiagRect">
              <a:avLst>
                <a:gd name="adj1" fmla="val 0"/>
                <a:gd name="adj2" fmla="val 17764"/>
              </a:avLst>
            </a:pr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7">
              <a:extLst>
                <a:ext uri="{FF2B5EF4-FFF2-40B4-BE49-F238E27FC236}">
                  <a16:creationId xmlns:a16="http://schemas.microsoft.com/office/drawing/2014/main" id="{6522F11D-71AE-7BA5-6888-AA326CC2559E}"/>
                </a:ext>
              </a:extLst>
            </p:cNvPr>
            <p:cNvSpPr txBox="1"/>
            <p:nvPr/>
          </p:nvSpPr>
          <p:spPr>
            <a:xfrm>
              <a:off x="1232973" y="2342017"/>
              <a:ext cx="1451699" cy="553500"/>
            </a:xfrm>
            <a:prstGeom prst="rect">
              <a:avLst/>
            </a:prstGeom>
            <a:noFill/>
            <a:ln w="9525" cap="flat" cmpd="sng">
              <a:no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US" sz="1500" b="1" dirty="0">
                  <a:solidFill>
                    <a:srgbClr val="042F4A"/>
                  </a:solidFill>
                  <a:latin typeface="Merriweather"/>
                  <a:ea typeface="Merriweather"/>
                  <a:cs typeface="Merriweather"/>
                  <a:sym typeface="Merriweather"/>
                </a:rPr>
                <a:t>Donor</a:t>
              </a:r>
              <a:endParaRPr sz="1500" b="1" dirty="0">
                <a:solidFill>
                  <a:srgbClr val="042F4A"/>
                </a:solidFill>
                <a:latin typeface="Merriweather"/>
                <a:ea typeface="Merriweather"/>
                <a:cs typeface="Merriweather"/>
                <a:sym typeface="Merriweather"/>
              </a:endParaRPr>
            </a:p>
            <a:p>
              <a:pPr marL="0" lvl="0" indent="0" algn="l" rtl="0">
                <a:spcBef>
                  <a:spcPts val="0"/>
                </a:spcBef>
                <a:spcAft>
                  <a:spcPts val="0"/>
                </a:spcAft>
                <a:buNone/>
              </a:pPr>
              <a:endParaRPr sz="1100" b="1" dirty="0">
                <a:solidFill>
                  <a:srgbClr val="FFFFFF"/>
                </a:solidFill>
                <a:latin typeface="Roboto"/>
                <a:ea typeface="Roboto"/>
                <a:cs typeface="Roboto"/>
                <a:sym typeface="Roboto"/>
              </a:endParaRPr>
            </a:p>
          </p:txBody>
        </p:sp>
      </p:grpSp>
      <p:grpSp>
        <p:nvGrpSpPr>
          <p:cNvPr id="260" name="Google Shape;260;p27">
            <a:extLst>
              <a:ext uri="{FF2B5EF4-FFF2-40B4-BE49-F238E27FC236}">
                <a16:creationId xmlns:a16="http://schemas.microsoft.com/office/drawing/2014/main" id="{268CB901-463F-A805-6126-91F1097B3FB8}"/>
              </a:ext>
            </a:extLst>
          </p:cNvPr>
          <p:cNvGrpSpPr/>
          <p:nvPr/>
        </p:nvGrpSpPr>
        <p:grpSpPr>
          <a:xfrm>
            <a:off x="3689859" y="653143"/>
            <a:ext cx="2309007" cy="1939543"/>
            <a:chOff x="3071454" y="1829661"/>
            <a:chExt cx="2154300" cy="1753814"/>
          </a:xfrm>
        </p:grpSpPr>
        <p:sp>
          <p:nvSpPr>
            <p:cNvPr id="261" name="Google Shape;261;p27">
              <a:extLst>
                <a:ext uri="{FF2B5EF4-FFF2-40B4-BE49-F238E27FC236}">
                  <a16:creationId xmlns:a16="http://schemas.microsoft.com/office/drawing/2014/main" id="{94BA8BB4-A2B5-A809-4EFD-795CEA2A048C}"/>
                </a:ext>
              </a:extLst>
            </p:cNvPr>
            <p:cNvSpPr/>
            <p:nvPr/>
          </p:nvSpPr>
          <p:spPr>
            <a:xfrm rot="10800000" flipH="1">
              <a:off x="3071454" y="1829661"/>
              <a:ext cx="2154300" cy="1753814"/>
            </a:xfrm>
            <a:prstGeom prst="round2DiagRect">
              <a:avLst>
                <a:gd name="adj1" fmla="val 0"/>
                <a:gd name="adj2" fmla="val 17764"/>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7">
              <a:extLst>
                <a:ext uri="{FF2B5EF4-FFF2-40B4-BE49-F238E27FC236}">
                  <a16:creationId xmlns:a16="http://schemas.microsoft.com/office/drawing/2014/main" id="{46784332-3030-2A91-83FF-AB28AB0C05B1}"/>
                </a:ext>
              </a:extLst>
            </p:cNvPr>
            <p:cNvSpPr txBox="1"/>
            <p:nvPr/>
          </p:nvSpPr>
          <p:spPr>
            <a:xfrm>
              <a:off x="3071454" y="1971805"/>
              <a:ext cx="2149987" cy="453441"/>
            </a:xfrm>
            <a:prstGeom prst="rect">
              <a:avLst/>
            </a:prstGeom>
            <a:noFill/>
            <a:ln w="9525" cap="flat" cmpd="sng">
              <a:no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dirty="0">
                  <a:solidFill>
                    <a:srgbClr val="FFFFFF"/>
                  </a:solidFill>
                  <a:latin typeface="Merriweather"/>
                  <a:ea typeface="Merriweather"/>
                  <a:cs typeface="Merriweather"/>
                  <a:sym typeface="Merriweather"/>
                </a:rPr>
                <a:t>Intermediary/WB</a:t>
              </a:r>
              <a:endParaRPr sz="1500" dirty="0">
                <a:solidFill>
                  <a:srgbClr val="FFFFFF"/>
                </a:solidFill>
                <a:latin typeface="Merriweather"/>
                <a:ea typeface="Merriweather"/>
                <a:cs typeface="Merriweather"/>
                <a:sym typeface="Merriweather"/>
              </a:endParaRPr>
            </a:p>
          </p:txBody>
        </p:sp>
        <p:sp>
          <p:nvSpPr>
            <p:cNvPr id="263" name="Google Shape;263;p27">
              <a:extLst>
                <a:ext uri="{FF2B5EF4-FFF2-40B4-BE49-F238E27FC236}">
                  <a16:creationId xmlns:a16="http://schemas.microsoft.com/office/drawing/2014/main" id="{D538F370-E39E-480D-860B-966741F57112}"/>
                </a:ext>
              </a:extLst>
            </p:cNvPr>
            <p:cNvSpPr txBox="1"/>
            <p:nvPr/>
          </p:nvSpPr>
          <p:spPr>
            <a:xfrm>
              <a:off x="3214197" y="2435940"/>
              <a:ext cx="1864500" cy="1030918"/>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a:lnSpc>
                  <a:spcPct val="115000"/>
                </a:lnSpc>
              </a:pPr>
              <a:r>
                <a:rPr lang="en" sz="1000" dirty="0">
                  <a:solidFill>
                    <a:schemeClr val="bg1"/>
                  </a:solidFill>
                  <a:latin typeface="Merriweather" pitchFamily="2" charset="77"/>
                  <a:ea typeface="Roboto"/>
                  <a:cs typeface="Roboto"/>
                  <a:sym typeface="Roboto"/>
                </a:rPr>
                <a:t>Pays out subsidy (RBP, results-based payments), e.g., 2%, from WB-managed trust fund </a:t>
              </a:r>
              <a:r>
                <a:rPr lang="en-GB" sz="1000" b="1" i="1" dirty="0">
                  <a:solidFill>
                    <a:srgbClr val="FFFFFF"/>
                  </a:solidFill>
                  <a:latin typeface="Merriweather" pitchFamily="2" charset="77"/>
                  <a:ea typeface="Roboto"/>
                  <a:cs typeface="Roboto"/>
                  <a:sym typeface="Roboto"/>
                </a:rPr>
                <a:t>if sustainability KPI targets are met</a:t>
              </a:r>
              <a:endParaRPr lang="en" sz="1000" dirty="0">
                <a:solidFill>
                  <a:schemeClr val="bg1"/>
                </a:solidFill>
                <a:latin typeface="Merriweather" pitchFamily="2" charset="77"/>
                <a:ea typeface="Roboto"/>
                <a:cs typeface="Roboto"/>
                <a:sym typeface="Roboto"/>
              </a:endParaRPr>
            </a:p>
            <a:p>
              <a:pPr marL="0" lvl="0" indent="0" algn="l" rtl="0">
                <a:lnSpc>
                  <a:spcPct val="115000"/>
                </a:lnSpc>
                <a:spcBef>
                  <a:spcPts val="1600"/>
                </a:spcBef>
                <a:spcAft>
                  <a:spcPts val="1600"/>
                </a:spcAft>
                <a:buNone/>
              </a:pPr>
              <a:endParaRPr sz="1000" dirty="0">
                <a:solidFill>
                  <a:srgbClr val="FFFFFF"/>
                </a:solidFill>
                <a:latin typeface="Roboto"/>
                <a:ea typeface="Roboto"/>
                <a:cs typeface="Roboto"/>
                <a:sym typeface="Roboto"/>
              </a:endParaRPr>
            </a:p>
          </p:txBody>
        </p:sp>
      </p:grpSp>
      <p:grpSp>
        <p:nvGrpSpPr>
          <p:cNvPr id="264" name="Google Shape;264;p27">
            <a:extLst>
              <a:ext uri="{FF2B5EF4-FFF2-40B4-BE49-F238E27FC236}">
                <a16:creationId xmlns:a16="http://schemas.microsoft.com/office/drawing/2014/main" id="{25D97BB0-5CC9-F1BD-4E59-268BC4E6B294}"/>
              </a:ext>
            </a:extLst>
          </p:cNvPr>
          <p:cNvGrpSpPr/>
          <p:nvPr/>
        </p:nvGrpSpPr>
        <p:grpSpPr>
          <a:xfrm>
            <a:off x="7082135" y="2600929"/>
            <a:ext cx="1637755" cy="1501636"/>
            <a:chOff x="5015938" y="2013875"/>
            <a:chExt cx="3001200" cy="1569600"/>
          </a:xfrm>
        </p:grpSpPr>
        <p:sp>
          <p:nvSpPr>
            <p:cNvPr id="265" name="Google Shape;265;p27">
              <a:extLst>
                <a:ext uri="{FF2B5EF4-FFF2-40B4-BE49-F238E27FC236}">
                  <a16:creationId xmlns:a16="http://schemas.microsoft.com/office/drawing/2014/main" id="{34FD2A1A-EF8C-4A92-EE8D-9D6C2DAFB4CE}"/>
                </a:ext>
              </a:extLst>
            </p:cNvPr>
            <p:cNvSpPr/>
            <p:nvPr/>
          </p:nvSpPr>
          <p:spPr>
            <a:xfrm>
              <a:off x="5015938" y="2013875"/>
              <a:ext cx="3001200" cy="1569600"/>
            </a:xfrm>
            <a:prstGeom prst="round2DiagRect">
              <a:avLst>
                <a:gd name="adj1" fmla="val 0"/>
                <a:gd name="adj2" fmla="val 17764"/>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66" name="Google Shape;266;p27">
              <a:extLst>
                <a:ext uri="{FF2B5EF4-FFF2-40B4-BE49-F238E27FC236}">
                  <a16:creationId xmlns:a16="http://schemas.microsoft.com/office/drawing/2014/main" id="{D966B4E8-ABA0-DBAF-7BF8-BBF71294674B}"/>
                </a:ext>
              </a:extLst>
            </p:cNvPr>
            <p:cNvSpPr txBox="1"/>
            <p:nvPr/>
          </p:nvSpPr>
          <p:spPr>
            <a:xfrm>
              <a:off x="5307987" y="2507804"/>
              <a:ext cx="2417101" cy="4599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dirty="0">
                  <a:solidFill>
                    <a:srgbClr val="FFFFFF"/>
                  </a:solidFill>
                  <a:latin typeface="Merriweather"/>
                  <a:ea typeface="Merriweather"/>
                  <a:cs typeface="Merriweather"/>
                  <a:sym typeface="Merriweather"/>
                </a:rPr>
                <a:t>Investor</a:t>
              </a:r>
              <a:endParaRPr sz="1500" dirty="0">
                <a:solidFill>
                  <a:srgbClr val="FFFFFF"/>
                </a:solidFill>
                <a:latin typeface="Merriweather"/>
                <a:ea typeface="Merriweather"/>
                <a:cs typeface="Merriweather"/>
                <a:sym typeface="Merriweather"/>
              </a:endParaRPr>
            </a:p>
          </p:txBody>
        </p:sp>
      </p:grpSp>
      <p:grpSp>
        <p:nvGrpSpPr>
          <p:cNvPr id="6" name="Google Shape;257;p27">
            <a:extLst>
              <a:ext uri="{FF2B5EF4-FFF2-40B4-BE49-F238E27FC236}">
                <a16:creationId xmlns:a16="http://schemas.microsoft.com/office/drawing/2014/main" id="{F8F0B23A-7E15-17C4-9770-CB6958162A60}"/>
              </a:ext>
            </a:extLst>
          </p:cNvPr>
          <p:cNvGrpSpPr/>
          <p:nvPr/>
        </p:nvGrpSpPr>
        <p:grpSpPr>
          <a:xfrm>
            <a:off x="424770" y="2562137"/>
            <a:ext cx="1564042" cy="1501636"/>
            <a:chOff x="986523" y="2110718"/>
            <a:chExt cx="1944600" cy="1569600"/>
          </a:xfrm>
        </p:grpSpPr>
        <p:sp>
          <p:nvSpPr>
            <p:cNvPr id="7" name="Google Shape;258;p27">
              <a:extLst>
                <a:ext uri="{FF2B5EF4-FFF2-40B4-BE49-F238E27FC236}">
                  <a16:creationId xmlns:a16="http://schemas.microsoft.com/office/drawing/2014/main" id="{6DE0AC99-4FFC-467E-49E7-2F8D0919F606}"/>
                </a:ext>
              </a:extLst>
            </p:cNvPr>
            <p:cNvSpPr/>
            <p:nvPr/>
          </p:nvSpPr>
          <p:spPr>
            <a:xfrm>
              <a:off x="986523" y="2110718"/>
              <a:ext cx="1944600" cy="1569600"/>
            </a:xfrm>
            <a:prstGeom prst="round2DiagRect">
              <a:avLst>
                <a:gd name="adj1" fmla="val 0"/>
                <a:gd name="adj2" fmla="val 17764"/>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59;p27">
              <a:extLst>
                <a:ext uri="{FF2B5EF4-FFF2-40B4-BE49-F238E27FC236}">
                  <a16:creationId xmlns:a16="http://schemas.microsoft.com/office/drawing/2014/main" id="{F24C5235-C0E2-9D3C-C3D1-0C3E683302DE}"/>
                </a:ext>
              </a:extLst>
            </p:cNvPr>
            <p:cNvSpPr txBox="1"/>
            <p:nvPr/>
          </p:nvSpPr>
          <p:spPr>
            <a:xfrm>
              <a:off x="1230917" y="2300956"/>
              <a:ext cx="1451699" cy="553500"/>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dirty="0">
                  <a:solidFill>
                    <a:srgbClr val="FFFFFF"/>
                  </a:solidFill>
                  <a:latin typeface="Merriweather"/>
                  <a:ea typeface="Merriweather"/>
                  <a:cs typeface="Merriweather"/>
                  <a:sym typeface="Merriweather"/>
                </a:rPr>
                <a:t>Sovereign</a:t>
              </a:r>
              <a:endParaRPr sz="1500" b="1" dirty="0">
                <a:solidFill>
                  <a:srgbClr val="FFFFFF"/>
                </a:solidFill>
                <a:latin typeface="Merriweather"/>
                <a:ea typeface="Merriweather"/>
                <a:cs typeface="Merriweather"/>
                <a:sym typeface="Merriweather"/>
              </a:endParaRPr>
            </a:p>
            <a:p>
              <a:pPr marL="0" lvl="0" indent="0" algn="l" rtl="0">
                <a:spcBef>
                  <a:spcPts val="0"/>
                </a:spcBef>
                <a:spcAft>
                  <a:spcPts val="0"/>
                </a:spcAft>
                <a:buNone/>
              </a:pPr>
              <a:endParaRPr sz="1100" b="1" dirty="0">
                <a:solidFill>
                  <a:srgbClr val="FFFFFF"/>
                </a:solidFill>
                <a:latin typeface="Roboto"/>
                <a:ea typeface="Roboto"/>
                <a:cs typeface="Roboto"/>
                <a:sym typeface="Roboto"/>
              </a:endParaRPr>
            </a:p>
          </p:txBody>
        </p:sp>
      </p:grpSp>
      <p:sp>
        <p:nvSpPr>
          <p:cNvPr id="12" name="TextBox 11">
            <a:extLst>
              <a:ext uri="{FF2B5EF4-FFF2-40B4-BE49-F238E27FC236}">
                <a16:creationId xmlns:a16="http://schemas.microsoft.com/office/drawing/2014/main" id="{160D60F1-71D3-C6E2-2411-B19864E001C3}"/>
              </a:ext>
            </a:extLst>
          </p:cNvPr>
          <p:cNvSpPr txBox="1"/>
          <p:nvPr/>
        </p:nvSpPr>
        <p:spPr>
          <a:xfrm>
            <a:off x="1543727" y="1434710"/>
            <a:ext cx="1303273" cy="707886"/>
          </a:xfrm>
          <a:prstGeom prst="rect">
            <a:avLst/>
          </a:prstGeom>
          <a:noFill/>
        </p:spPr>
        <p:txBody>
          <a:bodyPr wrap="square" rtlCol="0">
            <a:spAutoFit/>
          </a:bodyPr>
          <a:lstStyle/>
          <a:p>
            <a:r>
              <a:rPr lang="en-US" sz="1000" dirty="0">
                <a:solidFill>
                  <a:srgbClr val="042F4A"/>
                </a:solidFill>
                <a:latin typeface="Merriweather" pitchFamily="2" charset="77"/>
                <a:ea typeface="Roboto" panose="02000000000000000000" pitchFamily="2" charset="0"/>
              </a:rPr>
              <a:t>Raises money for trust fund for RBPs, e.g., via carbon tax</a:t>
            </a:r>
          </a:p>
        </p:txBody>
      </p:sp>
      <p:sp>
        <p:nvSpPr>
          <p:cNvPr id="13" name="Arrow: Right 12">
            <a:extLst>
              <a:ext uri="{FF2B5EF4-FFF2-40B4-BE49-F238E27FC236}">
                <a16:creationId xmlns:a16="http://schemas.microsoft.com/office/drawing/2014/main" id="{3E6CA0CD-2BCF-AFD3-7026-515BD9ED8BFF}"/>
              </a:ext>
            </a:extLst>
          </p:cNvPr>
          <p:cNvSpPr/>
          <p:nvPr/>
        </p:nvSpPr>
        <p:spPr>
          <a:xfrm>
            <a:off x="2967702" y="1633642"/>
            <a:ext cx="641896" cy="245400"/>
          </a:xfrm>
          <a:prstGeom prst="right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85D3CAAB-EC43-152C-B65A-93995A064109}"/>
              </a:ext>
            </a:extLst>
          </p:cNvPr>
          <p:cNvSpPr txBox="1"/>
          <p:nvPr/>
        </p:nvSpPr>
        <p:spPr>
          <a:xfrm>
            <a:off x="523246" y="3167113"/>
            <a:ext cx="1348608" cy="707886"/>
          </a:xfrm>
          <a:prstGeom prst="rect">
            <a:avLst/>
          </a:prstGeom>
          <a:noFill/>
        </p:spPr>
        <p:txBody>
          <a:bodyPr wrap="square" rtlCol="0">
            <a:spAutoFit/>
          </a:bodyPr>
          <a:lstStyle/>
          <a:p>
            <a:r>
              <a:rPr lang="en-US" sz="1000" dirty="0">
                <a:solidFill>
                  <a:schemeClr val="bg1"/>
                </a:solidFill>
                <a:latin typeface="Merriweather" pitchFamily="2" charset="77"/>
                <a:ea typeface="Roboto" panose="02000000000000000000" pitchFamily="2" charset="0"/>
              </a:rPr>
              <a:t>Issues bonds to financial markets at fixed interest rate, e.g., 7%</a:t>
            </a:r>
          </a:p>
        </p:txBody>
      </p:sp>
    </p:spTree>
    <p:extLst>
      <p:ext uri="{BB962C8B-B14F-4D97-AF65-F5344CB8AC3E}">
        <p14:creationId xmlns:p14="http://schemas.microsoft.com/office/powerpoint/2010/main" val="36077788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4">
          <a:extLst>
            <a:ext uri="{FF2B5EF4-FFF2-40B4-BE49-F238E27FC236}">
              <a16:creationId xmlns:a16="http://schemas.microsoft.com/office/drawing/2014/main" id="{6DC69604-7F71-ADDE-262F-9C0E39FDFAA0}"/>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E9AFE57C-1AF0-3D4D-4924-4A94F41442D4}"/>
              </a:ext>
            </a:extLst>
          </p:cNvPr>
          <p:cNvSpPr/>
          <p:nvPr/>
        </p:nvSpPr>
        <p:spPr>
          <a:xfrm>
            <a:off x="0" y="2000816"/>
            <a:ext cx="9144000" cy="31426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Google Shape;247;p27">
            <a:extLst>
              <a:ext uri="{FF2B5EF4-FFF2-40B4-BE49-F238E27FC236}">
                <a16:creationId xmlns:a16="http://schemas.microsoft.com/office/drawing/2014/main" id="{BDA15AB4-6F1E-81D8-9C61-4CDC3094B5C3}"/>
              </a:ext>
            </a:extLst>
          </p:cNvPr>
          <p:cNvSpPr txBox="1">
            <a:spLocks noGrp="1"/>
          </p:cNvSpPr>
          <p:nvPr>
            <p:ph type="subTitle" idx="1"/>
          </p:nvPr>
        </p:nvSpPr>
        <p:spPr>
          <a:xfrm>
            <a:off x="293298" y="478215"/>
            <a:ext cx="8850701" cy="481076"/>
          </a:xfrm>
        </p:spPr>
        <p:txBody>
          <a:bodyPr spcFirstLastPara="1" wrap="square" lIns="91425" tIns="91425" rIns="91425" bIns="91425" anchor="t" anchorCtr="0">
            <a:noAutofit/>
          </a:bodyPr>
          <a:lstStyle/>
          <a:p>
            <a:pPr marL="146050" lvl="0" indent="0" algn="ctr">
              <a:buNone/>
            </a:pPr>
            <a:r>
              <a:rPr lang="en-GB" sz="2000" dirty="0">
                <a:latin typeface="Merriweather" pitchFamily="2" charset="77"/>
              </a:rPr>
              <a:t>SLIDI Model 2: Credit Intermediary (Specialized Development Bank) </a:t>
            </a:r>
          </a:p>
          <a:p>
            <a:pPr lvl="0"/>
            <a:endParaRPr lang="en-GB" sz="2000" dirty="0"/>
          </a:p>
          <a:p>
            <a:pPr lvl="0"/>
            <a:endParaRPr lang="en-GB" sz="2000" dirty="0"/>
          </a:p>
        </p:txBody>
      </p:sp>
      <p:sp>
        <p:nvSpPr>
          <p:cNvPr id="248" name="Google Shape;248;p27">
            <a:extLst>
              <a:ext uri="{FF2B5EF4-FFF2-40B4-BE49-F238E27FC236}">
                <a16:creationId xmlns:a16="http://schemas.microsoft.com/office/drawing/2014/main" id="{93ABDED8-3770-5B3E-F086-A48EE65839D3}"/>
              </a:ext>
            </a:extLst>
          </p:cNvPr>
          <p:cNvSpPr txBox="1"/>
          <p:nvPr/>
        </p:nvSpPr>
        <p:spPr>
          <a:xfrm>
            <a:off x="296724" y="4087364"/>
            <a:ext cx="1637700" cy="58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1500">
              <a:solidFill>
                <a:schemeClr val="lt1"/>
              </a:solidFill>
              <a:latin typeface="Roboto"/>
              <a:ea typeface="Roboto"/>
              <a:cs typeface="Roboto"/>
              <a:sym typeface="Roboto"/>
            </a:endParaRPr>
          </a:p>
          <a:p>
            <a:pPr marL="0" lvl="0" indent="0" algn="l" rtl="0">
              <a:lnSpc>
                <a:spcPct val="115000"/>
              </a:lnSpc>
              <a:spcBef>
                <a:spcPts val="0"/>
              </a:spcBef>
              <a:spcAft>
                <a:spcPts val="0"/>
              </a:spcAft>
              <a:buNone/>
            </a:pPr>
            <a:endParaRPr sz="1300">
              <a:solidFill>
                <a:schemeClr val="dk1"/>
              </a:solidFill>
              <a:latin typeface="Roboto"/>
              <a:ea typeface="Roboto"/>
              <a:cs typeface="Roboto"/>
              <a:sym typeface="Roboto"/>
            </a:endParaRPr>
          </a:p>
          <a:p>
            <a:pPr marL="0" lvl="0" indent="0" algn="l" rtl="0">
              <a:spcBef>
                <a:spcPts val="1200"/>
              </a:spcBef>
              <a:spcAft>
                <a:spcPts val="0"/>
              </a:spcAft>
              <a:buNone/>
            </a:pPr>
            <a:endParaRPr sz="1300">
              <a:solidFill>
                <a:schemeClr val="lt1"/>
              </a:solidFill>
              <a:latin typeface="Roboto"/>
              <a:ea typeface="Roboto"/>
              <a:cs typeface="Roboto"/>
              <a:sym typeface="Roboto"/>
            </a:endParaRPr>
          </a:p>
        </p:txBody>
      </p:sp>
      <p:sp>
        <p:nvSpPr>
          <p:cNvPr id="249" name="Google Shape;249;p27">
            <a:extLst>
              <a:ext uri="{FF2B5EF4-FFF2-40B4-BE49-F238E27FC236}">
                <a16:creationId xmlns:a16="http://schemas.microsoft.com/office/drawing/2014/main" id="{D91044F1-ECF7-7969-85A3-68B776664B5B}"/>
              </a:ext>
            </a:extLst>
          </p:cNvPr>
          <p:cNvSpPr txBox="1"/>
          <p:nvPr/>
        </p:nvSpPr>
        <p:spPr>
          <a:xfrm rot="596">
            <a:off x="1958319" y="3435675"/>
            <a:ext cx="1729500" cy="1238192"/>
          </a:xfrm>
          <a:prstGeom prst="rect">
            <a:avLst/>
          </a:prstGeom>
          <a:noFill/>
          <a:ln>
            <a:noFill/>
          </a:ln>
        </p:spPr>
        <p:txBody>
          <a:bodyPr spcFirstLastPara="1" wrap="square" lIns="91425" tIns="91425" rIns="91425" bIns="91425" anchor="t" anchorCtr="0">
            <a:noAutofit/>
          </a:bodyPr>
          <a:lstStyle/>
          <a:p>
            <a:pPr algn="ctr">
              <a:lnSpc>
                <a:spcPct val="115000"/>
              </a:lnSpc>
            </a:pPr>
            <a:endParaRPr lang="en" sz="1000" dirty="0">
              <a:solidFill>
                <a:schemeClr val="dk1"/>
              </a:solidFill>
              <a:latin typeface="Roboto"/>
              <a:ea typeface="Roboto"/>
              <a:cs typeface="Roboto"/>
              <a:sym typeface="Roboto"/>
            </a:endParaRPr>
          </a:p>
          <a:p>
            <a:pPr algn="ctr">
              <a:lnSpc>
                <a:spcPct val="115000"/>
              </a:lnSpc>
            </a:pPr>
            <a:r>
              <a:rPr lang="en" sz="1000" dirty="0">
                <a:solidFill>
                  <a:schemeClr val="dk1"/>
                </a:solidFill>
                <a:latin typeface="Merriweather" pitchFamily="2" charset="77"/>
                <a:ea typeface="Roboto"/>
                <a:cs typeface="Roboto"/>
                <a:sym typeface="Roboto"/>
              </a:rPr>
              <a:t>e.g. pays 5% until bond maturity if KPI targets are met and 4% or 3% if targets are subsequently exceeded</a:t>
            </a:r>
            <a:endParaRPr sz="1000" dirty="0">
              <a:solidFill>
                <a:schemeClr val="dk1"/>
              </a:solidFill>
              <a:latin typeface="Merriweather" pitchFamily="2" charset="77"/>
              <a:ea typeface="Roboto"/>
              <a:cs typeface="Roboto"/>
              <a:sym typeface="Roboto"/>
            </a:endParaRPr>
          </a:p>
          <a:p>
            <a:pPr marL="0" lvl="0" indent="0" algn="l" rtl="0">
              <a:lnSpc>
                <a:spcPct val="115000"/>
              </a:lnSpc>
              <a:spcBef>
                <a:spcPts val="1200"/>
              </a:spcBef>
              <a:spcAft>
                <a:spcPts val="0"/>
              </a:spcAft>
              <a:buNone/>
            </a:pPr>
            <a:endParaRPr sz="1300" dirty="0">
              <a:solidFill>
                <a:schemeClr val="dk1"/>
              </a:solidFill>
              <a:latin typeface="Roboto"/>
              <a:ea typeface="Roboto"/>
              <a:cs typeface="Roboto"/>
              <a:sym typeface="Roboto"/>
            </a:endParaRPr>
          </a:p>
          <a:p>
            <a:pPr marL="0" lvl="0" indent="0" algn="l" rtl="0">
              <a:spcBef>
                <a:spcPts val="1200"/>
              </a:spcBef>
              <a:spcAft>
                <a:spcPts val="0"/>
              </a:spcAft>
              <a:buNone/>
            </a:pPr>
            <a:endParaRPr sz="1300" dirty="0">
              <a:solidFill>
                <a:schemeClr val="lt1"/>
              </a:solidFill>
              <a:latin typeface="Roboto"/>
              <a:ea typeface="Roboto"/>
              <a:cs typeface="Roboto"/>
              <a:sym typeface="Roboto"/>
            </a:endParaRPr>
          </a:p>
        </p:txBody>
      </p:sp>
      <p:sp>
        <p:nvSpPr>
          <p:cNvPr id="250" name="Google Shape;250;p27">
            <a:extLst>
              <a:ext uri="{FF2B5EF4-FFF2-40B4-BE49-F238E27FC236}">
                <a16:creationId xmlns:a16="http://schemas.microsoft.com/office/drawing/2014/main" id="{3B39E47E-1B11-4125-1827-9AB3984F90BF}"/>
              </a:ext>
            </a:extLst>
          </p:cNvPr>
          <p:cNvSpPr txBox="1"/>
          <p:nvPr/>
        </p:nvSpPr>
        <p:spPr>
          <a:xfrm rot="1354299">
            <a:off x="5296072" y="2674788"/>
            <a:ext cx="2358024" cy="338631"/>
          </a:xfrm>
          <a:prstGeom prst="rect">
            <a:avLst/>
          </a:prstGeom>
          <a:noFill/>
          <a:ln>
            <a:noFill/>
          </a:ln>
        </p:spPr>
        <p:txBody>
          <a:bodyPr spcFirstLastPara="1" wrap="square" lIns="91425" tIns="91425" rIns="91425" bIns="91425" anchor="t" anchorCtr="0">
            <a:spAutoFit/>
          </a:bodyPr>
          <a:lstStyle/>
          <a:p>
            <a:pPr algn="ctr"/>
            <a:r>
              <a:rPr lang="en" sz="1000" dirty="0">
                <a:solidFill>
                  <a:schemeClr val="dk1"/>
                </a:solidFill>
                <a:latin typeface="Merriweather" pitchFamily="2" charset="77"/>
                <a:ea typeface="Roboto"/>
                <a:cs typeface="Roboto"/>
                <a:sym typeface="Roboto"/>
              </a:rPr>
              <a:t>e.g. pays constant 4% p.a. </a:t>
            </a:r>
            <a:endParaRPr sz="1000" dirty="0">
              <a:solidFill>
                <a:schemeClr val="dk1"/>
              </a:solidFill>
              <a:latin typeface="Merriweather" pitchFamily="2" charset="77"/>
            </a:endParaRPr>
          </a:p>
        </p:txBody>
      </p:sp>
      <p:sp>
        <p:nvSpPr>
          <p:cNvPr id="251" name="Google Shape;251;p27">
            <a:extLst>
              <a:ext uri="{FF2B5EF4-FFF2-40B4-BE49-F238E27FC236}">
                <a16:creationId xmlns:a16="http://schemas.microsoft.com/office/drawing/2014/main" id="{4025B442-8C74-8501-5949-776B18584C5C}"/>
              </a:ext>
            </a:extLst>
          </p:cNvPr>
          <p:cNvSpPr/>
          <p:nvPr/>
        </p:nvSpPr>
        <p:spPr>
          <a:xfrm rot="1342973">
            <a:off x="5497896" y="2923243"/>
            <a:ext cx="1882093" cy="181904"/>
          </a:xfrm>
          <a:prstGeom prst="rightArrow">
            <a:avLst>
              <a:gd name="adj1" fmla="val 50000"/>
              <a:gd name="adj2" fmla="val 50000"/>
            </a:avLst>
          </a:prstGeom>
          <a:solidFill>
            <a:srgbClr val="039384"/>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2" name="Google Shape;252;p27">
            <a:extLst>
              <a:ext uri="{FF2B5EF4-FFF2-40B4-BE49-F238E27FC236}">
                <a16:creationId xmlns:a16="http://schemas.microsoft.com/office/drawing/2014/main" id="{2699E0C9-4AB9-6C4C-37F9-00E71A56980E}"/>
              </a:ext>
            </a:extLst>
          </p:cNvPr>
          <p:cNvSpPr txBox="1"/>
          <p:nvPr/>
        </p:nvSpPr>
        <p:spPr>
          <a:xfrm rot="-1154369">
            <a:off x="1359335" y="2602127"/>
            <a:ext cx="2357995" cy="492412"/>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dirty="0">
                <a:solidFill>
                  <a:schemeClr val="dk1"/>
                </a:solidFill>
                <a:latin typeface="Merriweather" pitchFamily="2" charset="77"/>
                <a:ea typeface="Roboto"/>
                <a:cs typeface="Roboto"/>
                <a:sym typeface="Roboto"/>
              </a:rPr>
              <a:t>e.g. pays 7% p.a. until KPI performance assessment deadline.</a:t>
            </a:r>
            <a:endParaRPr sz="1000" dirty="0">
              <a:solidFill>
                <a:schemeClr val="dk1"/>
              </a:solidFill>
              <a:latin typeface="Merriweather" pitchFamily="2" charset="77"/>
            </a:endParaRPr>
          </a:p>
        </p:txBody>
      </p:sp>
      <p:sp>
        <p:nvSpPr>
          <p:cNvPr id="253" name="Google Shape;253;p27">
            <a:extLst>
              <a:ext uri="{FF2B5EF4-FFF2-40B4-BE49-F238E27FC236}">
                <a16:creationId xmlns:a16="http://schemas.microsoft.com/office/drawing/2014/main" id="{72CD6DF1-9F6B-4A4E-0BCC-09A91EE0D856}"/>
              </a:ext>
            </a:extLst>
          </p:cNvPr>
          <p:cNvSpPr/>
          <p:nvPr/>
        </p:nvSpPr>
        <p:spPr>
          <a:xfrm rot="-1090328">
            <a:off x="1164231" y="3088121"/>
            <a:ext cx="2513654" cy="198435"/>
          </a:xfrm>
          <a:prstGeom prst="rightArrow">
            <a:avLst>
              <a:gd name="adj1" fmla="val 50000"/>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4" name="Google Shape;254;p27">
            <a:extLst>
              <a:ext uri="{FF2B5EF4-FFF2-40B4-BE49-F238E27FC236}">
                <a16:creationId xmlns:a16="http://schemas.microsoft.com/office/drawing/2014/main" id="{C70D270B-86A1-11CA-8345-9C2314B6CC1A}"/>
              </a:ext>
            </a:extLst>
          </p:cNvPr>
          <p:cNvSpPr/>
          <p:nvPr/>
        </p:nvSpPr>
        <p:spPr>
          <a:xfrm rot="-5400000" flipH="1">
            <a:off x="2815774" y="3103689"/>
            <a:ext cx="1161900" cy="2609700"/>
          </a:xfrm>
          <a:prstGeom prst="bentUpArrow">
            <a:avLst>
              <a:gd name="adj1" fmla="val 7599"/>
              <a:gd name="adj2" fmla="val 10711"/>
              <a:gd name="adj3" fmla="val 16698"/>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5" name="Google Shape;255;p27">
            <a:extLst>
              <a:ext uri="{FF2B5EF4-FFF2-40B4-BE49-F238E27FC236}">
                <a16:creationId xmlns:a16="http://schemas.microsoft.com/office/drawing/2014/main" id="{72CA3842-9998-06D5-C624-760E77C3E486}"/>
              </a:ext>
            </a:extLst>
          </p:cNvPr>
          <p:cNvSpPr txBox="1"/>
          <p:nvPr/>
        </p:nvSpPr>
        <p:spPr>
          <a:xfrm rot="-2169">
            <a:off x="4710491" y="3881074"/>
            <a:ext cx="1426200" cy="110796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dirty="0">
                <a:solidFill>
                  <a:schemeClr val="dk1"/>
                </a:solidFill>
                <a:latin typeface="Merriweather" pitchFamily="2" charset="77"/>
                <a:ea typeface="Roboto"/>
                <a:cs typeface="Roboto"/>
                <a:sym typeface="Roboto"/>
              </a:rPr>
              <a:t>Verifies KPI targets are ambitious and relevant and tracks progress; on-lends money to EMDE sovereign via SLL</a:t>
            </a:r>
            <a:endParaRPr sz="1000" dirty="0">
              <a:solidFill>
                <a:schemeClr val="dk1"/>
              </a:solidFill>
              <a:latin typeface="Merriweather" pitchFamily="2" charset="77"/>
            </a:endParaRPr>
          </a:p>
        </p:txBody>
      </p:sp>
      <p:sp>
        <p:nvSpPr>
          <p:cNvPr id="256" name="Google Shape;256;p27">
            <a:extLst>
              <a:ext uri="{FF2B5EF4-FFF2-40B4-BE49-F238E27FC236}">
                <a16:creationId xmlns:a16="http://schemas.microsoft.com/office/drawing/2014/main" id="{6779A3D0-9C0A-0A4A-D467-FFD952AE80FB}"/>
              </a:ext>
            </a:extLst>
          </p:cNvPr>
          <p:cNvSpPr/>
          <p:nvPr/>
        </p:nvSpPr>
        <p:spPr>
          <a:xfrm rot="-630">
            <a:off x="1344068" y="3502855"/>
            <a:ext cx="2283351" cy="154381"/>
          </a:xfrm>
          <a:prstGeom prst="rightArrow">
            <a:avLst>
              <a:gd name="adj1" fmla="val 50000"/>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257" name="Google Shape;257;p27">
            <a:extLst>
              <a:ext uri="{FF2B5EF4-FFF2-40B4-BE49-F238E27FC236}">
                <a16:creationId xmlns:a16="http://schemas.microsoft.com/office/drawing/2014/main" id="{DB7D8D23-D48D-DF54-A5FE-ABC14E7055DE}"/>
              </a:ext>
            </a:extLst>
          </p:cNvPr>
          <p:cNvGrpSpPr/>
          <p:nvPr/>
        </p:nvGrpSpPr>
        <p:grpSpPr>
          <a:xfrm>
            <a:off x="311926" y="3537213"/>
            <a:ext cx="1564042" cy="1501636"/>
            <a:chOff x="986523" y="2110718"/>
            <a:chExt cx="1944600" cy="1569600"/>
          </a:xfrm>
        </p:grpSpPr>
        <p:sp>
          <p:nvSpPr>
            <p:cNvPr id="258" name="Google Shape;258;p27">
              <a:extLst>
                <a:ext uri="{FF2B5EF4-FFF2-40B4-BE49-F238E27FC236}">
                  <a16:creationId xmlns:a16="http://schemas.microsoft.com/office/drawing/2014/main" id="{C34814DE-F803-ADE5-8BE6-DB539D931612}"/>
                </a:ext>
              </a:extLst>
            </p:cNvPr>
            <p:cNvSpPr/>
            <p:nvPr/>
          </p:nvSpPr>
          <p:spPr>
            <a:xfrm>
              <a:off x="986523" y="2110718"/>
              <a:ext cx="1944600" cy="1569600"/>
            </a:xfrm>
            <a:prstGeom prst="round2DiagRect">
              <a:avLst>
                <a:gd name="adj1" fmla="val 0"/>
                <a:gd name="adj2" fmla="val 17764"/>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7">
              <a:extLst>
                <a:ext uri="{FF2B5EF4-FFF2-40B4-BE49-F238E27FC236}">
                  <a16:creationId xmlns:a16="http://schemas.microsoft.com/office/drawing/2014/main" id="{6522F11D-71AE-7BA5-6888-AA326CC2559E}"/>
                </a:ext>
              </a:extLst>
            </p:cNvPr>
            <p:cNvSpPr txBox="1"/>
            <p:nvPr/>
          </p:nvSpPr>
          <p:spPr>
            <a:xfrm>
              <a:off x="1231001" y="2659316"/>
              <a:ext cx="1451699" cy="553500"/>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a:solidFill>
                    <a:srgbClr val="FFFFFF"/>
                  </a:solidFill>
                  <a:latin typeface="Merriweather"/>
                  <a:ea typeface="Merriweather"/>
                  <a:cs typeface="Merriweather"/>
                  <a:sym typeface="Merriweather"/>
                </a:rPr>
                <a:t>Sovereign</a:t>
              </a:r>
              <a:endParaRPr sz="1500" b="1">
                <a:solidFill>
                  <a:srgbClr val="FFFFFF"/>
                </a:solidFill>
                <a:latin typeface="Merriweather"/>
                <a:ea typeface="Merriweather"/>
                <a:cs typeface="Merriweather"/>
                <a:sym typeface="Merriweather"/>
              </a:endParaRPr>
            </a:p>
            <a:p>
              <a:pPr marL="0" lvl="0" indent="0" algn="l" rtl="0">
                <a:spcBef>
                  <a:spcPts val="0"/>
                </a:spcBef>
                <a:spcAft>
                  <a:spcPts val="0"/>
                </a:spcAft>
                <a:buNone/>
              </a:pPr>
              <a:endParaRPr sz="1100" b="1">
                <a:solidFill>
                  <a:srgbClr val="FFFFFF"/>
                </a:solidFill>
                <a:latin typeface="Roboto"/>
                <a:ea typeface="Roboto"/>
                <a:cs typeface="Roboto"/>
                <a:sym typeface="Roboto"/>
              </a:endParaRPr>
            </a:p>
          </p:txBody>
        </p:sp>
      </p:grpSp>
      <p:grpSp>
        <p:nvGrpSpPr>
          <p:cNvPr id="260" name="Google Shape;260;p27">
            <a:extLst>
              <a:ext uri="{FF2B5EF4-FFF2-40B4-BE49-F238E27FC236}">
                <a16:creationId xmlns:a16="http://schemas.microsoft.com/office/drawing/2014/main" id="{268CB901-463F-A805-6126-91F1097B3FB8}"/>
              </a:ext>
            </a:extLst>
          </p:cNvPr>
          <p:cNvGrpSpPr/>
          <p:nvPr/>
        </p:nvGrpSpPr>
        <p:grpSpPr>
          <a:xfrm>
            <a:off x="3730047" y="2235206"/>
            <a:ext cx="1896684" cy="1592381"/>
            <a:chOff x="3071454" y="2013875"/>
            <a:chExt cx="2154300" cy="1569600"/>
          </a:xfrm>
        </p:grpSpPr>
        <p:sp>
          <p:nvSpPr>
            <p:cNvPr id="261" name="Google Shape;261;p27">
              <a:extLst>
                <a:ext uri="{FF2B5EF4-FFF2-40B4-BE49-F238E27FC236}">
                  <a16:creationId xmlns:a16="http://schemas.microsoft.com/office/drawing/2014/main" id="{94BA8BB4-A2B5-A809-4EFD-795CEA2A048C}"/>
                </a:ext>
              </a:extLst>
            </p:cNvPr>
            <p:cNvSpPr/>
            <p:nvPr/>
          </p:nvSpPr>
          <p:spPr>
            <a:xfrm rot="10800000" flipH="1">
              <a:off x="3071454" y="2013875"/>
              <a:ext cx="2154300" cy="1569600"/>
            </a:xfrm>
            <a:prstGeom prst="round2DiagRect">
              <a:avLst>
                <a:gd name="adj1" fmla="val 0"/>
                <a:gd name="adj2" fmla="val 17764"/>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7">
              <a:extLst>
                <a:ext uri="{FF2B5EF4-FFF2-40B4-BE49-F238E27FC236}">
                  <a16:creationId xmlns:a16="http://schemas.microsoft.com/office/drawing/2014/main" id="{46784332-3030-2A91-83FF-AB28AB0C05B1}"/>
                </a:ext>
              </a:extLst>
            </p:cNvPr>
            <p:cNvSpPr txBox="1"/>
            <p:nvPr/>
          </p:nvSpPr>
          <p:spPr>
            <a:xfrm>
              <a:off x="3073412" y="2262827"/>
              <a:ext cx="2149987" cy="453441"/>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500" b="1" dirty="0">
                  <a:solidFill>
                    <a:srgbClr val="FFFFFF"/>
                  </a:solidFill>
                  <a:latin typeface="Merriweather"/>
                  <a:ea typeface="Merriweather"/>
                  <a:cs typeface="Merriweather"/>
                  <a:sym typeface="Merriweather"/>
                </a:rPr>
                <a:t>Intermediary/WB</a:t>
              </a:r>
              <a:endParaRPr sz="1500" dirty="0">
                <a:solidFill>
                  <a:srgbClr val="FFFFFF"/>
                </a:solidFill>
                <a:latin typeface="Merriweather"/>
                <a:ea typeface="Merriweather"/>
                <a:cs typeface="Merriweather"/>
                <a:sym typeface="Merriweather"/>
              </a:endParaRPr>
            </a:p>
          </p:txBody>
        </p:sp>
        <p:sp>
          <p:nvSpPr>
            <p:cNvPr id="263" name="Google Shape;263;p27">
              <a:extLst>
                <a:ext uri="{FF2B5EF4-FFF2-40B4-BE49-F238E27FC236}">
                  <a16:creationId xmlns:a16="http://schemas.microsoft.com/office/drawing/2014/main" id="{D538F370-E39E-480D-860B-966741F57112}"/>
                </a:ext>
              </a:extLst>
            </p:cNvPr>
            <p:cNvSpPr txBox="1"/>
            <p:nvPr/>
          </p:nvSpPr>
          <p:spPr>
            <a:xfrm>
              <a:off x="3216097" y="2537357"/>
              <a:ext cx="1864500" cy="5124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000" dirty="0">
                  <a:solidFill>
                    <a:srgbClr val="FFFFFF"/>
                  </a:solidFill>
                  <a:latin typeface="Merriweather" pitchFamily="2" charset="77"/>
                  <a:ea typeface="Roboto"/>
                  <a:cs typeface="Roboto"/>
                  <a:sym typeface="Roboto"/>
                </a:rPr>
                <a:t>Issues bonds in the market e.g. at 4% (if investment threshold is met) and then on-lends to the sovereign</a:t>
              </a:r>
              <a:endParaRPr sz="1000" dirty="0">
                <a:solidFill>
                  <a:srgbClr val="FFFFFF"/>
                </a:solidFill>
                <a:latin typeface="Merriweather" pitchFamily="2" charset="77"/>
                <a:ea typeface="Roboto"/>
                <a:cs typeface="Roboto"/>
                <a:sym typeface="Roboto"/>
              </a:endParaRPr>
            </a:p>
            <a:p>
              <a:pPr marL="0" lvl="0" indent="0" algn="l" rtl="0">
                <a:lnSpc>
                  <a:spcPct val="115000"/>
                </a:lnSpc>
                <a:spcBef>
                  <a:spcPts val="1600"/>
                </a:spcBef>
                <a:spcAft>
                  <a:spcPts val="1600"/>
                </a:spcAft>
                <a:buNone/>
              </a:pPr>
              <a:endParaRPr sz="1000" dirty="0">
                <a:solidFill>
                  <a:srgbClr val="FFFFFF"/>
                </a:solidFill>
                <a:latin typeface="Roboto"/>
                <a:ea typeface="Roboto"/>
                <a:cs typeface="Roboto"/>
                <a:sym typeface="Roboto"/>
              </a:endParaRPr>
            </a:p>
          </p:txBody>
        </p:sp>
      </p:grpSp>
      <p:grpSp>
        <p:nvGrpSpPr>
          <p:cNvPr id="264" name="Google Shape;264;p27">
            <a:extLst>
              <a:ext uri="{FF2B5EF4-FFF2-40B4-BE49-F238E27FC236}">
                <a16:creationId xmlns:a16="http://schemas.microsoft.com/office/drawing/2014/main" id="{25D97BB0-5CC9-F1BD-4E59-268BC4E6B294}"/>
              </a:ext>
            </a:extLst>
          </p:cNvPr>
          <p:cNvGrpSpPr/>
          <p:nvPr/>
        </p:nvGrpSpPr>
        <p:grpSpPr>
          <a:xfrm>
            <a:off x="7141957" y="3541629"/>
            <a:ext cx="1637755" cy="1501636"/>
            <a:chOff x="5015938" y="2013875"/>
            <a:chExt cx="3001200" cy="1569600"/>
          </a:xfrm>
        </p:grpSpPr>
        <p:sp>
          <p:nvSpPr>
            <p:cNvPr id="265" name="Google Shape;265;p27">
              <a:extLst>
                <a:ext uri="{FF2B5EF4-FFF2-40B4-BE49-F238E27FC236}">
                  <a16:creationId xmlns:a16="http://schemas.microsoft.com/office/drawing/2014/main" id="{34FD2A1A-EF8C-4A92-EE8D-9D6C2DAFB4CE}"/>
                </a:ext>
              </a:extLst>
            </p:cNvPr>
            <p:cNvSpPr/>
            <p:nvPr/>
          </p:nvSpPr>
          <p:spPr>
            <a:xfrm>
              <a:off x="5015938" y="2013875"/>
              <a:ext cx="3001200" cy="1569600"/>
            </a:xfrm>
            <a:prstGeom prst="round2DiagRect">
              <a:avLst>
                <a:gd name="adj1" fmla="val 0"/>
                <a:gd name="adj2" fmla="val 17764"/>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66" name="Google Shape;266;p27">
              <a:extLst>
                <a:ext uri="{FF2B5EF4-FFF2-40B4-BE49-F238E27FC236}">
                  <a16:creationId xmlns:a16="http://schemas.microsoft.com/office/drawing/2014/main" id="{D966B4E8-ABA0-DBAF-7BF8-BBF71294674B}"/>
                </a:ext>
              </a:extLst>
            </p:cNvPr>
            <p:cNvSpPr txBox="1"/>
            <p:nvPr/>
          </p:nvSpPr>
          <p:spPr>
            <a:xfrm>
              <a:off x="5307987" y="2604657"/>
              <a:ext cx="2417101" cy="4599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a:solidFill>
                    <a:srgbClr val="FFFFFF"/>
                  </a:solidFill>
                  <a:latin typeface="Merriweather"/>
                  <a:ea typeface="Merriweather"/>
                  <a:cs typeface="Merriweather"/>
                  <a:sym typeface="Merriweather"/>
                </a:rPr>
                <a:t>Investor</a:t>
              </a:r>
              <a:endParaRPr sz="1500">
                <a:solidFill>
                  <a:srgbClr val="FFFFFF"/>
                </a:solidFill>
                <a:latin typeface="Merriweather"/>
                <a:ea typeface="Merriweather"/>
                <a:cs typeface="Merriweather"/>
                <a:sym typeface="Merriweather"/>
              </a:endParaRPr>
            </a:p>
          </p:txBody>
        </p:sp>
      </p:grpSp>
      <p:sp>
        <p:nvSpPr>
          <p:cNvPr id="2" name="TextBox 1">
            <a:extLst>
              <a:ext uri="{FF2B5EF4-FFF2-40B4-BE49-F238E27FC236}">
                <a16:creationId xmlns:a16="http://schemas.microsoft.com/office/drawing/2014/main" id="{8D9D2E7C-D1E0-E23C-5E23-678656C6148E}"/>
              </a:ext>
            </a:extLst>
          </p:cNvPr>
          <p:cNvSpPr txBox="1"/>
          <p:nvPr/>
        </p:nvSpPr>
        <p:spPr>
          <a:xfrm>
            <a:off x="2964581" y="1203158"/>
            <a:ext cx="184731" cy="369332"/>
          </a:xfrm>
          <a:prstGeom prst="rect">
            <a:avLst/>
          </a:prstGeom>
          <a:noFill/>
        </p:spPr>
        <p:txBody>
          <a:bodyPr wrap="none" rtlCol="0">
            <a:spAutoFit/>
          </a:bodyPr>
          <a:lstStyle/>
          <a:p>
            <a:endParaRPr lang="en-US" dirty="0"/>
          </a:p>
        </p:txBody>
      </p:sp>
      <p:sp>
        <p:nvSpPr>
          <p:cNvPr id="3" name="Subtitle 1">
            <a:extLst>
              <a:ext uri="{FF2B5EF4-FFF2-40B4-BE49-F238E27FC236}">
                <a16:creationId xmlns:a16="http://schemas.microsoft.com/office/drawing/2014/main" id="{52372CD9-8493-C2AF-106D-61AF156FD275}"/>
              </a:ext>
            </a:extLst>
          </p:cNvPr>
          <p:cNvSpPr txBox="1">
            <a:spLocks/>
          </p:cNvSpPr>
          <p:nvPr/>
        </p:nvSpPr>
        <p:spPr>
          <a:xfrm>
            <a:off x="5033963" y="1052512"/>
            <a:ext cx="3927993" cy="843653"/>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0" marR="0" lvl="0" indent="0" algn="l" rtl="0">
              <a:lnSpc>
                <a:spcPct val="115000"/>
              </a:lnSpc>
              <a:spcBef>
                <a:spcPts val="0"/>
              </a:spcBef>
              <a:spcAft>
                <a:spcPts val="0"/>
              </a:spcAft>
              <a:buClr>
                <a:schemeClr val="dk2"/>
              </a:buClr>
              <a:buSzPts val="1300"/>
              <a:buFont typeface="Roboto"/>
              <a:buNone/>
              <a:defRPr sz="2100" b="0" i="0" u="none" strike="noStrike" cap="none">
                <a:solidFill>
                  <a:schemeClr val="bg1"/>
                </a:solidFill>
                <a:latin typeface="Merriweather" pitchFamily="2" charset="77"/>
                <a:ea typeface="Roboto"/>
                <a:cs typeface="Roboto"/>
                <a:sym typeface="Roboto"/>
              </a:defRPr>
            </a:lvl1pPr>
            <a:lvl2pPr marL="342900" marR="0" lvl="1" indent="0" algn="ctr" rtl="0">
              <a:lnSpc>
                <a:spcPct val="115000"/>
              </a:lnSpc>
              <a:spcBef>
                <a:spcPts val="0"/>
              </a:spcBef>
              <a:spcAft>
                <a:spcPts val="0"/>
              </a:spcAft>
              <a:buClr>
                <a:schemeClr val="dk2"/>
              </a:buClr>
              <a:buSzPts val="1100"/>
              <a:buFont typeface="Roboto"/>
              <a:buNone/>
              <a:defRPr sz="1500" b="0" i="0" u="none" strike="noStrike" cap="none">
                <a:solidFill>
                  <a:schemeClr val="dk2"/>
                </a:solidFill>
                <a:latin typeface="Roboto"/>
                <a:ea typeface="Roboto"/>
                <a:cs typeface="Roboto"/>
                <a:sym typeface="Roboto"/>
              </a:defRPr>
            </a:lvl2pPr>
            <a:lvl3pPr marL="685800" marR="0" lvl="2" indent="0" algn="ctr" rtl="0">
              <a:lnSpc>
                <a:spcPct val="115000"/>
              </a:lnSpc>
              <a:spcBef>
                <a:spcPts val="0"/>
              </a:spcBef>
              <a:spcAft>
                <a:spcPts val="0"/>
              </a:spcAft>
              <a:buClr>
                <a:schemeClr val="dk2"/>
              </a:buClr>
              <a:buSzPts val="1100"/>
              <a:buFont typeface="Roboto"/>
              <a:buNone/>
              <a:defRPr sz="1350" b="0" i="0" u="none" strike="noStrike" cap="none">
                <a:solidFill>
                  <a:schemeClr val="dk2"/>
                </a:solidFill>
                <a:latin typeface="Roboto"/>
                <a:ea typeface="Roboto"/>
                <a:cs typeface="Roboto"/>
                <a:sym typeface="Roboto"/>
              </a:defRPr>
            </a:lvl3pPr>
            <a:lvl4pPr marL="1028700" marR="0" lvl="3"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4pPr>
            <a:lvl5pPr marL="1371600" marR="0" lvl="4"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5pPr>
            <a:lvl6pPr marL="1714500" marR="0" lvl="5"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6pPr>
            <a:lvl7pPr marL="2057400" marR="0" lvl="6"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7pPr>
            <a:lvl8pPr marL="2400300" marR="0" lvl="7"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8pPr>
            <a:lvl9pPr marL="2743200" marR="0" lvl="8"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9pPr>
          </a:lstStyle>
          <a:p>
            <a:pPr defTabSz="914400"/>
            <a:endParaRPr lang="en-US" sz="1800" kern="0" dirty="0">
              <a:solidFill>
                <a:srgbClr val="FF0000"/>
              </a:solidFill>
            </a:endParaRPr>
          </a:p>
        </p:txBody>
      </p:sp>
    </p:spTree>
    <p:extLst>
      <p:ext uri="{BB962C8B-B14F-4D97-AF65-F5344CB8AC3E}">
        <p14:creationId xmlns:p14="http://schemas.microsoft.com/office/powerpoint/2010/main" val="15985680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E300E4E-A1F3-87C6-55C6-03270CE0C514}"/>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E0271326-58B4-E0F6-C6B9-C9B0FEF61880}"/>
              </a:ext>
            </a:extLst>
          </p:cNvPr>
          <p:cNvSpPr>
            <a:spLocks noGrp="1"/>
          </p:cNvSpPr>
          <p:nvPr>
            <p:ph type="subTitle" idx="1"/>
          </p:nvPr>
        </p:nvSpPr>
        <p:spPr>
          <a:xfrm>
            <a:off x="5043985" y="1201309"/>
            <a:ext cx="4100015" cy="3611850"/>
          </a:xfrm>
        </p:spPr>
        <p:txBody>
          <a:bodyPr>
            <a:normAutofit/>
          </a:bodyPr>
          <a:lstStyle/>
          <a:p>
            <a:r>
              <a:rPr lang="en-US" dirty="0">
                <a:solidFill>
                  <a:schemeClr val="tx1">
                    <a:lumMod val="50000"/>
                  </a:schemeClr>
                </a:solidFill>
              </a:rPr>
              <a:t>Debt-For Nature Swap (Ecuador) with Guarantees</a:t>
            </a:r>
          </a:p>
        </p:txBody>
      </p:sp>
      <p:sp>
        <p:nvSpPr>
          <p:cNvPr id="19" name="Text Placeholder 18">
            <a:extLst>
              <a:ext uri="{FF2B5EF4-FFF2-40B4-BE49-F238E27FC236}">
                <a16:creationId xmlns:a16="http://schemas.microsoft.com/office/drawing/2014/main" id="{4EDB45CC-E118-1480-808D-484091FD5A79}"/>
              </a:ext>
            </a:extLst>
          </p:cNvPr>
          <p:cNvSpPr>
            <a:spLocks noGrp="1"/>
          </p:cNvSpPr>
          <p:nvPr>
            <p:ph type="body" sz="quarter" idx="4294967295"/>
          </p:nvPr>
        </p:nvSpPr>
        <p:spPr>
          <a:xfrm>
            <a:off x="5189538" y="2143525"/>
            <a:ext cx="3954462" cy="2620563"/>
          </a:xfrm>
        </p:spPr>
        <p:txBody>
          <a:bodyPr>
            <a:normAutofit fontScale="92500"/>
          </a:bodyPr>
          <a:lstStyle/>
          <a:p>
            <a:pPr marL="285750" indent="-285750"/>
            <a:r>
              <a:rPr lang="en-US" sz="1300" dirty="0">
                <a:solidFill>
                  <a:srgbClr val="000000"/>
                </a:solidFill>
                <a:latin typeface="Roboto"/>
                <a:ea typeface="Roboto"/>
                <a:cs typeface="Roboto"/>
              </a:rPr>
              <a:t>Some precedent can be found in a recent </a:t>
            </a:r>
            <a:r>
              <a:rPr lang="en-US" sz="1300" b="1" dirty="0">
                <a:solidFill>
                  <a:srgbClr val="B85741"/>
                </a:solidFill>
                <a:latin typeface="Roboto"/>
                <a:ea typeface="Roboto"/>
                <a:cs typeface="Roboto"/>
              </a:rPr>
              <a:t>Debt-for-nature swap in Ecuador </a:t>
            </a:r>
          </a:p>
          <a:p>
            <a:pPr marL="285750" indent="-285750"/>
            <a:r>
              <a:rPr lang="en-GB" dirty="0">
                <a:solidFill>
                  <a:srgbClr val="000000"/>
                </a:solidFill>
                <a:latin typeface="Roboto"/>
                <a:ea typeface="Roboto"/>
                <a:cs typeface="Roboto"/>
              </a:rPr>
              <a:t>It consists</a:t>
            </a:r>
            <a:r>
              <a:rPr lang="en-GB" b="0" i="0" dirty="0">
                <a:solidFill>
                  <a:srgbClr val="000000"/>
                </a:solidFill>
                <a:effectLst/>
                <a:latin typeface="Roboto"/>
                <a:ea typeface="Roboto"/>
                <a:cs typeface="Roboto"/>
              </a:rPr>
              <a:t> of an $85 million </a:t>
            </a:r>
            <a:r>
              <a:rPr lang="en-GB" b="1" i="0" dirty="0">
                <a:solidFill>
                  <a:srgbClr val="B85741"/>
                </a:solidFill>
                <a:effectLst/>
                <a:latin typeface="Roboto"/>
                <a:ea typeface="Roboto"/>
                <a:cs typeface="Roboto"/>
              </a:rPr>
              <a:t>IDB guarantee </a:t>
            </a:r>
            <a:r>
              <a:rPr lang="en-GB" b="0" i="0" dirty="0">
                <a:solidFill>
                  <a:srgbClr val="000000"/>
                </a:solidFill>
                <a:effectLst/>
                <a:latin typeface="Roboto"/>
                <a:ea typeface="Roboto"/>
                <a:cs typeface="Roboto"/>
              </a:rPr>
              <a:t>and an $656 million </a:t>
            </a:r>
            <a:r>
              <a:rPr lang="en-GB" b="1" i="0" dirty="0">
                <a:solidFill>
                  <a:srgbClr val="B85741"/>
                </a:solidFill>
                <a:effectLst/>
                <a:latin typeface="Roboto"/>
                <a:ea typeface="Roboto"/>
                <a:cs typeface="Roboto"/>
              </a:rPr>
              <a:t>DFC political-risk insurance</a:t>
            </a:r>
            <a:r>
              <a:rPr lang="en-GB" b="0" i="0" dirty="0">
                <a:solidFill>
                  <a:srgbClr val="000000"/>
                </a:solidFill>
                <a:effectLst/>
                <a:latin typeface="Roboto"/>
                <a:ea typeface="Roboto"/>
                <a:cs typeface="Roboto"/>
              </a:rPr>
              <a:t>.</a:t>
            </a:r>
            <a:endParaRPr lang="en-GB" dirty="0"/>
          </a:p>
          <a:p>
            <a:pPr marL="285750" indent="-285750"/>
            <a:r>
              <a:rPr lang="en-GB" dirty="0">
                <a:solidFill>
                  <a:srgbClr val="000000"/>
                </a:solidFill>
                <a:latin typeface="Roboto"/>
                <a:ea typeface="Roboto"/>
                <a:cs typeface="Roboto"/>
              </a:rPr>
              <a:t>E</a:t>
            </a:r>
            <a:r>
              <a:rPr lang="en-GB" b="0" i="0" dirty="0">
                <a:solidFill>
                  <a:srgbClr val="000000"/>
                </a:solidFill>
                <a:effectLst/>
                <a:latin typeface="Roboto"/>
                <a:ea typeface="Roboto"/>
                <a:cs typeface="Roboto"/>
              </a:rPr>
              <a:t>stimated to generate savings of </a:t>
            </a:r>
            <a:r>
              <a:rPr lang="en-GB" b="1" i="0" dirty="0">
                <a:solidFill>
                  <a:srgbClr val="B85741"/>
                </a:solidFill>
                <a:effectLst/>
                <a:latin typeface="Roboto"/>
                <a:ea typeface="Roboto"/>
                <a:cs typeface="Roboto"/>
              </a:rPr>
              <a:t>$323 million</a:t>
            </a:r>
            <a:r>
              <a:rPr lang="en-GB" b="0" i="0" dirty="0">
                <a:solidFill>
                  <a:srgbClr val="000000"/>
                </a:solidFill>
                <a:effectLst/>
                <a:latin typeface="Roboto"/>
                <a:ea typeface="Roboto"/>
                <a:cs typeface="Roboto"/>
              </a:rPr>
              <a:t> to finance conservation activities in the Galápagos (IDB, 2023).</a:t>
            </a:r>
            <a:r>
              <a:rPr lang="en-GB" dirty="0">
                <a:solidFill>
                  <a:srgbClr val="000000"/>
                </a:solidFill>
                <a:latin typeface="Roboto"/>
                <a:ea typeface="Roboto"/>
                <a:cs typeface="Roboto"/>
              </a:rPr>
              <a:t> </a:t>
            </a:r>
          </a:p>
          <a:p>
            <a:pPr marL="285750" indent="-285750"/>
            <a:r>
              <a:rPr lang="en-US" dirty="0">
                <a:solidFill>
                  <a:srgbClr val="002F4A"/>
                </a:solidFill>
                <a:latin typeface="Roboto"/>
                <a:ea typeface="Roboto"/>
                <a:cs typeface="Roboto"/>
              </a:rPr>
              <a:t>First time an MDB has provided </a:t>
            </a:r>
            <a:r>
              <a:rPr lang="en-US" b="1" dirty="0">
                <a:solidFill>
                  <a:srgbClr val="B85741"/>
                </a:solidFill>
                <a:latin typeface="Roboto"/>
                <a:ea typeface="Roboto"/>
                <a:cs typeface="Roboto"/>
              </a:rPr>
              <a:t>financial guarantees </a:t>
            </a:r>
            <a:r>
              <a:rPr lang="en-US" dirty="0">
                <a:solidFill>
                  <a:srgbClr val="002F4A"/>
                </a:solidFill>
                <a:latin typeface="Roboto"/>
                <a:ea typeface="Roboto"/>
                <a:cs typeface="Roboto"/>
              </a:rPr>
              <a:t>coupled </a:t>
            </a:r>
            <a:r>
              <a:rPr lang="en-US" b="1" dirty="0">
                <a:solidFill>
                  <a:srgbClr val="B85741"/>
                </a:solidFill>
                <a:latin typeface="Roboto"/>
                <a:ea typeface="Roboto"/>
                <a:cs typeface="Roboto"/>
              </a:rPr>
              <a:t>with insurance against risks</a:t>
            </a:r>
            <a:r>
              <a:rPr lang="en-US" dirty="0">
                <a:solidFill>
                  <a:srgbClr val="002F4A"/>
                </a:solidFill>
                <a:latin typeface="Roboto"/>
                <a:ea typeface="Roboto"/>
                <a:cs typeface="Roboto"/>
              </a:rPr>
              <a:t> to promote </a:t>
            </a:r>
            <a:r>
              <a:rPr lang="en-US" b="1" dirty="0">
                <a:solidFill>
                  <a:srgbClr val="B85741"/>
                </a:solidFill>
                <a:latin typeface="Roboto"/>
                <a:ea typeface="Roboto"/>
                <a:cs typeface="Roboto"/>
              </a:rPr>
              <a:t>sustainability</a:t>
            </a:r>
            <a:r>
              <a:rPr lang="en-US" dirty="0">
                <a:solidFill>
                  <a:srgbClr val="002F4A"/>
                </a:solidFill>
                <a:latin typeface="Roboto"/>
                <a:ea typeface="Roboto"/>
                <a:cs typeface="Roboto"/>
              </a:rPr>
              <a:t> at the state level. </a:t>
            </a:r>
            <a:endParaRPr lang="en-US" dirty="0">
              <a:solidFill>
                <a:srgbClr val="002F4A"/>
              </a:solidFill>
            </a:endParaRPr>
          </a:p>
          <a:p>
            <a:pPr marL="285750" indent="-285750"/>
            <a:r>
              <a:rPr lang="en-US" dirty="0">
                <a:solidFill>
                  <a:srgbClr val="002F4A"/>
                </a:solidFill>
              </a:rPr>
              <a:t>Largest debt-for-nature conversion in the world. </a:t>
            </a:r>
          </a:p>
        </p:txBody>
      </p:sp>
      <p:sp>
        <p:nvSpPr>
          <p:cNvPr id="5" name="Rectangle 4">
            <a:extLst>
              <a:ext uri="{FF2B5EF4-FFF2-40B4-BE49-F238E27FC236}">
                <a16:creationId xmlns:a16="http://schemas.microsoft.com/office/drawing/2014/main" id="{1C7F36DD-8EBC-CFC4-3688-8D258A10313E}"/>
              </a:ext>
            </a:extLst>
          </p:cNvPr>
          <p:cNvSpPr/>
          <p:nvPr/>
        </p:nvSpPr>
        <p:spPr>
          <a:xfrm>
            <a:off x="363416" y="1298122"/>
            <a:ext cx="4173415" cy="3611850"/>
          </a:xfrm>
          <a:prstGeom prst="rect">
            <a:avLst/>
          </a:prstGeom>
          <a:solidFill>
            <a:schemeClr val="bg1"/>
          </a:solidFill>
          <a:ln w="3175">
            <a:solidFill>
              <a:schemeClr val="bg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Google Shape;178;p22">
            <a:extLst>
              <a:ext uri="{FF2B5EF4-FFF2-40B4-BE49-F238E27FC236}">
                <a16:creationId xmlns:a16="http://schemas.microsoft.com/office/drawing/2014/main" id="{9E4F7072-E833-9E9E-01FD-1457C268A78B}"/>
              </a:ext>
            </a:extLst>
          </p:cNvPr>
          <p:cNvSpPr/>
          <p:nvPr/>
        </p:nvSpPr>
        <p:spPr>
          <a:xfrm>
            <a:off x="3086798" y="2467882"/>
            <a:ext cx="1287300" cy="990426"/>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Roboto"/>
                <a:ea typeface="Roboto"/>
                <a:cs typeface="Roboto"/>
                <a:sym typeface="Roboto"/>
              </a:rPr>
              <a:t>Ecuador</a:t>
            </a:r>
          </a:p>
        </p:txBody>
      </p:sp>
      <p:sp>
        <p:nvSpPr>
          <p:cNvPr id="9" name="Google Shape;180;p22">
            <a:extLst>
              <a:ext uri="{FF2B5EF4-FFF2-40B4-BE49-F238E27FC236}">
                <a16:creationId xmlns:a16="http://schemas.microsoft.com/office/drawing/2014/main" id="{4B1B0330-DC0F-2708-0D92-8633721B8074}"/>
              </a:ext>
            </a:extLst>
          </p:cNvPr>
          <p:cNvSpPr/>
          <p:nvPr/>
        </p:nvSpPr>
        <p:spPr>
          <a:xfrm>
            <a:off x="762185" y="2742691"/>
            <a:ext cx="1287300" cy="5766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Creditors</a:t>
            </a:r>
            <a:endParaRPr sz="1200">
              <a:solidFill>
                <a:schemeClr val="lt1"/>
              </a:solidFill>
              <a:latin typeface="Roboto"/>
              <a:ea typeface="Roboto"/>
              <a:cs typeface="Roboto"/>
              <a:sym typeface="Roboto"/>
            </a:endParaRPr>
          </a:p>
        </p:txBody>
      </p:sp>
      <p:sp>
        <p:nvSpPr>
          <p:cNvPr id="10" name="Google Shape;181;p22">
            <a:extLst>
              <a:ext uri="{FF2B5EF4-FFF2-40B4-BE49-F238E27FC236}">
                <a16:creationId xmlns:a16="http://schemas.microsoft.com/office/drawing/2014/main" id="{54F32028-7F08-08F0-AE1C-43EF179B52D3}"/>
              </a:ext>
            </a:extLst>
          </p:cNvPr>
          <p:cNvSpPr txBox="1"/>
          <p:nvPr/>
        </p:nvSpPr>
        <p:spPr>
          <a:xfrm>
            <a:off x="496357" y="2154728"/>
            <a:ext cx="1132428" cy="25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Roboto"/>
                <a:ea typeface="Roboto"/>
                <a:cs typeface="Roboto"/>
                <a:sym typeface="Roboto"/>
              </a:rPr>
              <a:t>Financial Guarantee</a:t>
            </a:r>
            <a:endParaRPr sz="1200">
              <a:solidFill>
                <a:schemeClr val="dk2"/>
              </a:solidFill>
              <a:latin typeface="Roboto"/>
              <a:ea typeface="Roboto"/>
              <a:cs typeface="Roboto"/>
              <a:sym typeface="Roboto"/>
            </a:endParaRPr>
          </a:p>
        </p:txBody>
      </p:sp>
      <p:sp>
        <p:nvSpPr>
          <p:cNvPr id="12" name="Google Shape;183;p22">
            <a:extLst>
              <a:ext uri="{FF2B5EF4-FFF2-40B4-BE49-F238E27FC236}">
                <a16:creationId xmlns:a16="http://schemas.microsoft.com/office/drawing/2014/main" id="{A11CD9F5-B63C-46F9-3DE0-772ACF0F4790}"/>
              </a:ext>
            </a:extLst>
          </p:cNvPr>
          <p:cNvSpPr txBox="1"/>
          <p:nvPr/>
        </p:nvSpPr>
        <p:spPr>
          <a:xfrm>
            <a:off x="1443980" y="3545096"/>
            <a:ext cx="1287300" cy="47051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Roboto"/>
                <a:ea typeface="Roboto"/>
                <a:cs typeface="Roboto"/>
                <a:sym typeface="Roboto"/>
              </a:rPr>
              <a:t>Risk Insurance</a:t>
            </a:r>
            <a:endParaRPr sz="1200">
              <a:solidFill>
                <a:schemeClr val="dk2"/>
              </a:solidFill>
              <a:latin typeface="Roboto"/>
              <a:ea typeface="Roboto"/>
              <a:cs typeface="Roboto"/>
              <a:sym typeface="Roboto"/>
            </a:endParaRPr>
          </a:p>
        </p:txBody>
      </p:sp>
      <p:sp>
        <p:nvSpPr>
          <p:cNvPr id="13" name="Google Shape;184;p22">
            <a:extLst>
              <a:ext uri="{FF2B5EF4-FFF2-40B4-BE49-F238E27FC236}">
                <a16:creationId xmlns:a16="http://schemas.microsoft.com/office/drawing/2014/main" id="{466165A6-0F84-73FE-6BF0-D29955C9F07F}"/>
              </a:ext>
            </a:extLst>
          </p:cNvPr>
          <p:cNvSpPr/>
          <p:nvPr/>
        </p:nvSpPr>
        <p:spPr>
          <a:xfrm>
            <a:off x="762185" y="4015615"/>
            <a:ext cx="1287300" cy="576600"/>
          </a:xfrm>
          <a:prstGeom prst="rect">
            <a:avLst/>
          </a:prstGeom>
          <a:solidFill>
            <a:srgbClr val="B02C20"/>
          </a:solidFill>
          <a:ln w="9525" cap="flat" cmpd="sng">
            <a:solidFill>
              <a:srgbClr val="B02C2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US DFC</a:t>
            </a:r>
            <a:endParaRPr sz="1200">
              <a:solidFill>
                <a:schemeClr val="lt1"/>
              </a:solidFill>
              <a:latin typeface="Roboto"/>
              <a:ea typeface="Roboto"/>
              <a:cs typeface="Roboto"/>
              <a:sym typeface="Roboto"/>
            </a:endParaRPr>
          </a:p>
        </p:txBody>
      </p:sp>
      <p:sp>
        <p:nvSpPr>
          <p:cNvPr id="15" name="Google Shape;187;p22">
            <a:extLst>
              <a:ext uri="{FF2B5EF4-FFF2-40B4-BE49-F238E27FC236}">
                <a16:creationId xmlns:a16="http://schemas.microsoft.com/office/drawing/2014/main" id="{814DA7EF-9A0B-4D61-CE6F-40B7248F9387}"/>
              </a:ext>
            </a:extLst>
          </p:cNvPr>
          <p:cNvSpPr/>
          <p:nvPr/>
        </p:nvSpPr>
        <p:spPr>
          <a:xfrm>
            <a:off x="762185" y="1566925"/>
            <a:ext cx="1287300" cy="5766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IDB</a:t>
            </a:r>
            <a:endParaRPr sz="1200">
              <a:solidFill>
                <a:schemeClr val="lt1"/>
              </a:solidFill>
              <a:latin typeface="Roboto"/>
              <a:ea typeface="Roboto"/>
              <a:cs typeface="Roboto"/>
              <a:sym typeface="Roboto"/>
            </a:endParaRPr>
          </a:p>
        </p:txBody>
      </p:sp>
      <p:sp>
        <p:nvSpPr>
          <p:cNvPr id="16" name="Google Shape;188;p22">
            <a:extLst>
              <a:ext uri="{FF2B5EF4-FFF2-40B4-BE49-F238E27FC236}">
                <a16:creationId xmlns:a16="http://schemas.microsoft.com/office/drawing/2014/main" id="{2DF996B5-E4F2-87D3-6255-9BA7CCC64370}"/>
              </a:ext>
            </a:extLst>
          </p:cNvPr>
          <p:cNvSpPr txBox="1"/>
          <p:nvPr/>
        </p:nvSpPr>
        <p:spPr>
          <a:xfrm rot="-2688">
            <a:off x="3749678" y="3489282"/>
            <a:ext cx="767400" cy="441184"/>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Roboto"/>
                <a:ea typeface="Roboto"/>
                <a:cs typeface="Roboto"/>
                <a:sym typeface="Roboto"/>
              </a:rPr>
              <a:t>New Funds</a:t>
            </a:r>
            <a:endParaRPr sz="1200">
              <a:solidFill>
                <a:schemeClr val="dk2"/>
              </a:solidFill>
              <a:latin typeface="Roboto"/>
              <a:ea typeface="Roboto"/>
              <a:cs typeface="Roboto"/>
              <a:sym typeface="Roboto"/>
            </a:endParaRPr>
          </a:p>
        </p:txBody>
      </p:sp>
      <p:sp>
        <p:nvSpPr>
          <p:cNvPr id="20" name="Google Shape;184;p22">
            <a:extLst>
              <a:ext uri="{FF2B5EF4-FFF2-40B4-BE49-F238E27FC236}">
                <a16:creationId xmlns:a16="http://schemas.microsoft.com/office/drawing/2014/main" id="{84FE63D8-4515-DD75-02FB-3AB9A3958B32}"/>
              </a:ext>
            </a:extLst>
          </p:cNvPr>
          <p:cNvSpPr/>
          <p:nvPr/>
        </p:nvSpPr>
        <p:spPr>
          <a:xfrm>
            <a:off x="3086798" y="4061287"/>
            <a:ext cx="1287300" cy="576600"/>
          </a:xfrm>
          <a:prstGeom prst="rect">
            <a:avLst/>
          </a:prstGeom>
          <a:solidFill>
            <a:schemeClr val="accent6">
              <a:lumMod val="25000"/>
            </a:schemeClr>
          </a:solidFill>
          <a:ln w="9525" cap="flat" cmpd="sng">
            <a:solidFill>
              <a:schemeClr val="accent6">
                <a:lumMod val="2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lt1"/>
                </a:solidFill>
                <a:latin typeface="Roboto"/>
                <a:ea typeface="Roboto"/>
                <a:cs typeface="Roboto"/>
                <a:sym typeface="Roboto"/>
              </a:rPr>
              <a:t>Conservation Efforts</a:t>
            </a:r>
            <a:endParaRPr sz="1200">
              <a:solidFill>
                <a:schemeClr val="lt1"/>
              </a:solidFill>
              <a:latin typeface="Roboto"/>
              <a:ea typeface="Roboto"/>
              <a:cs typeface="Roboto"/>
              <a:sym typeface="Roboto"/>
            </a:endParaRPr>
          </a:p>
        </p:txBody>
      </p:sp>
      <p:sp>
        <p:nvSpPr>
          <p:cNvPr id="21" name="Google Shape;182;p22">
            <a:extLst>
              <a:ext uri="{FF2B5EF4-FFF2-40B4-BE49-F238E27FC236}">
                <a16:creationId xmlns:a16="http://schemas.microsoft.com/office/drawing/2014/main" id="{EB7C4E5D-F13D-8181-C231-964214386851}"/>
              </a:ext>
            </a:extLst>
          </p:cNvPr>
          <p:cNvSpPr/>
          <p:nvPr/>
        </p:nvSpPr>
        <p:spPr>
          <a:xfrm rot="5400000">
            <a:off x="3387493" y="3594861"/>
            <a:ext cx="696323" cy="145184"/>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4" name="Google Shape;182;p22">
            <a:extLst>
              <a:ext uri="{FF2B5EF4-FFF2-40B4-BE49-F238E27FC236}">
                <a16:creationId xmlns:a16="http://schemas.microsoft.com/office/drawing/2014/main" id="{EAD5F9B7-33C2-EF6F-6004-77060A497371}"/>
              </a:ext>
            </a:extLst>
          </p:cNvPr>
          <p:cNvSpPr/>
          <p:nvPr/>
        </p:nvSpPr>
        <p:spPr>
          <a:xfrm rot="10800000">
            <a:off x="2084653" y="2910913"/>
            <a:ext cx="1085373" cy="160533"/>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6" name="Google Shape;182;p22">
            <a:extLst>
              <a:ext uri="{FF2B5EF4-FFF2-40B4-BE49-F238E27FC236}">
                <a16:creationId xmlns:a16="http://schemas.microsoft.com/office/drawing/2014/main" id="{9BABFA65-1F5A-DBB0-CB3A-4D9AF90105F3}"/>
              </a:ext>
            </a:extLst>
          </p:cNvPr>
          <p:cNvSpPr/>
          <p:nvPr/>
        </p:nvSpPr>
        <p:spPr>
          <a:xfrm rot="5400000">
            <a:off x="1085893" y="2229812"/>
            <a:ext cx="696323" cy="145184"/>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7" name="Google Shape;182;p22">
            <a:extLst>
              <a:ext uri="{FF2B5EF4-FFF2-40B4-BE49-F238E27FC236}">
                <a16:creationId xmlns:a16="http://schemas.microsoft.com/office/drawing/2014/main" id="{348B57A8-B5E4-C9B8-3455-A04B7D7717DD}"/>
              </a:ext>
            </a:extLst>
          </p:cNvPr>
          <p:cNvSpPr/>
          <p:nvPr/>
        </p:nvSpPr>
        <p:spPr>
          <a:xfrm rot="16200000">
            <a:off x="1071263" y="3687204"/>
            <a:ext cx="696323" cy="145184"/>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8" name="Google Shape;182;p22">
            <a:extLst>
              <a:ext uri="{FF2B5EF4-FFF2-40B4-BE49-F238E27FC236}">
                <a16:creationId xmlns:a16="http://schemas.microsoft.com/office/drawing/2014/main" id="{913B24F5-38DB-F870-9AE3-98A676B39382}"/>
              </a:ext>
            </a:extLst>
          </p:cNvPr>
          <p:cNvSpPr/>
          <p:nvPr/>
        </p:nvSpPr>
        <p:spPr>
          <a:xfrm rot="19249176">
            <a:off x="1805067" y="3829088"/>
            <a:ext cx="1379067" cy="136340"/>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30" name="Google Shape;188;p22">
            <a:extLst>
              <a:ext uri="{FF2B5EF4-FFF2-40B4-BE49-F238E27FC236}">
                <a16:creationId xmlns:a16="http://schemas.microsoft.com/office/drawing/2014/main" id="{EFF34AA5-0B90-C78D-B726-55067F37C3FA}"/>
              </a:ext>
            </a:extLst>
          </p:cNvPr>
          <p:cNvSpPr txBox="1"/>
          <p:nvPr/>
        </p:nvSpPr>
        <p:spPr>
          <a:xfrm rot="-2688">
            <a:off x="2013946" y="2272757"/>
            <a:ext cx="1091503" cy="369492"/>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AU" sz="1200">
                <a:solidFill>
                  <a:schemeClr val="dk2"/>
                </a:solidFill>
                <a:latin typeface="Roboto"/>
                <a:ea typeface="Roboto"/>
                <a:cs typeface="Roboto"/>
                <a:sym typeface="Roboto"/>
              </a:rPr>
              <a:t>Repays debt at cheaper rate</a:t>
            </a:r>
            <a:endParaRPr sz="1200">
              <a:solidFill>
                <a:schemeClr val="dk2"/>
              </a:solidFill>
              <a:latin typeface="Roboto"/>
              <a:ea typeface="Roboto"/>
              <a:cs typeface="Roboto"/>
              <a:sym typeface="Roboto"/>
            </a:endParaRPr>
          </a:p>
        </p:txBody>
      </p:sp>
    </p:spTree>
    <p:extLst>
      <p:ext uri="{BB962C8B-B14F-4D97-AF65-F5344CB8AC3E}">
        <p14:creationId xmlns:p14="http://schemas.microsoft.com/office/powerpoint/2010/main" val="4161958206"/>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9">
          <a:extLst>
            <a:ext uri="{FF2B5EF4-FFF2-40B4-BE49-F238E27FC236}">
              <a16:creationId xmlns:a16="http://schemas.microsoft.com/office/drawing/2014/main" id="{8692C545-73EC-9A08-8B86-9DDA06D9461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75DF5940-5387-8BF4-2968-4C26A4EC6FA8}"/>
              </a:ext>
            </a:extLst>
          </p:cNvPr>
          <p:cNvSpPr>
            <a:spLocks noGrp="1"/>
          </p:cNvSpPr>
          <p:nvPr>
            <p:ph type="subTitle" idx="1"/>
          </p:nvPr>
        </p:nvSpPr>
        <p:spPr>
          <a:xfrm>
            <a:off x="5157915" y="2064190"/>
            <a:ext cx="3684662" cy="1644391"/>
          </a:xfrm>
        </p:spPr>
        <p:txBody>
          <a:bodyPr>
            <a:normAutofit/>
          </a:bodyPr>
          <a:lstStyle/>
          <a:p>
            <a:pPr algn="ctr"/>
            <a:r>
              <a:rPr lang="en" sz="2400" dirty="0"/>
              <a:t>IV. Role of the World Bank (or other leading MDB)</a:t>
            </a:r>
            <a:endParaRPr lang="en-US" sz="2400" dirty="0"/>
          </a:p>
        </p:txBody>
      </p:sp>
    </p:spTree>
    <p:extLst>
      <p:ext uri="{BB962C8B-B14F-4D97-AF65-F5344CB8AC3E}">
        <p14:creationId xmlns:p14="http://schemas.microsoft.com/office/powerpoint/2010/main" val="2649812394"/>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FE56DDB-75FE-D788-569B-02AC2258D1D0}"/>
              </a:ext>
            </a:extLst>
          </p:cNvPr>
          <p:cNvSpPr>
            <a:spLocks noGrp="1"/>
          </p:cNvSpPr>
          <p:nvPr>
            <p:ph type="subTitle" idx="1"/>
          </p:nvPr>
        </p:nvSpPr>
        <p:spPr>
          <a:xfrm>
            <a:off x="293299" y="3475857"/>
            <a:ext cx="8557402" cy="1438049"/>
          </a:xfrm>
        </p:spPr>
        <p:txBody>
          <a:bodyPr>
            <a:normAutofit/>
          </a:bodyPr>
          <a:lstStyle/>
          <a:p>
            <a:pPr algn="ctr"/>
            <a:r>
              <a:rPr lang="en-US" dirty="0">
                <a:solidFill>
                  <a:srgbClr val="203617"/>
                </a:solidFill>
              </a:rPr>
              <a:t>The World Bank, or similar institution, could also play a key role in standardizing the metrics and KPIs to ensure strong climate action.</a:t>
            </a:r>
          </a:p>
          <a:p>
            <a:endParaRPr lang="en-US" dirty="0"/>
          </a:p>
        </p:txBody>
      </p:sp>
      <p:sp>
        <p:nvSpPr>
          <p:cNvPr id="3" name="Subtitle 1">
            <a:extLst>
              <a:ext uri="{FF2B5EF4-FFF2-40B4-BE49-F238E27FC236}">
                <a16:creationId xmlns:a16="http://schemas.microsoft.com/office/drawing/2014/main" id="{733CF2E9-B1D0-C2A9-FC83-15EB6F099A91}"/>
              </a:ext>
            </a:extLst>
          </p:cNvPr>
          <p:cNvSpPr txBox="1">
            <a:spLocks/>
          </p:cNvSpPr>
          <p:nvPr/>
        </p:nvSpPr>
        <p:spPr>
          <a:xfrm>
            <a:off x="5293260" y="1723302"/>
            <a:ext cx="3684662" cy="132999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0" marR="0" lvl="0" indent="0" algn="l" rtl="0">
              <a:lnSpc>
                <a:spcPct val="115000"/>
              </a:lnSpc>
              <a:spcBef>
                <a:spcPts val="0"/>
              </a:spcBef>
              <a:spcAft>
                <a:spcPts val="0"/>
              </a:spcAft>
              <a:buClr>
                <a:schemeClr val="dk2"/>
              </a:buClr>
              <a:buSzPts val="1300"/>
              <a:buFont typeface="Roboto"/>
              <a:buNone/>
              <a:defRPr sz="2100" b="0" i="0" u="none" strike="noStrike" cap="none">
                <a:solidFill>
                  <a:schemeClr val="bg1"/>
                </a:solidFill>
                <a:latin typeface="Merriweather" pitchFamily="2" charset="77"/>
                <a:ea typeface="Roboto"/>
                <a:cs typeface="Roboto"/>
                <a:sym typeface="Roboto"/>
              </a:defRPr>
            </a:lvl1pPr>
            <a:lvl2pPr marL="342900" marR="0" lvl="1" indent="0" algn="ctr" rtl="0">
              <a:lnSpc>
                <a:spcPct val="115000"/>
              </a:lnSpc>
              <a:spcBef>
                <a:spcPts val="0"/>
              </a:spcBef>
              <a:spcAft>
                <a:spcPts val="0"/>
              </a:spcAft>
              <a:buClr>
                <a:schemeClr val="dk2"/>
              </a:buClr>
              <a:buSzPts val="1100"/>
              <a:buFont typeface="Roboto"/>
              <a:buNone/>
              <a:defRPr sz="1500" b="0" i="0" u="none" strike="noStrike" cap="none">
                <a:solidFill>
                  <a:schemeClr val="dk2"/>
                </a:solidFill>
                <a:latin typeface="Roboto"/>
                <a:ea typeface="Roboto"/>
                <a:cs typeface="Roboto"/>
                <a:sym typeface="Roboto"/>
              </a:defRPr>
            </a:lvl2pPr>
            <a:lvl3pPr marL="685800" marR="0" lvl="2" indent="0" algn="ctr" rtl="0">
              <a:lnSpc>
                <a:spcPct val="115000"/>
              </a:lnSpc>
              <a:spcBef>
                <a:spcPts val="0"/>
              </a:spcBef>
              <a:spcAft>
                <a:spcPts val="0"/>
              </a:spcAft>
              <a:buClr>
                <a:schemeClr val="dk2"/>
              </a:buClr>
              <a:buSzPts val="1100"/>
              <a:buFont typeface="Roboto"/>
              <a:buNone/>
              <a:defRPr sz="1350" b="0" i="0" u="none" strike="noStrike" cap="none">
                <a:solidFill>
                  <a:schemeClr val="dk2"/>
                </a:solidFill>
                <a:latin typeface="Roboto"/>
                <a:ea typeface="Roboto"/>
                <a:cs typeface="Roboto"/>
                <a:sym typeface="Roboto"/>
              </a:defRPr>
            </a:lvl3pPr>
            <a:lvl4pPr marL="1028700" marR="0" lvl="3"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4pPr>
            <a:lvl5pPr marL="1371600" marR="0" lvl="4"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5pPr>
            <a:lvl6pPr marL="1714500" marR="0" lvl="5"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6pPr>
            <a:lvl7pPr marL="2057400" marR="0" lvl="6"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7pPr>
            <a:lvl8pPr marL="2400300" marR="0" lvl="7"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8pPr>
            <a:lvl9pPr marL="2743200" marR="0" lvl="8"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9pPr>
          </a:lstStyle>
          <a:p>
            <a:pPr algn="r" defTabSz="914400"/>
            <a:r>
              <a:rPr lang="en-US" sz="3200" b="1" kern="0" dirty="0"/>
              <a:t>WB Role: Standard Setting</a:t>
            </a:r>
          </a:p>
          <a:p>
            <a:pPr defTabSz="914400"/>
            <a:endParaRPr lang="en-US" kern="0" dirty="0"/>
          </a:p>
        </p:txBody>
      </p:sp>
    </p:spTree>
    <p:extLst>
      <p:ext uri="{BB962C8B-B14F-4D97-AF65-F5344CB8AC3E}">
        <p14:creationId xmlns:p14="http://schemas.microsoft.com/office/powerpoint/2010/main" val="3173404109"/>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507EF195-6918-4B58-B5CC-D9308909884A}"/>
              </a:ext>
            </a:extLst>
          </p:cNvPr>
          <p:cNvSpPr>
            <a:spLocks noGrp="1"/>
          </p:cNvSpPr>
          <p:nvPr>
            <p:ph type="subTitle" idx="1"/>
          </p:nvPr>
        </p:nvSpPr>
        <p:spPr>
          <a:xfrm>
            <a:off x="4715435" y="671209"/>
            <a:ext cx="4206828" cy="4710830"/>
          </a:xfrm>
        </p:spPr>
        <p:txBody>
          <a:bodyPr/>
          <a:lstStyle/>
          <a:p>
            <a:pPr algn="r"/>
            <a:r>
              <a:rPr lang="en-US" sz="3200" b="1" dirty="0">
                <a:solidFill>
                  <a:srgbClr val="042F4A"/>
                </a:solidFill>
              </a:rPr>
              <a:t>WB Role:    </a:t>
            </a:r>
            <a:br>
              <a:rPr lang="en-US" sz="3200" b="1" dirty="0">
                <a:solidFill>
                  <a:srgbClr val="042F4A"/>
                </a:solidFill>
              </a:rPr>
            </a:br>
            <a:r>
              <a:rPr lang="en-US" sz="3200" b="1" dirty="0">
                <a:solidFill>
                  <a:srgbClr val="042F4A"/>
                </a:solidFill>
              </a:rPr>
              <a:t>‘Halo’ Effect</a:t>
            </a:r>
          </a:p>
        </p:txBody>
      </p:sp>
      <p:sp>
        <p:nvSpPr>
          <p:cNvPr id="6" name="Subtitle 1">
            <a:extLst>
              <a:ext uri="{FF2B5EF4-FFF2-40B4-BE49-F238E27FC236}">
                <a16:creationId xmlns:a16="http://schemas.microsoft.com/office/drawing/2014/main" id="{01253E3B-688B-B39B-591D-FE4015CE7D6A}"/>
              </a:ext>
            </a:extLst>
          </p:cNvPr>
          <p:cNvSpPr txBox="1">
            <a:spLocks/>
          </p:cNvSpPr>
          <p:nvPr/>
        </p:nvSpPr>
        <p:spPr>
          <a:xfrm>
            <a:off x="3983477" y="1561289"/>
            <a:ext cx="4938786" cy="345818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15000"/>
              </a:lnSpc>
              <a:spcBef>
                <a:spcPts val="0"/>
              </a:spcBef>
              <a:spcAft>
                <a:spcPts val="0"/>
              </a:spcAft>
              <a:buClr>
                <a:schemeClr val="dk2"/>
              </a:buClr>
              <a:buSzPts val="1300"/>
              <a:buFont typeface="Roboto"/>
              <a:buNone/>
              <a:defRPr sz="2100" b="0" i="0" u="none" strike="noStrike" cap="none">
                <a:solidFill>
                  <a:schemeClr val="bg1"/>
                </a:solidFill>
                <a:latin typeface="Merriweather" pitchFamily="2" charset="77"/>
                <a:ea typeface="Roboto"/>
                <a:cs typeface="Roboto"/>
                <a:sym typeface="Roboto"/>
              </a:defRPr>
            </a:lvl1pPr>
            <a:lvl2pPr marL="342900" marR="0" lvl="1" indent="0" algn="ctr" rtl="0">
              <a:lnSpc>
                <a:spcPct val="115000"/>
              </a:lnSpc>
              <a:spcBef>
                <a:spcPts val="0"/>
              </a:spcBef>
              <a:spcAft>
                <a:spcPts val="0"/>
              </a:spcAft>
              <a:buClr>
                <a:schemeClr val="dk2"/>
              </a:buClr>
              <a:buSzPts val="1100"/>
              <a:buFont typeface="Roboto"/>
              <a:buNone/>
              <a:defRPr sz="1500" b="0" i="0" u="none" strike="noStrike" cap="none">
                <a:solidFill>
                  <a:schemeClr val="dk2"/>
                </a:solidFill>
                <a:latin typeface="Roboto"/>
                <a:ea typeface="Roboto"/>
                <a:cs typeface="Roboto"/>
                <a:sym typeface="Roboto"/>
              </a:defRPr>
            </a:lvl2pPr>
            <a:lvl3pPr marL="685800" marR="0" lvl="2" indent="0" algn="ctr" rtl="0">
              <a:lnSpc>
                <a:spcPct val="115000"/>
              </a:lnSpc>
              <a:spcBef>
                <a:spcPts val="0"/>
              </a:spcBef>
              <a:spcAft>
                <a:spcPts val="0"/>
              </a:spcAft>
              <a:buClr>
                <a:schemeClr val="dk2"/>
              </a:buClr>
              <a:buSzPts val="1100"/>
              <a:buFont typeface="Roboto"/>
              <a:buNone/>
              <a:defRPr sz="1350" b="0" i="0" u="none" strike="noStrike" cap="none">
                <a:solidFill>
                  <a:schemeClr val="dk2"/>
                </a:solidFill>
                <a:latin typeface="Roboto"/>
                <a:ea typeface="Roboto"/>
                <a:cs typeface="Roboto"/>
                <a:sym typeface="Roboto"/>
              </a:defRPr>
            </a:lvl3pPr>
            <a:lvl4pPr marL="1028700" marR="0" lvl="3"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4pPr>
            <a:lvl5pPr marL="1371600" marR="0" lvl="4"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5pPr>
            <a:lvl6pPr marL="1714500" marR="0" lvl="5"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6pPr>
            <a:lvl7pPr marL="2057400" marR="0" lvl="6"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7pPr>
            <a:lvl8pPr marL="2400300" marR="0" lvl="7"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8pPr>
            <a:lvl9pPr marL="2743200" marR="0" lvl="8"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9pPr>
          </a:lstStyle>
          <a:p>
            <a:pPr algn="r" defTabSz="914400"/>
            <a:endParaRPr lang="en-GB" sz="1800" b="1" dirty="0">
              <a:solidFill>
                <a:srgbClr val="B85641"/>
              </a:solidFill>
            </a:endParaRPr>
          </a:p>
          <a:p>
            <a:pPr algn="r" defTabSz="914400"/>
            <a:r>
              <a:rPr lang="en-GB" sz="1800" dirty="0">
                <a:solidFill>
                  <a:srgbClr val="B85641"/>
                </a:solidFill>
              </a:rPr>
              <a:t>The involvement of the World Bank or another MDB (e.g. by the WB purchasing some of the final bonds issued to investors) may create a strong market signal—a ‘halo effect’—that reduces the risk of sovereign default, boosts bond credibility, and increases its appeal to private investors.</a:t>
            </a:r>
          </a:p>
        </p:txBody>
      </p:sp>
      <p:sp>
        <p:nvSpPr>
          <p:cNvPr id="3" name="Subtitle 1">
            <a:extLst>
              <a:ext uri="{FF2B5EF4-FFF2-40B4-BE49-F238E27FC236}">
                <a16:creationId xmlns:a16="http://schemas.microsoft.com/office/drawing/2014/main" id="{7B9A2F0B-2096-4399-BBF6-5D5A1EDC9F40}"/>
              </a:ext>
            </a:extLst>
          </p:cNvPr>
          <p:cNvSpPr txBox="1">
            <a:spLocks/>
          </p:cNvSpPr>
          <p:nvPr/>
        </p:nvSpPr>
        <p:spPr>
          <a:xfrm>
            <a:off x="124486" y="1003935"/>
            <a:ext cx="2822713" cy="179393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15000"/>
              </a:lnSpc>
              <a:spcBef>
                <a:spcPts val="0"/>
              </a:spcBef>
              <a:spcAft>
                <a:spcPts val="0"/>
              </a:spcAft>
              <a:buClr>
                <a:schemeClr val="dk2"/>
              </a:buClr>
              <a:buSzPts val="1300"/>
              <a:buFont typeface="Roboto"/>
              <a:buNone/>
              <a:defRPr sz="2100" b="0" i="0" u="none" strike="noStrike" cap="none">
                <a:solidFill>
                  <a:schemeClr val="bg1"/>
                </a:solidFill>
                <a:latin typeface="Merriweather" pitchFamily="2" charset="77"/>
                <a:ea typeface="Roboto"/>
                <a:cs typeface="Roboto"/>
                <a:sym typeface="Roboto"/>
              </a:defRPr>
            </a:lvl1pPr>
            <a:lvl2pPr marL="342900" marR="0" lvl="1" indent="0" algn="ctr" rtl="0">
              <a:lnSpc>
                <a:spcPct val="115000"/>
              </a:lnSpc>
              <a:spcBef>
                <a:spcPts val="0"/>
              </a:spcBef>
              <a:spcAft>
                <a:spcPts val="0"/>
              </a:spcAft>
              <a:buClr>
                <a:schemeClr val="dk2"/>
              </a:buClr>
              <a:buSzPts val="1100"/>
              <a:buFont typeface="Roboto"/>
              <a:buNone/>
              <a:defRPr sz="1500" b="0" i="0" u="none" strike="noStrike" cap="none">
                <a:solidFill>
                  <a:schemeClr val="dk2"/>
                </a:solidFill>
                <a:latin typeface="Roboto"/>
                <a:ea typeface="Roboto"/>
                <a:cs typeface="Roboto"/>
                <a:sym typeface="Roboto"/>
              </a:defRPr>
            </a:lvl2pPr>
            <a:lvl3pPr marL="685800" marR="0" lvl="2" indent="0" algn="ctr" rtl="0">
              <a:lnSpc>
                <a:spcPct val="115000"/>
              </a:lnSpc>
              <a:spcBef>
                <a:spcPts val="0"/>
              </a:spcBef>
              <a:spcAft>
                <a:spcPts val="0"/>
              </a:spcAft>
              <a:buClr>
                <a:schemeClr val="dk2"/>
              </a:buClr>
              <a:buSzPts val="1100"/>
              <a:buFont typeface="Roboto"/>
              <a:buNone/>
              <a:defRPr sz="1350" b="0" i="0" u="none" strike="noStrike" cap="none">
                <a:solidFill>
                  <a:schemeClr val="dk2"/>
                </a:solidFill>
                <a:latin typeface="Roboto"/>
                <a:ea typeface="Roboto"/>
                <a:cs typeface="Roboto"/>
                <a:sym typeface="Roboto"/>
              </a:defRPr>
            </a:lvl3pPr>
            <a:lvl4pPr marL="1028700" marR="0" lvl="3"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4pPr>
            <a:lvl5pPr marL="1371600" marR="0" lvl="4"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5pPr>
            <a:lvl6pPr marL="1714500" marR="0" lvl="5"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6pPr>
            <a:lvl7pPr marL="2057400" marR="0" lvl="6"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7pPr>
            <a:lvl8pPr marL="2400300" marR="0" lvl="7"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8pPr>
            <a:lvl9pPr marL="2743200" marR="0" lvl="8"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9pPr>
          </a:lstStyle>
          <a:p>
            <a:pPr defTabSz="914400"/>
            <a:endParaRPr lang="en-US" sz="1800" i="1" kern="0" dirty="0">
              <a:solidFill>
                <a:srgbClr val="203617"/>
              </a:solidFill>
            </a:endParaRPr>
          </a:p>
        </p:txBody>
      </p:sp>
    </p:spTree>
    <p:extLst>
      <p:ext uri="{BB962C8B-B14F-4D97-AF65-F5344CB8AC3E}">
        <p14:creationId xmlns:p14="http://schemas.microsoft.com/office/powerpoint/2010/main" val="1933841989"/>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5B66F-B6E3-64E0-94F1-B685C41C2FFA}"/>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2D91BCDA-2EB3-1172-82F8-EB3424E9C3D4}"/>
              </a:ext>
            </a:extLst>
          </p:cNvPr>
          <p:cNvSpPr>
            <a:spLocks noGrp="1"/>
          </p:cNvSpPr>
          <p:nvPr>
            <p:ph type="subTitle" idx="4294967295"/>
          </p:nvPr>
        </p:nvSpPr>
        <p:spPr>
          <a:xfrm>
            <a:off x="0" y="3476624"/>
            <a:ext cx="9144000" cy="1666875"/>
          </a:xfrm>
          <a:solidFill>
            <a:schemeClr val="bg1"/>
          </a:solidFill>
        </p:spPr>
        <p:txBody>
          <a:bodyPr>
            <a:normAutofit/>
          </a:bodyPr>
          <a:lstStyle/>
          <a:p>
            <a:pPr marL="146050" indent="0" algn="ctr">
              <a:buNone/>
            </a:pPr>
            <a:endParaRPr lang="en-US" sz="2000" dirty="0">
              <a:solidFill>
                <a:schemeClr val="tx1">
                  <a:lumMod val="50000"/>
                </a:schemeClr>
              </a:solidFill>
              <a:latin typeface="Merriweather" panose="00000500000000000000" pitchFamily="2" charset="0"/>
            </a:endParaRPr>
          </a:p>
          <a:p>
            <a:pPr marL="146050" indent="0" algn="ctr">
              <a:buNone/>
            </a:pPr>
            <a:r>
              <a:rPr lang="en-US" sz="2000" dirty="0">
                <a:solidFill>
                  <a:schemeClr val="tx1">
                    <a:lumMod val="50000"/>
                  </a:schemeClr>
                </a:solidFill>
                <a:latin typeface="Merriweather" panose="00000500000000000000" pitchFamily="2" charset="0"/>
              </a:rPr>
              <a:t>The World Bank could lend directly (sustainability-linked loan) or help to set up a Special Purpose Vehicle to do additional lending.</a:t>
            </a:r>
          </a:p>
          <a:p>
            <a:endParaRPr lang="en-US" sz="2000" dirty="0">
              <a:solidFill>
                <a:schemeClr val="bg1"/>
              </a:solidFill>
              <a:latin typeface="Merriweather" panose="00000500000000000000" pitchFamily="2" charset="0"/>
            </a:endParaRPr>
          </a:p>
        </p:txBody>
      </p:sp>
      <p:sp>
        <p:nvSpPr>
          <p:cNvPr id="3" name="Subtitle 1">
            <a:extLst>
              <a:ext uri="{FF2B5EF4-FFF2-40B4-BE49-F238E27FC236}">
                <a16:creationId xmlns:a16="http://schemas.microsoft.com/office/drawing/2014/main" id="{DB1153AB-F16B-01E3-E889-B8BE8EF7BC40}"/>
              </a:ext>
            </a:extLst>
          </p:cNvPr>
          <p:cNvSpPr txBox="1">
            <a:spLocks/>
          </p:cNvSpPr>
          <p:nvPr/>
        </p:nvSpPr>
        <p:spPr>
          <a:xfrm>
            <a:off x="4856672" y="271464"/>
            <a:ext cx="4121250" cy="2781838"/>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0" marR="0" lvl="0" indent="0" algn="l" rtl="0">
              <a:lnSpc>
                <a:spcPct val="115000"/>
              </a:lnSpc>
              <a:spcBef>
                <a:spcPts val="0"/>
              </a:spcBef>
              <a:spcAft>
                <a:spcPts val="0"/>
              </a:spcAft>
              <a:buClr>
                <a:schemeClr val="dk2"/>
              </a:buClr>
              <a:buSzPts val="1300"/>
              <a:buFont typeface="Roboto"/>
              <a:buNone/>
              <a:defRPr sz="2100" b="0" i="0" u="none" strike="noStrike" cap="none">
                <a:solidFill>
                  <a:schemeClr val="bg1"/>
                </a:solidFill>
                <a:latin typeface="Merriweather" pitchFamily="2" charset="77"/>
                <a:ea typeface="Roboto"/>
                <a:cs typeface="Roboto"/>
                <a:sym typeface="Roboto"/>
              </a:defRPr>
            </a:lvl1pPr>
            <a:lvl2pPr marL="342900" marR="0" lvl="1" indent="0" algn="ctr" rtl="0">
              <a:lnSpc>
                <a:spcPct val="115000"/>
              </a:lnSpc>
              <a:spcBef>
                <a:spcPts val="0"/>
              </a:spcBef>
              <a:spcAft>
                <a:spcPts val="0"/>
              </a:spcAft>
              <a:buClr>
                <a:schemeClr val="dk2"/>
              </a:buClr>
              <a:buSzPts val="1100"/>
              <a:buFont typeface="Roboto"/>
              <a:buNone/>
              <a:defRPr sz="1500" b="0" i="0" u="none" strike="noStrike" cap="none">
                <a:solidFill>
                  <a:schemeClr val="dk2"/>
                </a:solidFill>
                <a:latin typeface="Roboto"/>
                <a:ea typeface="Roboto"/>
                <a:cs typeface="Roboto"/>
                <a:sym typeface="Roboto"/>
              </a:defRPr>
            </a:lvl2pPr>
            <a:lvl3pPr marL="685800" marR="0" lvl="2" indent="0" algn="ctr" rtl="0">
              <a:lnSpc>
                <a:spcPct val="115000"/>
              </a:lnSpc>
              <a:spcBef>
                <a:spcPts val="0"/>
              </a:spcBef>
              <a:spcAft>
                <a:spcPts val="0"/>
              </a:spcAft>
              <a:buClr>
                <a:schemeClr val="dk2"/>
              </a:buClr>
              <a:buSzPts val="1100"/>
              <a:buFont typeface="Roboto"/>
              <a:buNone/>
              <a:defRPr sz="1350" b="0" i="0" u="none" strike="noStrike" cap="none">
                <a:solidFill>
                  <a:schemeClr val="dk2"/>
                </a:solidFill>
                <a:latin typeface="Roboto"/>
                <a:ea typeface="Roboto"/>
                <a:cs typeface="Roboto"/>
                <a:sym typeface="Roboto"/>
              </a:defRPr>
            </a:lvl3pPr>
            <a:lvl4pPr marL="1028700" marR="0" lvl="3"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4pPr>
            <a:lvl5pPr marL="1371600" marR="0" lvl="4"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5pPr>
            <a:lvl6pPr marL="1714500" marR="0" lvl="5"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6pPr>
            <a:lvl7pPr marL="2057400" marR="0" lvl="6"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7pPr>
            <a:lvl8pPr marL="2400300" marR="0" lvl="7"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8pPr>
            <a:lvl9pPr marL="2743200" marR="0" lvl="8"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9pPr>
          </a:lstStyle>
          <a:p>
            <a:pPr algn="r" defTabSz="914400"/>
            <a:r>
              <a:rPr lang="en-US" sz="3200" b="1" kern="0" dirty="0"/>
              <a:t>WB Role: </a:t>
            </a:r>
            <a:r>
              <a:rPr lang="en-US" sz="3200" b="1" kern="0" dirty="0">
                <a:solidFill>
                  <a:schemeClr val="tx1">
                    <a:lumMod val="50000"/>
                  </a:schemeClr>
                </a:solidFill>
              </a:rPr>
              <a:t>Lending Directly or Setting Up SPV</a:t>
            </a:r>
          </a:p>
          <a:p>
            <a:pPr defTabSz="914400"/>
            <a:endParaRPr lang="en-US" kern="0" dirty="0"/>
          </a:p>
        </p:txBody>
      </p:sp>
    </p:spTree>
    <p:extLst>
      <p:ext uri="{BB962C8B-B14F-4D97-AF65-F5344CB8AC3E}">
        <p14:creationId xmlns:p14="http://schemas.microsoft.com/office/powerpoint/2010/main" val="4155065187"/>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9">
          <a:extLst>
            <a:ext uri="{FF2B5EF4-FFF2-40B4-BE49-F238E27FC236}">
              <a16:creationId xmlns:a16="http://schemas.microsoft.com/office/drawing/2014/main" id="{77BACC38-4E75-6929-DF5C-6F9DD7B7629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D0CB4FE-F1AC-C087-9826-A030411E38DC}"/>
              </a:ext>
            </a:extLst>
          </p:cNvPr>
          <p:cNvSpPr>
            <a:spLocks noGrp="1"/>
          </p:cNvSpPr>
          <p:nvPr>
            <p:ph type="subTitle" idx="1"/>
          </p:nvPr>
        </p:nvSpPr>
        <p:spPr>
          <a:xfrm>
            <a:off x="5157915" y="2064190"/>
            <a:ext cx="3684662" cy="1644391"/>
          </a:xfrm>
        </p:spPr>
        <p:txBody>
          <a:bodyPr>
            <a:normAutofit/>
          </a:bodyPr>
          <a:lstStyle/>
          <a:p>
            <a:pPr algn="ctr"/>
            <a:r>
              <a:rPr lang="en" sz="2400" dirty="0"/>
              <a:t>V. Development Partner Roles</a:t>
            </a:r>
            <a:endParaRPr lang="en-US" sz="2400" dirty="0"/>
          </a:p>
        </p:txBody>
      </p:sp>
    </p:spTree>
    <p:extLst>
      <p:ext uri="{BB962C8B-B14F-4D97-AF65-F5344CB8AC3E}">
        <p14:creationId xmlns:p14="http://schemas.microsoft.com/office/powerpoint/2010/main" val="2807304930"/>
      </p:ext>
    </p:extLst>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4">
          <a:extLst>
            <a:ext uri="{FF2B5EF4-FFF2-40B4-BE49-F238E27FC236}">
              <a16:creationId xmlns:a16="http://schemas.microsoft.com/office/drawing/2014/main" id="{6DC69604-7F71-ADDE-262F-9C0E39FDFAA0}"/>
            </a:ext>
          </a:extLst>
        </p:cNvPr>
        <p:cNvGrpSpPr/>
        <p:nvPr/>
      </p:nvGrpSpPr>
      <p:grpSpPr>
        <a:xfrm>
          <a:off x="0" y="0"/>
          <a:ext cx="0" cy="0"/>
          <a:chOff x="0" y="0"/>
          <a:chExt cx="0" cy="0"/>
        </a:xfrm>
      </p:grpSpPr>
      <p:sp>
        <p:nvSpPr>
          <p:cNvPr id="247" name="Google Shape;247;p27">
            <a:extLst>
              <a:ext uri="{FF2B5EF4-FFF2-40B4-BE49-F238E27FC236}">
                <a16:creationId xmlns:a16="http://schemas.microsoft.com/office/drawing/2014/main" id="{BDA15AB4-6F1E-81D8-9C61-4CDC3094B5C3}"/>
              </a:ext>
            </a:extLst>
          </p:cNvPr>
          <p:cNvSpPr txBox="1">
            <a:spLocks noGrp="1"/>
          </p:cNvSpPr>
          <p:nvPr>
            <p:ph type="subTitle" idx="1"/>
          </p:nvPr>
        </p:nvSpPr>
        <p:spPr>
          <a:xfrm>
            <a:off x="5428604" y="580977"/>
            <a:ext cx="3684662" cy="4416815"/>
          </a:xfrm>
        </p:spPr>
        <p:txBody>
          <a:bodyPr spcFirstLastPara="1" wrap="square" lIns="91425" tIns="91425" rIns="91425" bIns="91425" anchor="t" anchorCtr="0">
            <a:normAutofit/>
          </a:bodyPr>
          <a:lstStyle/>
          <a:p>
            <a:pPr marL="146050" lvl="0" indent="0" algn="r">
              <a:buNone/>
            </a:pPr>
            <a:r>
              <a:rPr lang="en-GB" dirty="0">
                <a:solidFill>
                  <a:srgbClr val="042F4A"/>
                </a:solidFill>
                <a:latin typeface="Merriweather" pitchFamily="2" charset="77"/>
              </a:rPr>
              <a:t>Roles of Development Agency Partner in Enhancing SLIDI Success</a:t>
            </a:r>
          </a:p>
          <a:p>
            <a:pPr lvl="0"/>
            <a:endParaRPr lang="en-GB" dirty="0"/>
          </a:p>
          <a:p>
            <a:pPr lvl="0"/>
            <a:endParaRPr lang="en-GB" dirty="0"/>
          </a:p>
        </p:txBody>
      </p:sp>
      <p:sp>
        <p:nvSpPr>
          <p:cNvPr id="248" name="Google Shape;248;p27">
            <a:extLst>
              <a:ext uri="{FF2B5EF4-FFF2-40B4-BE49-F238E27FC236}">
                <a16:creationId xmlns:a16="http://schemas.microsoft.com/office/drawing/2014/main" id="{93ABDED8-3770-5B3E-F086-A48EE65839D3}"/>
              </a:ext>
            </a:extLst>
          </p:cNvPr>
          <p:cNvSpPr txBox="1"/>
          <p:nvPr/>
        </p:nvSpPr>
        <p:spPr>
          <a:xfrm>
            <a:off x="286675" y="4116579"/>
            <a:ext cx="1637700" cy="58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1500">
              <a:solidFill>
                <a:schemeClr val="lt1"/>
              </a:solidFill>
              <a:latin typeface="Roboto"/>
              <a:ea typeface="Roboto"/>
              <a:cs typeface="Roboto"/>
              <a:sym typeface="Roboto"/>
            </a:endParaRPr>
          </a:p>
          <a:p>
            <a:pPr marL="0" lvl="0" indent="0" algn="l" rtl="0">
              <a:lnSpc>
                <a:spcPct val="115000"/>
              </a:lnSpc>
              <a:spcBef>
                <a:spcPts val="0"/>
              </a:spcBef>
              <a:spcAft>
                <a:spcPts val="0"/>
              </a:spcAft>
              <a:buNone/>
            </a:pPr>
            <a:endParaRPr sz="1300">
              <a:solidFill>
                <a:schemeClr val="dk1"/>
              </a:solidFill>
              <a:latin typeface="Roboto"/>
              <a:ea typeface="Roboto"/>
              <a:cs typeface="Roboto"/>
              <a:sym typeface="Roboto"/>
            </a:endParaRPr>
          </a:p>
          <a:p>
            <a:pPr marL="0" lvl="0" indent="0" algn="l" rtl="0">
              <a:spcBef>
                <a:spcPts val="1200"/>
              </a:spcBef>
              <a:spcAft>
                <a:spcPts val="0"/>
              </a:spcAft>
              <a:buNone/>
            </a:pPr>
            <a:endParaRPr sz="1300">
              <a:solidFill>
                <a:schemeClr val="lt1"/>
              </a:solidFill>
              <a:latin typeface="Roboto"/>
              <a:ea typeface="Roboto"/>
              <a:cs typeface="Roboto"/>
              <a:sym typeface="Roboto"/>
            </a:endParaRPr>
          </a:p>
        </p:txBody>
      </p:sp>
      <p:sp>
        <p:nvSpPr>
          <p:cNvPr id="250" name="Google Shape;250;p27">
            <a:extLst>
              <a:ext uri="{FF2B5EF4-FFF2-40B4-BE49-F238E27FC236}">
                <a16:creationId xmlns:a16="http://schemas.microsoft.com/office/drawing/2014/main" id="{3B39E47E-1B11-4125-1827-9AB3984F90BF}"/>
              </a:ext>
            </a:extLst>
          </p:cNvPr>
          <p:cNvSpPr txBox="1"/>
          <p:nvPr/>
        </p:nvSpPr>
        <p:spPr>
          <a:xfrm rot="1352602">
            <a:off x="5469122" y="2451830"/>
            <a:ext cx="2182201" cy="646300"/>
          </a:xfrm>
          <a:prstGeom prst="rect">
            <a:avLst/>
          </a:prstGeom>
          <a:noFill/>
          <a:ln>
            <a:noFill/>
          </a:ln>
        </p:spPr>
        <p:txBody>
          <a:bodyPr spcFirstLastPara="1" wrap="square" lIns="91425" tIns="91425" rIns="91425" bIns="91425" anchor="t" anchorCtr="0">
            <a:spAutoFit/>
          </a:bodyPr>
          <a:lstStyle/>
          <a:p>
            <a:pPr algn="ctr"/>
            <a:r>
              <a:rPr lang="en" sz="1000" dirty="0">
                <a:solidFill>
                  <a:srgbClr val="042F4A"/>
                </a:solidFill>
                <a:latin typeface="Merriweather" pitchFamily="2" charset="77"/>
                <a:ea typeface="Roboto"/>
                <a:cs typeface="Roboto"/>
                <a:sym typeface="Roboto"/>
              </a:rPr>
              <a:t>Agency reports client country progress on KPI targets to lender </a:t>
            </a:r>
            <a:endParaRPr sz="1000" dirty="0">
              <a:solidFill>
                <a:srgbClr val="042F4A"/>
              </a:solidFill>
              <a:latin typeface="Merriweather" pitchFamily="2" charset="77"/>
            </a:endParaRPr>
          </a:p>
        </p:txBody>
      </p:sp>
      <p:sp>
        <p:nvSpPr>
          <p:cNvPr id="251" name="Google Shape;251;p27">
            <a:extLst>
              <a:ext uri="{FF2B5EF4-FFF2-40B4-BE49-F238E27FC236}">
                <a16:creationId xmlns:a16="http://schemas.microsoft.com/office/drawing/2014/main" id="{4025B442-8C74-8501-5949-776B18584C5C}"/>
              </a:ext>
            </a:extLst>
          </p:cNvPr>
          <p:cNvSpPr/>
          <p:nvPr/>
        </p:nvSpPr>
        <p:spPr>
          <a:xfrm rot="1342973">
            <a:off x="5461024" y="2971624"/>
            <a:ext cx="1903864" cy="163802"/>
          </a:xfrm>
          <a:prstGeom prst="rightArrow">
            <a:avLst>
              <a:gd name="adj1" fmla="val 50000"/>
              <a:gd name="adj2" fmla="val 50000"/>
            </a:avLst>
          </a:prstGeom>
          <a:solidFill>
            <a:srgbClr val="039384"/>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2" name="Google Shape;252;p27">
            <a:extLst>
              <a:ext uri="{FF2B5EF4-FFF2-40B4-BE49-F238E27FC236}">
                <a16:creationId xmlns:a16="http://schemas.microsoft.com/office/drawing/2014/main" id="{2699E0C9-4AB9-6C4C-37F9-00E71A56980E}"/>
              </a:ext>
            </a:extLst>
          </p:cNvPr>
          <p:cNvSpPr txBox="1"/>
          <p:nvPr/>
        </p:nvSpPr>
        <p:spPr>
          <a:xfrm rot="19701446">
            <a:off x="1674491" y="2730374"/>
            <a:ext cx="2121864" cy="646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dirty="0">
                <a:solidFill>
                  <a:srgbClr val="042F4A"/>
                </a:solidFill>
                <a:latin typeface="Merriweather" pitchFamily="2" charset="77"/>
                <a:ea typeface="Roboto"/>
                <a:cs typeface="Roboto"/>
                <a:sym typeface="Roboto"/>
              </a:rPr>
              <a:t>Agency gives technical support and advice to EMDE institutions</a:t>
            </a:r>
            <a:endParaRPr sz="1000" dirty="0">
              <a:solidFill>
                <a:srgbClr val="042F4A"/>
              </a:solidFill>
              <a:latin typeface="Merriweather" pitchFamily="2" charset="77"/>
            </a:endParaRPr>
          </a:p>
        </p:txBody>
      </p:sp>
      <p:sp>
        <p:nvSpPr>
          <p:cNvPr id="253" name="Google Shape;253;p27">
            <a:extLst>
              <a:ext uri="{FF2B5EF4-FFF2-40B4-BE49-F238E27FC236}">
                <a16:creationId xmlns:a16="http://schemas.microsoft.com/office/drawing/2014/main" id="{72CD6DF1-9F6B-4A4E-0BCC-09A91EE0D856}"/>
              </a:ext>
            </a:extLst>
          </p:cNvPr>
          <p:cNvSpPr/>
          <p:nvPr/>
        </p:nvSpPr>
        <p:spPr>
          <a:xfrm rot="19698210" flipH="1">
            <a:off x="1256594" y="2627421"/>
            <a:ext cx="2667449" cy="224866"/>
          </a:xfrm>
          <a:prstGeom prst="rightArrow">
            <a:avLst>
              <a:gd name="adj1" fmla="val 50000"/>
              <a:gd name="adj2" fmla="val 50000"/>
            </a:avLst>
          </a:prstGeom>
          <a:solidFill>
            <a:srgbClr val="039384"/>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4" name="Google Shape;254;p27">
            <a:extLst>
              <a:ext uri="{FF2B5EF4-FFF2-40B4-BE49-F238E27FC236}">
                <a16:creationId xmlns:a16="http://schemas.microsoft.com/office/drawing/2014/main" id="{C70D270B-86A1-11CA-8345-9C2314B6CC1A}"/>
              </a:ext>
            </a:extLst>
          </p:cNvPr>
          <p:cNvSpPr/>
          <p:nvPr/>
        </p:nvSpPr>
        <p:spPr>
          <a:xfrm rot="-5400000" flipH="1">
            <a:off x="2526196" y="2530227"/>
            <a:ext cx="1501634" cy="2589974"/>
          </a:xfrm>
          <a:prstGeom prst="bentUpArrow">
            <a:avLst>
              <a:gd name="adj1" fmla="val 5188"/>
              <a:gd name="adj2" fmla="val 5888"/>
              <a:gd name="adj3" fmla="val 8860"/>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5" name="Google Shape;255;p27">
            <a:extLst>
              <a:ext uri="{FF2B5EF4-FFF2-40B4-BE49-F238E27FC236}">
                <a16:creationId xmlns:a16="http://schemas.microsoft.com/office/drawing/2014/main" id="{72CA3842-9998-06D5-C624-760E77C3E486}"/>
              </a:ext>
            </a:extLst>
          </p:cNvPr>
          <p:cNvSpPr txBox="1"/>
          <p:nvPr/>
        </p:nvSpPr>
        <p:spPr>
          <a:xfrm rot="-2169">
            <a:off x="2772152" y="3682800"/>
            <a:ext cx="1711050" cy="800189"/>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dirty="0">
                <a:solidFill>
                  <a:srgbClr val="042F4A"/>
                </a:solidFill>
                <a:latin typeface="Merriweather" pitchFamily="2" charset="77"/>
                <a:ea typeface="Roboto"/>
                <a:cs typeface="Roboto"/>
                <a:sym typeface="Roboto"/>
              </a:rPr>
              <a:t>Agency verifies KPI targets are ambitious and relevant and tracks progress</a:t>
            </a:r>
            <a:endParaRPr sz="1000" dirty="0">
              <a:solidFill>
                <a:srgbClr val="042F4A"/>
              </a:solidFill>
              <a:latin typeface="Merriweather" pitchFamily="2" charset="77"/>
            </a:endParaRPr>
          </a:p>
        </p:txBody>
      </p:sp>
      <p:grpSp>
        <p:nvGrpSpPr>
          <p:cNvPr id="257" name="Google Shape;257;p27">
            <a:extLst>
              <a:ext uri="{FF2B5EF4-FFF2-40B4-BE49-F238E27FC236}">
                <a16:creationId xmlns:a16="http://schemas.microsoft.com/office/drawing/2014/main" id="{DB7D8D23-D48D-DF54-A5FE-ABC14E7055DE}"/>
              </a:ext>
            </a:extLst>
          </p:cNvPr>
          <p:cNvGrpSpPr/>
          <p:nvPr/>
        </p:nvGrpSpPr>
        <p:grpSpPr>
          <a:xfrm>
            <a:off x="333515" y="3570844"/>
            <a:ext cx="1590859" cy="1501636"/>
            <a:chOff x="986523" y="2110718"/>
            <a:chExt cx="1944600" cy="1569600"/>
          </a:xfrm>
        </p:grpSpPr>
        <p:sp>
          <p:nvSpPr>
            <p:cNvPr id="258" name="Google Shape;258;p27">
              <a:extLst>
                <a:ext uri="{FF2B5EF4-FFF2-40B4-BE49-F238E27FC236}">
                  <a16:creationId xmlns:a16="http://schemas.microsoft.com/office/drawing/2014/main" id="{C34814DE-F803-ADE5-8BE6-DB539D931612}"/>
                </a:ext>
              </a:extLst>
            </p:cNvPr>
            <p:cNvSpPr/>
            <p:nvPr/>
          </p:nvSpPr>
          <p:spPr>
            <a:xfrm>
              <a:off x="986523" y="2110718"/>
              <a:ext cx="1944600" cy="1569600"/>
            </a:xfrm>
            <a:prstGeom prst="round2DiagRect">
              <a:avLst>
                <a:gd name="adj1" fmla="val 0"/>
                <a:gd name="adj2" fmla="val 17764"/>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7">
              <a:extLst>
                <a:ext uri="{FF2B5EF4-FFF2-40B4-BE49-F238E27FC236}">
                  <a16:creationId xmlns:a16="http://schemas.microsoft.com/office/drawing/2014/main" id="{6522F11D-71AE-7BA5-6888-AA326CC2559E}"/>
                </a:ext>
              </a:extLst>
            </p:cNvPr>
            <p:cNvSpPr txBox="1"/>
            <p:nvPr/>
          </p:nvSpPr>
          <p:spPr>
            <a:xfrm>
              <a:off x="1231001" y="2659316"/>
              <a:ext cx="1451699" cy="553500"/>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a:solidFill>
                    <a:srgbClr val="FFFFFF"/>
                  </a:solidFill>
                  <a:latin typeface="Merriweather"/>
                  <a:ea typeface="Merriweather"/>
                  <a:cs typeface="Merriweather"/>
                  <a:sym typeface="Merriweather"/>
                </a:rPr>
                <a:t>Sovereign</a:t>
              </a:r>
              <a:endParaRPr sz="1500" b="1">
                <a:solidFill>
                  <a:srgbClr val="FFFFFF"/>
                </a:solidFill>
                <a:latin typeface="Merriweather"/>
                <a:ea typeface="Merriweather"/>
                <a:cs typeface="Merriweather"/>
                <a:sym typeface="Merriweather"/>
              </a:endParaRPr>
            </a:p>
            <a:p>
              <a:pPr marL="0" lvl="0" indent="0" algn="l" rtl="0">
                <a:spcBef>
                  <a:spcPts val="0"/>
                </a:spcBef>
                <a:spcAft>
                  <a:spcPts val="0"/>
                </a:spcAft>
                <a:buNone/>
              </a:pPr>
              <a:endParaRPr sz="1100" b="1">
                <a:solidFill>
                  <a:srgbClr val="FFFFFF"/>
                </a:solidFill>
                <a:latin typeface="Roboto"/>
                <a:ea typeface="Roboto"/>
                <a:cs typeface="Roboto"/>
                <a:sym typeface="Roboto"/>
              </a:endParaRPr>
            </a:p>
          </p:txBody>
        </p:sp>
      </p:grpSp>
      <p:grpSp>
        <p:nvGrpSpPr>
          <p:cNvPr id="260" name="Google Shape;260;p27">
            <a:extLst>
              <a:ext uri="{FF2B5EF4-FFF2-40B4-BE49-F238E27FC236}">
                <a16:creationId xmlns:a16="http://schemas.microsoft.com/office/drawing/2014/main" id="{268CB901-463F-A805-6126-91F1097B3FB8}"/>
              </a:ext>
            </a:extLst>
          </p:cNvPr>
          <p:cNvGrpSpPr/>
          <p:nvPr/>
        </p:nvGrpSpPr>
        <p:grpSpPr>
          <a:xfrm>
            <a:off x="3670876" y="1513016"/>
            <a:ext cx="1876395" cy="1978729"/>
            <a:chOff x="3071454" y="2013875"/>
            <a:chExt cx="2154300" cy="1569600"/>
          </a:xfrm>
        </p:grpSpPr>
        <p:sp>
          <p:nvSpPr>
            <p:cNvPr id="261" name="Google Shape;261;p27">
              <a:extLst>
                <a:ext uri="{FF2B5EF4-FFF2-40B4-BE49-F238E27FC236}">
                  <a16:creationId xmlns:a16="http://schemas.microsoft.com/office/drawing/2014/main" id="{94BA8BB4-A2B5-A809-4EFD-795CEA2A048C}"/>
                </a:ext>
              </a:extLst>
            </p:cNvPr>
            <p:cNvSpPr/>
            <p:nvPr/>
          </p:nvSpPr>
          <p:spPr>
            <a:xfrm rot="10800000" flipH="1">
              <a:off x="3071454" y="2013875"/>
              <a:ext cx="2154300" cy="1569600"/>
            </a:xfrm>
            <a:prstGeom prst="round2DiagRect">
              <a:avLst>
                <a:gd name="adj1" fmla="val 0"/>
                <a:gd name="adj2" fmla="val 17764"/>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7">
              <a:extLst>
                <a:ext uri="{FF2B5EF4-FFF2-40B4-BE49-F238E27FC236}">
                  <a16:creationId xmlns:a16="http://schemas.microsoft.com/office/drawing/2014/main" id="{46784332-3030-2A91-83FF-AB28AB0C05B1}"/>
                </a:ext>
              </a:extLst>
            </p:cNvPr>
            <p:cNvSpPr txBox="1"/>
            <p:nvPr/>
          </p:nvSpPr>
          <p:spPr>
            <a:xfrm>
              <a:off x="3111973" y="2427084"/>
              <a:ext cx="2067111" cy="894306"/>
            </a:xfrm>
            <a:prstGeom prst="rect">
              <a:avLst/>
            </a:prstGeom>
            <a:noFill/>
            <a:ln w="9525" cap="flat" cmpd="sng">
              <a:no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600" b="1" dirty="0">
                  <a:solidFill>
                    <a:srgbClr val="FFFFFF"/>
                  </a:solidFill>
                  <a:latin typeface="Merriweather"/>
                  <a:ea typeface="Merriweather"/>
                  <a:cs typeface="Merriweather"/>
                  <a:sym typeface="Merriweather"/>
                </a:rPr>
                <a:t>Development Agency Partner </a:t>
              </a:r>
              <a:r>
                <a:rPr lang="en" sz="1400" b="1" dirty="0">
                  <a:solidFill>
                    <a:srgbClr val="FFFFFF"/>
                  </a:solidFill>
                  <a:latin typeface="Merriweather"/>
                  <a:ea typeface="Merriweather"/>
                  <a:cs typeface="Merriweather"/>
                  <a:sym typeface="Merriweather"/>
                </a:rPr>
                <a:t>(e.g. GiZ or AFD)</a:t>
              </a:r>
              <a:endParaRPr sz="1400" dirty="0">
                <a:solidFill>
                  <a:srgbClr val="FFFFFF"/>
                </a:solidFill>
                <a:latin typeface="Merriweather"/>
                <a:ea typeface="Merriweather"/>
                <a:cs typeface="Merriweather"/>
                <a:sym typeface="Merriweather"/>
              </a:endParaRPr>
            </a:p>
          </p:txBody>
        </p:sp>
      </p:grpSp>
      <p:grpSp>
        <p:nvGrpSpPr>
          <p:cNvPr id="264" name="Google Shape;264;p27">
            <a:extLst>
              <a:ext uri="{FF2B5EF4-FFF2-40B4-BE49-F238E27FC236}">
                <a16:creationId xmlns:a16="http://schemas.microsoft.com/office/drawing/2014/main" id="{25D97BB0-5CC9-F1BD-4E59-268BC4E6B294}"/>
              </a:ext>
            </a:extLst>
          </p:cNvPr>
          <p:cNvGrpSpPr/>
          <p:nvPr/>
        </p:nvGrpSpPr>
        <p:grpSpPr>
          <a:xfrm>
            <a:off x="7131908" y="3570844"/>
            <a:ext cx="1637755" cy="1501636"/>
            <a:chOff x="5015938" y="2013875"/>
            <a:chExt cx="3001200" cy="1569600"/>
          </a:xfrm>
        </p:grpSpPr>
        <p:sp>
          <p:nvSpPr>
            <p:cNvPr id="265" name="Google Shape;265;p27">
              <a:extLst>
                <a:ext uri="{FF2B5EF4-FFF2-40B4-BE49-F238E27FC236}">
                  <a16:creationId xmlns:a16="http://schemas.microsoft.com/office/drawing/2014/main" id="{34FD2A1A-EF8C-4A92-EE8D-9D6C2DAFB4CE}"/>
                </a:ext>
              </a:extLst>
            </p:cNvPr>
            <p:cNvSpPr/>
            <p:nvPr/>
          </p:nvSpPr>
          <p:spPr>
            <a:xfrm>
              <a:off x="5015938" y="2013875"/>
              <a:ext cx="3001200" cy="1569600"/>
            </a:xfrm>
            <a:prstGeom prst="round2DiagRect">
              <a:avLst>
                <a:gd name="adj1" fmla="val 0"/>
                <a:gd name="adj2" fmla="val 17764"/>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66" name="Google Shape;266;p27">
              <a:extLst>
                <a:ext uri="{FF2B5EF4-FFF2-40B4-BE49-F238E27FC236}">
                  <a16:creationId xmlns:a16="http://schemas.microsoft.com/office/drawing/2014/main" id="{D966B4E8-ABA0-DBAF-7BF8-BBF71294674B}"/>
                </a:ext>
              </a:extLst>
            </p:cNvPr>
            <p:cNvSpPr txBox="1"/>
            <p:nvPr/>
          </p:nvSpPr>
          <p:spPr>
            <a:xfrm>
              <a:off x="5307987" y="2604657"/>
              <a:ext cx="2417101" cy="4599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dirty="0">
                  <a:solidFill>
                    <a:srgbClr val="FFFFFF"/>
                  </a:solidFill>
                  <a:latin typeface="Merriweather"/>
                  <a:ea typeface="Merriweather"/>
                  <a:cs typeface="Merriweather"/>
                  <a:sym typeface="Merriweather"/>
                </a:rPr>
                <a:t>Lender</a:t>
              </a:r>
              <a:endParaRPr sz="1500" dirty="0">
                <a:solidFill>
                  <a:srgbClr val="FFFFFF"/>
                </a:solidFill>
                <a:latin typeface="Merriweather"/>
                <a:ea typeface="Merriweather"/>
                <a:cs typeface="Merriweather"/>
                <a:sym typeface="Merriweather"/>
              </a:endParaRPr>
            </a:p>
          </p:txBody>
        </p:sp>
      </p:grpSp>
    </p:spTree>
    <p:extLst>
      <p:ext uri="{BB962C8B-B14F-4D97-AF65-F5344CB8AC3E}">
        <p14:creationId xmlns:p14="http://schemas.microsoft.com/office/powerpoint/2010/main" val="241987026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0CC05522-3048-972A-BF47-BB2BA6DB5655}"/>
              </a:ext>
            </a:extLst>
          </p:cNvPr>
          <p:cNvSpPr>
            <a:spLocks noGrp="1"/>
          </p:cNvSpPr>
          <p:nvPr>
            <p:ph type="subTitle" idx="1"/>
          </p:nvPr>
        </p:nvSpPr>
        <p:spPr>
          <a:xfrm>
            <a:off x="5130088" y="1971647"/>
            <a:ext cx="3447175" cy="1839861"/>
          </a:xfrm>
        </p:spPr>
        <p:txBody>
          <a:bodyPr>
            <a:normAutofit/>
          </a:bodyPr>
          <a:lstStyle/>
          <a:p>
            <a:pPr algn="ctr"/>
            <a:r>
              <a:rPr lang="en-US" sz="2400" dirty="0"/>
              <a:t>VI. Conclusions &amp; Next Steps</a:t>
            </a:r>
          </a:p>
        </p:txBody>
      </p:sp>
    </p:spTree>
    <p:extLst>
      <p:ext uri="{BB962C8B-B14F-4D97-AF65-F5344CB8AC3E}">
        <p14:creationId xmlns:p14="http://schemas.microsoft.com/office/powerpoint/2010/main" val="408199110"/>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5">
          <a:extLst>
            <a:ext uri="{FF2B5EF4-FFF2-40B4-BE49-F238E27FC236}">
              <a16:creationId xmlns:a16="http://schemas.microsoft.com/office/drawing/2014/main" id="{0520196E-3FFF-7B7C-9E83-E0E46A1DAF8C}"/>
            </a:ext>
          </a:extLst>
        </p:cNvPr>
        <p:cNvGrpSpPr/>
        <p:nvPr/>
      </p:nvGrpSpPr>
      <p:grpSpPr>
        <a:xfrm>
          <a:off x="0" y="0"/>
          <a:ext cx="0" cy="0"/>
          <a:chOff x="0" y="0"/>
          <a:chExt cx="0" cy="0"/>
        </a:xfrm>
      </p:grpSpPr>
      <p:sp>
        <p:nvSpPr>
          <p:cNvPr id="25" name="Rectangle 24">
            <a:extLst>
              <a:ext uri="{FF2B5EF4-FFF2-40B4-BE49-F238E27FC236}">
                <a16:creationId xmlns:a16="http://schemas.microsoft.com/office/drawing/2014/main" id="{F3F78F55-5738-C13F-40AF-98A180D8D93E}"/>
              </a:ext>
            </a:extLst>
          </p:cNvPr>
          <p:cNvSpPr/>
          <p:nvPr/>
        </p:nvSpPr>
        <p:spPr>
          <a:xfrm>
            <a:off x="226910" y="1527586"/>
            <a:ext cx="8518009" cy="1494962"/>
          </a:xfrm>
          <a:prstGeom prst="rect">
            <a:avLst/>
          </a:prstGeom>
          <a:solidFill>
            <a:srgbClr val="FFFFFF">
              <a:alpha val="7607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 name="Google Shape;317;p33">
            <a:extLst>
              <a:ext uri="{FF2B5EF4-FFF2-40B4-BE49-F238E27FC236}">
                <a16:creationId xmlns:a16="http://schemas.microsoft.com/office/drawing/2014/main" id="{C38283E4-4DBB-613B-F662-625C3D75F975}"/>
              </a:ext>
            </a:extLst>
          </p:cNvPr>
          <p:cNvSpPr txBox="1">
            <a:spLocks noGrp="1"/>
          </p:cNvSpPr>
          <p:nvPr>
            <p:ph type="subTitle" idx="1"/>
          </p:nvPr>
        </p:nvSpPr>
        <p:spPr>
          <a:xfrm>
            <a:off x="293299" y="379287"/>
            <a:ext cx="8557402" cy="481076"/>
          </a:xfrm>
          <a:prstGeom prst="rect">
            <a:avLst/>
          </a:prstGeom>
        </p:spPr>
        <p:txBody>
          <a:bodyPr spcFirstLastPara="1" wrap="square" lIns="91425" tIns="91425" rIns="91425" bIns="91425" anchor="t" anchorCtr="0">
            <a:noAutofit/>
          </a:bodyPr>
          <a:lstStyle/>
          <a:p>
            <a:pPr marL="0" indent="0" algn="ctr">
              <a:lnSpc>
                <a:spcPct val="110000"/>
              </a:lnSpc>
              <a:buNone/>
            </a:pPr>
            <a:r>
              <a:rPr lang="en" sz="2400" dirty="0"/>
              <a:t>Conclusions</a:t>
            </a:r>
          </a:p>
        </p:txBody>
      </p:sp>
      <p:sp>
        <p:nvSpPr>
          <p:cNvPr id="3" name="Google Shape;317;p33">
            <a:extLst>
              <a:ext uri="{FF2B5EF4-FFF2-40B4-BE49-F238E27FC236}">
                <a16:creationId xmlns:a16="http://schemas.microsoft.com/office/drawing/2014/main" id="{DE15D7C1-76F1-CE4F-1FBE-D812132649B2}"/>
              </a:ext>
            </a:extLst>
          </p:cNvPr>
          <p:cNvSpPr txBox="1">
            <a:spLocks/>
          </p:cNvSpPr>
          <p:nvPr/>
        </p:nvSpPr>
        <p:spPr>
          <a:xfrm>
            <a:off x="226911" y="1452283"/>
            <a:ext cx="8690178" cy="379879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15000"/>
              </a:lnSpc>
              <a:spcBef>
                <a:spcPts val="0"/>
              </a:spcBef>
              <a:spcAft>
                <a:spcPts val="0"/>
              </a:spcAft>
              <a:buClr>
                <a:schemeClr val="dk2"/>
              </a:buClr>
              <a:buSzPts val="1300"/>
              <a:buFont typeface="Roboto"/>
              <a:buNone/>
              <a:defRPr sz="2100" b="0" i="0" u="none" strike="noStrike" cap="none">
                <a:solidFill>
                  <a:schemeClr val="bg1"/>
                </a:solidFill>
                <a:latin typeface="Merriweather" pitchFamily="2" charset="77"/>
                <a:ea typeface="Roboto"/>
                <a:cs typeface="Roboto"/>
                <a:sym typeface="Roboto"/>
              </a:defRPr>
            </a:lvl1pPr>
            <a:lvl2pPr marL="342900" marR="0" lvl="1" indent="0" algn="ctr" rtl="0">
              <a:lnSpc>
                <a:spcPct val="115000"/>
              </a:lnSpc>
              <a:spcBef>
                <a:spcPts val="0"/>
              </a:spcBef>
              <a:spcAft>
                <a:spcPts val="0"/>
              </a:spcAft>
              <a:buClr>
                <a:schemeClr val="dk2"/>
              </a:buClr>
              <a:buSzPts val="1100"/>
              <a:buFont typeface="Roboto"/>
              <a:buNone/>
              <a:defRPr sz="1500" b="0" i="0" u="none" strike="noStrike" cap="none">
                <a:solidFill>
                  <a:schemeClr val="dk2"/>
                </a:solidFill>
                <a:latin typeface="Roboto"/>
                <a:ea typeface="Roboto"/>
                <a:cs typeface="Roboto"/>
                <a:sym typeface="Roboto"/>
              </a:defRPr>
            </a:lvl2pPr>
            <a:lvl3pPr marL="685800" marR="0" lvl="2" indent="0" algn="ctr" rtl="0">
              <a:lnSpc>
                <a:spcPct val="115000"/>
              </a:lnSpc>
              <a:spcBef>
                <a:spcPts val="0"/>
              </a:spcBef>
              <a:spcAft>
                <a:spcPts val="0"/>
              </a:spcAft>
              <a:buClr>
                <a:schemeClr val="dk2"/>
              </a:buClr>
              <a:buSzPts val="1100"/>
              <a:buFont typeface="Roboto"/>
              <a:buNone/>
              <a:defRPr sz="1350" b="0" i="0" u="none" strike="noStrike" cap="none">
                <a:solidFill>
                  <a:schemeClr val="dk2"/>
                </a:solidFill>
                <a:latin typeface="Roboto"/>
                <a:ea typeface="Roboto"/>
                <a:cs typeface="Roboto"/>
                <a:sym typeface="Roboto"/>
              </a:defRPr>
            </a:lvl3pPr>
            <a:lvl4pPr marL="1028700" marR="0" lvl="3"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4pPr>
            <a:lvl5pPr marL="1371600" marR="0" lvl="4"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5pPr>
            <a:lvl6pPr marL="1714500" marR="0" lvl="5"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6pPr>
            <a:lvl7pPr marL="2057400" marR="0" lvl="6"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7pPr>
            <a:lvl8pPr marL="2400300" marR="0" lvl="7"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8pPr>
            <a:lvl9pPr marL="2743200" marR="0" lvl="8"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9pPr>
          </a:lstStyle>
          <a:p>
            <a:pPr>
              <a:lnSpc>
                <a:spcPct val="150000"/>
              </a:lnSpc>
            </a:pPr>
            <a:endParaRPr lang="en-US" sz="1200" dirty="0">
              <a:solidFill>
                <a:srgbClr val="B85641"/>
              </a:solidFill>
              <a:ea typeface="Roboto" panose="02000000000000000000" pitchFamily="2" charset="0"/>
              <a:cs typeface="Roboto" panose="02000000000000000000" pitchFamily="2" charset="0"/>
            </a:endParaRPr>
          </a:p>
          <a:p>
            <a:pPr>
              <a:lnSpc>
                <a:spcPct val="150000"/>
              </a:lnSpc>
            </a:pPr>
            <a:r>
              <a:rPr lang="en-US" sz="1200" dirty="0">
                <a:solidFill>
                  <a:srgbClr val="B85641"/>
                </a:solidFill>
                <a:ea typeface="Roboto" panose="02000000000000000000" pitchFamily="2" charset="0"/>
                <a:cs typeface="Roboto" panose="02000000000000000000" pitchFamily="2" charset="0"/>
              </a:rPr>
              <a:t>		</a:t>
            </a:r>
            <a:r>
              <a:rPr lang="en-US" sz="1400" dirty="0">
                <a:solidFill>
                  <a:srgbClr val="B85641"/>
                </a:solidFill>
                <a:ea typeface="Roboto" panose="02000000000000000000" pitchFamily="2" charset="0"/>
                <a:cs typeface="Roboto" panose="02000000000000000000" pitchFamily="2" charset="0"/>
              </a:rPr>
              <a:t>Urgent need for </a:t>
            </a:r>
            <a:r>
              <a:rPr lang="en-US" sz="1400" b="1" dirty="0">
                <a:solidFill>
                  <a:srgbClr val="B85641"/>
                </a:solidFill>
                <a:ea typeface="Roboto" panose="02000000000000000000" pitchFamily="2" charset="0"/>
                <a:cs typeface="Roboto" panose="02000000000000000000" pitchFamily="2" charset="0"/>
              </a:rPr>
              <a:t>innovative solutions </a:t>
            </a:r>
            <a:r>
              <a:rPr lang="en-US" sz="1400" dirty="0">
                <a:solidFill>
                  <a:srgbClr val="B85641"/>
                </a:solidFill>
                <a:ea typeface="Roboto" panose="02000000000000000000" pitchFamily="2" charset="0"/>
                <a:cs typeface="Roboto" panose="02000000000000000000" pitchFamily="2" charset="0"/>
              </a:rPr>
              <a:t>to </a:t>
            </a:r>
            <a:r>
              <a:rPr lang="en-US" sz="1400" b="1" dirty="0">
                <a:solidFill>
                  <a:srgbClr val="B85641"/>
                </a:solidFill>
                <a:ea typeface="Roboto" panose="02000000000000000000" pitchFamily="2" charset="0"/>
                <a:cs typeface="Roboto" panose="02000000000000000000" pitchFamily="2" charset="0"/>
              </a:rPr>
              <a:t>mobilize private capital </a:t>
            </a:r>
            <a:r>
              <a:rPr lang="en-US" sz="1400" dirty="0">
                <a:solidFill>
                  <a:srgbClr val="B85641"/>
                </a:solidFill>
                <a:ea typeface="Roboto" panose="02000000000000000000" pitchFamily="2" charset="0"/>
                <a:cs typeface="Roboto" panose="02000000000000000000" pitchFamily="2" charset="0"/>
              </a:rPr>
              <a:t>for sustainable 			infrastructure development objectives.</a:t>
            </a:r>
          </a:p>
          <a:p>
            <a:pPr>
              <a:lnSpc>
                <a:spcPct val="150000"/>
              </a:lnSpc>
            </a:pPr>
            <a:r>
              <a:rPr lang="en-US" sz="1400" dirty="0">
                <a:solidFill>
                  <a:srgbClr val="B85641"/>
                </a:solidFill>
                <a:ea typeface="Roboto" panose="02000000000000000000" pitchFamily="2" charset="0"/>
                <a:cs typeface="Roboto" panose="02000000000000000000" pitchFamily="2" charset="0"/>
              </a:rPr>
              <a:t>		Room for Improvement with SLBs.</a:t>
            </a:r>
            <a:endParaRPr lang="en-US" sz="1200" dirty="0">
              <a:solidFill>
                <a:srgbClr val="B85641"/>
              </a:solidFill>
              <a:ea typeface="Roboto" panose="02000000000000000000" pitchFamily="2" charset="0"/>
              <a:cs typeface="Roboto" panose="02000000000000000000" pitchFamily="2" charset="0"/>
            </a:endParaRPr>
          </a:p>
          <a:p>
            <a:pPr>
              <a:lnSpc>
                <a:spcPct val="150000"/>
              </a:lnSpc>
            </a:pPr>
            <a:endParaRPr lang="en-US" sz="1200" dirty="0">
              <a:ea typeface="Roboto" panose="02000000000000000000" pitchFamily="2" charset="0"/>
              <a:cs typeface="Roboto" panose="02000000000000000000" pitchFamily="2" charset="0"/>
            </a:endParaRPr>
          </a:p>
          <a:p>
            <a:pPr>
              <a:lnSpc>
                <a:spcPct val="150000"/>
              </a:lnSpc>
            </a:pPr>
            <a:endParaRPr lang="en-US" sz="1400" b="1" dirty="0">
              <a:solidFill>
                <a:schemeClr val="accent4"/>
              </a:solidFill>
              <a:ea typeface="Roboto" panose="02000000000000000000" pitchFamily="2" charset="0"/>
              <a:cs typeface="Roboto" panose="02000000000000000000" pitchFamily="2" charset="0"/>
            </a:endParaRPr>
          </a:p>
          <a:p>
            <a:pPr>
              <a:lnSpc>
                <a:spcPct val="150000"/>
              </a:lnSpc>
            </a:pPr>
            <a:r>
              <a:rPr lang="en-US" sz="1600" b="1" dirty="0">
                <a:solidFill>
                  <a:schemeClr val="accent4"/>
                </a:solidFill>
                <a:ea typeface="Roboto" panose="02000000000000000000" pitchFamily="2" charset="0"/>
                <a:cs typeface="Roboto" panose="02000000000000000000" pitchFamily="2" charset="0"/>
              </a:rPr>
              <a:t>Enhanced Approach - SLIDIs with WB/MLDB Operationalization:</a:t>
            </a:r>
          </a:p>
          <a:p>
            <a:pPr>
              <a:lnSpc>
                <a:spcPct val="150000"/>
              </a:lnSpc>
            </a:pPr>
            <a:r>
              <a:rPr lang="en-US" sz="1200" dirty="0">
                <a:solidFill>
                  <a:srgbClr val="002F4A"/>
                </a:solidFill>
                <a:ea typeface="Roboto" panose="02000000000000000000" pitchFamily="2" charset="0"/>
                <a:cs typeface="Roboto" panose="02000000000000000000" pitchFamily="2" charset="0"/>
              </a:rPr>
              <a:t>	A more </a:t>
            </a:r>
            <a:r>
              <a:rPr lang="en-US" sz="1200" b="1" dirty="0">
                <a:solidFill>
                  <a:srgbClr val="002F4A"/>
                </a:solidFill>
                <a:ea typeface="Roboto" panose="02000000000000000000" pitchFamily="2" charset="0"/>
                <a:cs typeface="Roboto" panose="02000000000000000000" pitchFamily="2" charset="0"/>
              </a:rPr>
              <a:t>attractive and effective </a:t>
            </a:r>
            <a:r>
              <a:rPr lang="en-US" sz="1200" dirty="0">
                <a:solidFill>
                  <a:srgbClr val="002F4A"/>
                </a:solidFill>
                <a:ea typeface="Roboto" panose="02000000000000000000" pitchFamily="2" charset="0"/>
                <a:cs typeface="Roboto" panose="02000000000000000000" pitchFamily="2" charset="0"/>
              </a:rPr>
              <a:t>financial instrument for investors and sovereigns.</a:t>
            </a:r>
          </a:p>
          <a:p>
            <a:pPr>
              <a:lnSpc>
                <a:spcPct val="150000"/>
              </a:lnSpc>
            </a:pPr>
            <a:r>
              <a:rPr lang="en-US" sz="1200" dirty="0">
                <a:solidFill>
                  <a:srgbClr val="002F4A"/>
                </a:solidFill>
                <a:ea typeface="Roboto" panose="02000000000000000000" pitchFamily="2" charset="0"/>
                <a:cs typeface="Roboto" panose="02000000000000000000" pitchFamily="2" charset="0"/>
              </a:rPr>
              <a:t>	Operationalization through side payments or intermediary (WB or SPV)</a:t>
            </a:r>
          </a:p>
          <a:p>
            <a:pPr>
              <a:lnSpc>
                <a:spcPct val="150000"/>
              </a:lnSpc>
            </a:pPr>
            <a:r>
              <a:rPr lang="en-US" sz="1200" dirty="0">
                <a:solidFill>
                  <a:srgbClr val="002F4A"/>
                </a:solidFill>
                <a:ea typeface="Roboto" panose="02000000000000000000" pitchFamily="2" charset="0"/>
                <a:cs typeface="Roboto" panose="02000000000000000000" pitchFamily="2" charset="0"/>
              </a:rPr>
              <a:t>	Development agency partner participation to enhance private-sector confidence and help achieve KPIs.</a:t>
            </a:r>
          </a:p>
          <a:p>
            <a:pPr>
              <a:lnSpc>
                <a:spcPct val="110000"/>
              </a:lnSpc>
            </a:pPr>
            <a:endParaRPr lang="en" dirty="0"/>
          </a:p>
        </p:txBody>
      </p:sp>
      <p:grpSp>
        <p:nvGrpSpPr>
          <p:cNvPr id="2" name="Google Shape;121;p17">
            <a:extLst>
              <a:ext uri="{FF2B5EF4-FFF2-40B4-BE49-F238E27FC236}">
                <a16:creationId xmlns:a16="http://schemas.microsoft.com/office/drawing/2014/main" id="{3ED012DE-AC99-545A-5A8D-2F6BE377C572}"/>
              </a:ext>
            </a:extLst>
          </p:cNvPr>
          <p:cNvGrpSpPr/>
          <p:nvPr/>
        </p:nvGrpSpPr>
        <p:grpSpPr>
          <a:xfrm>
            <a:off x="658864" y="1860572"/>
            <a:ext cx="261571" cy="260379"/>
            <a:chOff x="4858109" y="2631368"/>
            <a:chExt cx="316442" cy="315000"/>
          </a:xfrm>
        </p:grpSpPr>
        <p:sp>
          <p:nvSpPr>
            <p:cNvPr id="8" name="Google Shape;122;p17">
              <a:extLst>
                <a:ext uri="{FF2B5EF4-FFF2-40B4-BE49-F238E27FC236}">
                  <a16:creationId xmlns:a16="http://schemas.microsoft.com/office/drawing/2014/main" id="{AF07D0D3-D356-5069-05AF-6864A9805EE6}"/>
                </a:ext>
              </a:extLst>
            </p:cNvPr>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23;p17">
              <a:extLst>
                <a:ext uri="{FF2B5EF4-FFF2-40B4-BE49-F238E27FC236}">
                  <a16:creationId xmlns:a16="http://schemas.microsoft.com/office/drawing/2014/main" id="{280A4207-7172-DF9B-B011-529DD524159C}"/>
                </a:ext>
              </a:extLst>
            </p:cNvPr>
            <p:cNvSpPr/>
            <p:nvPr/>
          </p:nvSpPr>
          <p:spPr>
            <a:xfrm>
              <a:off x="4858109" y="2739300"/>
              <a:ext cx="239100" cy="99000"/>
            </a:xfrm>
            <a:prstGeom prst="rightArrow">
              <a:avLst>
                <a:gd name="adj1" fmla="val 32020"/>
                <a:gd name="adj2" fmla="val 66970"/>
              </a:avLst>
            </a:prstGeom>
            <a:solidFill>
              <a:srgbClr val="A72A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br>
                <a:rPr lang="en"/>
              </a:br>
              <a:endParaRPr/>
            </a:p>
          </p:txBody>
        </p:sp>
      </p:grpSp>
      <p:grpSp>
        <p:nvGrpSpPr>
          <p:cNvPr id="10" name="Google Shape;121;p17">
            <a:extLst>
              <a:ext uri="{FF2B5EF4-FFF2-40B4-BE49-F238E27FC236}">
                <a16:creationId xmlns:a16="http://schemas.microsoft.com/office/drawing/2014/main" id="{5A285FB7-8847-0B20-5B7A-AD101971ACDE}"/>
              </a:ext>
            </a:extLst>
          </p:cNvPr>
          <p:cNvGrpSpPr/>
          <p:nvPr/>
        </p:nvGrpSpPr>
        <p:grpSpPr>
          <a:xfrm>
            <a:off x="658864" y="2459131"/>
            <a:ext cx="261571" cy="260379"/>
            <a:chOff x="4858109" y="2631368"/>
            <a:chExt cx="316442" cy="315000"/>
          </a:xfrm>
        </p:grpSpPr>
        <p:sp>
          <p:nvSpPr>
            <p:cNvPr id="11" name="Google Shape;122;p17">
              <a:extLst>
                <a:ext uri="{FF2B5EF4-FFF2-40B4-BE49-F238E27FC236}">
                  <a16:creationId xmlns:a16="http://schemas.microsoft.com/office/drawing/2014/main" id="{481DBD0E-222D-31C5-BFC7-BF07F44A8323}"/>
                </a:ext>
              </a:extLst>
            </p:cNvPr>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3;p17">
              <a:extLst>
                <a:ext uri="{FF2B5EF4-FFF2-40B4-BE49-F238E27FC236}">
                  <a16:creationId xmlns:a16="http://schemas.microsoft.com/office/drawing/2014/main" id="{326479A5-B511-0BF3-6310-112C27F911FE}"/>
                </a:ext>
              </a:extLst>
            </p:cNvPr>
            <p:cNvSpPr/>
            <p:nvPr/>
          </p:nvSpPr>
          <p:spPr>
            <a:xfrm>
              <a:off x="4858109" y="2739300"/>
              <a:ext cx="239100" cy="99000"/>
            </a:xfrm>
            <a:prstGeom prst="rightArrow">
              <a:avLst>
                <a:gd name="adj1" fmla="val 32020"/>
                <a:gd name="adj2" fmla="val 66970"/>
              </a:avLst>
            </a:prstGeom>
            <a:solidFill>
              <a:srgbClr val="A72A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br>
                <a:rPr lang="en"/>
              </a:br>
              <a:endParaRPr/>
            </a:p>
          </p:txBody>
        </p:sp>
      </p:grpSp>
      <p:grpSp>
        <p:nvGrpSpPr>
          <p:cNvPr id="13" name="Google Shape;118;p17">
            <a:extLst>
              <a:ext uri="{FF2B5EF4-FFF2-40B4-BE49-F238E27FC236}">
                <a16:creationId xmlns:a16="http://schemas.microsoft.com/office/drawing/2014/main" id="{1AE5965A-3467-F051-D596-526F1436717B}"/>
              </a:ext>
            </a:extLst>
          </p:cNvPr>
          <p:cNvGrpSpPr/>
          <p:nvPr/>
        </p:nvGrpSpPr>
        <p:grpSpPr>
          <a:xfrm>
            <a:off x="397888" y="3762787"/>
            <a:ext cx="261571" cy="260379"/>
            <a:chOff x="4858109" y="2631368"/>
            <a:chExt cx="316442" cy="315000"/>
          </a:xfrm>
        </p:grpSpPr>
        <p:sp>
          <p:nvSpPr>
            <p:cNvPr id="14" name="Google Shape;119;p17">
              <a:extLst>
                <a:ext uri="{FF2B5EF4-FFF2-40B4-BE49-F238E27FC236}">
                  <a16:creationId xmlns:a16="http://schemas.microsoft.com/office/drawing/2014/main" id="{A5C5A266-C98D-2AB0-02BA-96A92C9A49F9}"/>
                </a:ext>
              </a:extLst>
            </p:cNvPr>
            <p:cNvSpPr/>
            <p:nvPr/>
          </p:nvSpPr>
          <p:spPr>
            <a:xfrm>
              <a:off x="4859551" y="2631368"/>
              <a:ext cx="315000" cy="315000"/>
            </a:xfrm>
            <a:prstGeom prst="ellipse">
              <a:avLst/>
            </a:prstGeom>
            <a:solidFill>
              <a:srgbClr val="FFFFFF"/>
            </a:solidFill>
            <a:ln>
              <a:solidFill>
                <a:schemeClr val="accent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20;p17">
              <a:extLst>
                <a:ext uri="{FF2B5EF4-FFF2-40B4-BE49-F238E27FC236}">
                  <a16:creationId xmlns:a16="http://schemas.microsoft.com/office/drawing/2014/main" id="{BFC55A8E-2961-EA23-4603-159D8516F225}"/>
                </a:ext>
              </a:extLst>
            </p:cNvPr>
            <p:cNvSpPr/>
            <p:nvPr/>
          </p:nvSpPr>
          <p:spPr>
            <a:xfrm>
              <a:off x="4858109" y="2739300"/>
              <a:ext cx="239100" cy="99000"/>
            </a:xfrm>
            <a:prstGeom prst="rightArrow">
              <a:avLst>
                <a:gd name="adj1" fmla="val 32020"/>
                <a:gd name="adj2" fmla="val 66970"/>
              </a:avLst>
            </a:prstGeom>
            <a:solidFill>
              <a:srgbClr val="002F4A"/>
            </a:solidFill>
            <a:ln>
              <a:solidFill>
                <a:schemeClr val="accent1"/>
              </a:solidFill>
            </a:ln>
          </p:spPr>
          <p:txBody>
            <a:bodyPr spcFirstLastPara="1" wrap="square" lIns="91425" tIns="91425" rIns="91425" bIns="91425" anchor="ctr" anchorCtr="0">
              <a:noAutofit/>
            </a:bodyPr>
            <a:lstStyle/>
            <a:p>
              <a:pPr marL="0" lvl="0" indent="0" algn="l" rtl="0">
                <a:spcBef>
                  <a:spcPts val="0"/>
                </a:spcBef>
                <a:spcAft>
                  <a:spcPts val="0"/>
                </a:spcAft>
                <a:buNone/>
              </a:pPr>
              <a:br>
                <a:rPr lang="en"/>
              </a:br>
              <a:endParaRPr/>
            </a:p>
          </p:txBody>
        </p:sp>
      </p:grpSp>
      <p:grpSp>
        <p:nvGrpSpPr>
          <p:cNvPr id="16" name="Google Shape;118;p17">
            <a:extLst>
              <a:ext uri="{FF2B5EF4-FFF2-40B4-BE49-F238E27FC236}">
                <a16:creationId xmlns:a16="http://schemas.microsoft.com/office/drawing/2014/main" id="{DCE91DD3-9A91-49D0-5B4A-A36DF3434CB4}"/>
              </a:ext>
            </a:extLst>
          </p:cNvPr>
          <p:cNvGrpSpPr/>
          <p:nvPr/>
        </p:nvGrpSpPr>
        <p:grpSpPr>
          <a:xfrm>
            <a:off x="397888" y="4034136"/>
            <a:ext cx="261571" cy="260379"/>
            <a:chOff x="4858109" y="2631368"/>
            <a:chExt cx="316442" cy="315000"/>
          </a:xfrm>
        </p:grpSpPr>
        <p:sp>
          <p:nvSpPr>
            <p:cNvPr id="17" name="Google Shape;119;p17">
              <a:extLst>
                <a:ext uri="{FF2B5EF4-FFF2-40B4-BE49-F238E27FC236}">
                  <a16:creationId xmlns:a16="http://schemas.microsoft.com/office/drawing/2014/main" id="{9FF8D642-FF0D-9AD8-884E-64A4EE6CCA91}"/>
                </a:ext>
              </a:extLst>
            </p:cNvPr>
            <p:cNvSpPr/>
            <p:nvPr/>
          </p:nvSpPr>
          <p:spPr>
            <a:xfrm>
              <a:off x="4859551" y="2631368"/>
              <a:ext cx="315000" cy="315000"/>
            </a:xfrm>
            <a:prstGeom prst="ellipse">
              <a:avLst/>
            </a:prstGeom>
            <a:solidFill>
              <a:srgbClr val="FFFFFF"/>
            </a:solidFill>
            <a:ln>
              <a:solidFill>
                <a:schemeClr val="accent1"/>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 name="Google Shape;120;p17">
              <a:extLst>
                <a:ext uri="{FF2B5EF4-FFF2-40B4-BE49-F238E27FC236}">
                  <a16:creationId xmlns:a16="http://schemas.microsoft.com/office/drawing/2014/main" id="{AF838C5B-F523-C49B-06CF-6B77AE3174C9}"/>
                </a:ext>
              </a:extLst>
            </p:cNvPr>
            <p:cNvSpPr/>
            <p:nvPr/>
          </p:nvSpPr>
          <p:spPr>
            <a:xfrm>
              <a:off x="4858109" y="2739300"/>
              <a:ext cx="239100" cy="99000"/>
            </a:xfrm>
            <a:prstGeom prst="rightArrow">
              <a:avLst>
                <a:gd name="adj1" fmla="val 32020"/>
                <a:gd name="adj2" fmla="val 66970"/>
              </a:avLst>
            </a:prstGeom>
            <a:solidFill>
              <a:srgbClr val="002F4A"/>
            </a:solidFill>
            <a:ln>
              <a:solidFill>
                <a:schemeClr val="accent1"/>
              </a:solidFill>
            </a:ln>
          </p:spPr>
          <p:txBody>
            <a:bodyPr spcFirstLastPara="1" wrap="square" lIns="91425" tIns="91425" rIns="91425" bIns="91425" anchor="ctr" anchorCtr="0">
              <a:noAutofit/>
            </a:bodyPr>
            <a:lstStyle/>
            <a:p>
              <a:pPr marL="0" lvl="0" indent="0" algn="l" rtl="0">
                <a:spcBef>
                  <a:spcPts val="0"/>
                </a:spcBef>
                <a:spcAft>
                  <a:spcPts val="0"/>
                </a:spcAft>
                <a:buNone/>
              </a:pPr>
              <a:br>
                <a:rPr lang="en"/>
              </a:br>
              <a:endParaRPr/>
            </a:p>
          </p:txBody>
        </p:sp>
      </p:grpSp>
      <p:sp>
        <p:nvSpPr>
          <p:cNvPr id="20" name="Google Shape;119;p17">
            <a:extLst>
              <a:ext uri="{FF2B5EF4-FFF2-40B4-BE49-F238E27FC236}">
                <a16:creationId xmlns:a16="http://schemas.microsoft.com/office/drawing/2014/main" id="{89BE9576-018C-6598-C020-9D1D2BC34925}"/>
              </a:ext>
            </a:extLst>
          </p:cNvPr>
          <p:cNvSpPr/>
          <p:nvPr/>
        </p:nvSpPr>
        <p:spPr>
          <a:xfrm>
            <a:off x="399080" y="4305373"/>
            <a:ext cx="260379" cy="39068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 name="Google Shape;118;p17">
            <a:extLst>
              <a:ext uri="{FF2B5EF4-FFF2-40B4-BE49-F238E27FC236}">
                <a16:creationId xmlns:a16="http://schemas.microsoft.com/office/drawing/2014/main" id="{D6E60B92-81EE-601E-D4B3-AF0443AE4E4D}"/>
              </a:ext>
            </a:extLst>
          </p:cNvPr>
          <p:cNvGrpSpPr/>
          <p:nvPr/>
        </p:nvGrpSpPr>
        <p:grpSpPr>
          <a:xfrm>
            <a:off x="397888" y="4294403"/>
            <a:ext cx="261571" cy="260379"/>
            <a:chOff x="4858109" y="2631368"/>
            <a:chExt cx="316442" cy="315000"/>
          </a:xfrm>
        </p:grpSpPr>
        <p:sp>
          <p:nvSpPr>
            <p:cNvPr id="23" name="Google Shape;119;p17">
              <a:extLst>
                <a:ext uri="{FF2B5EF4-FFF2-40B4-BE49-F238E27FC236}">
                  <a16:creationId xmlns:a16="http://schemas.microsoft.com/office/drawing/2014/main" id="{9F49B659-B988-56BB-47B3-C22509E5EF81}"/>
                </a:ext>
              </a:extLst>
            </p:cNvPr>
            <p:cNvSpPr/>
            <p:nvPr/>
          </p:nvSpPr>
          <p:spPr>
            <a:xfrm>
              <a:off x="4859551" y="2631368"/>
              <a:ext cx="315000" cy="315000"/>
            </a:xfrm>
            <a:prstGeom prst="ellipse">
              <a:avLst/>
            </a:prstGeom>
            <a:solidFill>
              <a:srgbClr val="FFFFFF"/>
            </a:solidFill>
            <a:ln>
              <a:solidFill>
                <a:schemeClr val="accent1"/>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 name="Google Shape;120;p17">
              <a:extLst>
                <a:ext uri="{FF2B5EF4-FFF2-40B4-BE49-F238E27FC236}">
                  <a16:creationId xmlns:a16="http://schemas.microsoft.com/office/drawing/2014/main" id="{3FF76F44-4FDA-9D0C-F2D4-02DCEF9C26E8}"/>
                </a:ext>
              </a:extLst>
            </p:cNvPr>
            <p:cNvSpPr/>
            <p:nvPr/>
          </p:nvSpPr>
          <p:spPr>
            <a:xfrm>
              <a:off x="4858109" y="2739300"/>
              <a:ext cx="239100" cy="99000"/>
            </a:xfrm>
            <a:prstGeom prst="rightArrow">
              <a:avLst>
                <a:gd name="adj1" fmla="val 32020"/>
                <a:gd name="adj2" fmla="val 66970"/>
              </a:avLst>
            </a:prstGeom>
            <a:solidFill>
              <a:srgbClr val="002F4A"/>
            </a:solidFill>
            <a:ln>
              <a:solidFill>
                <a:schemeClr val="accent1"/>
              </a:solidFill>
            </a:ln>
          </p:spPr>
          <p:txBody>
            <a:bodyPr spcFirstLastPara="1" wrap="square" lIns="91425" tIns="91425" rIns="91425" bIns="91425" anchor="ctr" anchorCtr="0">
              <a:noAutofit/>
            </a:bodyPr>
            <a:lstStyle/>
            <a:p>
              <a:pPr marL="0" lvl="0" indent="0" algn="l" rtl="0">
                <a:spcBef>
                  <a:spcPts val="0"/>
                </a:spcBef>
                <a:spcAft>
                  <a:spcPts val="0"/>
                </a:spcAft>
                <a:buNone/>
              </a:pPr>
              <a:br>
                <a:rPr lang="en"/>
              </a:br>
              <a:endParaRPr/>
            </a:p>
          </p:txBody>
        </p:sp>
      </p:grpSp>
    </p:spTree>
    <p:extLst>
      <p:ext uri="{BB962C8B-B14F-4D97-AF65-F5344CB8AC3E}">
        <p14:creationId xmlns:p14="http://schemas.microsoft.com/office/powerpoint/2010/main" val="115780273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A086C78A-FBA3-64A1-E79B-C57B6C305373}"/>
              </a:ext>
            </a:extLst>
          </p:cNvPr>
          <p:cNvSpPr>
            <a:spLocks noGrp="1"/>
          </p:cNvSpPr>
          <p:nvPr>
            <p:ph type="subTitle" idx="1"/>
          </p:nvPr>
        </p:nvSpPr>
        <p:spPr>
          <a:xfrm>
            <a:off x="207627" y="850900"/>
            <a:ext cx="2678112" cy="3441700"/>
          </a:xfrm>
        </p:spPr>
        <p:txBody>
          <a:bodyPr>
            <a:normAutofit/>
          </a:bodyPr>
          <a:lstStyle/>
          <a:p>
            <a:r>
              <a:rPr lang="en" dirty="0">
                <a:solidFill>
                  <a:srgbClr val="B85641"/>
                </a:solidFill>
              </a:rPr>
              <a:t>Next Steps:</a:t>
            </a:r>
          </a:p>
          <a:p>
            <a:endParaRPr lang="en" dirty="0">
              <a:solidFill>
                <a:srgbClr val="042F4A"/>
              </a:solidFill>
            </a:endParaRPr>
          </a:p>
          <a:p>
            <a:pPr marL="457200" indent="-457200">
              <a:buAutoNum type="arabicPeriod"/>
            </a:pPr>
            <a:r>
              <a:rPr lang="en" dirty="0">
                <a:solidFill>
                  <a:srgbClr val="042F4A"/>
                </a:solidFill>
                <a:sym typeface="Roboto"/>
              </a:rPr>
              <a:t>Refinement &amp; Exploration </a:t>
            </a:r>
          </a:p>
          <a:p>
            <a:pPr marL="457200" indent="-457200">
              <a:buAutoNum type="arabicPeriod"/>
            </a:pPr>
            <a:r>
              <a:rPr lang="en" dirty="0">
                <a:solidFill>
                  <a:srgbClr val="042F4A"/>
                </a:solidFill>
              </a:rPr>
              <a:t>Co-Design Collaboration</a:t>
            </a:r>
            <a:endParaRPr lang="en" dirty="0">
              <a:solidFill>
                <a:srgbClr val="042F4A"/>
              </a:solidFill>
              <a:sym typeface="Roboto"/>
            </a:endParaRPr>
          </a:p>
          <a:p>
            <a:pPr marL="457200" indent="-457200">
              <a:buAutoNum type="arabicPeriod"/>
            </a:pPr>
            <a:r>
              <a:rPr lang="en" dirty="0">
                <a:solidFill>
                  <a:srgbClr val="042F4A"/>
                </a:solidFill>
                <a:sym typeface="Roboto"/>
              </a:rPr>
              <a:t>Feedback </a:t>
            </a:r>
          </a:p>
          <a:p>
            <a:pPr marL="457200" indent="-457200">
              <a:buAutoNum type="arabicPeriod"/>
            </a:pPr>
            <a:r>
              <a:rPr lang="en" dirty="0">
                <a:solidFill>
                  <a:srgbClr val="042F4A"/>
                </a:solidFill>
                <a:sym typeface="Roboto"/>
              </a:rPr>
              <a:t>Scaling Impact</a:t>
            </a:r>
            <a:endParaRPr lang="en" dirty="0">
              <a:solidFill>
                <a:srgbClr val="042F4A"/>
              </a:solidFill>
            </a:endParaRPr>
          </a:p>
          <a:p>
            <a:endParaRPr lang="en-US" dirty="0"/>
          </a:p>
        </p:txBody>
      </p:sp>
    </p:spTree>
    <p:extLst>
      <p:ext uri="{BB962C8B-B14F-4D97-AF65-F5344CB8AC3E}">
        <p14:creationId xmlns:p14="http://schemas.microsoft.com/office/powerpoint/2010/main" val="285050555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Shape 227">
          <a:extLst>
            <a:ext uri="{FF2B5EF4-FFF2-40B4-BE49-F238E27FC236}">
              <a16:creationId xmlns:a16="http://schemas.microsoft.com/office/drawing/2014/main" id="{C42FE23C-A3C2-B842-E92C-7F3C38F37D37}"/>
            </a:ext>
          </a:extLst>
        </p:cNvPr>
        <p:cNvGrpSpPr/>
        <p:nvPr/>
      </p:nvGrpSpPr>
      <p:grpSpPr>
        <a:xfrm>
          <a:off x="0" y="0"/>
          <a:ext cx="0" cy="0"/>
          <a:chOff x="0" y="0"/>
          <a:chExt cx="0" cy="0"/>
        </a:xfrm>
      </p:grpSpPr>
      <p:sp>
        <p:nvSpPr>
          <p:cNvPr id="229" name="Google Shape;229;p26">
            <a:extLst>
              <a:ext uri="{FF2B5EF4-FFF2-40B4-BE49-F238E27FC236}">
                <a16:creationId xmlns:a16="http://schemas.microsoft.com/office/drawing/2014/main" id="{64BCDA48-FB99-B1E4-5ADA-BA7EDAACF527}"/>
              </a:ext>
            </a:extLst>
          </p:cNvPr>
          <p:cNvSpPr txBox="1">
            <a:spLocks noGrp="1"/>
          </p:cNvSpPr>
          <p:nvPr>
            <p:ph type="subTitle" idx="1"/>
          </p:nvPr>
        </p:nvSpPr>
        <p:spPr>
          <a:xfrm>
            <a:off x="293300" y="554416"/>
            <a:ext cx="8557402" cy="481076"/>
          </a:xfrm>
        </p:spPr>
        <p:txBody>
          <a:bodyPr spcFirstLastPara="1" wrap="square" lIns="91425" tIns="91425" rIns="91425" bIns="91425" anchor="t" anchorCtr="0">
            <a:normAutofit fontScale="92500" lnSpcReduction="20000"/>
          </a:bodyPr>
          <a:lstStyle/>
          <a:p>
            <a:r>
              <a:rPr lang="en-AU"/>
              <a:t>Bonus Slides on SLIDIs</a:t>
            </a:r>
            <a:endParaRPr lang="en" dirty="0"/>
          </a:p>
        </p:txBody>
      </p:sp>
      <p:sp>
        <p:nvSpPr>
          <p:cNvPr id="5" name="Google Shape;229;p26">
            <a:extLst>
              <a:ext uri="{FF2B5EF4-FFF2-40B4-BE49-F238E27FC236}">
                <a16:creationId xmlns:a16="http://schemas.microsoft.com/office/drawing/2014/main" id="{607EBD93-C391-4EF8-BBE2-B9995925E2FD}"/>
              </a:ext>
            </a:extLst>
          </p:cNvPr>
          <p:cNvSpPr txBox="1">
            <a:spLocks/>
          </p:cNvSpPr>
          <p:nvPr/>
        </p:nvSpPr>
        <p:spPr>
          <a:xfrm>
            <a:off x="355830" y="1034715"/>
            <a:ext cx="8266802" cy="3994485"/>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0" marR="0" lvl="0" indent="0" algn="l" rtl="0">
              <a:lnSpc>
                <a:spcPct val="115000"/>
              </a:lnSpc>
              <a:spcBef>
                <a:spcPts val="0"/>
              </a:spcBef>
              <a:spcAft>
                <a:spcPts val="0"/>
              </a:spcAft>
              <a:buClr>
                <a:schemeClr val="dk2"/>
              </a:buClr>
              <a:buSzPts val="1300"/>
              <a:buFont typeface="Roboto"/>
              <a:buNone/>
              <a:defRPr sz="2100" b="0" i="0" u="none" strike="noStrike" cap="none">
                <a:solidFill>
                  <a:schemeClr val="bg1"/>
                </a:solidFill>
                <a:latin typeface="Merriweather" pitchFamily="2" charset="77"/>
                <a:ea typeface="Roboto"/>
                <a:cs typeface="Roboto"/>
                <a:sym typeface="Roboto"/>
              </a:defRPr>
            </a:lvl1pPr>
            <a:lvl2pPr marL="342900" marR="0" lvl="1" indent="0" algn="ctr" rtl="0">
              <a:lnSpc>
                <a:spcPct val="115000"/>
              </a:lnSpc>
              <a:spcBef>
                <a:spcPts val="0"/>
              </a:spcBef>
              <a:spcAft>
                <a:spcPts val="0"/>
              </a:spcAft>
              <a:buClr>
                <a:schemeClr val="dk2"/>
              </a:buClr>
              <a:buSzPts val="1100"/>
              <a:buFont typeface="Roboto"/>
              <a:buNone/>
              <a:defRPr sz="1500" b="0" i="0" u="none" strike="noStrike" cap="none">
                <a:solidFill>
                  <a:schemeClr val="dk2"/>
                </a:solidFill>
                <a:latin typeface="Roboto"/>
                <a:ea typeface="Roboto"/>
                <a:cs typeface="Roboto"/>
                <a:sym typeface="Roboto"/>
              </a:defRPr>
            </a:lvl2pPr>
            <a:lvl3pPr marL="685800" marR="0" lvl="2" indent="0" algn="ctr" rtl="0">
              <a:lnSpc>
                <a:spcPct val="115000"/>
              </a:lnSpc>
              <a:spcBef>
                <a:spcPts val="0"/>
              </a:spcBef>
              <a:spcAft>
                <a:spcPts val="0"/>
              </a:spcAft>
              <a:buClr>
                <a:schemeClr val="dk2"/>
              </a:buClr>
              <a:buSzPts val="1100"/>
              <a:buFont typeface="Roboto"/>
              <a:buNone/>
              <a:defRPr sz="1350" b="0" i="0" u="none" strike="noStrike" cap="none">
                <a:solidFill>
                  <a:schemeClr val="dk2"/>
                </a:solidFill>
                <a:latin typeface="Roboto"/>
                <a:ea typeface="Roboto"/>
                <a:cs typeface="Roboto"/>
                <a:sym typeface="Roboto"/>
              </a:defRPr>
            </a:lvl3pPr>
            <a:lvl4pPr marL="1028700" marR="0" lvl="3"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4pPr>
            <a:lvl5pPr marL="1371600" marR="0" lvl="4"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5pPr>
            <a:lvl6pPr marL="1714500" marR="0" lvl="5"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6pPr>
            <a:lvl7pPr marL="2057400" marR="0" lvl="6"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7pPr>
            <a:lvl8pPr marL="2400300" marR="0" lvl="7"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8pPr>
            <a:lvl9pPr marL="2743200" marR="0" lvl="8" indent="0" algn="ctr" rtl="0">
              <a:lnSpc>
                <a:spcPct val="115000"/>
              </a:lnSpc>
              <a:spcBef>
                <a:spcPts val="0"/>
              </a:spcBef>
              <a:spcAft>
                <a:spcPts val="0"/>
              </a:spcAft>
              <a:buClr>
                <a:schemeClr val="dk2"/>
              </a:buClr>
              <a:buSzPts val="1100"/>
              <a:buFont typeface="Roboto"/>
              <a:buNone/>
              <a:defRPr sz="1200" b="0" i="0" u="none" strike="noStrike" cap="none">
                <a:solidFill>
                  <a:schemeClr val="dk2"/>
                </a:solidFill>
                <a:latin typeface="Roboto"/>
                <a:ea typeface="Roboto"/>
                <a:cs typeface="Roboto"/>
                <a:sym typeface="Roboto"/>
              </a:defRPr>
            </a:lvl9pPr>
          </a:lstStyle>
          <a:p>
            <a:pPr marL="152400" algn="ctr">
              <a:lnSpc>
                <a:spcPct val="160000"/>
              </a:lnSpc>
              <a:buClr>
                <a:schemeClr val="accent1"/>
              </a:buClr>
              <a:buSzPts val="1200"/>
            </a:pPr>
            <a:r>
              <a:rPr lang="en" sz="2000" b="1">
                <a:solidFill>
                  <a:srgbClr val="B85741"/>
                </a:solidFill>
                <a:latin typeface="Roboto"/>
              </a:rPr>
              <a:t>Motivation</a:t>
            </a:r>
          </a:p>
          <a:p>
            <a:pPr marL="152400" algn="ctr">
              <a:lnSpc>
                <a:spcPct val="160000"/>
              </a:lnSpc>
              <a:buClr>
                <a:schemeClr val="accent1"/>
              </a:buClr>
              <a:buSzPts val="1200"/>
            </a:pPr>
            <a:endParaRPr lang="en" sz="2000" b="1">
              <a:solidFill>
                <a:srgbClr val="B85741"/>
              </a:solidFill>
              <a:latin typeface="Roboto"/>
            </a:endParaRPr>
          </a:p>
          <a:p>
            <a:pPr marL="495300" indent="-342900">
              <a:lnSpc>
                <a:spcPct val="100000"/>
              </a:lnSpc>
              <a:buClr>
                <a:schemeClr val="accent1"/>
              </a:buClr>
              <a:buSzPts val="1200"/>
              <a:buFont typeface="Arial" panose="020B0604020202020204" pitchFamily="34" charset="0"/>
              <a:buChar char="•"/>
            </a:pPr>
            <a:r>
              <a:rPr lang="en" sz="2000" b="1">
                <a:solidFill>
                  <a:srgbClr val="002F4A"/>
                </a:solidFill>
                <a:latin typeface="Roboto"/>
              </a:rPr>
              <a:t>Tie down private sector and official sector flows to climate agenda in developing countries, without compromising WB </a:t>
            </a:r>
            <a:r>
              <a:rPr lang="en" sz="2000" b="1">
                <a:solidFill>
                  <a:srgbClr val="002F4A"/>
                </a:solidFill>
                <a:latin typeface="Roboto" panose="02000000000000000000" pitchFamily="2" charset="0"/>
                <a:ea typeface="Roboto" panose="02000000000000000000" pitchFamily="2" charset="0"/>
              </a:rPr>
              <a:t>balance sheet.</a:t>
            </a:r>
          </a:p>
          <a:p>
            <a:pPr marL="495300" indent="-342900">
              <a:lnSpc>
                <a:spcPct val="100000"/>
              </a:lnSpc>
              <a:buClr>
                <a:schemeClr val="accent1"/>
              </a:buClr>
              <a:buSzPts val="1200"/>
              <a:buFont typeface="Arial" panose="020B0604020202020204" pitchFamily="34" charset="0"/>
              <a:buChar char="•"/>
            </a:pPr>
            <a:endParaRPr lang="en" sz="2000" b="1">
              <a:solidFill>
                <a:srgbClr val="002F4A"/>
              </a:solidFill>
              <a:latin typeface="Roboto" panose="02000000000000000000" pitchFamily="2" charset="0"/>
              <a:ea typeface="Roboto" panose="02000000000000000000" pitchFamily="2" charset="0"/>
            </a:endParaRPr>
          </a:p>
          <a:p>
            <a:pPr marL="495300" indent="-342900">
              <a:lnSpc>
                <a:spcPct val="100000"/>
              </a:lnSpc>
              <a:buClr>
                <a:schemeClr val="accent1"/>
              </a:buClr>
              <a:buSzPts val="1200"/>
              <a:buFont typeface="Arial" panose="020B0604020202020204" pitchFamily="34" charset="0"/>
              <a:buChar char="•"/>
            </a:pPr>
            <a:r>
              <a:rPr lang="en" sz="2000" b="1">
                <a:solidFill>
                  <a:srgbClr val="002F4A"/>
                </a:solidFill>
                <a:latin typeface="Roboto" panose="02000000000000000000" pitchFamily="2" charset="0"/>
                <a:ea typeface="Roboto" panose="02000000000000000000" pitchFamily="2" charset="0"/>
              </a:rPr>
              <a:t>Enhancing incentives for private sector financing without hurting incentives for developing countries to achieve climate targets.</a:t>
            </a:r>
          </a:p>
          <a:p>
            <a:pPr marL="495300" indent="-342900">
              <a:lnSpc>
                <a:spcPct val="100000"/>
              </a:lnSpc>
              <a:buClr>
                <a:schemeClr val="accent1"/>
              </a:buClr>
              <a:buSzPts val="1200"/>
              <a:buFont typeface="Arial" panose="020B0604020202020204" pitchFamily="34" charset="0"/>
              <a:buChar char="•"/>
            </a:pPr>
            <a:endParaRPr lang="en" sz="2000" b="1">
              <a:solidFill>
                <a:srgbClr val="002F4A"/>
              </a:solidFill>
              <a:latin typeface="Roboto" panose="02000000000000000000" pitchFamily="2" charset="0"/>
              <a:ea typeface="Roboto" panose="02000000000000000000" pitchFamily="2" charset="0"/>
            </a:endParaRPr>
          </a:p>
          <a:p>
            <a:pPr marL="495300" indent="-342900">
              <a:lnSpc>
                <a:spcPct val="100000"/>
              </a:lnSpc>
              <a:buClr>
                <a:schemeClr val="accent1"/>
              </a:buClr>
              <a:buSzPts val="1200"/>
              <a:buFont typeface="Arial" panose="020B0604020202020204" pitchFamily="34" charset="0"/>
              <a:buChar char="•"/>
            </a:pPr>
            <a:r>
              <a:rPr lang="en" sz="2000" b="1">
                <a:solidFill>
                  <a:srgbClr val="002F4A"/>
                </a:solidFill>
                <a:latin typeface="Roboto" panose="02000000000000000000" pitchFamily="2" charset="0"/>
                <a:ea typeface="Roboto" panose="02000000000000000000" pitchFamily="2" charset="0"/>
              </a:rPr>
              <a:t>Unifying aspects of WB operations and private sector lending into only one bond would hardwire this complementarity and bypass market failures.</a:t>
            </a:r>
            <a:endParaRPr lang="en" sz="2000" b="1">
              <a:solidFill>
                <a:srgbClr val="002F4A"/>
              </a:solidFill>
              <a:latin typeface="Roboto"/>
            </a:endParaRPr>
          </a:p>
        </p:txBody>
      </p:sp>
    </p:spTree>
    <p:extLst>
      <p:ext uri="{BB962C8B-B14F-4D97-AF65-F5344CB8AC3E}">
        <p14:creationId xmlns:p14="http://schemas.microsoft.com/office/powerpoint/2010/main" val="1174603827"/>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Shape 315"/>
        <p:cNvGrpSpPr/>
        <p:nvPr/>
      </p:nvGrpSpPr>
      <p:grpSpPr>
        <a:xfrm>
          <a:off x="0" y="0"/>
          <a:ext cx="0" cy="0"/>
          <a:chOff x="0" y="0"/>
          <a:chExt cx="0" cy="0"/>
        </a:xfrm>
      </p:grpSpPr>
      <p:sp>
        <p:nvSpPr>
          <p:cNvPr id="317" name="Google Shape;317;p33"/>
          <p:cNvSpPr txBox="1">
            <a:spLocks noGrp="1"/>
          </p:cNvSpPr>
          <p:nvPr>
            <p:ph type="body" sz="quarter" idx="11"/>
          </p:nvPr>
        </p:nvSpPr>
        <p:spPr>
          <a:xfrm>
            <a:off x="293300" y="1445455"/>
            <a:ext cx="3897700" cy="3375927"/>
          </a:xfrm>
          <a:prstGeom prst="rect">
            <a:avLst/>
          </a:prstGeom>
        </p:spPr>
        <p:txBody>
          <a:bodyPr spcFirstLastPara="1" wrap="square" lIns="91425" tIns="91425" rIns="91425" bIns="91425" anchor="t" anchorCtr="0">
            <a:noAutofit/>
          </a:bodyPr>
          <a:lstStyle/>
          <a:p>
            <a:pPr marL="0" indent="0">
              <a:lnSpc>
                <a:spcPct val="150000"/>
              </a:lnSpc>
              <a:buNone/>
            </a:pPr>
            <a:r>
              <a:rPr lang="en-US" sz="1400" b="1">
                <a:solidFill>
                  <a:schemeClr val="accent4"/>
                </a:solidFill>
              </a:rPr>
              <a:t>SLIDIs would consist of two components</a:t>
            </a:r>
            <a:r>
              <a:rPr lang="en" sz="1400" b="1">
                <a:solidFill>
                  <a:schemeClr val="accent4"/>
                </a:solidFill>
              </a:rPr>
              <a:t>:</a:t>
            </a:r>
          </a:p>
          <a:p>
            <a:pPr marL="285750" indent="-285750">
              <a:lnSpc>
                <a:spcPct val="150000"/>
              </a:lnSpc>
              <a:buFont typeface="+mj-lt"/>
              <a:buAutoNum type="arabicPeriod"/>
            </a:pPr>
            <a:r>
              <a:rPr lang="en-US" sz="1200">
                <a:solidFill>
                  <a:srgbClr val="002F4A"/>
                </a:solidFill>
              </a:rPr>
              <a:t>Standard sovereign bonds with fixed coupons, but ‘green’ tagged (because of second component…)</a:t>
            </a:r>
          </a:p>
          <a:p>
            <a:pPr marL="285750" indent="-285750">
              <a:lnSpc>
                <a:spcPct val="150000"/>
              </a:lnSpc>
              <a:buFont typeface="+mj-lt"/>
              <a:buAutoNum type="arabicPeriod"/>
            </a:pPr>
            <a:r>
              <a:rPr lang="en-US" sz="1200">
                <a:solidFill>
                  <a:srgbClr val="002F4A"/>
                </a:solidFill>
              </a:rPr>
              <a:t>WB payments conditional on a) Achievement of KPIs and b) sufficient private sector interest in the first component</a:t>
            </a:r>
          </a:p>
          <a:p>
            <a:pPr marL="0" indent="0">
              <a:lnSpc>
                <a:spcPct val="150000"/>
              </a:lnSpc>
              <a:buNone/>
            </a:pPr>
            <a:r>
              <a:rPr lang="en-US" sz="1400" b="1">
                <a:solidFill>
                  <a:schemeClr val="accent4"/>
                </a:solidFill>
              </a:rPr>
              <a:t>How To Implement WB Payments?</a:t>
            </a:r>
            <a:endParaRPr lang="en" sz="1400" b="1">
              <a:solidFill>
                <a:schemeClr val="accent4"/>
              </a:solidFill>
            </a:endParaRPr>
          </a:p>
          <a:p>
            <a:pPr marL="285750" indent="-285750">
              <a:lnSpc>
                <a:spcPct val="150000"/>
              </a:lnSpc>
              <a:buFont typeface="+mj-lt"/>
              <a:buAutoNum type="arabicPeriod"/>
            </a:pPr>
            <a:r>
              <a:rPr lang="en-US" sz="1200">
                <a:solidFill>
                  <a:srgbClr val="002F4A"/>
                </a:solidFill>
              </a:rPr>
              <a:t>Payment-for-results Results Based Climate Finance</a:t>
            </a:r>
          </a:p>
          <a:p>
            <a:pPr marL="285750" indent="-285750">
              <a:lnSpc>
                <a:spcPct val="150000"/>
              </a:lnSpc>
              <a:buFont typeface="+mj-lt"/>
              <a:buAutoNum type="arabicPeriod"/>
            </a:pPr>
            <a:r>
              <a:rPr lang="en-US" sz="1200">
                <a:solidFill>
                  <a:srgbClr val="002F4A"/>
                </a:solidFill>
              </a:rPr>
              <a:t>DPF lending conditional on schedule of prior actions.</a:t>
            </a:r>
          </a:p>
          <a:p>
            <a:pPr indent="0">
              <a:lnSpc>
                <a:spcPct val="150000"/>
              </a:lnSpc>
              <a:buNone/>
            </a:pPr>
            <a:endParaRPr lang="en-US" sz="1200">
              <a:solidFill>
                <a:srgbClr val="002F4A"/>
              </a:solidFill>
            </a:endParaRPr>
          </a:p>
          <a:p>
            <a:pPr indent="0">
              <a:lnSpc>
                <a:spcPct val="150000"/>
              </a:lnSpc>
              <a:buNone/>
            </a:pPr>
            <a:endParaRPr lang="en-US" sz="1200">
              <a:solidFill>
                <a:srgbClr val="002F4A"/>
              </a:solidFill>
            </a:endParaRPr>
          </a:p>
        </p:txBody>
      </p:sp>
      <p:sp>
        <p:nvSpPr>
          <p:cNvPr id="3" name="Subtitle 2">
            <a:extLst>
              <a:ext uri="{FF2B5EF4-FFF2-40B4-BE49-F238E27FC236}">
                <a16:creationId xmlns:a16="http://schemas.microsoft.com/office/drawing/2014/main" id="{6778C64C-9964-0DEE-5572-7BF97CC911AA}"/>
              </a:ext>
            </a:extLst>
          </p:cNvPr>
          <p:cNvSpPr>
            <a:spLocks noGrp="1"/>
          </p:cNvSpPr>
          <p:nvPr>
            <p:ph type="subTitle" idx="1"/>
          </p:nvPr>
        </p:nvSpPr>
        <p:spPr/>
        <p:txBody>
          <a:bodyPr>
            <a:normAutofit fontScale="92500" lnSpcReduction="20000"/>
          </a:bodyPr>
          <a:lstStyle/>
          <a:p>
            <a:r>
              <a:rPr lang="en"/>
              <a:t>How To Implement </a:t>
            </a:r>
            <a:r>
              <a:rPr lang="en-US"/>
              <a:t>SLIDIs</a:t>
            </a:r>
            <a:r>
              <a:rPr lang="en"/>
              <a:t>: Option One</a:t>
            </a:r>
          </a:p>
          <a:p>
            <a:endParaRPr lang="en-US"/>
          </a:p>
        </p:txBody>
      </p:sp>
      <p:sp>
        <p:nvSpPr>
          <p:cNvPr id="2" name="Rectangle 1">
            <a:extLst>
              <a:ext uri="{FF2B5EF4-FFF2-40B4-BE49-F238E27FC236}">
                <a16:creationId xmlns:a16="http://schemas.microsoft.com/office/drawing/2014/main" id="{F70EB803-981C-19EA-EDFA-2A0543493A98}"/>
              </a:ext>
            </a:extLst>
          </p:cNvPr>
          <p:cNvSpPr/>
          <p:nvPr/>
        </p:nvSpPr>
        <p:spPr>
          <a:xfrm>
            <a:off x="4474233" y="1393413"/>
            <a:ext cx="4278701" cy="33541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oogle Shape;230;p26">
            <a:extLst>
              <a:ext uri="{FF2B5EF4-FFF2-40B4-BE49-F238E27FC236}">
                <a16:creationId xmlns:a16="http://schemas.microsoft.com/office/drawing/2014/main" id="{6436A11E-6A3B-04C2-1C71-DA57757BF6B1}"/>
              </a:ext>
            </a:extLst>
          </p:cNvPr>
          <p:cNvGrpSpPr/>
          <p:nvPr/>
        </p:nvGrpSpPr>
        <p:grpSpPr>
          <a:xfrm>
            <a:off x="4838199" y="3361884"/>
            <a:ext cx="2196033" cy="1220887"/>
            <a:chOff x="5040038" y="2459523"/>
            <a:chExt cx="1718739" cy="966656"/>
          </a:xfrm>
        </p:grpSpPr>
        <p:sp>
          <p:nvSpPr>
            <p:cNvPr id="9" name="Google Shape;231;p26">
              <a:extLst>
                <a:ext uri="{FF2B5EF4-FFF2-40B4-BE49-F238E27FC236}">
                  <a16:creationId xmlns:a16="http://schemas.microsoft.com/office/drawing/2014/main" id="{BA16C714-6A5D-A349-DB4A-5313D8AFD7E4}"/>
                </a:ext>
              </a:extLst>
            </p:cNvPr>
            <p:cNvSpPr/>
            <p:nvPr/>
          </p:nvSpPr>
          <p:spPr>
            <a:xfrm>
              <a:off x="5040039" y="2707679"/>
              <a:ext cx="1718738" cy="718500"/>
            </a:xfrm>
            <a:prstGeom prst="rect">
              <a:avLst/>
            </a:prstGeom>
            <a:solidFill>
              <a:schemeClr val="accent5"/>
            </a:solidFill>
            <a:ln>
              <a:noFill/>
            </a:ln>
          </p:spPr>
          <p:txBody>
            <a:bodyPr spcFirstLastPara="1" wrap="square" lIns="91425" tIns="91425" rIns="91425" bIns="91425" anchor="t" anchorCtr="0">
              <a:noAutofit/>
            </a:bodyPr>
            <a:lstStyle/>
            <a:p>
              <a:r>
                <a:rPr lang="en-US" sz="1000" b="1">
                  <a:solidFill>
                    <a:srgbClr val="FFFFFF"/>
                  </a:solidFill>
                  <a:latin typeface="Roboto"/>
                  <a:ea typeface="Roboto"/>
                  <a:cs typeface="Roboto"/>
                  <a:sym typeface="Roboto"/>
                </a:rPr>
                <a:t>Pays to </a:t>
              </a:r>
              <a:r>
                <a:rPr lang="en-US" sz="1000">
                  <a:solidFill>
                    <a:srgbClr val="FFFFFF"/>
                  </a:solidFill>
                  <a:latin typeface="Roboto"/>
                  <a:ea typeface="Roboto"/>
                  <a:cs typeface="Roboto"/>
                  <a:sym typeface="Roboto"/>
                </a:rPr>
                <a:t>the sovereign a net payment conditional on the KPIs being met </a:t>
              </a:r>
              <a:endParaRPr sz="1000">
                <a:solidFill>
                  <a:srgbClr val="FFFFFF"/>
                </a:solidFill>
              </a:endParaRPr>
            </a:p>
          </p:txBody>
        </p:sp>
        <p:sp>
          <p:nvSpPr>
            <p:cNvPr id="10" name="Google Shape;232;p26">
              <a:extLst>
                <a:ext uri="{FF2B5EF4-FFF2-40B4-BE49-F238E27FC236}">
                  <a16:creationId xmlns:a16="http://schemas.microsoft.com/office/drawing/2014/main" id="{0E117292-AB98-9E20-65E1-450C44D7DA8A}"/>
                </a:ext>
              </a:extLst>
            </p:cNvPr>
            <p:cNvSpPr/>
            <p:nvPr/>
          </p:nvSpPr>
          <p:spPr>
            <a:xfrm>
              <a:off x="5040038" y="2459523"/>
              <a:ext cx="1718739"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r>
                <a:rPr lang="en" sz="1200">
                  <a:solidFill>
                    <a:srgbClr val="FFFFFF"/>
                  </a:solidFill>
                  <a:latin typeface="Roboto"/>
                  <a:ea typeface="Roboto"/>
                  <a:cs typeface="Roboto"/>
                  <a:sym typeface="Roboto"/>
                </a:rPr>
                <a:t>WB</a:t>
              </a:r>
              <a:endParaRPr sz="1200">
                <a:solidFill>
                  <a:srgbClr val="FFFFFF"/>
                </a:solidFill>
              </a:endParaRPr>
            </a:p>
          </p:txBody>
        </p:sp>
      </p:grpSp>
      <p:grpSp>
        <p:nvGrpSpPr>
          <p:cNvPr id="11" name="Google Shape;233;p26">
            <a:extLst>
              <a:ext uri="{FF2B5EF4-FFF2-40B4-BE49-F238E27FC236}">
                <a16:creationId xmlns:a16="http://schemas.microsoft.com/office/drawing/2014/main" id="{09493CD9-8639-6AFA-6D15-02DFD5BA214F}"/>
              </a:ext>
            </a:extLst>
          </p:cNvPr>
          <p:cNvGrpSpPr/>
          <p:nvPr/>
        </p:nvGrpSpPr>
        <p:grpSpPr>
          <a:xfrm>
            <a:off x="7212104" y="1586869"/>
            <a:ext cx="1638596" cy="1295717"/>
            <a:chOff x="3798075" y="647329"/>
            <a:chExt cx="1332300" cy="1052915"/>
          </a:xfrm>
        </p:grpSpPr>
        <p:sp>
          <p:nvSpPr>
            <p:cNvPr id="12" name="Google Shape;234;p26">
              <a:extLst>
                <a:ext uri="{FF2B5EF4-FFF2-40B4-BE49-F238E27FC236}">
                  <a16:creationId xmlns:a16="http://schemas.microsoft.com/office/drawing/2014/main" id="{B89664C2-74B3-E04F-BFBC-B0D4898264A8}"/>
                </a:ext>
              </a:extLst>
            </p:cNvPr>
            <p:cNvSpPr/>
            <p:nvPr/>
          </p:nvSpPr>
          <p:spPr>
            <a:xfrm>
              <a:off x="3798075" y="932329"/>
              <a:ext cx="1332300" cy="767915"/>
            </a:xfrm>
            <a:prstGeom prst="rect">
              <a:avLst/>
            </a:prstGeom>
            <a:solidFill>
              <a:schemeClr val="accent1"/>
            </a:solidFill>
            <a:ln>
              <a:noFill/>
            </a:ln>
          </p:spPr>
          <p:txBody>
            <a:bodyPr spcFirstLastPara="1" wrap="square" lIns="91425" tIns="91425" rIns="91425" bIns="91425" anchor="t" anchorCtr="0">
              <a:noAutofit/>
            </a:bodyPr>
            <a:lstStyle/>
            <a:p>
              <a:r>
                <a:rPr lang="en" sz="1000">
                  <a:solidFill>
                    <a:srgbClr val="FFFFFF"/>
                  </a:solidFill>
                  <a:latin typeface="Roboto"/>
                  <a:ea typeface="Roboto"/>
                  <a:cs typeface="Roboto"/>
                  <a:sym typeface="Roboto"/>
                </a:rPr>
                <a:t>Pays </a:t>
              </a:r>
              <a:r>
                <a:rPr lang="en" sz="1000" b="1">
                  <a:solidFill>
                    <a:srgbClr val="FFFFFF"/>
                  </a:solidFill>
                  <a:latin typeface="Roboto"/>
                  <a:ea typeface="Roboto"/>
                  <a:cs typeface="Roboto"/>
                  <a:sym typeface="Roboto"/>
                </a:rPr>
                <a:t>lower coupon </a:t>
              </a:r>
              <a:r>
                <a:rPr lang="en" sz="1000">
                  <a:solidFill>
                    <a:srgbClr val="FFFFFF"/>
                  </a:solidFill>
                  <a:latin typeface="Roboto"/>
                  <a:ea typeface="Roboto"/>
                  <a:cs typeface="Roboto"/>
                  <a:sym typeface="Roboto"/>
                </a:rPr>
                <a:t>payments when certain targets are met. Is incentivized to pursue climate action.</a:t>
              </a:r>
              <a:endParaRPr sz="1000">
                <a:solidFill>
                  <a:srgbClr val="FFFFFF"/>
                </a:solidFill>
              </a:endParaRPr>
            </a:p>
          </p:txBody>
        </p:sp>
        <p:sp>
          <p:nvSpPr>
            <p:cNvPr id="13" name="Google Shape;235;p26">
              <a:extLst>
                <a:ext uri="{FF2B5EF4-FFF2-40B4-BE49-F238E27FC236}">
                  <a16:creationId xmlns:a16="http://schemas.microsoft.com/office/drawing/2014/main" id="{769052A4-9135-D0EA-7F10-E2836B9CE702}"/>
                </a:ext>
              </a:extLst>
            </p:cNvPr>
            <p:cNvSpPr/>
            <p:nvPr/>
          </p:nvSpPr>
          <p:spPr>
            <a:xfrm>
              <a:off x="3798075" y="647329"/>
              <a:ext cx="133230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latin typeface="Roboto"/>
                  <a:ea typeface="Roboto"/>
                  <a:cs typeface="Roboto"/>
                  <a:sym typeface="Roboto"/>
                </a:rPr>
                <a:t>Sovereign</a:t>
              </a:r>
              <a:endParaRPr sz="1200">
                <a:solidFill>
                  <a:srgbClr val="FFFFFF"/>
                </a:solidFill>
              </a:endParaRPr>
            </a:p>
          </p:txBody>
        </p:sp>
      </p:grpSp>
      <p:grpSp>
        <p:nvGrpSpPr>
          <p:cNvPr id="14" name="Google Shape;236;p26">
            <a:extLst>
              <a:ext uri="{FF2B5EF4-FFF2-40B4-BE49-F238E27FC236}">
                <a16:creationId xmlns:a16="http://schemas.microsoft.com/office/drawing/2014/main" id="{72141A81-D02A-6185-851D-A4105B501A14}"/>
              </a:ext>
            </a:extLst>
          </p:cNvPr>
          <p:cNvGrpSpPr/>
          <p:nvPr/>
        </p:nvGrpSpPr>
        <p:grpSpPr>
          <a:xfrm>
            <a:off x="4838199" y="1552239"/>
            <a:ext cx="1638596" cy="1325411"/>
            <a:chOff x="2465775" y="2422675"/>
            <a:chExt cx="1332300" cy="992966"/>
          </a:xfrm>
        </p:grpSpPr>
        <p:sp>
          <p:nvSpPr>
            <p:cNvPr id="15" name="Google Shape;237;p26">
              <a:extLst>
                <a:ext uri="{FF2B5EF4-FFF2-40B4-BE49-F238E27FC236}">
                  <a16:creationId xmlns:a16="http://schemas.microsoft.com/office/drawing/2014/main" id="{EB5D3633-8140-D6E5-86C9-DB9CECB6C59E}"/>
                </a:ext>
              </a:extLst>
            </p:cNvPr>
            <p:cNvSpPr/>
            <p:nvPr/>
          </p:nvSpPr>
          <p:spPr>
            <a:xfrm>
              <a:off x="2465775" y="2707674"/>
              <a:ext cx="1332300" cy="707967"/>
            </a:xfrm>
            <a:prstGeom prst="rect">
              <a:avLst/>
            </a:prstGeom>
            <a:solidFill>
              <a:schemeClr val="accent4"/>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solidFill>
                    <a:srgbClr val="FFFFFF"/>
                  </a:solidFill>
                  <a:latin typeface="Roboto"/>
                  <a:ea typeface="Roboto"/>
                  <a:cs typeface="Roboto"/>
                  <a:sym typeface="Roboto"/>
                </a:rPr>
                <a:t>Receives</a:t>
              </a:r>
              <a:r>
                <a:rPr lang="en" sz="1000">
                  <a:solidFill>
                    <a:srgbClr val="FFFFFF"/>
                  </a:solidFill>
                  <a:latin typeface="Roboto"/>
                  <a:ea typeface="Roboto"/>
                  <a:cs typeface="Roboto"/>
                  <a:sym typeface="Roboto"/>
                </a:rPr>
                <a:t> stable payment of coupon</a:t>
              </a:r>
              <a:endParaRPr sz="1000">
                <a:solidFill>
                  <a:srgbClr val="FFFFFF"/>
                </a:solidFill>
              </a:endParaRPr>
            </a:p>
          </p:txBody>
        </p:sp>
        <p:sp>
          <p:nvSpPr>
            <p:cNvPr id="16" name="Google Shape;238;p26">
              <a:extLst>
                <a:ext uri="{FF2B5EF4-FFF2-40B4-BE49-F238E27FC236}">
                  <a16:creationId xmlns:a16="http://schemas.microsoft.com/office/drawing/2014/main" id="{825D3FF2-D38C-567F-82AC-9DC2B78BBD8C}"/>
                </a:ext>
              </a:extLst>
            </p:cNvPr>
            <p:cNvSpPr/>
            <p:nvPr/>
          </p:nvSpPr>
          <p:spPr>
            <a:xfrm>
              <a:off x="2465775" y="2422675"/>
              <a:ext cx="133230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latin typeface="Roboto"/>
                  <a:ea typeface="Roboto"/>
                  <a:cs typeface="Roboto"/>
                  <a:sym typeface="Roboto"/>
                </a:rPr>
                <a:t>Investor</a:t>
              </a:r>
              <a:endParaRPr sz="1200">
                <a:solidFill>
                  <a:srgbClr val="FFFFFF"/>
                </a:solidFill>
              </a:endParaRPr>
            </a:p>
          </p:txBody>
        </p:sp>
      </p:grpSp>
      <p:grpSp>
        <p:nvGrpSpPr>
          <p:cNvPr id="17" name="Google Shape;236;p26">
            <a:extLst>
              <a:ext uri="{FF2B5EF4-FFF2-40B4-BE49-F238E27FC236}">
                <a16:creationId xmlns:a16="http://schemas.microsoft.com/office/drawing/2014/main" id="{B20C65B4-21B4-DF45-FBBA-E552C292DEE6}"/>
              </a:ext>
            </a:extLst>
          </p:cNvPr>
          <p:cNvGrpSpPr/>
          <p:nvPr/>
        </p:nvGrpSpPr>
        <p:grpSpPr>
          <a:xfrm>
            <a:off x="7246788" y="3242058"/>
            <a:ext cx="1638596" cy="1325411"/>
            <a:chOff x="2465775" y="2422675"/>
            <a:chExt cx="1332300" cy="992966"/>
          </a:xfrm>
        </p:grpSpPr>
        <p:sp>
          <p:nvSpPr>
            <p:cNvPr id="18" name="Google Shape;237;p26">
              <a:extLst>
                <a:ext uri="{FF2B5EF4-FFF2-40B4-BE49-F238E27FC236}">
                  <a16:creationId xmlns:a16="http://schemas.microsoft.com/office/drawing/2014/main" id="{0E3A837D-D3E8-B449-10D0-35C5F07C1E5E}"/>
                </a:ext>
              </a:extLst>
            </p:cNvPr>
            <p:cNvSpPr/>
            <p:nvPr/>
          </p:nvSpPr>
          <p:spPr>
            <a:xfrm>
              <a:off x="2465775" y="2707674"/>
              <a:ext cx="1332300" cy="707967"/>
            </a:xfrm>
            <a:prstGeom prst="rect">
              <a:avLst/>
            </a:prstGeom>
            <a:solidFill>
              <a:schemeClr val="accent6">
                <a:lumMod val="25000"/>
              </a:schemeClr>
            </a:solidFill>
            <a:ln>
              <a:solidFill>
                <a:schemeClr val="accent6">
                  <a:lumMod val="25000"/>
                </a:schemeClr>
              </a:solid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rgbClr val="FFFFFF"/>
                  </a:solidFill>
                  <a:latin typeface="Roboto"/>
                  <a:ea typeface="Roboto"/>
                  <a:cs typeface="Roboto"/>
                  <a:sym typeface="Roboto"/>
                </a:rPr>
                <a:t>Provides</a:t>
              </a:r>
              <a:r>
                <a:rPr lang="en" sz="1000" b="1">
                  <a:solidFill>
                    <a:srgbClr val="FFFFFF"/>
                  </a:solidFill>
                  <a:latin typeface="Roboto"/>
                  <a:ea typeface="Roboto"/>
                  <a:cs typeface="Roboto"/>
                  <a:sym typeface="Roboto"/>
                </a:rPr>
                <a:t> technical assistance </a:t>
              </a:r>
              <a:r>
                <a:rPr lang="en" sz="1000">
                  <a:solidFill>
                    <a:srgbClr val="FFFFFF"/>
                  </a:solidFill>
                  <a:latin typeface="Roboto"/>
                  <a:ea typeface="Roboto"/>
                  <a:cs typeface="Roboto"/>
                  <a:sym typeface="Roboto"/>
                </a:rPr>
                <a:t>to ensure KPIs are met.</a:t>
              </a:r>
              <a:endParaRPr sz="1000">
                <a:solidFill>
                  <a:srgbClr val="FFFFFF"/>
                </a:solidFill>
              </a:endParaRPr>
            </a:p>
          </p:txBody>
        </p:sp>
        <p:sp>
          <p:nvSpPr>
            <p:cNvPr id="19" name="Google Shape;238;p26">
              <a:extLst>
                <a:ext uri="{FF2B5EF4-FFF2-40B4-BE49-F238E27FC236}">
                  <a16:creationId xmlns:a16="http://schemas.microsoft.com/office/drawing/2014/main" id="{EA4B82BA-5A5D-14F0-28A3-C7709416B1B1}"/>
                </a:ext>
              </a:extLst>
            </p:cNvPr>
            <p:cNvSpPr/>
            <p:nvPr/>
          </p:nvSpPr>
          <p:spPr>
            <a:xfrm>
              <a:off x="2465775" y="2422675"/>
              <a:ext cx="133230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rgbClr val="FFFFFF"/>
                  </a:solidFill>
                  <a:latin typeface="Roboto"/>
                  <a:ea typeface="Roboto"/>
                  <a:cs typeface="Roboto"/>
                  <a:sym typeface="Roboto"/>
                </a:rPr>
                <a:t>Partner Agency</a:t>
              </a:r>
              <a:endParaRPr sz="1200">
                <a:solidFill>
                  <a:srgbClr val="FFFFFF"/>
                </a:solidFill>
              </a:endParaRPr>
            </a:p>
          </p:txBody>
        </p:sp>
      </p:grpSp>
      <p:sp>
        <p:nvSpPr>
          <p:cNvPr id="20" name="Google Shape;182;p22">
            <a:extLst>
              <a:ext uri="{FF2B5EF4-FFF2-40B4-BE49-F238E27FC236}">
                <a16:creationId xmlns:a16="http://schemas.microsoft.com/office/drawing/2014/main" id="{36B0820F-9C6E-B9FE-E9A6-0FD5B4D8A48E}"/>
              </a:ext>
            </a:extLst>
          </p:cNvPr>
          <p:cNvSpPr/>
          <p:nvPr/>
        </p:nvSpPr>
        <p:spPr>
          <a:xfrm rot="18814122">
            <a:off x="6250140" y="2810850"/>
            <a:ext cx="1110350" cy="149390"/>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1" name="Google Shape;182;p22">
            <a:extLst>
              <a:ext uri="{FF2B5EF4-FFF2-40B4-BE49-F238E27FC236}">
                <a16:creationId xmlns:a16="http://schemas.microsoft.com/office/drawing/2014/main" id="{7FCCDD9D-9C73-70BF-93B2-ADDD149C333D}"/>
              </a:ext>
            </a:extLst>
          </p:cNvPr>
          <p:cNvSpPr/>
          <p:nvPr/>
        </p:nvSpPr>
        <p:spPr>
          <a:xfrm rot="10800000">
            <a:off x="6493821" y="2308438"/>
            <a:ext cx="696323" cy="145184"/>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2" name="Google Shape;182;p22">
            <a:extLst>
              <a:ext uri="{FF2B5EF4-FFF2-40B4-BE49-F238E27FC236}">
                <a16:creationId xmlns:a16="http://schemas.microsoft.com/office/drawing/2014/main" id="{CBBD8091-6535-11C7-F2AC-ADDE94C89120}"/>
              </a:ext>
            </a:extLst>
          </p:cNvPr>
          <p:cNvSpPr/>
          <p:nvPr/>
        </p:nvSpPr>
        <p:spPr>
          <a:xfrm rot="16200000">
            <a:off x="8295078" y="3013174"/>
            <a:ext cx="271998" cy="114639"/>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Shape 315">
          <a:extLst>
            <a:ext uri="{FF2B5EF4-FFF2-40B4-BE49-F238E27FC236}">
              <a16:creationId xmlns:a16="http://schemas.microsoft.com/office/drawing/2014/main" id="{88E2D76C-4BB5-C9D6-0327-F22B1CA81CDE}"/>
            </a:ext>
          </a:extLst>
        </p:cNvPr>
        <p:cNvGrpSpPr/>
        <p:nvPr/>
      </p:nvGrpSpPr>
      <p:grpSpPr>
        <a:xfrm>
          <a:off x="0" y="0"/>
          <a:ext cx="0" cy="0"/>
          <a:chOff x="0" y="0"/>
          <a:chExt cx="0" cy="0"/>
        </a:xfrm>
      </p:grpSpPr>
      <p:sp>
        <p:nvSpPr>
          <p:cNvPr id="317" name="Google Shape;317;p33">
            <a:extLst>
              <a:ext uri="{FF2B5EF4-FFF2-40B4-BE49-F238E27FC236}">
                <a16:creationId xmlns:a16="http://schemas.microsoft.com/office/drawing/2014/main" id="{31BC723C-9BD2-98D7-A391-0B8604C953F2}"/>
              </a:ext>
            </a:extLst>
          </p:cNvPr>
          <p:cNvSpPr txBox="1">
            <a:spLocks noGrp="1"/>
          </p:cNvSpPr>
          <p:nvPr>
            <p:ph type="body" sz="quarter" idx="11"/>
          </p:nvPr>
        </p:nvSpPr>
        <p:spPr>
          <a:xfrm>
            <a:off x="293300" y="1445455"/>
            <a:ext cx="2650791" cy="3375927"/>
          </a:xfrm>
          <a:prstGeom prst="rect">
            <a:avLst/>
          </a:prstGeom>
        </p:spPr>
        <p:txBody>
          <a:bodyPr spcFirstLastPara="1" wrap="square" lIns="91425" tIns="91425" rIns="91425" bIns="91425" anchor="t" anchorCtr="0">
            <a:noAutofit/>
          </a:bodyPr>
          <a:lstStyle/>
          <a:p>
            <a:pPr marL="0" indent="0">
              <a:lnSpc>
                <a:spcPct val="150000"/>
              </a:lnSpc>
              <a:buNone/>
            </a:pPr>
            <a:r>
              <a:rPr lang="en-US" sz="1400" b="1" dirty="0">
                <a:solidFill>
                  <a:schemeClr val="accent4"/>
                </a:solidFill>
              </a:rPr>
              <a:t>SLIDIs would consist of two components</a:t>
            </a:r>
            <a:r>
              <a:rPr lang="en" sz="1400" b="1" dirty="0">
                <a:solidFill>
                  <a:schemeClr val="accent4"/>
                </a:solidFill>
              </a:rPr>
              <a:t>:</a:t>
            </a:r>
          </a:p>
          <a:p>
            <a:pPr marL="285750" indent="-285750">
              <a:lnSpc>
                <a:spcPct val="150000"/>
              </a:lnSpc>
              <a:buFont typeface="+mj-lt"/>
              <a:buAutoNum type="arabicPeriod"/>
            </a:pPr>
            <a:r>
              <a:rPr lang="en-US" sz="1200" dirty="0">
                <a:solidFill>
                  <a:srgbClr val="002F4A"/>
                </a:solidFill>
              </a:rPr>
              <a:t>Standard sovereign bonds with fixed coupons, but tagged ‘green’ (because of second component…)</a:t>
            </a:r>
          </a:p>
          <a:p>
            <a:pPr marL="285750" indent="-285750">
              <a:lnSpc>
                <a:spcPct val="150000"/>
              </a:lnSpc>
              <a:buFont typeface="+mj-lt"/>
              <a:buAutoNum type="arabicPeriod"/>
            </a:pPr>
            <a:r>
              <a:rPr lang="en-US" sz="1200" dirty="0">
                <a:solidFill>
                  <a:srgbClr val="002F4A"/>
                </a:solidFill>
              </a:rPr>
              <a:t>WB payments conditional on a) achievement of KPIs and b) sufficient private sector interest in the first component</a:t>
            </a:r>
          </a:p>
          <a:p>
            <a:pPr marL="285750" indent="-285750">
              <a:lnSpc>
                <a:spcPct val="150000"/>
              </a:lnSpc>
              <a:buFont typeface="+mj-lt"/>
              <a:buAutoNum type="arabicPeriod"/>
            </a:pPr>
            <a:endParaRPr lang="en-US" sz="1200" dirty="0">
              <a:solidFill>
                <a:srgbClr val="002F4A"/>
              </a:solidFill>
            </a:endParaRPr>
          </a:p>
        </p:txBody>
      </p:sp>
      <p:sp>
        <p:nvSpPr>
          <p:cNvPr id="3" name="Subtitle 2">
            <a:extLst>
              <a:ext uri="{FF2B5EF4-FFF2-40B4-BE49-F238E27FC236}">
                <a16:creationId xmlns:a16="http://schemas.microsoft.com/office/drawing/2014/main" id="{934D4685-0435-B7D7-A875-DED68C183999}"/>
              </a:ext>
            </a:extLst>
          </p:cNvPr>
          <p:cNvSpPr>
            <a:spLocks noGrp="1"/>
          </p:cNvSpPr>
          <p:nvPr>
            <p:ph type="subTitle" idx="1"/>
          </p:nvPr>
        </p:nvSpPr>
        <p:spPr/>
        <p:txBody>
          <a:bodyPr>
            <a:normAutofit fontScale="92500" lnSpcReduction="20000"/>
          </a:bodyPr>
          <a:lstStyle/>
          <a:p>
            <a:r>
              <a:rPr lang="en"/>
              <a:t>How To Implement </a:t>
            </a:r>
            <a:r>
              <a:rPr lang="en-US"/>
              <a:t>SLIDIs</a:t>
            </a:r>
            <a:r>
              <a:rPr lang="en"/>
              <a:t>: Option Two – Trusted Intermediary</a:t>
            </a:r>
          </a:p>
          <a:p>
            <a:endParaRPr lang="en-US"/>
          </a:p>
        </p:txBody>
      </p:sp>
      <p:grpSp>
        <p:nvGrpSpPr>
          <p:cNvPr id="8" name="Google Shape;230;p26">
            <a:extLst>
              <a:ext uri="{FF2B5EF4-FFF2-40B4-BE49-F238E27FC236}">
                <a16:creationId xmlns:a16="http://schemas.microsoft.com/office/drawing/2014/main" id="{B07A8872-3874-373C-E702-D8A8C4FEDE7D}"/>
              </a:ext>
            </a:extLst>
          </p:cNvPr>
          <p:cNvGrpSpPr/>
          <p:nvPr/>
        </p:nvGrpSpPr>
        <p:grpSpPr>
          <a:xfrm>
            <a:off x="5144611" y="2543982"/>
            <a:ext cx="1332390" cy="1220886"/>
            <a:chOff x="5040038" y="2459523"/>
            <a:chExt cx="1718739" cy="966655"/>
          </a:xfrm>
        </p:grpSpPr>
        <p:sp>
          <p:nvSpPr>
            <p:cNvPr id="9" name="Google Shape;231;p26">
              <a:extLst>
                <a:ext uri="{FF2B5EF4-FFF2-40B4-BE49-F238E27FC236}">
                  <a16:creationId xmlns:a16="http://schemas.microsoft.com/office/drawing/2014/main" id="{F51CD341-7FC2-BE14-967D-4E506F7475A9}"/>
                </a:ext>
              </a:extLst>
            </p:cNvPr>
            <p:cNvSpPr/>
            <p:nvPr/>
          </p:nvSpPr>
          <p:spPr>
            <a:xfrm>
              <a:off x="5040038" y="2707678"/>
              <a:ext cx="1718738" cy="718500"/>
            </a:xfrm>
            <a:prstGeom prst="rect">
              <a:avLst/>
            </a:prstGeom>
            <a:solidFill>
              <a:schemeClr val="accent5"/>
            </a:solid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FFFFFF"/>
                  </a:solidFill>
                  <a:effectLst/>
                  <a:uLnTx/>
                  <a:uFillTx/>
                  <a:latin typeface="Arial"/>
                  <a:cs typeface="Arial"/>
                  <a:sym typeface="Arial"/>
                </a:rPr>
                <a:t>Borrows at AAA financing rate thanks to guarantees. Receives 5-7%</a:t>
              </a:r>
              <a:endParaRPr kumimoji="0" sz="1000" b="0" i="0" u="none" strike="noStrike" kern="0" cap="none" spc="0" normalizeH="0" baseline="0" noProof="0" dirty="0">
                <a:ln>
                  <a:noFill/>
                </a:ln>
                <a:solidFill>
                  <a:srgbClr val="FFFFFF"/>
                </a:solidFill>
                <a:effectLst/>
                <a:uLnTx/>
                <a:uFillTx/>
                <a:latin typeface="Arial"/>
                <a:cs typeface="Arial"/>
                <a:sym typeface="Arial"/>
              </a:endParaRPr>
            </a:p>
          </p:txBody>
        </p:sp>
        <p:sp>
          <p:nvSpPr>
            <p:cNvPr id="10" name="Google Shape;232;p26">
              <a:extLst>
                <a:ext uri="{FF2B5EF4-FFF2-40B4-BE49-F238E27FC236}">
                  <a16:creationId xmlns:a16="http://schemas.microsoft.com/office/drawing/2014/main" id="{E7FCB302-6711-7661-651C-7F4CB1605C91}"/>
                </a:ext>
              </a:extLst>
            </p:cNvPr>
            <p:cNvSpPr/>
            <p:nvPr/>
          </p:nvSpPr>
          <p:spPr>
            <a:xfrm>
              <a:off x="5040038" y="2459523"/>
              <a:ext cx="1718739"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a:ln>
                    <a:noFill/>
                  </a:ln>
                  <a:solidFill>
                    <a:srgbClr val="FFFFFF"/>
                  </a:solidFill>
                  <a:effectLst/>
                  <a:uLnTx/>
                  <a:uFillTx/>
                  <a:latin typeface="Roboto"/>
                  <a:ea typeface="Roboto"/>
                  <a:cs typeface="Roboto"/>
                  <a:sym typeface="Roboto"/>
                </a:rPr>
                <a:t>SPV or WB</a:t>
              </a:r>
              <a:endParaRPr kumimoji="0" sz="1200" b="0" i="0" u="none" strike="noStrike" kern="0" cap="none" spc="0" normalizeH="0" baseline="0" noProof="0">
                <a:ln>
                  <a:noFill/>
                </a:ln>
                <a:solidFill>
                  <a:srgbClr val="FFFFFF"/>
                </a:solidFill>
                <a:effectLst/>
                <a:uLnTx/>
                <a:uFillTx/>
                <a:latin typeface="Arial"/>
                <a:cs typeface="Arial"/>
                <a:sym typeface="Arial"/>
              </a:endParaRPr>
            </a:p>
          </p:txBody>
        </p:sp>
      </p:grpSp>
      <p:grpSp>
        <p:nvGrpSpPr>
          <p:cNvPr id="11" name="Google Shape;233;p26">
            <a:extLst>
              <a:ext uri="{FF2B5EF4-FFF2-40B4-BE49-F238E27FC236}">
                <a16:creationId xmlns:a16="http://schemas.microsoft.com/office/drawing/2014/main" id="{23F78598-C81B-C3A6-57AF-F4F1384FF8C0}"/>
              </a:ext>
            </a:extLst>
          </p:cNvPr>
          <p:cNvGrpSpPr/>
          <p:nvPr/>
        </p:nvGrpSpPr>
        <p:grpSpPr>
          <a:xfrm>
            <a:off x="7855527" y="1382570"/>
            <a:ext cx="1073728" cy="1295717"/>
            <a:chOff x="4432886" y="647329"/>
            <a:chExt cx="873020" cy="1052915"/>
          </a:xfrm>
        </p:grpSpPr>
        <p:sp>
          <p:nvSpPr>
            <p:cNvPr id="12" name="Google Shape;234;p26">
              <a:extLst>
                <a:ext uri="{FF2B5EF4-FFF2-40B4-BE49-F238E27FC236}">
                  <a16:creationId xmlns:a16="http://schemas.microsoft.com/office/drawing/2014/main" id="{19172850-CD93-0629-820A-DADE1EBD12FC}"/>
                </a:ext>
              </a:extLst>
            </p:cNvPr>
            <p:cNvSpPr/>
            <p:nvPr/>
          </p:nvSpPr>
          <p:spPr>
            <a:xfrm>
              <a:off x="4432886" y="932329"/>
              <a:ext cx="873019" cy="767915"/>
            </a:xfrm>
            <a:prstGeom prst="rect">
              <a:avLst/>
            </a:prstGeom>
            <a:solidFill>
              <a:schemeClr val="accent1"/>
            </a:solid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1000" b="0" i="0" u="none" strike="noStrike" kern="0" cap="none" spc="0" normalizeH="0" baseline="0" noProof="0">
                  <a:ln>
                    <a:noFill/>
                  </a:ln>
                  <a:solidFill>
                    <a:srgbClr val="FFFFFF"/>
                  </a:solidFill>
                  <a:effectLst/>
                  <a:uLnTx/>
                  <a:uFillTx/>
                  <a:latin typeface="Roboto"/>
                  <a:ea typeface="Roboto"/>
                  <a:cs typeface="Roboto"/>
                  <a:sym typeface="Roboto"/>
                </a:rPr>
                <a:t>Achieves KPI</a:t>
              </a:r>
              <a:endParaRPr kumimoji="0" sz="1000" b="0" i="0" u="none" strike="noStrike" kern="0" cap="none" spc="0" normalizeH="0" baseline="0" noProof="0">
                <a:ln>
                  <a:noFill/>
                </a:ln>
                <a:solidFill>
                  <a:srgbClr val="FFFFFF"/>
                </a:solidFill>
                <a:effectLst/>
                <a:uLnTx/>
                <a:uFillTx/>
                <a:latin typeface="Arial"/>
                <a:cs typeface="Arial"/>
                <a:sym typeface="Arial"/>
              </a:endParaRPr>
            </a:p>
          </p:txBody>
        </p:sp>
        <p:sp>
          <p:nvSpPr>
            <p:cNvPr id="13" name="Google Shape;235;p26">
              <a:extLst>
                <a:ext uri="{FF2B5EF4-FFF2-40B4-BE49-F238E27FC236}">
                  <a16:creationId xmlns:a16="http://schemas.microsoft.com/office/drawing/2014/main" id="{C65E950C-E9CB-4514-2BAF-1146735DE660}"/>
                </a:ext>
              </a:extLst>
            </p:cNvPr>
            <p:cNvSpPr/>
            <p:nvPr/>
          </p:nvSpPr>
          <p:spPr>
            <a:xfrm>
              <a:off x="4432886" y="647329"/>
              <a:ext cx="87302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a:ln>
                    <a:noFill/>
                  </a:ln>
                  <a:solidFill>
                    <a:srgbClr val="FFFFFF"/>
                  </a:solidFill>
                  <a:effectLst/>
                  <a:uLnTx/>
                  <a:uFillTx/>
                  <a:latin typeface="Roboto"/>
                  <a:ea typeface="Roboto"/>
                  <a:cs typeface="Roboto"/>
                  <a:sym typeface="Roboto"/>
                </a:rPr>
                <a:t>Sovereign 1</a:t>
              </a:r>
              <a:endParaRPr kumimoji="0" sz="1200" b="0" i="0" u="none" strike="noStrike" kern="0" cap="none" spc="0" normalizeH="0" baseline="0" noProof="0">
                <a:ln>
                  <a:noFill/>
                </a:ln>
                <a:solidFill>
                  <a:srgbClr val="FFFFFF"/>
                </a:solidFill>
                <a:effectLst/>
                <a:uLnTx/>
                <a:uFillTx/>
                <a:latin typeface="Arial"/>
                <a:cs typeface="Arial"/>
                <a:sym typeface="Arial"/>
              </a:endParaRPr>
            </a:p>
          </p:txBody>
        </p:sp>
      </p:grpSp>
      <p:grpSp>
        <p:nvGrpSpPr>
          <p:cNvPr id="14" name="Google Shape;236;p26">
            <a:extLst>
              <a:ext uri="{FF2B5EF4-FFF2-40B4-BE49-F238E27FC236}">
                <a16:creationId xmlns:a16="http://schemas.microsoft.com/office/drawing/2014/main" id="{F5928925-377E-D0B5-71D2-402B23EDC091}"/>
              </a:ext>
            </a:extLst>
          </p:cNvPr>
          <p:cNvGrpSpPr/>
          <p:nvPr/>
        </p:nvGrpSpPr>
        <p:grpSpPr>
          <a:xfrm>
            <a:off x="3108419" y="2522975"/>
            <a:ext cx="1176007" cy="1220885"/>
            <a:chOff x="2465775" y="2422675"/>
            <a:chExt cx="1332300" cy="914658"/>
          </a:xfrm>
        </p:grpSpPr>
        <p:sp>
          <p:nvSpPr>
            <p:cNvPr id="15" name="Google Shape;237;p26">
              <a:extLst>
                <a:ext uri="{FF2B5EF4-FFF2-40B4-BE49-F238E27FC236}">
                  <a16:creationId xmlns:a16="http://schemas.microsoft.com/office/drawing/2014/main" id="{490E2C86-682B-EC96-7C62-22EF3B85C458}"/>
                </a:ext>
              </a:extLst>
            </p:cNvPr>
            <p:cNvSpPr/>
            <p:nvPr/>
          </p:nvSpPr>
          <p:spPr>
            <a:xfrm>
              <a:off x="2465775" y="2707674"/>
              <a:ext cx="1332300" cy="629659"/>
            </a:xfrm>
            <a:prstGeom prst="rect">
              <a:avLst/>
            </a:prstGeom>
            <a:solidFill>
              <a:schemeClr val="accent4"/>
            </a:solid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1000" b="1" i="0" u="none" strike="noStrike" kern="0" cap="none" spc="0" normalizeH="0" baseline="0" noProof="0">
                  <a:ln>
                    <a:noFill/>
                  </a:ln>
                  <a:solidFill>
                    <a:srgbClr val="FFFFFF"/>
                  </a:solidFill>
                  <a:effectLst/>
                  <a:uLnTx/>
                  <a:uFillTx/>
                  <a:latin typeface="Roboto"/>
                  <a:ea typeface="Roboto"/>
                  <a:cs typeface="Roboto"/>
                  <a:sym typeface="Roboto"/>
                </a:rPr>
                <a:t>Receives</a:t>
              </a:r>
              <a:r>
                <a:rPr kumimoji="0" lang="en" sz="1000" b="0" i="0" u="none" strike="noStrike" kern="0" cap="none" spc="0" normalizeH="0" baseline="0" noProof="0">
                  <a:ln>
                    <a:noFill/>
                  </a:ln>
                  <a:solidFill>
                    <a:srgbClr val="FFFFFF"/>
                  </a:solidFill>
                  <a:effectLst/>
                  <a:uLnTx/>
                  <a:uFillTx/>
                  <a:latin typeface="Roboto"/>
                  <a:ea typeface="Roboto"/>
                  <a:cs typeface="Roboto"/>
                  <a:sym typeface="Roboto"/>
                </a:rPr>
                <a:t> stable payment of coupon from SPV</a:t>
              </a:r>
              <a:endParaRPr kumimoji="0" sz="1000" b="0" i="0" u="none" strike="noStrike" kern="0" cap="none" spc="0" normalizeH="0" baseline="0" noProof="0">
                <a:ln>
                  <a:noFill/>
                </a:ln>
                <a:solidFill>
                  <a:srgbClr val="FFFFFF"/>
                </a:solidFill>
                <a:effectLst/>
                <a:uLnTx/>
                <a:uFillTx/>
                <a:latin typeface="Arial"/>
                <a:cs typeface="Arial"/>
                <a:sym typeface="Arial"/>
              </a:endParaRPr>
            </a:p>
          </p:txBody>
        </p:sp>
        <p:sp>
          <p:nvSpPr>
            <p:cNvPr id="16" name="Google Shape;238;p26">
              <a:extLst>
                <a:ext uri="{FF2B5EF4-FFF2-40B4-BE49-F238E27FC236}">
                  <a16:creationId xmlns:a16="http://schemas.microsoft.com/office/drawing/2014/main" id="{D1A98517-0668-0C13-AF6E-6B777E289284}"/>
                </a:ext>
              </a:extLst>
            </p:cNvPr>
            <p:cNvSpPr/>
            <p:nvPr/>
          </p:nvSpPr>
          <p:spPr>
            <a:xfrm>
              <a:off x="2465775" y="2422675"/>
              <a:ext cx="1332300"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dirty="0">
                  <a:ln>
                    <a:noFill/>
                  </a:ln>
                  <a:solidFill>
                    <a:srgbClr val="FFFFFF"/>
                  </a:solidFill>
                  <a:effectLst/>
                  <a:uLnTx/>
                  <a:uFillTx/>
                  <a:latin typeface="Roboto"/>
                  <a:ea typeface="Roboto"/>
                  <a:cs typeface="Roboto"/>
                  <a:sym typeface="Roboto"/>
                </a:rPr>
                <a:t>Investor</a:t>
              </a:r>
              <a:endParaRPr kumimoji="0" sz="1200" b="0" i="0" u="none" strike="noStrike" kern="0" cap="none" spc="0" normalizeH="0" baseline="0" noProof="0" dirty="0">
                <a:ln>
                  <a:noFill/>
                </a:ln>
                <a:solidFill>
                  <a:srgbClr val="FFFFFF"/>
                </a:solidFill>
                <a:effectLst/>
                <a:uLnTx/>
                <a:uFillTx/>
                <a:latin typeface="Arial"/>
                <a:cs typeface="Arial"/>
                <a:sym typeface="Arial"/>
              </a:endParaRPr>
            </a:p>
          </p:txBody>
        </p:sp>
      </p:grpSp>
      <p:grpSp>
        <p:nvGrpSpPr>
          <p:cNvPr id="4" name="Google Shape;233;p26">
            <a:extLst>
              <a:ext uri="{FF2B5EF4-FFF2-40B4-BE49-F238E27FC236}">
                <a16:creationId xmlns:a16="http://schemas.microsoft.com/office/drawing/2014/main" id="{6C344702-7599-F974-CDD6-4F6BF24B5F27}"/>
              </a:ext>
            </a:extLst>
          </p:cNvPr>
          <p:cNvGrpSpPr/>
          <p:nvPr/>
        </p:nvGrpSpPr>
        <p:grpSpPr>
          <a:xfrm>
            <a:off x="7855528" y="3154425"/>
            <a:ext cx="1073727" cy="1295717"/>
            <a:chOff x="4432886" y="647329"/>
            <a:chExt cx="873019" cy="1052915"/>
          </a:xfrm>
        </p:grpSpPr>
        <p:sp>
          <p:nvSpPr>
            <p:cNvPr id="5" name="Google Shape;234;p26">
              <a:extLst>
                <a:ext uri="{FF2B5EF4-FFF2-40B4-BE49-F238E27FC236}">
                  <a16:creationId xmlns:a16="http://schemas.microsoft.com/office/drawing/2014/main" id="{836836A5-DF28-54B3-50B4-1E9ED31E0F65}"/>
                </a:ext>
              </a:extLst>
            </p:cNvPr>
            <p:cNvSpPr/>
            <p:nvPr/>
          </p:nvSpPr>
          <p:spPr>
            <a:xfrm>
              <a:off x="4432886" y="932329"/>
              <a:ext cx="873019" cy="767915"/>
            </a:xfrm>
            <a:prstGeom prst="rect">
              <a:avLst/>
            </a:prstGeom>
            <a:solidFill>
              <a:schemeClr val="accent1"/>
            </a:solid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FFFFFF"/>
                  </a:solidFill>
                  <a:effectLst/>
                  <a:uLnTx/>
                  <a:uFillTx/>
                  <a:latin typeface="Arial"/>
                  <a:cs typeface="Arial"/>
                  <a:sym typeface="Arial"/>
                </a:rPr>
                <a:t>Does not achieve KPI </a:t>
              </a:r>
            </a:p>
          </p:txBody>
        </p:sp>
        <p:sp>
          <p:nvSpPr>
            <p:cNvPr id="6" name="Google Shape;235;p26">
              <a:extLst>
                <a:ext uri="{FF2B5EF4-FFF2-40B4-BE49-F238E27FC236}">
                  <a16:creationId xmlns:a16="http://schemas.microsoft.com/office/drawing/2014/main" id="{6BA75934-F008-47EF-CA28-825610C3C554}"/>
                </a:ext>
              </a:extLst>
            </p:cNvPr>
            <p:cNvSpPr/>
            <p:nvPr/>
          </p:nvSpPr>
          <p:spPr>
            <a:xfrm>
              <a:off x="4432886" y="647329"/>
              <a:ext cx="873017" cy="285000"/>
            </a:xfrm>
            <a:prstGeom prst="round1Rect">
              <a:avLst>
                <a:gd name="adj" fmla="val 50000"/>
              </a:avLst>
            </a:prstGeom>
            <a:solidFill>
              <a:srgbClr val="32394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 sz="1200" b="0" i="0" u="none" strike="noStrike" kern="0" cap="none" spc="0" normalizeH="0" baseline="0" noProof="0">
                  <a:ln>
                    <a:noFill/>
                  </a:ln>
                  <a:solidFill>
                    <a:srgbClr val="FFFFFF"/>
                  </a:solidFill>
                  <a:effectLst/>
                  <a:uLnTx/>
                  <a:uFillTx/>
                  <a:latin typeface="Roboto"/>
                  <a:ea typeface="Roboto"/>
                  <a:cs typeface="Roboto"/>
                  <a:sym typeface="Roboto"/>
                </a:rPr>
                <a:t>Sovereign 2</a:t>
              </a:r>
              <a:endParaRPr kumimoji="0" sz="1200" b="0" i="0" u="none" strike="noStrike" kern="0" cap="none" spc="0" normalizeH="0" baseline="0" noProof="0">
                <a:ln>
                  <a:noFill/>
                </a:ln>
                <a:solidFill>
                  <a:srgbClr val="FFFFFF"/>
                </a:solidFill>
                <a:effectLst/>
                <a:uLnTx/>
                <a:uFillTx/>
                <a:latin typeface="Arial"/>
                <a:cs typeface="Arial"/>
                <a:sym typeface="Arial"/>
              </a:endParaRPr>
            </a:p>
          </p:txBody>
        </p:sp>
      </p:grpSp>
      <p:sp>
        <p:nvSpPr>
          <p:cNvPr id="7" name="Google Shape;251;p27">
            <a:extLst>
              <a:ext uri="{FF2B5EF4-FFF2-40B4-BE49-F238E27FC236}">
                <a16:creationId xmlns:a16="http://schemas.microsoft.com/office/drawing/2014/main" id="{E56A3200-81F4-6282-23E4-9A0CA27CBC50}"/>
              </a:ext>
            </a:extLst>
          </p:cNvPr>
          <p:cNvSpPr/>
          <p:nvPr/>
        </p:nvSpPr>
        <p:spPr>
          <a:xfrm rot="9036882">
            <a:off x="6499020" y="2478653"/>
            <a:ext cx="1377375" cy="188417"/>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Roboto"/>
              <a:ea typeface="Roboto"/>
              <a:cs typeface="Roboto"/>
              <a:sym typeface="Roboto"/>
            </a:endParaRPr>
          </a:p>
        </p:txBody>
      </p:sp>
      <p:sp>
        <p:nvSpPr>
          <p:cNvPr id="23" name="Google Shape;251;p27">
            <a:extLst>
              <a:ext uri="{FF2B5EF4-FFF2-40B4-BE49-F238E27FC236}">
                <a16:creationId xmlns:a16="http://schemas.microsoft.com/office/drawing/2014/main" id="{0B6B40AB-1C67-4CED-98A6-6E1D2D9D6045}"/>
              </a:ext>
            </a:extLst>
          </p:cNvPr>
          <p:cNvSpPr/>
          <p:nvPr/>
        </p:nvSpPr>
        <p:spPr>
          <a:xfrm rot="12622189">
            <a:off x="6430128" y="3586555"/>
            <a:ext cx="1377375" cy="188417"/>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Roboto"/>
              <a:ea typeface="Roboto"/>
              <a:cs typeface="Roboto"/>
              <a:sym typeface="Roboto"/>
            </a:endParaRPr>
          </a:p>
        </p:txBody>
      </p:sp>
      <p:sp>
        <p:nvSpPr>
          <p:cNvPr id="24" name="Google Shape;250;p27">
            <a:extLst>
              <a:ext uri="{FF2B5EF4-FFF2-40B4-BE49-F238E27FC236}">
                <a16:creationId xmlns:a16="http://schemas.microsoft.com/office/drawing/2014/main" id="{77CD7E4A-3740-A876-9850-BF0671336A6F}"/>
              </a:ext>
            </a:extLst>
          </p:cNvPr>
          <p:cNvSpPr txBox="1"/>
          <p:nvPr/>
        </p:nvSpPr>
        <p:spPr>
          <a:xfrm rot="19840705">
            <a:off x="6484710" y="2201041"/>
            <a:ext cx="1173621" cy="338524"/>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000" b="0" i="0" u="none" strike="noStrike" kern="0" cap="none" spc="0" normalizeH="0" baseline="0" noProof="0" dirty="0">
                <a:ln>
                  <a:noFill/>
                </a:ln>
                <a:solidFill>
                  <a:srgbClr val="31394D"/>
                </a:solidFill>
                <a:effectLst/>
                <a:uLnTx/>
                <a:uFillTx/>
                <a:latin typeface="Roboto"/>
                <a:ea typeface="Roboto"/>
                <a:cs typeface="Roboto"/>
                <a:sym typeface="Roboto"/>
              </a:rPr>
              <a:t>Pays 5% p.a. </a:t>
            </a:r>
            <a:endParaRPr kumimoji="0" sz="1000" b="0" i="0" u="none" strike="noStrike" kern="0" cap="none" spc="0" normalizeH="0" baseline="0" noProof="0" dirty="0">
              <a:ln>
                <a:noFill/>
              </a:ln>
              <a:solidFill>
                <a:srgbClr val="31394D"/>
              </a:solidFill>
              <a:effectLst/>
              <a:uLnTx/>
              <a:uFillTx/>
              <a:latin typeface="Arial"/>
              <a:cs typeface="Arial"/>
              <a:sym typeface="Arial"/>
            </a:endParaRPr>
          </a:p>
        </p:txBody>
      </p:sp>
      <p:sp>
        <p:nvSpPr>
          <p:cNvPr id="26" name="Google Shape;250;p27">
            <a:extLst>
              <a:ext uri="{FF2B5EF4-FFF2-40B4-BE49-F238E27FC236}">
                <a16:creationId xmlns:a16="http://schemas.microsoft.com/office/drawing/2014/main" id="{B51516B3-93A2-D03C-3197-858BED84E142}"/>
              </a:ext>
            </a:extLst>
          </p:cNvPr>
          <p:cNvSpPr txBox="1"/>
          <p:nvPr/>
        </p:nvSpPr>
        <p:spPr>
          <a:xfrm rot="1762067">
            <a:off x="6600896" y="3329696"/>
            <a:ext cx="1173621" cy="338524"/>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000" b="0" i="0" u="none" strike="noStrike" kern="0" cap="none" spc="0" normalizeH="0" baseline="0" noProof="0">
                <a:ln>
                  <a:noFill/>
                </a:ln>
                <a:solidFill>
                  <a:srgbClr val="31394D"/>
                </a:solidFill>
                <a:effectLst/>
                <a:uLnTx/>
                <a:uFillTx/>
                <a:latin typeface="Roboto"/>
                <a:ea typeface="Roboto"/>
                <a:cs typeface="Roboto"/>
                <a:sym typeface="Roboto"/>
              </a:rPr>
              <a:t>Pays 7% p.a. </a:t>
            </a:r>
            <a:endParaRPr kumimoji="0" sz="1000" b="0" i="0" u="none" strike="noStrike" kern="0" cap="none" spc="0" normalizeH="0" baseline="0" noProof="0">
              <a:ln>
                <a:noFill/>
              </a:ln>
              <a:solidFill>
                <a:srgbClr val="31394D"/>
              </a:solidFill>
              <a:effectLst/>
              <a:uLnTx/>
              <a:uFillTx/>
              <a:latin typeface="Arial"/>
              <a:cs typeface="Arial"/>
              <a:sym typeface="Arial"/>
            </a:endParaRPr>
          </a:p>
        </p:txBody>
      </p:sp>
      <p:sp>
        <p:nvSpPr>
          <p:cNvPr id="29" name="Google Shape;251;p27">
            <a:extLst>
              <a:ext uri="{FF2B5EF4-FFF2-40B4-BE49-F238E27FC236}">
                <a16:creationId xmlns:a16="http://schemas.microsoft.com/office/drawing/2014/main" id="{FDED149C-8A98-9A9F-991D-2D46CC76B45D}"/>
              </a:ext>
            </a:extLst>
          </p:cNvPr>
          <p:cNvSpPr/>
          <p:nvPr/>
        </p:nvSpPr>
        <p:spPr>
          <a:xfrm rot="10800000">
            <a:off x="4285394" y="3154425"/>
            <a:ext cx="858249" cy="188417"/>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Roboto"/>
              <a:ea typeface="Roboto"/>
              <a:cs typeface="Roboto"/>
              <a:sym typeface="Roboto"/>
            </a:endParaRPr>
          </a:p>
        </p:txBody>
      </p:sp>
      <p:sp>
        <p:nvSpPr>
          <p:cNvPr id="30" name="Google Shape;250;p27">
            <a:extLst>
              <a:ext uri="{FF2B5EF4-FFF2-40B4-BE49-F238E27FC236}">
                <a16:creationId xmlns:a16="http://schemas.microsoft.com/office/drawing/2014/main" id="{1E1ED4DF-DEBD-C536-9E91-8E01C50FBEE3}"/>
              </a:ext>
            </a:extLst>
          </p:cNvPr>
          <p:cNvSpPr txBox="1"/>
          <p:nvPr/>
        </p:nvSpPr>
        <p:spPr>
          <a:xfrm rot="3823">
            <a:off x="4271085" y="2876706"/>
            <a:ext cx="975817" cy="338524"/>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1000" b="0" i="0" u="none" strike="noStrike" kern="0" cap="none" spc="0" normalizeH="0" baseline="0" noProof="0">
                <a:ln>
                  <a:noFill/>
                </a:ln>
                <a:solidFill>
                  <a:srgbClr val="31394D"/>
                </a:solidFill>
                <a:effectLst/>
                <a:uLnTx/>
                <a:uFillTx/>
                <a:latin typeface="Roboto"/>
                <a:ea typeface="Roboto"/>
                <a:cs typeface="Roboto"/>
                <a:sym typeface="Roboto"/>
              </a:rPr>
              <a:t>Pays 4% p.a. </a:t>
            </a:r>
            <a:endParaRPr kumimoji="0" sz="1000" b="0" i="0" u="none" strike="noStrike" kern="0" cap="none" spc="0" normalizeH="0" baseline="0" noProof="0">
              <a:ln>
                <a:noFill/>
              </a:ln>
              <a:solidFill>
                <a:srgbClr val="31394D"/>
              </a:solidFill>
              <a:effectLst/>
              <a:uLnTx/>
              <a:uFillTx/>
              <a:latin typeface="Arial"/>
              <a:cs typeface="Arial"/>
              <a:sym typeface="Arial"/>
            </a:endParaRPr>
          </a:p>
        </p:txBody>
      </p:sp>
    </p:spTree>
    <p:extLst>
      <p:ext uri="{BB962C8B-B14F-4D97-AF65-F5344CB8AC3E}">
        <p14:creationId xmlns:p14="http://schemas.microsoft.com/office/powerpoint/2010/main" val="2382616249"/>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Shape 396">
          <a:extLst>
            <a:ext uri="{FF2B5EF4-FFF2-40B4-BE49-F238E27FC236}">
              <a16:creationId xmlns:a16="http://schemas.microsoft.com/office/drawing/2014/main" id="{5B148762-D60F-F55D-AE0C-9BA6798C37D1}"/>
            </a:ext>
          </a:extLst>
        </p:cNvPr>
        <p:cNvGrpSpPr/>
        <p:nvPr/>
      </p:nvGrpSpPr>
      <p:grpSpPr>
        <a:xfrm>
          <a:off x="0" y="0"/>
          <a:ext cx="0" cy="0"/>
          <a:chOff x="0" y="0"/>
          <a:chExt cx="0" cy="0"/>
        </a:xfrm>
      </p:grpSpPr>
      <p:sp>
        <p:nvSpPr>
          <p:cNvPr id="397" name="Google Shape;397;p40">
            <a:extLst>
              <a:ext uri="{FF2B5EF4-FFF2-40B4-BE49-F238E27FC236}">
                <a16:creationId xmlns:a16="http://schemas.microsoft.com/office/drawing/2014/main" id="{2E821846-5C55-F390-47DF-8D9A85184386}"/>
              </a:ext>
            </a:extLst>
          </p:cNvPr>
          <p:cNvSpPr txBox="1">
            <a:spLocks noGrp="1"/>
          </p:cNvSpPr>
          <p:nvPr>
            <p:ph type="title"/>
          </p:nvPr>
        </p:nvSpPr>
        <p:spPr>
          <a:prstGeom prst="rect">
            <a:avLst/>
          </a:prstGeom>
        </p:spPr>
        <p:txBody>
          <a:bodyPr spcFirstLastPara="1" wrap="square" lIns="91425" tIns="91425" rIns="91425" bIns="91425" anchor="t" anchorCtr="0">
            <a:normAutofit/>
          </a:bodyPr>
          <a:lstStyle/>
          <a:p>
            <a:r>
              <a:rPr lang="en-US" sz="2500"/>
              <a:t>Further Work / Proposals</a:t>
            </a:r>
          </a:p>
        </p:txBody>
      </p:sp>
      <p:sp>
        <p:nvSpPr>
          <p:cNvPr id="2" name="Slide Number Placeholder 1">
            <a:extLst>
              <a:ext uri="{FF2B5EF4-FFF2-40B4-BE49-F238E27FC236}">
                <a16:creationId xmlns:a16="http://schemas.microsoft.com/office/drawing/2014/main" id="{AF1A7C8E-E8C2-9E3C-DD85-6755283840F0}"/>
              </a:ext>
            </a:extLst>
          </p:cNvPr>
          <p:cNvSpPr>
            <a:spLocks noGrp="1"/>
          </p:cNvSpPr>
          <p:nvPr>
            <p:ph type="sldNum" idx="12"/>
          </p:nvPr>
        </p:nvSpPr>
        <p:spPr/>
        <p:txBody>
          <a:bodyPr/>
          <a:lstStyle/>
          <a:p>
            <a:fld id="{00000000-1234-1234-1234-123412341234}" type="slidenum">
              <a:rPr lang="en"/>
              <a:t>34</a:t>
            </a:fld>
            <a:endParaRPr lang="en-US"/>
          </a:p>
        </p:txBody>
      </p:sp>
      <p:graphicFrame>
        <p:nvGraphicFramePr>
          <p:cNvPr id="7" name="Table 7">
            <a:extLst>
              <a:ext uri="{FF2B5EF4-FFF2-40B4-BE49-F238E27FC236}">
                <a16:creationId xmlns:a16="http://schemas.microsoft.com/office/drawing/2014/main" id="{37EC8159-55F3-27C5-5844-9EB9B380591D}"/>
              </a:ext>
            </a:extLst>
          </p:cNvPr>
          <p:cNvGraphicFramePr>
            <a:graphicFrameLocks noGrp="1"/>
          </p:cNvGraphicFramePr>
          <p:nvPr/>
        </p:nvGraphicFramePr>
        <p:xfrm>
          <a:off x="475956" y="1423513"/>
          <a:ext cx="8049066" cy="3436504"/>
        </p:xfrm>
        <a:graphic>
          <a:graphicData uri="http://schemas.openxmlformats.org/drawingml/2006/table">
            <a:tbl>
              <a:tblPr firstRow="1" bandRow="1">
                <a:tableStyleId>{5C22544A-7EE6-4342-B048-85BDC9FD1C3A}</a:tableStyleId>
              </a:tblPr>
              <a:tblGrid>
                <a:gridCol w="2683022">
                  <a:extLst>
                    <a:ext uri="{9D8B030D-6E8A-4147-A177-3AD203B41FA5}">
                      <a16:colId xmlns:a16="http://schemas.microsoft.com/office/drawing/2014/main" val="1278786295"/>
                    </a:ext>
                  </a:extLst>
                </a:gridCol>
                <a:gridCol w="3741225">
                  <a:extLst>
                    <a:ext uri="{9D8B030D-6E8A-4147-A177-3AD203B41FA5}">
                      <a16:colId xmlns:a16="http://schemas.microsoft.com/office/drawing/2014/main" val="26124143"/>
                    </a:ext>
                  </a:extLst>
                </a:gridCol>
                <a:gridCol w="1624819">
                  <a:extLst>
                    <a:ext uri="{9D8B030D-6E8A-4147-A177-3AD203B41FA5}">
                      <a16:colId xmlns:a16="http://schemas.microsoft.com/office/drawing/2014/main" val="1018346668"/>
                    </a:ext>
                  </a:extLst>
                </a:gridCol>
              </a:tblGrid>
              <a:tr h="388504">
                <a:tc>
                  <a:txBody>
                    <a:bodyPr/>
                    <a:lstStyle/>
                    <a:p>
                      <a:r>
                        <a:rPr lang="en-US"/>
                        <a:t>Issue</a:t>
                      </a:r>
                    </a:p>
                  </a:txBody>
                  <a:tcPr/>
                </a:tc>
                <a:tc>
                  <a:txBody>
                    <a:bodyPr/>
                    <a:lstStyle/>
                    <a:p>
                      <a:r>
                        <a:rPr lang="en-US"/>
                        <a:t>Solution</a:t>
                      </a:r>
                    </a:p>
                  </a:txBody>
                  <a:tcPr/>
                </a:tc>
                <a:tc>
                  <a:txBody>
                    <a:bodyPr/>
                    <a:lstStyle/>
                    <a:p>
                      <a:r>
                        <a:rPr lang="en-US"/>
                        <a:t>Proposal</a:t>
                      </a:r>
                    </a:p>
                  </a:txBody>
                  <a:tcPr/>
                </a:tc>
                <a:extLst>
                  <a:ext uri="{0D108BD9-81ED-4DB2-BD59-A6C34878D82A}">
                    <a16:rowId xmlns:a16="http://schemas.microsoft.com/office/drawing/2014/main" val="2800248201"/>
                  </a:ext>
                </a:extLst>
              </a:tr>
              <a:tr h="115190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 sz="1400" dirty="0">
                          <a:solidFill>
                            <a:schemeClr val="tx1"/>
                          </a:solidFill>
                        </a:rPr>
                        <a:t>KPI approaches need to reflect the </a:t>
                      </a:r>
                      <a:r>
                        <a:rPr lang="en" sz="1400" b="1" dirty="0">
                          <a:solidFill>
                            <a:schemeClr val="tx1"/>
                          </a:solidFill>
                        </a:rPr>
                        <a:t>stocks </a:t>
                      </a:r>
                      <a:r>
                        <a:rPr lang="en" sz="1400" dirty="0">
                          <a:solidFill>
                            <a:schemeClr val="tx1"/>
                          </a:solidFill>
                        </a:rPr>
                        <a:t>of carbon, not just flow. Carbon markets can give </a:t>
                      </a:r>
                      <a:r>
                        <a:rPr lang="en" sz="1400" b="1" dirty="0">
                          <a:solidFill>
                            <a:schemeClr val="tx1"/>
                          </a:solidFill>
                        </a:rPr>
                        <a:t>perverse incentives </a:t>
                      </a:r>
                      <a:r>
                        <a:rPr lang="en" sz="1400" dirty="0">
                          <a:solidFill>
                            <a:schemeClr val="tx1"/>
                          </a:solidFill>
                        </a:rPr>
                        <a:t>because of lack of permanence.</a:t>
                      </a:r>
                      <a:endParaRPr lang="en-US" dirty="0"/>
                    </a:p>
                  </a:txBody>
                  <a:tcPr/>
                </a:tc>
                <a:tc>
                  <a:txBody>
                    <a:bodyPr/>
                    <a:lstStyle/>
                    <a:p>
                      <a:pPr marL="0" marR="0" lvl="0" indent="0" algn="l" rtl="0" eaLnBrk="1" fontAlgn="auto" latinLnBrk="0" hangingPunct="1">
                        <a:lnSpc>
                          <a:spcPct val="100000"/>
                        </a:lnSpc>
                        <a:spcBef>
                          <a:spcPts val="0"/>
                        </a:spcBef>
                        <a:spcAft>
                          <a:spcPts val="0"/>
                        </a:spcAft>
                        <a:buClr>
                          <a:srgbClr val="000000"/>
                        </a:buClr>
                        <a:buSzTx/>
                        <a:buFont typeface="Arial"/>
                        <a:buNone/>
                      </a:pPr>
                      <a:r>
                        <a:rPr lang="en" sz="1400">
                          <a:solidFill>
                            <a:schemeClr val="tx1"/>
                          </a:solidFill>
                        </a:rPr>
                        <a:t>Define a permanent ‘</a:t>
                      </a:r>
                      <a:r>
                        <a:rPr lang="en" sz="1400" b="1">
                          <a:solidFill>
                            <a:schemeClr val="tx1"/>
                          </a:solidFill>
                        </a:rPr>
                        <a:t>Notional Capitalized Value</a:t>
                      </a:r>
                      <a:r>
                        <a:rPr lang="en" sz="1400">
                          <a:solidFill>
                            <a:schemeClr val="tx1"/>
                          </a:solidFill>
                        </a:rPr>
                        <a:t>’ (NCV) of the stock of forest in each country and pay an ‘interest rate’ (e.g. to begin 0.1% pa) on those values globally according to available funds.</a:t>
                      </a:r>
                    </a:p>
                  </a:txBody>
                  <a:tcPr/>
                </a:tc>
                <a:tc>
                  <a:txBody>
                    <a:bodyPr/>
                    <a:lstStyle/>
                    <a:p>
                      <a:pPr marL="0" marR="0" lvl="0" indent="0" algn="l" rtl="0" eaLnBrk="1" fontAlgn="auto" latinLnBrk="0" hangingPunct="1">
                        <a:lnSpc>
                          <a:spcPct val="100000"/>
                        </a:lnSpc>
                        <a:spcBef>
                          <a:spcPts val="0"/>
                        </a:spcBef>
                        <a:spcAft>
                          <a:spcPts val="0"/>
                        </a:spcAft>
                        <a:buClr>
                          <a:srgbClr val="000000"/>
                        </a:buClr>
                        <a:buSzTx/>
                        <a:buFont typeface="Arial"/>
                        <a:buNone/>
                      </a:pPr>
                      <a:r>
                        <a:rPr lang="en" sz="1400" b="1">
                          <a:solidFill>
                            <a:schemeClr val="tx1"/>
                          </a:solidFill>
                        </a:rPr>
                        <a:t>Notional Capitalized Value KPIs</a:t>
                      </a:r>
                    </a:p>
                  </a:txBody>
                  <a:tcPr/>
                </a:tc>
                <a:extLst>
                  <a:ext uri="{0D108BD9-81ED-4DB2-BD59-A6C34878D82A}">
                    <a16:rowId xmlns:a16="http://schemas.microsoft.com/office/drawing/2014/main" val="1521048234"/>
                  </a:ext>
                </a:extLst>
              </a:tr>
              <a:tr h="416757">
                <a:tc>
                  <a:txBody>
                    <a:bodyPr/>
                    <a:lstStyle/>
                    <a:p>
                      <a:pPr marL="0" marR="0" lvl="0" indent="0" algn="l" rtl="0" eaLnBrk="1" fontAlgn="auto" latinLnBrk="0" hangingPunct="1">
                        <a:lnSpc>
                          <a:spcPct val="100000"/>
                        </a:lnSpc>
                        <a:spcBef>
                          <a:spcPts val="0"/>
                        </a:spcBef>
                        <a:spcAft>
                          <a:spcPts val="0"/>
                        </a:spcAft>
                        <a:buClr>
                          <a:srgbClr val="000000"/>
                        </a:buClr>
                        <a:buSzTx/>
                        <a:buFont typeface="Arial"/>
                        <a:buNone/>
                      </a:pPr>
                      <a:r>
                        <a:rPr lang="en" sz="1400" b="1" dirty="0">
                          <a:solidFill>
                            <a:schemeClr val="tx1"/>
                          </a:solidFill>
                        </a:rPr>
                        <a:t>KPI bonds Trusted-Intermediary lending </a:t>
                      </a:r>
                      <a:r>
                        <a:rPr lang="en" sz="1400" dirty="0">
                          <a:solidFill>
                            <a:schemeClr val="tx1"/>
                          </a:solidFill>
                        </a:rPr>
                        <a:t>option needs an </a:t>
                      </a:r>
                      <a:r>
                        <a:rPr lang="en" sz="1400" b="1" dirty="0">
                          <a:solidFill>
                            <a:schemeClr val="tx1"/>
                          </a:solidFill>
                        </a:rPr>
                        <a:t>additional capital buffer </a:t>
                      </a:r>
                      <a:r>
                        <a:rPr lang="en" sz="1400" b="0" dirty="0">
                          <a:solidFill>
                            <a:schemeClr val="tx1"/>
                          </a:solidFill>
                        </a:rPr>
                        <a:t>and/or </a:t>
                      </a:r>
                      <a:r>
                        <a:rPr lang="en" sz="1400" b="1" dirty="0">
                          <a:solidFill>
                            <a:schemeClr val="tx1"/>
                          </a:solidFill>
                        </a:rPr>
                        <a:t>guarantees.</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 sz="1400" b="1">
                          <a:solidFill>
                            <a:schemeClr val="tx1"/>
                          </a:solidFill>
                        </a:rPr>
                        <a:t>Climate Incentive Trust (CIT)</a:t>
                      </a:r>
                      <a:r>
                        <a:rPr lang="en" sz="1400">
                          <a:solidFill>
                            <a:schemeClr val="tx1"/>
                          </a:solidFill>
                        </a:rPr>
                        <a:t> collateral funds at national level.</a:t>
                      </a:r>
                    </a:p>
                  </a:txBody>
                  <a:tcPr/>
                </a:tc>
                <a:tc rowSpan="2">
                  <a:txBody>
                    <a:bodyPr/>
                    <a:lstStyle/>
                    <a:p>
                      <a:r>
                        <a:rPr lang="en" sz="1400" b="1">
                          <a:solidFill>
                            <a:schemeClr val="tx1"/>
                          </a:solidFill>
                        </a:rPr>
                        <a:t>Climate Incentive Trust </a:t>
                      </a:r>
                      <a:r>
                        <a:rPr lang="en" sz="1400">
                          <a:solidFill>
                            <a:schemeClr val="tx1"/>
                          </a:solidFill>
                        </a:rPr>
                        <a:t> </a:t>
                      </a:r>
                      <a:endParaRPr lang="en-US"/>
                    </a:p>
                  </a:txBody>
                  <a:tcPr/>
                </a:tc>
                <a:extLst>
                  <a:ext uri="{0D108BD9-81ED-4DB2-BD59-A6C34878D82A}">
                    <a16:rowId xmlns:a16="http://schemas.microsoft.com/office/drawing/2014/main" val="2346238512"/>
                  </a:ext>
                </a:extLst>
              </a:tr>
              <a:tr h="416757">
                <a:tc>
                  <a:txBody>
                    <a:bodyPr/>
                    <a:lstStyle/>
                    <a:p>
                      <a:pPr marL="0" marR="0" lvl="0" indent="0" algn="l" rtl="0" eaLnBrk="1" fontAlgn="auto" latinLnBrk="0" hangingPunct="1">
                        <a:lnSpc>
                          <a:spcPct val="100000"/>
                        </a:lnSpc>
                        <a:spcBef>
                          <a:spcPts val="0"/>
                        </a:spcBef>
                        <a:spcAft>
                          <a:spcPts val="0"/>
                        </a:spcAft>
                        <a:buClr>
                          <a:srgbClr val="000000"/>
                        </a:buClr>
                        <a:buSzTx/>
                        <a:buFont typeface="Arial"/>
                        <a:buNone/>
                      </a:pPr>
                      <a:r>
                        <a:rPr lang="en" sz="1400">
                          <a:solidFill>
                            <a:schemeClr val="tx1"/>
                          </a:solidFill>
                        </a:rPr>
                        <a:t>Forest protection (including NCV) and maintenance of CIT needs source of </a:t>
                      </a:r>
                      <a:r>
                        <a:rPr lang="en" sz="1400" b="1">
                          <a:solidFill>
                            <a:schemeClr val="tx1"/>
                          </a:solidFill>
                        </a:rPr>
                        <a:t>funding </a:t>
                      </a:r>
                      <a:r>
                        <a:rPr lang="en" sz="1400">
                          <a:solidFill>
                            <a:schemeClr val="tx1"/>
                          </a:solidFill>
                        </a:rPr>
                        <a:t>or financial </a:t>
                      </a:r>
                      <a:r>
                        <a:rPr lang="en" sz="1400" b="1">
                          <a:solidFill>
                            <a:schemeClr val="tx1"/>
                          </a:solidFill>
                        </a:rPr>
                        <a:t>returns.</a:t>
                      </a:r>
                    </a:p>
                  </a:txBody>
                  <a:tcPr/>
                </a:tc>
                <a:tc>
                  <a:txBody>
                    <a:bodyPr/>
                    <a:lstStyle/>
                    <a:p>
                      <a:pPr marL="0" marR="0" lvl="0" indent="0" algn="l" rtl="0" eaLnBrk="1" fontAlgn="auto" latinLnBrk="0" hangingPunct="1">
                        <a:lnSpc>
                          <a:spcPct val="100000"/>
                        </a:lnSpc>
                        <a:spcBef>
                          <a:spcPts val="0"/>
                        </a:spcBef>
                        <a:spcAft>
                          <a:spcPts val="0"/>
                        </a:spcAft>
                        <a:buClr>
                          <a:srgbClr val="000000"/>
                        </a:buClr>
                        <a:buSzTx/>
                        <a:buFont typeface="Arial"/>
                        <a:buNone/>
                      </a:pPr>
                      <a:r>
                        <a:rPr lang="en" sz="1400" b="1" dirty="0">
                          <a:solidFill>
                            <a:schemeClr val="tx1"/>
                          </a:solidFill>
                        </a:rPr>
                        <a:t>Invest </a:t>
                      </a:r>
                      <a:r>
                        <a:rPr lang="en" sz="1400" dirty="0">
                          <a:solidFill>
                            <a:schemeClr val="tx1"/>
                          </a:solidFill>
                        </a:rPr>
                        <a:t>the CIT funds in the construction stage of Renewable Energy projects that are </a:t>
                      </a:r>
                      <a:r>
                        <a:rPr lang="en" sz="1400" b="1" dirty="0">
                          <a:solidFill>
                            <a:schemeClr val="tx1"/>
                          </a:solidFill>
                        </a:rPr>
                        <a:t>refinanced </a:t>
                      </a:r>
                      <a:r>
                        <a:rPr lang="en" sz="1400" dirty="0">
                          <a:solidFill>
                            <a:schemeClr val="tx1"/>
                          </a:solidFill>
                        </a:rPr>
                        <a:t>at low financing cost when complete.</a:t>
                      </a:r>
                      <a:endParaRPr lang="en" sz="1400" b="1" dirty="0">
                        <a:solidFill>
                          <a:schemeClr val="tx1"/>
                        </a:solidFill>
                      </a:endParaRPr>
                    </a:p>
                  </a:txBody>
                  <a:tcPr/>
                </a:tc>
                <a:tc vMerge="1">
                  <a:txBody>
                    <a:bodyPr/>
                    <a:lstStyle/>
                    <a:p>
                      <a:endParaRPr lang="en-US"/>
                    </a:p>
                  </a:txBody>
                  <a:tcPr/>
                </a:tc>
                <a:extLst>
                  <a:ext uri="{0D108BD9-81ED-4DB2-BD59-A6C34878D82A}">
                    <a16:rowId xmlns:a16="http://schemas.microsoft.com/office/drawing/2014/main" val="958560927"/>
                  </a:ext>
                </a:extLst>
              </a:tr>
            </a:tbl>
          </a:graphicData>
        </a:graphic>
      </p:graphicFrame>
    </p:spTree>
    <p:extLst>
      <p:ext uri="{BB962C8B-B14F-4D97-AF65-F5344CB8AC3E}">
        <p14:creationId xmlns:p14="http://schemas.microsoft.com/office/powerpoint/2010/main" val="1750513697"/>
      </p:ext>
    </p:extLst>
  </p:cSld>
  <p:clrMapOvr>
    <a:masterClrMapping/>
  </p:clrMapOvr>
</p:sld>
</file>

<file path=ppt/theme/theme1.xml><?xml version="1.0" encoding="utf-8"?>
<a:theme xmlns:a="http://schemas.openxmlformats.org/drawingml/2006/main" name="1_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AB9018FA3249548A5BDA34FD45E4298" ma:contentTypeVersion="20" ma:contentTypeDescription="Create a new document." ma:contentTypeScope="" ma:versionID="7be92835e16f41697ccac75a263c081e">
  <xsd:schema xmlns:xsd="http://www.w3.org/2001/XMLSchema" xmlns:xs="http://www.w3.org/2001/XMLSchema" xmlns:p="http://schemas.microsoft.com/office/2006/metadata/properties" xmlns:ns1="http://schemas.microsoft.com/sharepoint/v3" xmlns:ns3="a2575f19-ccfc-4947-a811-9b717af3c709" xmlns:ns4="404e9e9c-15d8-4aca-92ae-5f86d37582cd" targetNamespace="http://schemas.microsoft.com/office/2006/metadata/properties" ma:root="true" ma:fieldsID="7ad49b465ab6f4fc995392a8b7010ed0" ns1:_="" ns3:_="" ns4:_="">
    <xsd:import namespace="http://schemas.microsoft.com/sharepoint/v3"/>
    <xsd:import namespace="a2575f19-ccfc-4947-a811-9b717af3c709"/>
    <xsd:import namespace="404e9e9c-15d8-4aca-92ae-5f86d37582cd"/>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GenerationTime" minOccurs="0"/>
                <xsd:element ref="ns3:MediaServiceEventHashCode" minOccurs="0"/>
                <xsd:element ref="ns3:MediaServiceOCR" minOccurs="0"/>
                <xsd:element ref="ns3:MediaServiceDateTaken" minOccurs="0"/>
                <xsd:element ref="ns3:MediaServiceLocation" minOccurs="0"/>
                <xsd:element ref="ns4:SharedWithUsers" minOccurs="0"/>
                <xsd:element ref="ns4:SharedWithDetails" minOccurs="0"/>
                <xsd:element ref="ns4:SharingHintHash" minOccurs="0"/>
                <xsd:element ref="ns3:MediaLengthInSeconds" minOccurs="0"/>
                <xsd:element ref="ns3:_activity" minOccurs="0"/>
                <xsd:element ref="ns3:MediaServiceObjectDetectorVersions" minOccurs="0"/>
                <xsd:element ref="ns3:MediaServiceSystemTags" minOccurs="0"/>
                <xsd:element ref="ns3:MediaServiceSearchPropertie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575f19-ccfc-4947-a811-9b717af3c7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04e9e9c-15d8-4aca-92ae-5f86d37582cd"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_activity xmlns="a2575f19-ccfc-4947-a811-9b717af3c709" xsi:nil="true"/>
  </documentManagement>
</p:properties>
</file>

<file path=customXml/itemProps1.xml><?xml version="1.0" encoding="utf-8"?>
<ds:datastoreItem xmlns:ds="http://schemas.openxmlformats.org/officeDocument/2006/customXml" ds:itemID="{95F9D67E-8A72-4093-BAEB-50D662CD2AC4}">
  <ds:schemaRefs>
    <ds:schemaRef ds:uri="http://schemas.microsoft.com/sharepoint/v3/contenttype/forms"/>
  </ds:schemaRefs>
</ds:datastoreItem>
</file>

<file path=customXml/itemProps2.xml><?xml version="1.0" encoding="utf-8"?>
<ds:datastoreItem xmlns:ds="http://schemas.openxmlformats.org/officeDocument/2006/customXml" ds:itemID="{8A035E8A-9DE3-4785-AF76-F1078CBCC5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a2575f19-ccfc-4947-a811-9b717af3c709"/>
    <ds:schemaRef ds:uri="404e9e9c-15d8-4aca-92ae-5f86d37582c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C7D7837-F8D7-4813-A753-AD88A8236BF1}">
  <ds:schemaRefs>
    <ds:schemaRef ds:uri="http://purl.org/dc/dcmitype/"/>
    <ds:schemaRef ds:uri="http://www.w3.org/XML/1998/namespace"/>
    <ds:schemaRef ds:uri="http://purl.org/dc/elements/1.1/"/>
    <ds:schemaRef ds:uri="a2575f19-ccfc-4947-a811-9b717af3c709"/>
    <ds:schemaRef ds:uri="404e9e9c-15d8-4aca-92ae-5f86d37582cd"/>
    <ds:schemaRef ds:uri="http://schemas.microsoft.com/office/2006/metadata/properties"/>
    <ds:schemaRef ds:uri="http://schemas.openxmlformats.org/package/2006/metadata/core-properties"/>
    <ds:schemaRef ds:uri="http://schemas.microsoft.com/office/2006/documentManagement/types"/>
    <ds:schemaRef ds:uri="http://schemas.microsoft.com/sharepoint/v3"/>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emplate>TM03090434[[fn=Wood Type]]</Template>
  <TotalTime>1383</TotalTime>
  <Words>2964</Words>
  <Application>Microsoft Office PowerPoint</Application>
  <PresentationFormat>On-screen Show (16:9)</PresentationFormat>
  <Paragraphs>249</Paragraphs>
  <Slides>34</Slides>
  <Notes>24</Notes>
  <HiddenSlides>5</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Merriweather</vt:lpstr>
      <vt:lpstr>Roboto Medium</vt:lpstr>
      <vt:lpstr>Courier New</vt:lpstr>
      <vt:lpstr>Arial</vt:lpstr>
      <vt:lpstr>Roboto</vt:lpstr>
      <vt:lpstr>1_Paradigm</vt:lpstr>
      <vt:lpstr>PowerPoint Presentation</vt:lpstr>
      <vt:lpstr>PowerPoint Presentation</vt:lpstr>
      <vt:lpstr> Mobilising Private Finance for the Climate Agenda:   Introducing Sustainability-Linked Intermediated Debt Instruments (SLIDIs)</vt:lpstr>
      <vt:lpstr>PowerPoint Presentation</vt:lpstr>
      <vt:lpstr>PowerPoint Presentation</vt:lpstr>
      <vt:lpstr> </vt:lpstr>
      <vt:lpstr>Global net zero by 2050 requires annual investment of US$3.4 trillion to $8.1 trillion globally  (Yilmaz et al. 2022)</vt:lpstr>
      <vt:lpstr>Developing countries have difficulty accessing financing for renewable energy infrastructure, and their cost of capital is often high</vt:lpstr>
      <vt:lpstr>Current incentives structures and mechanisms are limited either in scope or in scale</vt:lpstr>
      <vt:lpstr>Expanding the World Bank’s Role in Addressing Climate Change</vt:lpstr>
      <vt:lpstr>PowerPoint Presentation</vt:lpstr>
      <vt:lpstr>PowerPoint Presentation</vt:lpstr>
      <vt:lpstr>PowerPoint Presentation</vt:lpstr>
      <vt:lpstr>PowerPoint Presentation</vt:lpstr>
      <vt:lpstr>Existing SLBs’ Limitations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Further Work / Proposals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KPI Bonds</dc:title>
  <dc:creator>Nils Burkhard Patrik Zimmermann</dc:creator>
  <cp:lastModifiedBy>Stephen John Stretton</cp:lastModifiedBy>
  <cp:revision>67</cp:revision>
  <dcterms:modified xsi:type="dcterms:W3CDTF">2024-10-29T23:20:17Z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0x0101006AB9018FA3249548A5BDA34FD45E4298</vt:lpwstr>
  </property>
</Properties>
</file>