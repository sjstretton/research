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95" r:id="rId4"/>
    <p:sldId id="302" r:id="rId5"/>
    <p:sldId id="263" r:id="rId6"/>
    <p:sldId id="264" r:id="rId7"/>
    <p:sldId id="278" r:id="rId8"/>
    <p:sldId id="267" r:id="rId9"/>
    <p:sldId id="268" r:id="rId10"/>
    <p:sldId id="333" r:id="rId11"/>
    <p:sldId id="314" r:id="rId12"/>
    <p:sldId id="306" r:id="rId13"/>
    <p:sldId id="325" r:id="rId14"/>
    <p:sldId id="326" r:id="rId15"/>
    <p:sldId id="317" r:id="rId16"/>
    <p:sldId id="329" r:id="rId17"/>
    <p:sldId id="281" r:id="rId18"/>
    <p:sldId id="328" r:id="rId19"/>
    <p:sldId id="323" r:id="rId20"/>
    <p:sldId id="315" r:id="rId21"/>
    <p:sldId id="331" r:id="rId22"/>
    <p:sldId id="324" r:id="rId23"/>
    <p:sldId id="316" r:id="rId24"/>
    <p:sldId id="332" r:id="rId25"/>
    <p:sldId id="275" r:id="rId26"/>
    <p:sldId id="276" r:id="rId27"/>
    <p:sldId id="297" r:id="rId28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  <p:embeddedFont>
      <p:font typeface="Roboto Thin" panose="020000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05F30B-DBA9-B108-89CA-A7CC2A3B6867}" name="Stephen John Stretton" initials="SS" userId="S::sstretton@worldbank.org::da8c780b-1aa2-4e36-94fb-871dc8111504" providerId="AD"/>
  <p188:author id="{F1613D9F-A197-850F-AE93-A634A7B4F7E2}" name="Nils Burkhard Patrik Zimmermann" initials="NBPZ" userId="S::nzimmermann@worldbank.org::ff02bda6-aa1d-49f9-bc1c-920e1083daef" providerId="AD"/>
  <p188:author id="{E0C990E1-2261-E0F6-54FB-973D4E73BA73}" name="Marcello Estevao" initials="ME" userId="S::mestevao@worldbank.org::3eb6c5ce-2aa9-4828-8ac9-dd7e4220b49e" providerId="AD"/>
  <p188:author id="{C7E0E7ED-2EB3-C63C-569F-637E32197C19}" name="Evie Davey" initials="ED" userId="08f35b59f79c2c7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4A"/>
    <a:srgbClr val="B85741"/>
    <a:srgbClr val="A72A1E"/>
    <a:srgbClr val="A7CC27"/>
    <a:srgbClr val="31394E"/>
    <a:srgbClr val="DAC4B1"/>
    <a:srgbClr val="78AFD7"/>
    <a:srgbClr val="236EA2"/>
    <a:srgbClr val="9BC8E9"/>
    <a:srgbClr val="0093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592FF-2F30-4B1F-B8B1-A8D5EB315A0D}" v="2" dt="2024-03-08T13:06:44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7" autoAdjust="0"/>
    <p:restoredTop sz="94615"/>
  </p:normalViewPr>
  <p:slideViewPr>
    <p:cSldViewPr snapToGrid="0">
      <p:cViewPr varScale="1">
        <p:scale>
          <a:sx n="78" d="100"/>
          <a:sy n="78" d="100"/>
        </p:scale>
        <p:origin x="920" y="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Stretton" userId="d46b5d2afcd4ceb0" providerId="LiveId" clId="{71298080-C765-408C-A98E-B2200188C560}"/>
    <pc:docChg chg="custSel addSld modSld">
      <pc:chgData name="Stephen Stretton" userId="d46b5d2afcd4ceb0" providerId="LiveId" clId="{71298080-C765-408C-A98E-B2200188C560}" dt="2024-03-03T18:39:16.275" v="13"/>
      <pc:docMkLst>
        <pc:docMk/>
      </pc:docMkLst>
      <pc:sldChg chg="delCm">
        <pc:chgData name="Stephen Stretton" userId="d46b5d2afcd4ceb0" providerId="LiveId" clId="{71298080-C765-408C-A98E-B2200188C560}" dt="2024-03-03T18:39:08.562" v="12"/>
        <pc:sldMkLst>
          <pc:docMk/>
          <pc:sldMk cId="0" sldId="26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tephen Stretton" userId="d46b5d2afcd4ceb0" providerId="LiveId" clId="{71298080-C765-408C-A98E-B2200188C560}" dt="2024-03-03T18:39:08.562" v="12"/>
              <pc2:cmMkLst xmlns:pc2="http://schemas.microsoft.com/office/powerpoint/2019/9/main/command">
                <pc:docMk/>
                <pc:sldMk cId="0" sldId="269"/>
                <pc2:cmMk id="{C0B0FF76-8F01-4A06-A186-5ECF47FBCA2F}"/>
              </pc2:cmMkLst>
            </pc226:cmChg>
          </p:ext>
        </pc:extLst>
      </pc:sldChg>
      <pc:sldChg chg="delCm">
        <pc:chgData name="Stephen Stretton" userId="d46b5d2afcd4ceb0" providerId="LiveId" clId="{71298080-C765-408C-A98E-B2200188C560}" dt="2024-03-03T18:39:16.275" v="13"/>
        <pc:sldMkLst>
          <pc:docMk/>
          <pc:sldMk cId="0" sldId="2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tephen Stretton" userId="d46b5d2afcd4ceb0" providerId="LiveId" clId="{71298080-C765-408C-A98E-B2200188C560}" dt="2024-03-03T18:39:16.275" v="13"/>
              <pc2:cmMkLst xmlns:pc2="http://schemas.microsoft.com/office/powerpoint/2019/9/main/command">
                <pc:docMk/>
                <pc:sldMk cId="0" sldId="276"/>
                <pc2:cmMk id="{F6EEEEA1-6379-4758-B1B1-F28DC4BD8849}"/>
              </pc2:cmMkLst>
            </pc226:cmChg>
          </p:ext>
        </pc:extLst>
      </pc:sldChg>
      <pc:sldChg chg="modSp add mod setBg">
        <pc:chgData name="Stephen Stretton" userId="d46b5d2afcd4ceb0" providerId="LiveId" clId="{71298080-C765-408C-A98E-B2200188C560}" dt="2024-03-03T17:05:33.771" v="11" actId="20577"/>
        <pc:sldMkLst>
          <pc:docMk/>
          <pc:sldMk cId="3030038871" sldId="309"/>
        </pc:sldMkLst>
        <pc:spChg chg="mod">
          <ac:chgData name="Stephen Stretton" userId="d46b5d2afcd4ceb0" providerId="LiveId" clId="{71298080-C765-408C-A98E-B2200188C560}" dt="2024-03-03T17:05:33.771" v="11" actId="20577"/>
          <ac:spMkLst>
            <pc:docMk/>
            <pc:sldMk cId="3030038871" sldId="309"/>
            <ac:spMk id="3" creationId="{854353BE-7500-0474-9A7E-4CEA68232877}"/>
          </ac:spMkLst>
        </pc:spChg>
      </pc:sldChg>
    </pc:docChg>
  </pc:docChgLst>
  <pc:docChgLst>
    <pc:chgData name="Marcello Estevao" userId="3eb6c5ce-2aa9-4828-8ac9-dd7e4220b49e" providerId="ADAL" clId="{EE5592FF-2F30-4B1F-B8B1-A8D5EB315A0D}"/>
    <pc:docChg chg="addSld delSld modSld">
      <pc:chgData name="Marcello Estevao" userId="3eb6c5ce-2aa9-4828-8ac9-dd7e4220b49e" providerId="ADAL" clId="{EE5592FF-2F30-4B1F-B8B1-A8D5EB315A0D}" dt="2024-03-08T13:09:23.616" v="30" actId="20577"/>
      <pc:docMkLst>
        <pc:docMk/>
      </pc:docMkLst>
      <pc:sldChg chg="modSp mod">
        <pc:chgData name="Marcello Estevao" userId="3eb6c5ce-2aa9-4828-8ac9-dd7e4220b49e" providerId="ADAL" clId="{EE5592FF-2F30-4B1F-B8B1-A8D5EB315A0D}" dt="2024-03-08T13:09:23.616" v="30" actId="20577"/>
        <pc:sldMkLst>
          <pc:docMk/>
          <pc:sldMk cId="0" sldId="276"/>
        </pc:sldMkLst>
        <pc:spChg chg="mod">
          <ac:chgData name="Marcello Estevao" userId="3eb6c5ce-2aa9-4828-8ac9-dd7e4220b49e" providerId="ADAL" clId="{EE5592FF-2F30-4B1F-B8B1-A8D5EB315A0D}" dt="2024-03-08T13:09:23.616" v="30" actId="20577"/>
          <ac:spMkLst>
            <pc:docMk/>
            <pc:sldMk cId="0" sldId="276"/>
            <ac:spMk id="317" creationId="{00000000-0000-0000-0000-000000000000}"/>
          </ac:spMkLst>
        </pc:spChg>
      </pc:sldChg>
      <pc:sldChg chg="del">
        <pc:chgData name="Marcello Estevao" userId="3eb6c5ce-2aa9-4828-8ac9-dd7e4220b49e" providerId="ADAL" clId="{EE5592FF-2F30-4B1F-B8B1-A8D5EB315A0D}" dt="2024-03-08T13:05:31.478" v="1" actId="47"/>
        <pc:sldMkLst>
          <pc:docMk/>
          <pc:sldMk cId="4223110315" sldId="290"/>
        </pc:sldMkLst>
      </pc:sldChg>
      <pc:sldChg chg="del">
        <pc:chgData name="Marcello Estevao" userId="3eb6c5ce-2aa9-4828-8ac9-dd7e4220b49e" providerId="ADAL" clId="{EE5592FF-2F30-4B1F-B8B1-A8D5EB315A0D}" dt="2024-03-08T13:07:16.619" v="2" actId="2696"/>
        <pc:sldMkLst>
          <pc:docMk/>
          <pc:sldMk cId="1628881328" sldId="308"/>
        </pc:sldMkLst>
      </pc:sldChg>
      <pc:sldChg chg="add">
        <pc:chgData name="Marcello Estevao" userId="3eb6c5ce-2aa9-4828-8ac9-dd7e4220b49e" providerId="ADAL" clId="{EE5592FF-2F30-4B1F-B8B1-A8D5EB315A0D}" dt="2024-03-08T13:05:23.793" v="0"/>
        <pc:sldMkLst>
          <pc:docMk/>
          <pc:sldMk cId="4149906644" sldId="314"/>
        </pc:sldMkLst>
      </pc:sldChg>
      <pc:sldChg chg="add">
        <pc:chgData name="Marcello Estevao" userId="3eb6c5ce-2aa9-4828-8ac9-dd7e4220b49e" providerId="ADAL" clId="{EE5592FF-2F30-4B1F-B8B1-A8D5EB315A0D}" dt="2024-03-08T13:05:23.793" v="0"/>
        <pc:sldMkLst>
          <pc:docMk/>
          <pc:sldMk cId="1174603827" sldId="333"/>
        </pc:sldMkLst>
      </pc:sldChg>
    </pc:docChg>
  </pc:docChgLst>
  <pc:docChgLst>
    <pc:chgData name="Stephen Stretton" userId="d46b5d2afcd4ceb0" providerId="LiveId" clId="{74A0FC8C-7EA7-44FA-A9BE-34CA750056FE}"/>
    <pc:docChg chg="undo custSel modSld">
      <pc:chgData name="Stephen Stretton" userId="d46b5d2afcd4ceb0" providerId="LiveId" clId="{74A0FC8C-7EA7-44FA-A9BE-34CA750056FE}" dt="2024-03-04T16:01:26.179" v="2" actId="15"/>
      <pc:docMkLst>
        <pc:docMk/>
      </pc:docMkLst>
      <pc:sldChg chg="modSp mod">
        <pc:chgData name="Stephen Stretton" userId="d46b5d2afcd4ceb0" providerId="LiveId" clId="{74A0FC8C-7EA7-44FA-A9BE-34CA750056FE}" dt="2024-03-04T16:01:26.179" v="2" actId="15"/>
        <pc:sldMkLst>
          <pc:docMk/>
          <pc:sldMk cId="0" sldId="276"/>
        </pc:sldMkLst>
        <pc:spChg chg="mod">
          <ac:chgData name="Stephen Stretton" userId="d46b5d2afcd4ceb0" providerId="LiveId" clId="{74A0FC8C-7EA7-44FA-A9BE-34CA750056FE}" dt="2024-03-04T16:01:26.179" v="2" actId="15"/>
          <ac:spMkLst>
            <pc:docMk/>
            <pc:sldMk cId="0" sldId="276"/>
            <ac:spMk id="317" creationId="{00000000-0000-0000-0000-000000000000}"/>
          </ac:spMkLst>
        </pc:spChg>
      </pc:sldChg>
    </pc:docChg>
  </pc:docChgLst>
  <pc:docChgLst>
    <pc:chgData name="Stephen Stretton" userId="d46b5d2afcd4ceb0" providerId="LiveId" clId="{3C0B2E1A-CC4C-44FE-B71C-511D7A095EA0}"/>
    <pc:docChg chg="undo custSel modSld">
      <pc:chgData name="Stephen Stretton" userId="d46b5d2afcd4ceb0" providerId="LiveId" clId="{3C0B2E1A-CC4C-44FE-B71C-511D7A095EA0}" dt="2024-03-03T17:03:53.899" v="32" actId="14100"/>
      <pc:docMkLst>
        <pc:docMk/>
      </pc:docMkLst>
      <pc:sldChg chg="modSp mod">
        <pc:chgData name="Stephen Stretton" userId="d46b5d2afcd4ceb0" providerId="LiveId" clId="{3C0B2E1A-CC4C-44FE-B71C-511D7A095EA0}" dt="2024-03-03T17:03:53.899" v="32" actId="14100"/>
        <pc:sldMkLst>
          <pc:docMk/>
          <pc:sldMk cId="1628881328" sldId="308"/>
        </pc:sldMkLst>
        <pc:spChg chg="mod">
          <ac:chgData name="Stephen Stretton" userId="d46b5d2afcd4ceb0" providerId="LiveId" clId="{3C0B2E1A-CC4C-44FE-B71C-511D7A095EA0}" dt="2024-03-03T17:02:15.850" v="13" actId="14100"/>
          <ac:spMkLst>
            <pc:docMk/>
            <pc:sldMk cId="1628881328" sldId="308"/>
            <ac:spMk id="6" creationId="{30EEB5F0-2564-F79E-6E90-F427760CDA37}"/>
          </ac:spMkLst>
        </pc:spChg>
        <pc:spChg chg="mod">
          <ac:chgData name="Stephen Stretton" userId="d46b5d2afcd4ceb0" providerId="LiveId" clId="{3C0B2E1A-CC4C-44FE-B71C-511D7A095EA0}" dt="2024-03-03T17:02:08.562" v="10" actId="14100"/>
          <ac:spMkLst>
            <pc:docMk/>
            <pc:sldMk cId="1628881328" sldId="308"/>
            <ac:spMk id="7" creationId="{E66449A9-D475-483C-E21E-89547842DA00}"/>
          </ac:spMkLst>
        </pc:spChg>
        <pc:spChg chg="mod">
          <ac:chgData name="Stephen Stretton" userId="d46b5d2afcd4ceb0" providerId="LiveId" clId="{3C0B2E1A-CC4C-44FE-B71C-511D7A095EA0}" dt="2024-03-03T17:02:13.866" v="12" actId="14100"/>
          <ac:spMkLst>
            <pc:docMk/>
            <pc:sldMk cId="1628881328" sldId="308"/>
            <ac:spMk id="8" creationId="{5165EDF4-B438-E9B0-BBE1-B6D7B53F12EF}"/>
          </ac:spMkLst>
        </pc:spChg>
        <pc:spChg chg="mod">
          <ac:chgData name="Stephen Stretton" userId="d46b5d2afcd4ceb0" providerId="LiveId" clId="{3C0B2E1A-CC4C-44FE-B71C-511D7A095EA0}" dt="2024-03-03T17:03:53.899" v="32" actId="14100"/>
          <ac:spMkLst>
            <pc:docMk/>
            <pc:sldMk cId="1628881328" sldId="308"/>
            <ac:spMk id="12" creationId="{398F93F2-D2C4-746B-FC62-D2D13B65AE04}"/>
          </ac:spMkLst>
        </pc:spChg>
        <pc:spChg chg="mod ord">
          <ac:chgData name="Stephen Stretton" userId="d46b5d2afcd4ceb0" providerId="LiveId" clId="{3C0B2E1A-CC4C-44FE-B71C-511D7A095EA0}" dt="2024-03-03T17:03:52.009" v="31" actId="14100"/>
          <ac:spMkLst>
            <pc:docMk/>
            <pc:sldMk cId="1628881328" sldId="308"/>
            <ac:spMk id="13" creationId="{48461E5C-329A-8FAB-229E-EC369D54FF67}"/>
          </ac:spMkLst>
        </pc:spChg>
        <pc:spChg chg="mod">
          <ac:chgData name="Stephen Stretton" userId="d46b5d2afcd4ceb0" providerId="LiveId" clId="{3C0B2E1A-CC4C-44FE-B71C-511D7A095EA0}" dt="2024-03-03T17:03:31.826" v="24" actId="1076"/>
          <ac:spMkLst>
            <pc:docMk/>
            <pc:sldMk cId="1628881328" sldId="308"/>
            <ac:spMk id="14" creationId="{845F3CA2-C535-97EB-F56E-17127914810B}"/>
          </ac:spMkLst>
        </pc:spChg>
      </pc:sldChg>
    </pc:docChg>
  </pc:docChgLst>
  <pc:docChgLst>
    <pc:chgData name="Stephen John Stretton" userId="da8c780b-1aa2-4e36-94fb-871dc8111504" providerId="ADAL" clId="{CE217CD2-CD22-4B00-9734-2788D2FC769F}"/>
    <pc:docChg chg="undo custSel addSld delSld modSld sldOrd">
      <pc:chgData name="Stephen John Stretton" userId="da8c780b-1aa2-4e36-94fb-871dc8111504" providerId="ADAL" clId="{CE217CD2-CD22-4B00-9734-2788D2FC769F}" dt="2024-03-04T21:44:49.774" v="169"/>
      <pc:docMkLst>
        <pc:docMk/>
      </pc:docMkLst>
      <pc:sldChg chg="modSp mod">
        <pc:chgData name="Stephen John Stretton" userId="da8c780b-1aa2-4e36-94fb-871dc8111504" providerId="ADAL" clId="{CE217CD2-CD22-4B00-9734-2788D2FC769F}" dt="2024-03-04T21:44:49.774" v="169"/>
        <pc:sldMkLst>
          <pc:docMk/>
          <pc:sldMk cId="0" sldId="257"/>
        </pc:sldMkLst>
        <pc:spChg chg="mod">
          <ac:chgData name="Stephen John Stretton" userId="da8c780b-1aa2-4e36-94fb-871dc8111504" providerId="ADAL" clId="{CE217CD2-CD22-4B00-9734-2788D2FC769F}" dt="2024-03-04T21:44:49.774" v="169"/>
          <ac:spMkLst>
            <pc:docMk/>
            <pc:sldMk cId="0" sldId="257"/>
            <ac:spMk id="72" creationId="{00000000-0000-0000-0000-000000000000}"/>
          </ac:spMkLst>
        </pc:spChg>
      </pc:sldChg>
      <pc:sldChg chg="del">
        <pc:chgData name="Stephen John Stretton" userId="da8c780b-1aa2-4e36-94fb-871dc8111504" providerId="ADAL" clId="{CE217CD2-CD22-4B00-9734-2788D2FC769F}" dt="2024-03-04T21:39:08.154" v="12" actId="47"/>
        <pc:sldMkLst>
          <pc:docMk/>
          <pc:sldMk cId="0" sldId="269"/>
        </pc:sldMkLst>
      </pc:sldChg>
      <pc:sldChg chg="del">
        <pc:chgData name="Stephen John Stretton" userId="da8c780b-1aa2-4e36-94fb-871dc8111504" providerId="ADAL" clId="{CE217CD2-CD22-4B00-9734-2788D2FC769F}" dt="2024-03-04T21:39:08.154" v="12" actId="47"/>
        <pc:sldMkLst>
          <pc:docMk/>
          <pc:sldMk cId="0" sldId="270"/>
        </pc:sldMkLst>
      </pc:sldChg>
      <pc:sldChg chg="del">
        <pc:chgData name="Stephen John Stretton" userId="da8c780b-1aa2-4e36-94fb-871dc8111504" providerId="ADAL" clId="{CE217CD2-CD22-4B00-9734-2788D2FC769F}" dt="2024-03-04T21:39:28.261" v="16" actId="47"/>
        <pc:sldMkLst>
          <pc:docMk/>
          <pc:sldMk cId="0" sldId="271"/>
        </pc:sldMkLst>
      </pc:sldChg>
      <pc:sldChg chg="add del ord">
        <pc:chgData name="Stephen John Stretton" userId="da8c780b-1aa2-4e36-94fb-871dc8111504" providerId="ADAL" clId="{CE217CD2-CD22-4B00-9734-2788D2FC769F}" dt="2024-03-04T21:39:38.239" v="17" actId="47"/>
        <pc:sldMkLst>
          <pc:docMk/>
          <pc:sldMk cId="2071028296" sldId="274"/>
        </pc:sldMkLst>
      </pc:sldChg>
      <pc:sldChg chg="add del">
        <pc:chgData name="Stephen John Stretton" userId="da8c780b-1aa2-4e36-94fb-871dc8111504" providerId="ADAL" clId="{CE217CD2-CD22-4B00-9734-2788D2FC769F}" dt="2024-03-04T21:38:31.407" v="3" actId="47"/>
        <pc:sldMkLst>
          <pc:docMk/>
          <pc:sldMk cId="2472807728" sldId="280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640958448" sldId="281"/>
        </pc:sldMkLst>
      </pc:sldChg>
      <pc:sldChg chg="del">
        <pc:chgData name="Stephen John Stretton" userId="da8c780b-1aa2-4e36-94fb-871dc8111504" providerId="ADAL" clId="{CE217CD2-CD22-4B00-9734-2788D2FC769F}" dt="2024-03-04T21:39:28.261" v="16" actId="47"/>
        <pc:sldMkLst>
          <pc:docMk/>
          <pc:sldMk cId="1779949035" sldId="292"/>
        </pc:sldMkLst>
      </pc:sldChg>
      <pc:sldChg chg="ord">
        <pc:chgData name="Stephen John Stretton" userId="da8c780b-1aa2-4e36-94fb-871dc8111504" providerId="ADAL" clId="{CE217CD2-CD22-4B00-9734-2788D2FC769F}" dt="2024-03-04T21:38:16.552" v="1"/>
        <pc:sldMkLst>
          <pc:docMk/>
          <pc:sldMk cId="3787776110" sldId="306"/>
        </pc:sldMkLst>
      </pc:sldChg>
      <pc:sldChg chg="ord">
        <pc:chgData name="Stephen John Stretton" userId="da8c780b-1aa2-4e36-94fb-871dc8111504" providerId="ADAL" clId="{CE217CD2-CD22-4B00-9734-2788D2FC769F}" dt="2024-03-04T21:39:18.054" v="14"/>
        <pc:sldMkLst>
          <pc:docMk/>
          <pc:sldMk cId="1628881328" sldId="308"/>
        </pc:sldMkLst>
      </pc:sldChg>
      <pc:sldChg chg="del">
        <pc:chgData name="Stephen John Stretton" userId="da8c780b-1aa2-4e36-94fb-871dc8111504" providerId="ADAL" clId="{CE217CD2-CD22-4B00-9734-2788D2FC769F}" dt="2024-03-04T21:41:21.395" v="156" actId="47"/>
        <pc:sldMkLst>
          <pc:docMk/>
          <pc:sldMk cId="3030038871" sldId="309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1790245567" sldId="315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2563094586" sldId="316"/>
        </pc:sldMkLst>
      </pc:sldChg>
      <pc:sldChg chg="add del">
        <pc:chgData name="Stephen John Stretton" userId="da8c780b-1aa2-4e36-94fb-871dc8111504" providerId="ADAL" clId="{CE217CD2-CD22-4B00-9734-2788D2FC769F}" dt="2024-03-04T21:39:23.124" v="15" actId="47"/>
        <pc:sldMkLst>
          <pc:docMk/>
          <pc:sldMk cId="3397061043" sldId="317"/>
        </pc:sldMkLst>
      </pc:sldChg>
      <pc:sldChg chg="add del">
        <pc:chgData name="Stephen John Stretton" userId="da8c780b-1aa2-4e36-94fb-871dc8111504" providerId="ADAL" clId="{CE217CD2-CD22-4B00-9734-2788D2FC769F}" dt="2024-03-04T21:39:38.239" v="17" actId="47"/>
        <pc:sldMkLst>
          <pc:docMk/>
          <pc:sldMk cId="3403435879" sldId="318"/>
        </pc:sldMkLst>
      </pc:sldChg>
      <pc:sldChg chg="modSp add mod ord">
        <pc:chgData name="Stephen John Stretton" userId="da8c780b-1aa2-4e36-94fb-871dc8111504" providerId="ADAL" clId="{CE217CD2-CD22-4B00-9734-2788D2FC769F}" dt="2024-03-04T21:39:52.829" v="20" actId="6549"/>
        <pc:sldMkLst>
          <pc:docMk/>
          <pc:sldMk cId="2083642290" sldId="323"/>
        </pc:sldMkLst>
        <pc:spChg chg="mod">
          <ac:chgData name="Stephen John Stretton" userId="da8c780b-1aa2-4e36-94fb-871dc8111504" providerId="ADAL" clId="{CE217CD2-CD22-4B00-9734-2788D2FC769F}" dt="2024-03-04T21:39:52.829" v="20" actId="6549"/>
          <ac:spMkLst>
            <pc:docMk/>
            <pc:sldMk cId="2083642290" sldId="323"/>
            <ac:spMk id="2" creationId="{E0271326-58B4-E0F6-C6B9-C9B0FEF61880}"/>
          </ac:spMkLst>
        </pc:spChg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4020773793" sldId="324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177872910" sldId="325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0" sldId="326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83870014" sldId="328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2772506166" sldId="329"/>
        </pc:sldMkLst>
      </pc:sldChg>
      <pc:sldChg chg="add del">
        <pc:chgData name="Stephen John Stretton" userId="da8c780b-1aa2-4e36-94fb-871dc8111504" providerId="ADAL" clId="{CE217CD2-CD22-4B00-9734-2788D2FC769F}" dt="2024-03-04T21:39:55.877" v="21" actId="47"/>
        <pc:sldMkLst>
          <pc:docMk/>
          <pc:sldMk cId="360777889" sldId="330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2807304930" sldId="331"/>
        </pc:sldMkLst>
      </pc:sldChg>
      <pc:sldChg chg="add">
        <pc:chgData name="Stephen John Stretton" userId="da8c780b-1aa2-4e36-94fb-871dc8111504" providerId="ADAL" clId="{CE217CD2-CD22-4B00-9734-2788D2FC769F}" dt="2024-03-04T21:38:17.886" v="2"/>
        <pc:sldMkLst>
          <pc:docMk/>
          <pc:sldMk cId="1750513697" sldId="3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a07d1cf7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a07d1cf7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23badba93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a23badba93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9767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23badba93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23badba93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028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23badba93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a23badba93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07d1cf71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07d1cf71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23badba93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23badba93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0897977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0897977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23badba9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23badba9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6DB9FEDD-326A-3A68-B87B-008EE462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0ac66233e_1_335:notes">
            <a:extLst>
              <a:ext uri="{FF2B5EF4-FFF2-40B4-BE49-F238E27FC236}">
                <a16:creationId xmlns:a16="http://schemas.microsoft.com/office/drawing/2014/main" id="{90050527-D4CA-6BF7-4895-C575C24E5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0ac66233e_1_335:notes">
            <a:extLst>
              <a:ext uri="{FF2B5EF4-FFF2-40B4-BE49-F238E27FC236}">
                <a16:creationId xmlns:a16="http://schemas.microsoft.com/office/drawing/2014/main" id="{C9C7E27B-8788-7994-B3E0-DB4846A8C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029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6DB9FEDD-326A-3A68-B87B-008EE462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0ac66233e_1_335:notes">
            <a:extLst>
              <a:ext uri="{FF2B5EF4-FFF2-40B4-BE49-F238E27FC236}">
                <a16:creationId xmlns:a16="http://schemas.microsoft.com/office/drawing/2014/main" id="{90050527-D4CA-6BF7-4895-C575C24E5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0ac66233e_1_335:notes">
            <a:extLst>
              <a:ext uri="{FF2B5EF4-FFF2-40B4-BE49-F238E27FC236}">
                <a16:creationId xmlns:a16="http://schemas.microsoft.com/office/drawing/2014/main" id="{C9C7E27B-8788-7994-B3E0-DB4846A8C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9697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1B71328-1C0A-1D79-7FF8-C427661E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23badba93_1_69:notes">
            <a:extLst>
              <a:ext uri="{FF2B5EF4-FFF2-40B4-BE49-F238E27FC236}">
                <a16:creationId xmlns:a16="http://schemas.microsoft.com/office/drawing/2014/main" id="{5C1C8799-1FCA-DAD5-0E65-BC378C66C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23badba93_1_69:notes">
            <a:extLst>
              <a:ext uri="{FF2B5EF4-FFF2-40B4-BE49-F238E27FC236}">
                <a16:creationId xmlns:a16="http://schemas.microsoft.com/office/drawing/2014/main" id="{93232149-D764-16C8-B01D-FB73CFA55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050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23badba93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a23badba93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6E01D8CB-4F95-EFE4-54A2-E74B98B8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23badba93_1_69:notes">
            <a:extLst>
              <a:ext uri="{FF2B5EF4-FFF2-40B4-BE49-F238E27FC236}">
                <a16:creationId xmlns:a16="http://schemas.microsoft.com/office/drawing/2014/main" id="{9922BE0A-C543-4095-2A18-F66B0C55B8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23badba93_1_69:notes">
            <a:extLst>
              <a:ext uri="{FF2B5EF4-FFF2-40B4-BE49-F238E27FC236}">
                <a16:creationId xmlns:a16="http://schemas.microsoft.com/office/drawing/2014/main" id="{655C50DE-360C-C05C-9B6A-A7EF7F3CA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177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C41EBAA6-B394-57D1-3643-A67B943F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a08979779a_0_5:notes">
            <a:extLst>
              <a:ext uri="{FF2B5EF4-FFF2-40B4-BE49-F238E27FC236}">
                <a16:creationId xmlns:a16="http://schemas.microsoft.com/office/drawing/2014/main" id="{AD82A3A1-8329-C2D3-1BC3-CD73B8734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a08979779a_0_5:notes">
            <a:extLst>
              <a:ext uri="{FF2B5EF4-FFF2-40B4-BE49-F238E27FC236}">
                <a16:creationId xmlns:a16="http://schemas.microsoft.com/office/drawing/2014/main" id="{BBDADA87-35FA-2A64-27CC-AADA9691E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6162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C568FB48-0316-4879-EF92-62730FF4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23badba93_1_90:notes">
            <a:extLst>
              <a:ext uri="{FF2B5EF4-FFF2-40B4-BE49-F238E27FC236}">
                <a16:creationId xmlns:a16="http://schemas.microsoft.com/office/drawing/2014/main" id="{B629B9BF-4DC0-1B03-D03D-C57205CB6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a23badba93_1_90:notes">
            <a:extLst>
              <a:ext uri="{FF2B5EF4-FFF2-40B4-BE49-F238E27FC236}">
                <a16:creationId xmlns:a16="http://schemas.microsoft.com/office/drawing/2014/main" id="{CDD27D09-23B9-81F9-91BA-15A227712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597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58D2E-F8B4-66A5-AE2C-20AF076A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4D429-8584-8F62-3AF4-FB0F4B036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28EFE-13CB-8DCA-53A7-F099EC3AB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257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2378D60B-DB74-57E6-C79C-87318AA0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0ac66233e_1_335:notes">
            <a:extLst>
              <a:ext uri="{FF2B5EF4-FFF2-40B4-BE49-F238E27FC236}">
                <a16:creationId xmlns:a16="http://schemas.microsoft.com/office/drawing/2014/main" id="{06203255-B3A4-3B39-90F3-5025716A5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0ac66233e_1_335:notes">
            <a:extLst>
              <a:ext uri="{FF2B5EF4-FFF2-40B4-BE49-F238E27FC236}">
                <a16:creationId xmlns:a16="http://schemas.microsoft.com/office/drawing/2014/main" id="{B79F1C4D-398F-6B31-F02D-C8CFB2836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935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5F62519-CE46-1685-1273-682E9116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23badba93_1_85:notes">
            <a:extLst>
              <a:ext uri="{FF2B5EF4-FFF2-40B4-BE49-F238E27FC236}">
                <a16:creationId xmlns:a16="http://schemas.microsoft.com/office/drawing/2014/main" id="{5D60D3F8-BFF2-5F4E-E162-69A51A7DB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23badba93_1_85:notes">
            <a:extLst>
              <a:ext uri="{FF2B5EF4-FFF2-40B4-BE49-F238E27FC236}">
                <a16:creationId xmlns:a16="http://schemas.microsoft.com/office/drawing/2014/main" id="{D00B91D6-7DDA-3998-65CB-F281DF758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069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BD53A8BE-0C2B-51C4-400E-39D5C2D4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a23badba93_1_96:notes">
            <a:extLst>
              <a:ext uri="{FF2B5EF4-FFF2-40B4-BE49-F238E27FC236}">
                <a16:creationId xmlns:a16="http://schemas.microsoft.com/office/drawing/2014/main" id="{BC96791B-C140-C999-7215-09AEA709A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a23badba93_1_96:notes">
            <a:extLst>
              <a:ext uri="{FF2B5EF4-FFF2-40B4-BE49-F238E27FC236}">
                <a16:creationId xmlns:a16="http://schemas.microsoft.com/office/drawing/2014/main" id="{3EA04E1F-1429-B6F0-1602-DCEEF8D60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897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23badba93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23badba93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23badba93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a23badba93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83884ABB-810E-C931-7AEF-17D6F6B0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23badba93_1_85:notes">
            <a:extLst>
              <a:ext uri="{FF2B5EF4-FFF2-40B4-BE49-F238E27FC236}">
                <a16:creationId xmlns:a16="http://schemas.microsoft.com/office/drawing/2014/main" id="{E743A473-E9C3-6A0D-682E-A1E873DA6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23badba93_1_85:notes">
            <a:extLst>
              <a:ext uri="{FF2B5EF4-FFF2-40B4-BE49-F238E27FC236}">
                <a16:creationId xmlns:a16="http://schemas.microsoft.com/office/drawing/2014/main" id="{6D02233D-0F7F-3A8A-73FD-CBFE5A8F6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595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93E89D5A-95FC-C9B6-1B0C-99FF0E10BC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0440"/>
            <a:ext cx="9144000" cy="4943060"/>
          </a:xfrm>
          <a:prstGeom prst="rect">
            <a:avLst/>
          </a:prstGeom>
        </p:spPr>
      </p:pic>
      <p:sp>
        <p:nvSpPr>
          <p:cNvPr id="28" name="Google Shape;10;p2">
            <a:extLst>
              <a:ext uri="{FF2B5EF4-FFF2-40B4-BE49-F238E27FC236}">
                <a16:creationId xmlns:a16="http://schemas.microsoft.com/office/drawing/2014/main" id="{5228A903-53C0-8F47-64A3-A47C5B74A222}"/>
              </a:ext>
            </a:extLst>
          </p:cNvPr>
          <p:cNvSpPr/>
          <p:nvPr userDrawn="1"/>
        </p:nvSpPr>
        <p:spPr>
          <a:xfrm>
            <a:off x="0" y="0"/>
            <a:ext cx="9144000" cy="485775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529B4-9A66-3967-93D1-B1E1D764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053" y="481076"/>
            <a:ext cx="7823835" cy="1790700"/>
          </a:xfrm>
          <a:prstGeom prst="rect">
            <a:avLst/>
          </a:prstGeom>
        </p:spPr>
        <p:txBody>
          <a:bodyPr anchor="b"/>
          <a:lstStyle>
            <a:lvl1pPr algn="l">
              <a:defRPr sz="3600" b="1" i="0">
                <a:solidFill>
                  <a:srgbClr val="042245"/>
                </a:solidFill>
                <a:latin typeface="Merriweather" pitchFamily="2" charset="77"/>
                <a:cs typeface="Arial Hebrew" pitchFamily="2" charset="-79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053" y="2428875"/>
            <a:ext cx="4629150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rgbClr val="B8564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305172B-6733-BD95-91C3-40B44DC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27745" y="3761815"/>
            <a:ext cx="2047175" cy="118166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69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oking up at a bamboo forest&#10;&#10;Description automatically generated">
            <a:extLst>
              <a:ext uri="{FF2B5EF4-FFF2-40B4-BE49-F238E27FC236}">
                <a16:creationId xmlns:a16="http://schemas.microsoft.com/office/drawing/2014/main" id="{B8E34BA2-ED21-1C61-8CD5-90EE59955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5" b="7335"/>
          <a:stretch/>
        </p:blipFill>
        <p:spPr>
          <a:xfrm>
            <a:off x="0" y="-14218"/>
            <a:ext cx="9144000" cy="5132318"/>
          </a:xfrm>
          <a:prstGeom prst="rect">
            <a:avLst/>
          </a:prstGeom>
        </p:spPr>
      </p:pic>
      <p:sp>
        <p:nvSpPr>
          <p:cNvPr id="12" name="Manual Input 11">
            <a:extLst>
              <a:ext uri="{FF2B5EF4-FFF2-40B4-BE49-F238E27FC236}">
                <a16:creationId xmlns:a16="http://schemas.microsoft.com/office/drawing/2014/main" id="{DEC40C85-5EF0-4AA0-7953-DB75EB19E6FF}"/>
              </a:ext>
            </a:extLst>
          </p:cNvPr>
          <p:cNvSpPr/>
          <p:nvPr userDrawn="1"/>
        </p:nvSpPr>
        <p:spPr>
          <a:xfrm>
            <a:off x="-2745" y="2167666"/>
            <a:ext cx="9146744" cy="297689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3 w 10000"/>
              <a:gd name="connsiteY0" fmla="*/ 679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3 w 10000"/>
              <a:gd name="connsiteY4" fmla="*/ 6790 h 10000"/>
              <a:gd name="connsiteX0" fmla="*/ 13 w 10000"/>
              <a:gd name="connsiteY0" fmla="*/ 7456 h 10666"/>
              <a:gd name="connsiteX1" fmla="*/ 10000 w 10000"/>
              <a:gd name="connsiteY1" fmla="*/ 0 h 10666"/>
              <a:gd name="connsiteX2" fmla="*/ 10000 w 10000"/>
              <a:gd name="connsiteY2" fmla="*/ 10666 h 10666"/>
              <a:gd name="connsiteX3" fmla="*/ 0 w 10000"/>
              <a:gd name="connsiteY3" fmla="*/ 10666 h 10666"/>
              <a:gd name="connsiteX4" fmla="*/ 13 w 10000"/>
              <a:gd name="connsiteY4" fmla="*/ 7456 h 10666"/>
              <a:gd name="connsiteX0" fmla="*/ 0 w 10014"/>
              <a:gd name="connsiteY0" fmla="*/ 8900 h 10666"/>
              <a:gd name="connsiteX1" fmla="*/ 10014 w 10014"/>
              <a:gd name="connsiteY1" fmla="*/ 0 h 10666"/>
              <a:gd name="connsiteX2" fmla="*/ 10014 w 10014"/>
              <a:gd name="connsiteY2" fmla="*/ 10666 h 10666"/>
              <a:gd name="connsiteX3" fmla="*/ 14 w 10014"/>
              <a:gd name="connsiteY3" fmla="*/ 10666 h 10666"/>
              <a:gd name="connsiteX4" fmla="*/ 0 w 10014"/>
              <a:gd name="connsiteY4" fmla="*/ 8900 h 10666"/>
              <a:gd name="connsiteX0" fmla="*/ 0 w 10068"/>
              <a:gd name="connsiteY0" fmla="*/ 9282 h 10666"/>
              <a:gd name="connsiteX1" fmla="*/ 10068 w 10068"/>
              <a:gd name="connsiteY1" fmla="*/ 0 h 10666"/>
              <a:gd name="connsiteX2" fmla="*/ 10068 w 10068"/>
              <a:gd name="connsiteY2" fmla="*/ 10666 h 10666"/>
              <a:gd name="connsiteX3" fmla="*/ 68 w 10068"/>
              <a:gd name="connsiteY3" fmla="*/ 10666 h 10666"/>
              <a:gd name="connsiteX4" fmla="*/ 0 w 10068"/>
              <a:gd name="connsiteY4" fmla="*/ 9282 h 10666"/>
              <a:gd name="connsiteX0" fmla="*/ 0 w 10068"/>
              <a:gd name="connsiteY0" fmla="*/ 9537 h 10666"/>
              <a:gd name="connsiteX1" fmla="*/ 10068 w 10068"/>
              <a:gd name="connsiteY1" fmla="*/ 0 h 10666"/>
              <a:gd name="connsiteX2" fmla="*/ 10068 w 10068"/>
              <a:gd name="connsiteY2" fmla="*/ 10666 h 10666"/>
              <a:gd name="connsiteX3" fmla="*/ 68 w 10068"/>
              <a:gd name="connsiteY3" fmla="*/ 10666 h 10666"/>
              <a:gd name="connsiteX4" fmla="*/ 0 w 10068"/>
              <a:gd name="connsiteY4" fmla="*/ 9537 h 10666"/>
              <a:gd name="connsiteX0" fmla="*/ 2 w 10003"/>
              <a:gd name="connsiteY0" fmla="*/ 9410 h 10666"/>
              <a:gd name="connsiteX1" fmla="*/ 10003 w 10003"/>
              <a:gd name="connsiteY1" fmla="*/ 0 h 10666"/>
              <a:gd name="connsiteX2" fmla="*/ 10003 w 10003"/>
              <a:gd name="connsiteY2" fmla="*/ 10666 h 10666"/>
              <a:gd name="connsiteX3" fmla="*/ 3 w 10003"/>
              <a:gd name="connsiteY3" fmla="*/ 10666 h 10666"/>
              <a:gd name="connsiteX4" fmla="*/ 2 w 10003"/>
              <a:gd name="connsiteY4" fmla="*/ 9410 h 10666"/>
              <a:gd name="connsiteX0" fmla="*/ 2 w 10003"/>
              <a:gd name="connsiteY0" fmla="*/ 10599 h 11855"/>
              <a:gd name="connsiteX1" fmla="*/ 10003 w 10003"/>
              <a:gd name="connsiteY1" fmla="*/ 0 h 11855"/>
              <a:gd name="connsiteX2" fmla="*/ 10003 w 10003"/>
              <a:gd name="connsiteY2" fmla="*/ 11855 h 11855"/>
              <a:gd name="connsiteX3" fmla="*/ 3 w 10003"/>
              <a:gd name="connsiteY3" fmla="*/ 11855 h 11855"/>
              <a:gd name="connsiteX4" fmla="*/ 2 w 10003"/>
              <a:gd name="connsiteY4" fmla="*/ 10599 h 11855"/>
              <a:gd name="connsiteX0" fmla="*/ 2 w 10003"/>
              <a:gd name="connsiteY0" fmla="*/ 9070 h 10326"/>
              <a:gd name="connsiteX1" fmla="*/ 9990 w 10003"/>
              <a:gd name="connsiteY1" fmla="*/ 0 h 10326"/>
              <a:gd name="connsiteX2" fmla="*/ 10003 w 10003"/>
              <a:gd name="connsiteY2" fmla="*/ 10326 h 10326"/>
              <a:gd name="connsiteX3" fmla="*/ 3 w 10003"/>
              <a:gd name="connsiteY3" fmla="*/ 10326 h 10326"/>
              <a:gd name="connsiteX4" fmla="*/ 2 w 10003"/>
              <a:gd name="connsiteY4" fmla="*/ 9070 h 10326"/>
              <a:gd name="connsiteX0" fmla="*/ 2 w 10003"/>
              <a:gd name="connsiteY0" fmla="*/ 9537 h 10326"/>
              <a:gd name="connsiteX1" fmla="*/ 9990 w 10003"/>
              <a:gd name="connsiteY1" fmla="*/ 0 h 10326"/>
              <a:gd name="connsiteX2" fmla="*/ 10003 w 10003"/>
              <a:gd name="connsiteY2" fmla="*/ 10326 h 10326"/>
              <a:gd name="connsiteX3" fmla="*/ 3 w 10003"/>
              <a:gd name="connsiteY3" fmla="*/ 10326 h 10326"/>
              <a:gd name="connsiteX4" fmla="*/ 2 w 10003"/>
              <a:gd name="connsiteY4" fmla="*/ 9537 h 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3" h="10326">
                <a:moveTo>
                  <a:pt x="2" y="9537"/>
                </a:moveTo>
                <a:lnTo>
                  <a:pt x="9990" y="0"/>
                </a:lnTo>
                <a:cubicBezTo>
                  <a:pt x="9994" y="3442"/>
                  <a:pt x="9999" y="6884"/>
                  <a:pt x="10003" y="10326"/>
                </a:cubicBezTo>
                <a:lnTo>
                  <a:pt x="3" y="10326"/>
                </a:lnTo>
                <a:cubicBezTo>
                  <a:pt x="7" y="9256"/>
                  <a:pt x="-2" y="10607"/>
                  <a:pt x="2" y="9537"/>
                </a:cubicBezTo>
                <a:close/>
              </a:path>
            </a:pathLst>
          </a:custGeom>
          <a:solidFill>
            <a:srgbClr val="042245"/>
          </a:solidFill>
          <a:ln>
            <a:solidFill>
              <a:srgbClr val="0422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53A72F4-2836-DB33-734C-BBC784C2A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7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8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1;p10">
            <a:extLst>
              <a:ext uri="{FF2B5EF4-FFF2-40B4-BE49-F238E27FC236}">
                <a16:creationId xmlns:a16="http://schemas.microsoft.com/office/drawing/2014/main" id="{948C60A9-87A5-CE5C-9845-FDB9E5ADEB71}"/>
              </a:ext>
            </a:extLst>
          </p:cNvPr>
          <p:cNvSpPr/>
          <p:nvPr userDrawn="1"/>
        </p:nvSpPr>
        <p:spPr>
          <a:xfrm>
            <a:off x="4901454" y="1"/>
            <a:ext cx="4255486" cy="907676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12393" y="396345"/>
            <a:ext cx="368466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162F2BA-E0FC-F567-87AA-D8D8A4C92F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2393" y="1007877"/>
            <a:ext cx="3953434" cy="3984344"/>
          </a:xfrm>
          <a:prstGeom prst="rect">
            <a:avLst/>
          </a:prstGeom>
        </p:spPr>
        <p:txBody>
          <a:bodyPr>
            <a:normAutofit/>
          </a:bodyPr>
          <a:lstStyle>
            <a:lvl1pPr marL="214313" indent="-385763">
              <a:lnSpc>
                <a:spcPct val="150000"/>
              </a:lnSpc>
              <a:spcBef>
                <a:spcPts val="0"/>
              </a:spcBef>
              <a:buFont typeface="+mj-lt"/>
              <a:buAutoNum type="romanUcPeriod"/>
              <a:defRPr sz="1500" b="0" i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57213" indent="-214313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2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2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2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0"/>
            <a:r>
              <a:rPr lang="en-GB" dirty="0"/>
              <a:t>Click to edit </a:t>
            </a:r>
          </a:p>
          <a:p>
            <a:pPr lvl="1"/>
            <a:r>
              <a:rPr lang="en-GB" dirty="0"/>
              <a:t>c</a:t>
            </a:r>
          </a:p>
          <a:p>
            <a:pPr lvl="0"/>
            <a:endParaRPr lang="en-US" dirty="0"/>
          </a:p>
        </p:txBody>
      </p:sp>
      <p:pic>
        <p:nvPicPr>
          <p:cNvPr id="11" name="Picture 10" descr="Looking up view of trees in the forest&#10;&#10;Description automatically generated">
            <a:extLst>
              <a:ext uri="{FF2B5EF4-FFF2-40B4-BE49-F238E27FC236}">
                <a16:creationId xmlns:a16="http://schemas.microsoft.com/office/drawing/2014/main" id="{7180AF91-3BD3-C1B3-02C5-FD0B8796D1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347" r="19585"/>
          <a:stretch/>
        </p:blipFill>
        <p:spPr>
          <a:xfrm>
            <a:off x="0" y="1"/>
            <a:ext cx="4901454" cy="515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8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1;p10">
            <a:extLst>
              <a:ext uri="{FF2B5EF4-FFF2-40B4-BE49-F238E27FC236}">
                <a16:creationId xmlns:a16="http://schemas.microsoft.com/office/drawing/2014/main" id="{644A956F-8D9E-730A-8ED4-70AE9CAF9BFF}"/>
              </a:ext>
            </a:extLst>
          </p:cNvPr>
          <p:cNvSpPr/>
          <p:nvPr userDrawn="1"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65AF75-8151-A814-B641-45A094F28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837" y="4662424"/>
            <a:ext cx="8560046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8B43B10-DBFB-A02C-5C8F-67E30474F3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9661" y="386775"/>
            <a:ext cx="8512222" cy="379272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lnSpc>
                <a:spcPct val="150000"/>
              </a:lnSpc>
              <a:spcBef>
                <a:spcPts val="0"/>
              </a:spcBef>
              <a:defRPr sz="1500" b="0" i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57213" indent="-214313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0"/>
            <a:r>
              <a:rPr lang="en-GB" dirty="0"/>
              <a:t>Click to edit </a:t>
            </a:r>
          </a:p>
          <a:p>
            <a:pPr lvl="1"/>
            <a:r>
              <a:rPr lang="en-GB" dirty="0"/>
              <a:t>c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49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1;p10">
            <a:extLst>
              <a:ext uri="{FF2B5EF4-FFF2-40B4-BE49-F238E27FC236}">
                <a16:creationId xmlns:a16="http://schemas.microsoft.com/office/drawing/2014/main" id="{225E250B-4C8B-406B-CF64-6E0549C0FFAB}"/>
              </a:ext>
            </a:extLst>
          </p:cNvPr>
          <p:cNvSpPr/>
          <p:nvPr userDrawn="1"/>
        </p:nvSpPr>
        <p:spPr>
          <a:xfrm>
            <a:off x="0" y="0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E9B70A4-430C-DC78-7F41-725E8EED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3300" y="1273628"/>
            <a:ext cx="8534811" cy="3698045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lnSpc>
                <a:spcPct val="150000"/>
              </a:lnSpc>
              <a:spcBef>
                <a:spcPts val="0"/>
              </a:spcBef>
              <a:defRPr sz="1500" b="0" i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57213" indent="-214313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0"/>
            <a:r>
              <a:rPr lang="en-GB" dirty="0"/>
              <a:t>Click to edit </a:t>
            </a:r>
          </a:p>
          <a:p>
            <a:pPr lvl="1"/>
            <a:r>
              <a:rPr lang="en-GB" dirty="0"/>
              <a:t>c</a:t>
            </a:r>
          </a:p>
          <a:p>
            <a:pPr lvl="0"/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EE527EC-1F3E-4121-D1F7-3658ED913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1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1;p10">
            <a:extLst>
              <a:ext uri="{FF2B5EF4-FFF2-40B4-BE49-F238E27FC236}">
                <a16:creationId xmlns:a16="http://schemas.microsoft.com/office/drawing/2014/main" id="{8E1BF2F3-06A5-4050-31FC-FE51036B6ABC}"/>
              </a:ext>
            </a:extLst>
          </p:cNvPr>
          <p:cNvSpPr/>
          <p:nvPr userDrawn="1"/>
        </p:nvSpPr>
        <p:spPr>
          <a:xfrm>
            <a:off x="0" y="-1761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3B0D6B-886D-9A9D-79B9-5E1327DDC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607CD20-8558-BEBC-3934-70E89D829B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300" y="1298122"/>
            <a:ext cx="4008680" cy="34657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35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4A3D92E-6B42-22AE-27F2-4AFA182C94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0" y="1298122"/>
            <a:ext cx="4278701" cy="3465738"/>
          </a:xfrm>
          <a:prstGeom prst="rect">
            <a:avLst/>
          </a:prstGeom>
        </p:spPr>
        <p:txBody>
          <a:bodyPr/>
          <a:lstStyle>
            <a:lvl1pPr marL="0">
              <a:lnSpc>
                <a:spcPct val="150000"/>
              </a:lnSpc>
              <a:spcBef>
                <a:spcPts val="0"/>
              </a:spcBef>
              <a:defRPr sz="135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88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Graphic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;p10">
            <a:extLst>
              <a:ext uri="{FF2B5EF4-FFF2-40B4-BE49-F238E27FC236}">
                <a16:creationId xmlns:a16="http://schemas.microsoft.com/office/drawing/2014/main" id="{B3002143-DCE6-53A9-16FF-F111AAE27700}"/>
              </a:ext>
            </a:extLst>
          </p:cNvPr>
          <p:cNvSpPr/>
          <p:nvPr userDrawn="1"/>
        </p:nvSpPr>
        <p:spPr>
          <a:xfrm>
            <a:off x="0" y="0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C99EF0C-07B5-DCEF-C6E0-59F8EEAC9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76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1_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F4A"/>
              </a:solidFill>
            </a:endParaRPr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432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Graphic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road through a forest&#10;&#10;Description automatically generated">
            <a:extLst>
              <a:ext uri="{FF2B5EF4-FFF2-40B4-BE49-F238E27FC236}">
                <a16:creationId xmlns:a16="http://schemas.microsoft.com/office/drawing/2014/main" id="{CE1F6373-7F0A-A7C6-B928-1B3AAEF95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977"/>
          <a:stretch/>
        </p:blipFill>
        <p:spPr>
          <a:xfrm>
            <a:off x="0" y="0"/>
            <a:ext cx="9144000" cy="5113898"/>
          </a:xfrm>
          <a:prstGeom prst="rect">
            <a:avLst/>
          </a:prstGeom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3C0B19E-F837-676A-6CB4-58C990C911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6235" y="1182548"/>
            <a:ext cx="2316491" cy="458880"/>
          </a:xfrm>
          <a:prstGeom prst="rect">
            <a:avLst/>
          </a:prstGeom>
          <a:solidFill>
            <a:srgbClr val="042245"/>
          </a:solidFill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109A92A-AC3B-E974-C248-E4B16C9F8A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6235" y="2069027"/>
            <a:ext cx="2316491" cy="458881"/>
          </a:xfrm>
          <a:prstGeom prst="rect">
            <a:avLst/>
          </a:prstGeom>
          <a:solidFill>
            <a:srgbClr val="039384"/>
          </a:solidFill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FEF4454-697D-C5DA-CE32-FBD3E33B0C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235" y="2975097"/>
            <a:ext cx="2316491" cy="458881"/>
          </a:xfrm>
          <a:prstGeom prst="rect">
            <a:avLst/>
          </a:prstGeom>
          <a:solidFill>
            <a:srgbClr val="B85641"/>
          </a:solidFill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6" name="Google Shape;80;p15">
            <a:extLst>
              <a:ext uri="{FF2B5EF4-FFF2-40B4-BE49-F238E27FC236}">
                <a16:creationId xmlns:a16="http://schemas.microsoft.com/office/drawing/2014/main" id="{8E00970D-6EFC-E822-CF8D-ADF868EC3CBA}"/>
              </a:ext>
            </a:extLst>
          </p:cNvPr>
          <p:cNvSpPr/>
          <p:nvPr userDrawn="1"/>
        </p:nvSpPr>
        <p:spPr>
          <a:xfrm>
            <a:off x="3425740" y="1029616"/>
            <a:ext cx="5237528" cy="703854"/>
          </a:xfrm>
          <a:prstGeom prst="rect">
            <a:avLst/>
          </a:prstGeom>
          <a:solidFill>
            <a:srgbClr val="042245"/>
          </a:solidFill>
          <a:ln>
            <a:solidFill>
              <a:srgbClr val="042245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42245"/>
              </a:solidFill>
            </a:endParaRPr>
          </a:p>
        </p:txBody>
      </p:sp>
      <p:sp>
        <p:nvSpPr>
          <p:cNvPr id="7" name="Google Shape;80;p15">
            <a:extLst>
              <a:ext uri="{FF2B5EF4-FFF2-40B4-BE49-F238E27FC236}">
                <a16:creationId xmlns:a16="http://schemas.microsoft.com/office/drawing/2014/main" id="{87E9B779-45A0-202D-7207-228FFC03B079}"/>
              </a:ext>
            </a:extLst>
          </p:cNvPr>
          <p:cNvSpPr/>
          <p:nvPr userDrawn="1"/>
        </p:nvSpPr>
        <p:spPr>
          <a:xfrm>
            <a:off x="3425741" y="1931318"/>
            <a:ext cx="4963862" cy="703853"/>
          </a:xfrm>
          <a:prstGeom prst="rect">
            <a:avLst/>
          </a:prstGeom>
          <a:solidFill>
            <a:srgbClr val="039384"/>
          </a:solidFill>
          <a:ln>
            <a:solidFill>
              <a:srgbClr val="039384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42245"/>
              </a:solidFill>
            </a:endParaRPr>
          </a:p>
        </p:txBody>
      </p:sp>
      <p:sp>
        <p:nvSpPr>
          <p:cNvPr id="8" name="Google Shape;80;p15">
            <a:extLst>
              <a:ext uri="{FF2B5EF4-FFF2-40B4-BE49-F238E27FC236}">
                <a16:creationId xmlns:a16="http://schemas.microsoft.com/office/drawing/2014/main" id="{9E10C2D6-B777-B6B1-B17D-D96869EBA49A}"/>
              </a:ext>
            </a:extLst>
          </p:cNvPr>
          <p:cNvSpPr/>
          <p:nvPr userDrawn="1"/>
        </p:nvSpPr>
        <p:spPr>
          <a:xfrm>
            <a:off x="3425740" y="2833020"/>
            <a:ext cx="4594460" cy="703853"/>
          </a:xfrm>
          <a:prstGeom prst="rect">
            <a:avLst/>
          </a:prstGeom>
          <a:solidFill>
            <a:srgbClr val="B85641"/>
          </a:solidFill>
          <a:ln>
            <a:solidFill>
              <a:srgbClr val="B85641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42245"/>
              </a:solidFill>
            </a:endParaRP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36021CDE-0D58-10A2-CF59-18E36D858B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29309" y="1090507"/>
            <a:ext cx="4957106" cy="6429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B91E61A1-147C-2650-D723-8AA20C138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9581" y="1976363"/>
            <a:ext cx="4698224" cy="6465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395EE974-9A45-84E9-EB44-6AB3A51339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29309" y="2881266"/>
            <a:ext cx="4390659" cy="646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Google Shape;51;p10">
            <a:extLst>
              <a:ext uri="{FF2B5EF4-FFF2-40B4-BE49-F238E27FC236}">
                <a16:creationId xmlns:a16="http://schemas.microsoft.com/office/drawing/2014/main" id="{06B9471A-7F37-57BD-6368-76E00F759D8F}"/>
              </a:ext>
            </a:extLst>
          </p:cNvPr>
          <p:cNvSpPr/>
          <p:nvPr userDrawn="1"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88858D8-EF37-1198-F97A-FE57CDE56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4644735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75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ionship Graph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ooden walkway in a forest&#10;&#10;Description automatically generated">
            <a:extLst>
              <a:ext uri="{FF2B5EF4-FFF2-40B4-BE49-F238E27FC236}">
                <a16:creationId xmlns:a16="http://schemas.microsoft.com/office/drawing/2014/main" id="{A6A0CCE7-9BB8-A7F1-1AA3-CD5F3E80D8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348"/>
          <a:stretch/>
        </p:blipFill>
        <p:spPr>
          <a:xfrm>
            <a:off x="0" y="207264"/>
            <a:ext cx="9156940" cy="4936237"/>
          </a:xfrm>
          <a:prstGeom prst="rect">
            <a:avLst/>
          </a:prstGeom>
        </p:spPr>
      </p:pic>
      <p:sp>
        <p:nvSpPr>
          <p:cNvPr id="3" name="Google Shape;107;p17">
            <a:extLst>
              <a:ext uri="{FF2B5EF4-FFF2-40B4-BE49-F238E27FC236}">
                <a16:creationId xmlns:a16="http://schemas.microsoft.com/office/drawing/2014/main" id="{FA46C4F8-4911-BF44-8805-B6ED7ECBBEC5}"/>
              </a:ext>
            </a:extLst>
          </p:cNvPr>
          <p:cNvSpPr/>
          <p:nvPr userDrawn="1"/>
        </p:nvSpPr>
        <p:spPr>
          <a:xfrm rot="10800000" flipH="1">
            <a:off x="3000930" y="1733891"/>
            <a:ext cx="2737971" cy="2536184"/>
          </a:xfrm>
          <a:prstGeom prst="round2DiagRect">
            <a:avLst>
              <a:gd name="adj1" fmla="val 0"/>
              <a:gd name="adj2" fmla="val 17764"/>
            </a:avLst>
          </a:prstGeom>
          <a:solidFill>
            <a:srgbClr val="039384"/>
          </a:solidFill>
          <a:ln w="9525" cap="flat" cmpd="sng">
            <a:solidFill>
              <a:srgbClr val="0393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4" name="Google Shape;111;p17">
            <a:extLst>
              <a:ext uri="{FF2B5EF4-FFF2-40B4-BE49-F238E27FC236}">
                <a16:creationId xmlns:a16="http://schemas.microsoft.com/office/drawing/2014/main" id="{2CCDE042-AE20-0F5F-46FE-A11A8C7C13E9}"/>
              </a:ext>
            </a:extLst>
          </p:cNvPr>
          <p:cNvSpPr/>
          <p:nvPr userDrawn="1"/>
        </p:nvSpPr>
        <p:spPr>
          <a:xfrm>
            <a:off x="450588" y="1733891"/>
            <a:ext cx="2579676" cy="2536184"/>
          </a:xfrm>
          <a:prstGeom prst="round2DiagRect">
            <a:avLst>
              <a:gd name="adj1" fmla="val 0"/>
              <a:gd name="adj2" fmla="val 17764"/>
            </a:avLst>
          </a:prstGeom>
          <a:solidFill>
            <a:srgbClr val="B85641"/>
          </a:solidFill>
          <a:ln w="9525" cap="flat" cmpd="sng">
            <a:solidFill>
              <a:srgbClr val="B856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FB31FDF0-A2C9-8024-ACBC-D4FE78A1527F}"/>
              </a:ext>
            </a:extLst>
          </p:cNvPr>
          <p:cNvSpPr/>
          <p:nvPr userDrawn="1"/>
        </p:nvSpPr>
        <p:spPr>
          <a:xfrm>
            <a:off x="5411945" y="1733891"/>
            <a:ext cx="3251586" cy="2536184"/>
          </a:xfrm>
          <a:prstGeom prst="round2DiagRect">
            <a:avLst>
              <a:gd name="adj1" fmla="val 0"/>
              <a:gd name="adj2" fmla="val 17764"/>
            </a:avLst>
          </a:prstGeom>
          <a:solidFill>
            <a:srgbClr val="042245"/>
          </a:solidFill>
          <a:ln w="9525" cap="flat" cmpd="sng">
            <a:solidFill>
              <a:srgbClr val="0422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6" name="Google Shape;121;p17">
            <a:extLst>
              <a:ext uri="{FF2B5EF4-FFF2-40B4-BE49-F238E27FC236}">
                <a16:creationId xmlns:a16="http://schemas.microsoft.com/office/drawing/2014/main" id="{52CD9916-4CBE-0CC8-4C11-82CEE352802B}"/>
              </a:ext>
            </a:extLst>
          </p:cNvPr>
          <p:cNvGrpSpPr/>
          <p:nvPr userDrawn="1"/>
        </p:nvGrpSpPr>
        <p:grpSpPr>
          <a:xfrm>
            <a:off x="2852545" y="2351329"/>
            <a:ext cx="285074" cy="283091"/>
            <a:chOff x="4858109" y="2631368"/>
            <a:chExt cx="316442" cy="315000"/>
          </a:xfrm>
        </p:grpSpPr>
        <p:sp>
          <p:nvSpPr>
            <p:cNvPr id="7" name="Google Shape;122;p17">
              <a:extLst>
                <a:ext uri="{FF2B5EF4-FFF2-40B4-BE49-F238E27FC236}">
                  <a16:creationId xmlns:a16="http://schemas.microsoft.com/office/drawing/2014/main" id="{CDAA877C-35E2-8BF8-5BDA-1A511BAD183E}"/>
                </a:ext>
              </a:extLst>
            </p:cNvPr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8" name="Google Shape;123;p17">
              <a:extLst>
                <a:ext uri="{FF2B5EF4-FFF2-40B4-BE49-F238E27FC236}">
                  <a16:creationId xmlns:a16="http://schemas.microsoft.com/office/drawing/2014/main" id="{E29E2E3D-032A-5B99-6F77-C88C49A2DFFA}"/>
                </a:ext>
              </a:extLst>
            </p:cNvPr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3139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050"/>
              </a:br>
              <a:endParaRPr sz="1050"/>
            </a:p>
          </p:txBody>
        </p:sp>
      </p:grp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9D2C1FFD-944D-C199-7072-61BF41086E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423" y="1940719"/>
            <a:ext cx="2235758" cy="631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6072F383-773F-93E3-F6C0-96D3B3875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1502" y="1940719"/>
            <a:ext cx="2133089" cy="631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8A634037-1AFA-B4BC-E51E-CEA312A2B2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4527" y="1940719"/>
            <a:ext cx="2935049" cy="631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3CB12DFD-FC12-E008-8D0B-CB9A8180FD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423" y="2669736"/>
            <a:ext cx="2250896" cy="1406246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3716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F</a:t>
            </a:r>
          </a:p>
          <a:p>
            <a:pPr lvl="2"/>
            <a:r>
              <a:rPr lang="en-GB" dirty="0"/>
              <a:t>F</a:t>
            </a:r>
          </a:p>
          <a:p>
            <a:pPr lvl="3"/>
            <a:r>
              <a:rPr lang="en-GB" dirty="0"/>
              <a:t>F</a:t>
            </a:r>
          </a:p>
          <a:p>
            <a:pPr lvl="4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8"/>
            <a:endParaRPr lang="en-GB" dirty="0"/>
          </a:p>
        </p:txBody>
      </p:sp>
      <p:sp>
        <p:nvSpPr>
          <p:cNvPr id="13" name="Text Placeholder 22">
            <a:extLst>
              <a:ext uri="{FF2B5EF4-FFF2-40B4-BE49-F238E27FC236}">
                <a16:creationId xmlns:a16="http://schemas.microsoft.com/office/drawing/2014/main" id="{9BDCB9F9-7B46-0612-EFD8-D3B0996EFE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1503" y="2669736"/>
            <a:ext cx="2133088" cy="1406246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</a:t>
            </a:r>
          </a:p>
          <a:p>
            <a:pPr lvl="2"/>
            <a:r>
              <a:rPr lang="en-GB" dirty="0"/>
              <a:t>S</a:t>
            </a:r>
          </a:p>
          <a:p>
            <a:pPr lvl="3"/>
            <a:r>
              <a:rPr lang="en-GB" dirty="0"/>
              <a:t>S</a:t>
            </a:r>
          </a:p>
          <a:p>
            <a:pPr lvl="1"/>
            <a:endParaRPr lang="en-GB" dirty="0"/>
          </a:p>
        </p:txBody>
      </p:sp>
      <p:grpSp>
        <p:nvGrpSpPr>
          <p:cNvPr id="14" name="Google Shape;121;p17">
            <a:extLst>
              <a:ext uri="{FF2B5EF4-FFF2-40B4-BE49-F238E27FC236}">
                <a16:creationId xmlns:a16="http://schemas.microsoft.com/office/drawing/2014/main" id="{1C459823-5EA1-51BE-1272-55DCC417EE97}"/>
              </a:ext>
            </a:extLst>
          </p:cNvPr>
          <p:cNvGrpSpPr/>
          <p:nvPr userDrawn="1"/>
        </p:nvGrpSpPr>
        <p:grpSpPr>
          <a:xfrm>
            <a:off x="5307088" y="2351268"/>
            <a:ext cx="285074" cy="283091"/>
            <a:chOff x="4858109" y="2631368"/>
            <a:chExt cx="316442" cy="315000"/>
          </a:xfrm>
        </p:grpSpPr>
        <p:sp>
          <p:nvSpPr>
            <p:cNvPr id="15" name="Google Shape;122;p17">
              <a:extLst>
                <a:ext uri="{FF2B5EF4-FFF2-40B4-BE49-F238E27FC236}">
                  <a16:creationId xmlns:a16="http://schemas.microsoft.com/office/drawing/2014/main" id="{62CBE027-9459-EBBE-2B10-D35302965124}"/>
                </a:ext>
              </a:extLst>
            </p:cNvPr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6" name="Google Shape;123;p17">
              <a:extLst>
                <a:ext uri="{FF2B5EF4-FFF2-40B4-BE49-F238E27FC236}">
                  <a16:creationId xmlns:a16="http://schemas.microsoft.com/office/drawing/2014/main" id="{B41D7853-8DA7-F9F2-44AE-2DA5E445F193}"/>
                </a:ext>
              </a:extLst>
            </p:cNvPr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3139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050"/>
              </a:br>
              <a:endParaRPr sz="1050"/>
            </a:p>
          </p:txBody>
        </p:sp>
      </p:grp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8737CE3B-4AC9-C5F6-530D-15F5C07B21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34527" y="2717789"/>
            <a:ext cx="2935050" cy="1358193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D</a:t>
            </a:r>
          </a:p>
          <a:p>
            <a:pPr lvl="2"/>
            <a:r>
              <a:rPr lang="en-GB" dirty="0"/>
              <a:t>D</a:t>
            </a:r>
          </a:p>
          <a:p>
            <a:pPr lvl="3"/>
            <a:r>
              <a:rPr lang="en-GB" dirty="0"/>
              <a:t>D</a:t>
            </a:r>
          </a:p>
          <a:p>
            <a:pPr lvl="0"/>
            <a:endParaRPr lang="en-GB" dirty="0"/>
          </a:p>
        </p:txBody>
      </p:sp>
      <p:sp>
        <p:nvSpPr>
          <p:cNvPr id="18" name="Google Shape;51;p10">
            <a:extLst>
              <a:ext uri="{FF2B5EF4-FFF2-40B4-BE49-F238E27FC236}">
                <a16:creationId xmlns:a16="http://schemas.microsoft.com/office/drawing/2014/main" id="{F293C96B-3E37-5291-2DA6-404031F56228}"/>
              </a:ext>
            </a:extLst>
          </p:cNvPr>
          <p:cNvSpPr/>
          <p:nvPr userDrawn="1"/>
        </p:nvSpPr>
        <p:spPr>
          <a:xfrm>
            <a:off x="0" y="-1761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CF06B36E-CD52-C4E6-313F-9E502C530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7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road through a forest&#10;&#10;Description automatically generated">
            <a:extLst>
              <a:ext uri="{FF2B5EF4-FFF2-40B4-BE49-F238E27FC236}">
                <a16:creationId xmlns:a16="http://schemas.microsoft.com/office/drawing/2014/main" id="{DDDCA30F-C73B-7792-5A30-082600B01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42" b="9757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Google Shape;51;p10">
            <a:extLst>
              <a:ext uri="{FF2B5EF4-FFF2-40B4-BE49-F238E27FC236}">
                <a16:creationId xmlns:a16="http://schemas.microsoft.com/office/drawing/2014/main" id="{199843A6-062D-2226-E952-6C57D99A91B9}"/>
              </a:ext>
            </a:extLst>
          </p:cNvPr>
          <p:cNvSpPr/>
          <p:nvPr userDrawn="1"/>
        </p:nvSpPr>
        <p:spPr>
          <a:xfrm>
            <a:off x="0" y="-1761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grpSp>
        <p:nvGrpSpPr>
          <p:cNvPr id="6" name="Google Shape;339;p36">
            <a:extLst>
              <a:ext uri="{FF2B5EF4-FFF2-40B4-BE49-F238E27FC236}">
                <a16:creationId xmlns:a16="http://schemas.microsoft.com/office/drawing/2014/main" id="{10D23BDC-026D-9138-9BEA-C86C67FE5280}"/>
              </a:ext>
            </a:extLst>
          </p:cNvPr>
          <p:cNvGrpSpPr/>
          <p:nvPr userDrawn="1"/>
        </p:nvGrpSpPr>
        <p:grpSpPr>
          <a:xfrm>
            <a:off x="1769322" y="1591346"/>
            <a:ext cx="5614185" cy="754878"/>
            <a:chOff x="1492524" y="2322568"/>
            <a:chExt cx="6214597" cy="643500"/>
          </a:xfrm>
        </p:grpSpPr>
        <p:sp>
          <p:nvSpPr>
            <p:cNvPr id="7" name="Google Shape;340;p36">
              <a:extLst>
                <a:ext uri="{FF2B5EF4-FFF2-40B4-BE49-F238E27FC236}">
                  <a16:creationId xmlns:a16="http://schemas.microsoft.com/office/drawing/2014/main" id="{3FD785EB-CA04-6EE1-73AA-B3F8E38737A2}"/>
                </a:ext>
              </a:extLst>
            </p:cNvPr>
            <p:cNvSpPr/>
            <p:nvPr/>
          </p:nvSpPr>
          <p:spPr>
            <a:xfrm>
              <a:off x="3728375" y="2322568"/>
              <a:ext cx="3978746" cy="643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dirty="0"/>
            </a:p>
          </p:txBody>
        </p:sp>
        <p:sp>
          <p:nvSpPr>
            <p:cNvPr id="8" name="Google Shape;341;p36">
              <a:extLst>
                <a:ext uri="{FF2B5EF4-FFF2-40B4-BE49-F238E27FC236}">
                  <a16:creationId xmlns:a16="http://schemas.microsoft.com/office/drawing/2014/main" id="{1F029C64-2B41-C891-BC81-2B458418B65A}"/>
                </a:ext>
              </a:extLst>
            </p:cNvPr>
            <p:cNvSpPr/>
            <p:nvPr/>
          </p:nvSpPr>
          <p:spPr>
            <a:xfrm flipH="1">
              <a:off x="2139073" y="2322575"/>
              <a:ext cx="1988352" cy="642600"/>
            </a:xfrm>
            <a:prstGeom prst="rect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" name="Google Shape;342;p36">
              <a:extLst>
                <a:ext uri="{FF2B5EF4-FFF2-40B4-BE49-F238E27FC236}">
                  <a16:creationId xmlns:a16="http://schemas.microsoft.com/office/drawing/2014/main" id="{30CCFF64-A5C4-34A9-8847-C939D0C163EA}"/>
                </a:ext>
              </a:extLst>
            </p:cNvPr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0" name="Google Shape;345;p36">
              <a:extLst>
                <a:ext uri="{FF2B5EF4-FFF2-40B4-BE49-F238E27FC236}">
                  <a16:creationId xmlns:a16="http://schemas.microsoft.com/office/drawing/2014/main" id="{9540466A-1027-4721-CC2E-6F96DFE7C346}"/>
                </a:ext>
              </a:extLst>
            </p:cNvPr>
            <p:cNvSpPr/>
            <p:nvPr/>
          </p:nvSpPr>
          <p:spPr>
            <a:xfrm>
              <a:off x="1492524" y="2322575"/>
              <a:ext cx="690000" cy="642600"/>
            </a:xfrm>
            <a:prstGeom prst="rect">
              <a:avLst/>
            </a:prstGeom>
            <a:solidFill>
              <a:srgbClr val="B85641"/>
            </a:solidFill>
            <a:ln>
              <a:solidFill>
                <a:srgbClr val="B8564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50" b="1" dirty="0">
                  <a:solidFill>
                    <a:srgbClr val="FFFFFF"/>
                  </a:solidFill>
                  <a:latin typeface="Merriweather" pitchFamily="2" charset="77"/>
                  <a:ea typeface="Roboto Thin"/>
                  <a:cs typeface="Roboto Thin"/>
                  <a:sym typeface="Roboto Thin"/>
                </a:rPr>
                <a:t>01</a:t>
              </a:r>
              <a:endParaRPr sz="1950" b="1" dirty="0">
                <a:solidFill>
                  <a:srgbClr val="FFFFFF"/>
                </a:solidFill>
                <a:latin typeface="Merriweather" pitchFamily="2" charset="77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1" name="Google Shape;347;p36">
            <a:extLst>
              <a:ext uri="{FF2B5EF4-FFF2-40B4-BE49-F238E27FC236}">
                <a16:creationId xmlns:a16="http://schemas.microsoft.com/office/drawing/2014/main" id="{6F1D57E8-8B56-A6B3-5FCD-C322F8DDFF8B}"/>
              </a:ext>
            </a:extLst>
          </p:cNvPr>
          <p:cNvGrpSpPr/>
          <p:nvPr userDrawn="1"/>
        </p:nvGrpSpPr>
        <p:grpSpPr>
          <a:xfrm>
            <a:off x="1769323" y="2656467"/>
            <a:ext cx="5614184" cy="754712"/>
            <a:chOff x="1492526" y="2322567"/>
            <a:chExt cx="6214593" cy="643501"/>
          </a:xfrm>
        </p:grpSpPr>
        <p:sp>
          <p:nvSpPr>
            <p:cNvPr id="12" name="Google Shape;348;p36">
              <a:extLst>
                <a:ext uri="{FF2B5EF4-FFF2-40B4-BE49-F238E27FC236}">
                  <a16:creationId xmlns:a16="http://schemas.microsoft.com/office/drawing/2014/main" id="{5EA7BF30-5BB4-8141-BFDD-9A83056DF1F5}"/>
                </a:ext>
              </a:extLst>
            </p:cNvPr>
            <p:cNvSpPr/>
            <p:nvPr/>
          </p:nvSpPr>
          <p:spPr>
            <a:xfrm>
              <a:off x="3728375" y="2322568"/>
              <a:ext cx="3978744" cy="643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dirty="0"/>
            </a:p>
          </p:txBody>
        </p:sp>
        <p:sp>
          <p:nvSpPr>
            <p:cNvPr id="13" name="Google Shape;349;p36">
              <a:extLst>
                <a:ext uri="{FF2B5EF4-FFF2-40B4-BE49-F238E27FC236}">
                  <a16:creationId xmlns:a16="http://schemas.microsoft.com/office/drawing/2014/main" id="{90A238B9-C92D-D780-7073-DC9737C01217}"/>
                </a:ext>
              </a:extLst>
            </p:cNvPr>
            <p:cNvSpPr/>
            <p:nvPr/>
          </p:nvSpPr>
          <p:spPr>
            <a:xfrm flipH="1">
              <a:off x="2182525" y="2322575"/>
              <a:ext cx="1944900" cy="642600"/>
            </a:xfrm>
            <a:prstGeom prst="rect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4" name="Google Shape;350;p36">
              <a:extLst>
                <a:ext uri="{FF2B5EF4-FFF2-40B4-BE49-F238E27FC236}">
                  <a16:creationId xmlns:a16="http://schemas.microsoft.com/office/drawing/2014/main" id="{AD7CE73A-B86F-A9E9-8B5C-87200AE44C06}"/>
                </a:ext>
              </a:extLst>
            </p:cNvPr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5" name="Google Shape;353;p36">
              <a:extLst>
                <a:ext uri="{FF2B5EF4-FFF2-40B4-BE49-F238E27FC236}">
                  <a16:creationId xmlns:a16="http://schemas.microsoft.com/office/drawing/2014/main" id="{3137DD22-61A7-0540-76B9-E0B5F90BB204}"/>
                </a:ext>
              </a:extLst>
            </p:cNvPr>
            <p:cNvSpPr/>
            <p:nvPr userDrawn="1"/>
          </p:nvSpPr>
          <p:spPr>
            <a:xfrm>
              <a:off x="1492526" y="2322567"/>
              <a:ext cx="690000" cy="642600"/>
            </a:xfrm>
            <a:prstGeom prst="rect">
              <a:avLst/>
            </a:prstGeom>
            <a:solidFill>
              <a:srgbClr val="B85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50" b="1" dirty="0">
                  <a:solidFill>
                    <a:srgbClr val="FFFFFF"/>
                  </a:solidFill>
                  <a:latin typeface="Merriweather" pitchFamily="2" charset="77"/>
                  <a:ea typeface="Roboto Thin"/>
                  <a:cs typeface="Roboto Thin"/>
                  <a:sym typeface="Roboto Thin"/>
                </a:rPr>
                <a:t>02</a:t>
              </a:r>
              <a:endParaRPr sz="1950" b="1" dirty="0">
                <a:solidFill>
                  <a:srgbClr val="FFFFFF"/>
                </a:solidFill>
                <a:latin typeface="Merriweather" pitchFamily="2" charset="77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6" name="Google Shape;355;p36">
            <a:extLst>
              <a:ext uri="{FF2B5EF4-FFF2-40B4-BE49-F238E27FC236}">
                <a16:creationId xmlns:a16="http://schemas.microsoft.com/office/drawing/2014/main" id="{AE1C90D6-52DD-94D8-935C-E53D03951799}"/>
              </a:ext>
            </a:extLst>
          </p:cNvPr>
          <p:cNvGrpSpPr/>
          <p:nvPr userDrawn="1"/>
        </p:nvGrpSpPr>
        <p:grpSpPr>
          <a:xfrm>
            <a:off x="1774867" y="3723011"/>
            <a:ext cx="5608640" cy="753480"/>
            <a:chOff x="1477881" y="2322417"/>
            <a:chExt cx="6264182" cy="643651"/>
          </a:xfrm>
        </p:grpSpPr>
        <p:sp>
          <p:nvSpPr>
            <p:cNvPr id="17" name="Google Shape;356;p36">
              <a:extLst>
                <a:ext uri="{FF2B5EF4-FFF2-40B4-BE49-F238E27FC236}">
                  <a16:creationId xmlns:a16="http://schemas.microsoft.com/office/drawing/2014/main" id="{63AF99DD-6AC7-9C01-1356-AA3A10E73F80}"/>
                </a:ext>
              </a:extLst>
            </p:cNvPr>
            <p:cNvSpPr/>
            <p:nvPr/>
          </p:nvSpPr>
          <p:spPr>
            <a:xfrm>
              <a:off x="3728375" y="2322568"/>
              <a:ext cx="4013688" cy="643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dirty="0"/>
            </a:p>
          </p:txBody>
        </p:sp>
        <p:sp>
          <p:nvSpPr>
            <p:cNvPr id="18" name="Google Shape;357;p36">
              <a:extLst>
                <a:ext uri="{FF2B5EF4-FFF2-40B4-BE49-F238E27FC236}">
                  <a16:creationId xmlns:a16="http://schemas.microsoft.com/office/drawing/2014/main" id="{C7A132C8-E5C4-90A8-BB59-E26D80CDF326}"/>
                </a:ext>
              </a:extLst>
            </p:cNvPr>
            <p:cNvSpPr/>
            <p:nvPr/>
          </p:nvSpPr>
          <p:spPr>
            <a:xfrm flipH="1">
              <a:off x="2165068" y="2322575"/>
              <a:ext cx="1962357" cy="642600"/>
            </a:xfrm>
            <a:prstGeom prst="rect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9" name="Google Shape;358;p36">
              <a:extLst>
                <a:ext uri="{FF2B5EF4-FFF2-40B4-BE49-F238E27FC236}">
                  <a16:creationId xmlns:a16="http://schemas.microsoft.com/office/drawing/2014/main" id="{6EA2F57C-7C58-1652-03D9-5998EE423497}"/>
                </a:ext>
              </a:extLst>
            </p:cNvPr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20" name="Google Shape;361;p36">
              <a:extLst>
                <a:ext uri="{FF2B5EF4-FFF2-40B4-BE49-F238E27FC236}">
                  <a16:creationId xmlns:a16="http://schemas.microsoft.com/office/drawing/2014/main" id="{1FF3B7BE-60E4-E708-ED2E-CFBE2FF6B042}"/>
                </a:ext>
              </a:extLst>
            </p:cNvPr>
            <p:cNvSpPr/>
            <p:nvPr/>
          </p:nvSpPr>
          <p:spPr>
            <a:xfrm>
              <a:off x="1477881" y="2322417"/>
              <a:ext cx="690000" cy="642600"/>
            </a:xfrm>
            <a:prstGeom prst="rect">
              <a:avLst/>
            </a:prstGeom>
            <a:solidFill>
              <a:srgbClr val="B85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50" b="1" dirty="0">
                  <a:solidFill>
                    <a:srgbClr val="FFFFFF"/>
                  </a:solidFill>
                  <a:latin typeface="Merriweather" pitchFamily="2" charset="77"/>
                  <a:ea typeface="Roboto Thin"/>
                  <a:cs typeface="Roboto Thin"/>
                  <a:sym typeface="Roboto Thin"/>
                </a:rPr>
                <a:t>03</a:t>
              </a:r>
              <a:endParaRPr sz="1950" b="1" dirty="0">
                <a:solidFill>
                  <a:srgbClr val="FFFFFF"/>
                </a:solidFill>
                <a:latin typeface="Merriweather" pitchFamily="2" charset="77"/>
                <a:ea typeface="Roboto Thin"/>
                <a:cs typeface="Roboto Thin"/>
                <a:sym typeface="Roboto Thin"/>
              </a:endParaRPr>
            </a:p>
          </p:txBody>
        </p:sp>
      </p:grpSp>
      <p:sp>
        <p:nvSpPr>
          <p:cNvPr id="21" name="Text Placeholder 22">
            <a:extLst>
              <a:ext uri="{FF2B5EF4-FFF2-40B4-BE49-F238E27FC236}">
                <a16:creationId xmlns:a16="http://schemas.microsoft.com/office/drawing/2014/main" id="{354A4B30-33BC-24B4-89C5-0AEF29D559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5731" y="1691334"/>
            <a:ext cx="1796252" cy="4770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4CB2964B-0F75-AACD-34EF-C73A238AED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04775" y="2728294"/>
            <a:ext cx="1796252" cy="4770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FC46BC9-6AAA-4942-489F-5B39FF3C68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32374" y="3822606"/>
            <a:ext cx="1796252" cy="4770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F0EF6396-B41D-A320-0DCF-0D99672802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8111" y="1627265"/>
            <a:ext cx="2643386" cy="681631"/>
          </a:xfrm>
          <a:prstGeom prst="rect">
            <a:avLst/>
          </a:prstGeom>
        </p:spPr>
        <p:txBody>
          <a:bodyPr/>
          <a:lstStyle>
            <a:lvl1pPr marL="0" indent="-128588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 b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90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95D3D73-7F59-20F8-D53C-5FF51D31A1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8006" y="2692478"/>
            <a:ext cx="2643386" cy="681631"/>
          </a:xfrm>
          <a:prstGeom prst="rect">
            <a:avLst/>
          </a:prstGeom>
        </p:spPr>
        <p:txBody>
          <a:bodyPr/>
          <a:lstStyle>
            <a:lvl1pPr marL="0" indent="-128588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 b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90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4AE2E838-E0DB-35ED-E9C6-91876CBA77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118" y="3758320"/>
            <a:ext cx="2643386" cy="681631"/>
          </a:xfrm>
          <a:prstGeom prst="rect">
            <a:avLst/>
          </a:prstGeom>
        </p:spPr>
        <p:txBody>
          <a:bodyPr/>
          <a:lstStyle>
            <a:lvl1pPr marL="0" indent="-128588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 b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90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D1DEBF63-1364-A7A9-80BB-0D563116D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77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1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ctrTitle"/>
          </p:nvPr>
        </p:nvSpPr>
        <p:spPr>
          <a:xfrm>
            <a:off x="420053" y="481076"/>
            <a:ext cx="7823835" cy="1790700"/>
          </a:xfr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br>
              <a:rPr lang="en" dirty="0"/>
            </a:br>
            <a:br>
              <a:rPr lang="en" dirty="0"/>
            </a:br>
            <a:r>
              <a:rPr lang="en" dirty="0"/>
              <a:t>KPI Bonds (Overview)</a:t>
            </a:r>
            <a:endParaRPr lang="en-US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420053" y="2428875"/>
            <a:ext cx="4629150" cy="481076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ym typeface="Merriweather"/>
              </a:rPr>
              <a:t>Unlocking Private Capital to Incentivize Global Public Good Provision</a:t>
            </a:r>
            <a:endParaRPr lang="en" dirty="0"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sz="quarter" idx="10"/>
          </p:nvPr>
        </p:nvSpPr>
        <p:spPr>
          <a:xfrm>
            <a:off x="6827745" y="3761815"/>
            <a:ext cx="2047175" cy="118166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ym typeface="Merriweather"/>
              </a:rPr>
              <a:t>Marcello </a:t>
            </a:r>
            <a:r>
              <a:rPr lang="en-GB" dirty="0" err="1">
                <a:sym typeface="Merriweather"/>
              </a:rPr>
              <a:t>Estevão</a:t>
            </a:r>
            <a:endParaRPr lang="en-GB" dirty="0">
              <a:sym typeface="Merriweather"/>
            </a:endParaRPr>
          </a:p>
          <a:p>
            <a:pPr lvl="0"/>
            <a:r>
              <a:rPr lang="en-GB" dirty="0">
                <a:sym typeface="Merriweather"/>
              </a:rPr>
              <a:t>Nils (Jasper) Zimmermann</a:t>
            </a:r>
          </a:p>
          <a:p>
            <a:pPr lvl="0"/>
            <a:r>
              <a:rPr lang="en-GB" dirty="0">
                <a:sym typeface="Merriweather"/>
              </a:rPr>
              <a:t>Stephen Stretton</a:t>
            </a:r>
          </a:p>
          <a:p>
            <a:pPr lvl="0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326106-885B-06BE-4FE8-E02F379DF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2393" y="396345"/>
            <a:ext cx="3684662" cy="481076"/>
          </a:xfrm>
        </p:spPr>
        <p:txBody>
          <a:bodyPr>
            <a:normAutofit fontScale="92500" lnSpcReduction="20000"/>
          </a:bodyPr>
          <a:lstStyle/>
          <a:p>
            <a:r>
              <a:rPr lang="en" dirty="0">
                <a:sym typeface="Merriweather"/>
              </a:rPr>
              <a:t>Contents</a:t>
            </a:r>
            <a:endParaRPr lang="en-US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sz="quarter" idx="11"/>
          </p:nvPr>
        </p:nvSpPr>
        <p:spPr>
          <a:xfrm>
            <a:off x="5012393" y="1007877"/>
            <a:ext cx="3953434" cy="3984344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1638" indent="-401638">
              <a:spcAft>
                <a:spcPts val="600"/>
              </a:spcAft>
            </a:pPr>
            <a:r>
              <a:rPr lang="en-GB" b="1" noProof="0" dirty="0">
                <a:sym typeface="Merriweather"/>
              </a:rPr>
              <a:t>Narrative</a:t>
            </a:r>
            <a:r>
              <a:rPr lang="en-GB" b="1" dirty="0">
                <a:sym typeface="Merriweather"/>
              </a:rPr>
              <a:t>: </a:t>
            </a:r>
            <a:r>
              <a:rPr lang="en-GB" dirty="0">
                <a:sym typeface="Merriweather"/>
              </a:rPr>
              <a:t>Why KPI Bonds?</a:t>
            </a:r>
          </a:p>
          <a:p>
            <a:pPr marL="401638" indent="-401638">
              <a:spcAft>
                <a:spcPts val="600"/>
              </a:spcAft>
            </a:pPr>
            <a:r>
              <a:rPr lang="en-GB" b="1" dirty="0">
                <a:sym typeface="Merriweather"/>
              </a:rPr>
              <a:t>Sustainability-Linked-Bonds:</a:t>
            </a:r>
            <a:r>
              <a:rPr lang="en-GB" dirty="0">
                <a:sym typeface="Merriweather"/>
              </a:rPr>
              <a:t> Basic Concept &amp; Shortcomings</a:t>
            </a:r>
          </a:p>
          <a:p>
            <a:pPr marL="401638" indent="-401638">
              <a:spcAft>
                <a:spcPts val="600"/>
              </a:spcAft>
            </a:pPr>
            <a:r>
              <a:rPr lang="en-GB" b="1" noProof="0" dirty="0">
                <a:sym typeface="Merriweather"/>
              </a:rPr>
              <a:t>KPI Bonds: </a:t>
            </a:r>
            <a:r>
              <a:rPr lang="en-GB" noProof="0" dirty="0">
                <a:sym typeface="Merriweather"/>
              </a:rPr>
              <a:t>Basic Concept</a:t>
            </a:r>
            <a:endParaRPr lang="en-GB" dirty="0">
              <a:solidFill>
                <a:schemeClr val="dk2"/>
              </a:solidFill>
            </a:endParaRPr>
          </a:p>
          <a:p>
            <a:pPr marL="401638" indent="-401638">
              <a:spcAft>
                <a:spcPts val="600"/>
              </a:spcAft>
            </a:pPr>
            <a:r>
              <a:rPr lang="en-GB" b="1" dirty="0">
                <a:sym typeface="Merriweather"/>
              </a:rPr>
              <a:t>Option One: </a:t>
            </a:r>
            <a:r>
              <a:rPr lang="en-GB" dirty="0">
                <a:sym typeface="Merriweather"/>
              </a:rPr>
              <a:t>WB Side Payments</a:t>
            </a:r>
          </a:p>
          <a:p>
            <a:pPr marL="401638" indent="-401638">
              <a:spcAft>
                <a:spcPts val="600"/>
              </a:spcAft>
            </a:pPr>
            <a:r>
              <a:rPr lang="en-GB" b="1" dirty="0">
                <a:sym typeface="Merriweather"/>
              </a:rPr>
              <a:t>Option Two: </a:t>
            </a:r>
            <a:r>
              <a:rPr lang="en-GB" dirty="0">
                <a:sym typeface="Merriweather"/>
              </a:rPr>
              <a:t>Trusted Intermediary</a:t>
            </a:r>
            <a:r>
              <a:rPr lang="en-GB" b="1" dirty="0">
                <a:sym typeface="Merriweather"/>
              </a:rPr>
              <a:t>	</a:t>
            </a:r>
          </a:p>
          <a:p>
            <a:pPr marL="401638" indent="-401638">
              <a:spcAft>
                <a:spcPts val="600"/>
              </a:spcAft>
            </a:pPr>
            <a:r>
              <a:rPr lang="en-GB" b="1" noProof="0" dirty="0">
                <a:sym typeface="Merriweather"/>
              </a:rPr>
              <a:t>Development Partner Role</a:t>
            </a:r>
          </a:p>
          <a:p>
            <a:pPr marL="401638" indent="-401638">
              <a:spcAft>
                <a:spcPts val="600"/>
              </a:spcAft>
            </a:pPr>
            <a:r>
              <a:rPr lang="en-GB" b="1" dirty="0">
                <a:sym typeface="Merriweather"/>
              </a:rPr>
              <a:t>Structuring KPIs</a:t>
            </a:r>
            <a:endParaRPr lang="en-GB" b="1" noProof="0" dirty="0">
              <a:sym typeface="Merriweather"/>
            </a:endParaRPr>
          </a:p>
          <a:p>
            <a:pPr marL="401638" indent="-401638">
              <a:spcAft>
                <a:spcPts val="600"/>
              </a:spcAft>
            </a:pPr>
            <a:r>
              <a:rPr lang="en-GB" b="1" noProof="0" dirty="0">
                <a:sym typeface="Merriweather"/>
              </a:rPr>
              <a:t>Conclusions</a:t>
            </a:r>
            <a:endParaRPr lang="en-US"/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22F67B-3AE7-59D9-AE46-9FE4EF72C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Narrative</a:t>
            </a:r>
          </a:p>
          <a:p>
            <a:r>
              <a:rPr lang="en-US" dirty="0"/>
              <a:t>Why KPI Bonds?</a:t>
            </a:r>
          </a:p>
        </p:txBody>
      </p:sp>
    </p:spTree>
    <p:extLst>
      <p:ext uri="{BB962C8B-B14F-4D97-AF65-F5344CB8AC3E}">
        <p14:creationId xmlns:p14="http://schemas.microsoft.com/office/powerpoint/2010/main" val="70190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CD7F9D9-A72E-8BF2-8745-3BF845CBE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Why KPI Bonds?</a:t>
            </a:r>
          </a:p>
        </p:txBody>
      </p:sp>
      <p:grpSp>
        <p:nvGrpSpPr>
          <p:cNvPr id="106" name="Google Shape;106;p17"/>
          <p:cNvGrpSpPr/>
          <p:nvPr/>
        </p:nvGrpSpPr>
        <p:grpSpPr>
          <a:xfrm>
            <a:off x="3102321" y="1697166"/>
            <a:ext cx="2755134" cy="2791145"/>
            <a:chOff x="3071454" y="2013875"/>
            <a:chExt cx="2154300" cy="1569600"/>
          </a:xfrm>
        </p:grpSpPr>
        <p:sp>
          <p:nvSpPr>
            <p:cNvPr id="107" name="Google Shape;107;p17"/>
            <p:cNvSpPr/>
            <p:nvPr/>
          </p:nvSpPr>
          <p:spPr>
            <a:xfrm rot="10800000" flipH="1">
              <a:off x="3071454" y="2013875"/>
              <a:ext cx="21543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3276566" y="2256376"/>
              <a:ext cx="1557900" cy="4599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Existing structures to incentivize countries and mobilize capital are limited.</a:t>
              </a:r>
              <a:endParaRPr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3233808" y="2597081"/>
              <a:ext cx="1647300" cy="552794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1600"/>
                </a:spcAft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Sustainability Linked Bonds are a step in the right direction, but have flaws from the perspectives of investors and governments.</a:t>
              </a:r>
              <a:endParaRPr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p17"/>
          <p:cNvGrpSpPr/>
          <p:nvPr/>
        </p:nvGrpSpPr>
        <p:grpSpPr>
          <a:xfrm>
            <a:off x="508956" y="1697303"/>
            <a:ext cx="2588704" cy="2788108"/>
            <a:chOff x="1126863" y="2013875"/>
            <a:chExt cx="1944600" cy="1569600"/>
          </a:xfrm>
        </p:grpSpPr>
        <p:sp>
          <p:nvSpPr>
            <p:cNvPr id="111" name="Google Shape;111;p17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1351627" y="2129157"/>
              <a:ext cx="1451700" cy="555427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The world needs more </a:t>
              </a:r>
              <a:r>
                <a:rPr lang="en" sz="11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mitigation policy action.</a:t>
              </a:r>
              <a:endParaRPr lang="en" dirty="0">
                <a:ea typeface="Roboto"/>
              </a:endParaRPr>
            </a:p>
            <a:p>
              <a:pPr>
                <a:spcBef>
                  <a:spcPts val="600"/>
                </a:spcBef>
              </a:pPr>
              <a:r>
                <a:rPr lang="en-US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Most future emissions will come from Emerging Markets and Developing Economies. </a:t>
              </a:r>
              <a:endParaRPr lang="en" dirty="0"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1351295" y="2840192"/>
              <a:ext cx="1605799" cy="359577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spcAft>
                  <a:spcPts val="600"/>
                </a:spcAft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Developing countries need </a:t>
              </a:r>
              <a:r>
                <a:rPr lang="en" sz="11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access to cheap finance.</a:t>
              </a:r>
              <a:endParaRPr lang="en-US" dirty="0"/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Necessary capital for the transition will need to come mostly from </a:t>
              </a:r>
              <a:r>
                <a:rPr lang="en-US" sz="1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private sources.</a:t>
              </a:r>
              <a:endParaRPr lang="en" sz="1000" b="1" dirty="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  <a:p>
              <a:pPr>
                <a:lnSpc>
                  <a:spcPct val="114999"/>
                </a:lnSpc>
                <a:spcAft>
                  <a:spcPts val="1600"/>
                </a:spcAft>
              </a:pPr>
              <a:endParaRPr lang="en" sz="1100" b="1" dirty="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5636125" y="1697031"/>
            <a:ext cx="2752652" cy="2791280"/>
            <a:chOff x="5015938" y="2013875"/>
            <a:chExt cx="3001200" cy="1569600"/>
          </a:xfrm>
        </p:grpSpPr>
        <p:sp>
          <p:nvSpPr>
            <p:cNvPr id="115" name="Google Shape;115;p17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5360226" y="2256387"/>
              <a:ext cx="2417100" cy="33135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KPI Bonds are a better alternative.</a:t>
              </a:r>
              <a:endParaRPr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5360225" y="2513668"/>
              <a:ext cx="2557611" cy="789579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indent="-171450">
                <a:lnSpc>
                  <a:spcPct val="11500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KPI bonds would benefit governments and ensure robust climate action.</a:t>
              </a:r>
            </a:p>
            <a:p>
              <a:pPr marL="171450" indent="-171450">
                <a:lnSpc>
                  <a:spcPct val="11500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KPI bonds would have less variable returns for investors.</a:t>
              </a:r>
            </a:p>
            <a:p>
              <a:pPr marL="171450" indent="-171450">
                <a:lnSpc>
                  <a:spcPct val="11500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With support from development partners, KPI bonds can be implemented with a clear framework and monitoring system.</a:t>
              </a:r>
              <a:endParaRPr lang="en-GB" sz="1000" dirty="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  <a:p>
              <a:pPr>
                <a:lnSpc>
                  <a:spcPct val="115000"/>
                </a:lnSpc>
                <a:spcAft>
                  <a:spcPts val="1600"/>
                </a:spcAft>
              </a:pPr>
              <a:endParaRPr sz="1000" dirty="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5566253" y="2455699"/>
            <a:ext cx="261571" cy="260379"/>
            <a:chOff x="4858109" y="2631368"/>
            <a:chExt cx="316442" cy="315000"/>
          </a:xfrm>
        </p:grpSpPr>
        <p:sp>
          <p:nvSpPr>
            <p:cNvPr id="119" name="Google Shape;119;p17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2945409" y="2460751"/>
            <a:ext cx="261571" cy="260379"/>
            <a:chOff x="4858109" y="2631368"/>
            <a:chExt cx="316442" cy="315000"/>
          </a:xfrm>
        </p:grpSpPr>
        <p:sp>
          <p:nvSpPr>
            <p:cNvPr id="122" name="Google Shape;122;p17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9700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EA66F-CE18-9AC7-AC5F-571B97700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Sustainability-Linked Bonds</a:t>
            </a:r>
          </a:p>
          <a:p>
            <a:pPr lvl="0"/>
            <a:r>
              <a:rPr lang="en-GB" dirty="0"/>
              <a:t>Basic Concept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CDCF75D-DEF7-1CB8-9BD3-DD2AA95DE02B}"/>
              </a:ext>
            </a:extLst>
          </p:cNvPr>
          <p:cNvSpPr/>
          <p:nvPr/>
        </p:nvSpPr>
        <p:spPr>
          <a:xfrm>
            <a:off x="4762030" y="1365228"/>
            <a:ext cx="4204170" cy="3611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GB" dirty="0"/>
              <a:t>Sustainability-Linked Bonds (SLBs)</a:t>
            </a:r>
          </a:p>
        </p:txBody>
      </p:sp>
      <p:sp>
        <p:nvSpPr>
          <p:cNvPr id="160" name="Google Shape;160;p21"/>
          <p:cNvSpPr txBox="1">
            <a:spLocks noGrp="1"/>
          </p:cNvSpPr>
          <p:nvPr>
            <p:ph type="body" sz="quarter" idx="10"/>
          </p:nvPr>
        </p:nvSpPr>
        <p:spPr>
          <a:xfrm>
            <a:off x="293300" y="1298122"/>
            <a:ext cx="4008680" cy="3465738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US" b="1" dirty="0"/>
              <a:t>As a country achieves sustainability-related Key Performance Indicators (KPIs): </a:t>
            </a:r>
          </a:p>
          <a:p>
            <a:pPr lvl="1"/>
            <a:r>
              <a:rPr lang="en-US" dirty="0">
                <a:solidFill>
                  <a:srgbClr val="002F4A"/>
                </a:solidFill>
              </a:rPr>
              <a:t>Coupon payments on sovereign-issued SLBs are reduced and investors receive lower coupons (step-down mechanism). </a:t>
            </a:r>
          </a:p>
          <a:p>
            <a:r>
              <a:rPr lang="en-US" b="1" dirty="0"/>
              <a:t>Conversely, if KPIs are not achieved: </a:t>
            </a:r>
          </a:p>
          <a:p>
            <a:pPr lvl="1"/>
            <a:r>
              <a:rPr lang="en-US" dirty="0">
                <a:solidFill>
                  <a:srgbClr val="002F4A"/>
                </a:solidFill>
              </a:rPr>
              <a:t>Sovereign pays higher coupon payments (step-up mechanism). </a:t>
            </a:r>
            <a:endParaRPr lang="en-US" dirty="0"/>
          </a:p>
          <a:p>
            <a:r>
              <a:rPr lang="en-US" b="1" dirty="0"/>
              <a:t>Investor Perspective: </a:t>
            </a:r>
          </a:p>
          <a:p>
            <a:pPr lvl="1"/>
            <a:r>
              <a:rPr lang="en-US" dirty="0">
                <a:solidFill>
                  <a:srgbClr val="002F4A"/>
                </a:solidFill>
              </a:rPr>
              <a:t>Research shows investors are willing to accept a 4-7bps lower yield when bonds are linked to sustainability objectives (</a:t>
            </a:r>
            <a:r>
              <a:rPr lang="en-US" dirty="0" err="1">
                <a:solidFill>
                  <a:srgbClr val="002F4A"/>
                </a:solidFill>
              </a:rPr>
              <a:t>Feldhütter</a:t>
            </a:r>
            <a:r>
              <a:rPr lang="en-US" dirty="0">
                <a:solidFill>
                  <a:srgbClr val="002F4A"/>
                </a:solidFill>
              </a:rPr>
              <a:t> et al., 2023).</a:t>
            </a:r>
          </a:p>
        </p:txBody>
      </p:sp>
      <p:grpSp>
        <p:nvGrpSpPr>
          <p:cNvPr id="161" name="Google Shape;161;p21"/>
          <p:cNvGrpSpPr/>
          <p:nvPr/>
        </p:nvGrpSpPr>
        <p:grpSpPr>
          <a:xfrm>
            <a:off x="4928334" y="2322168"/>
            <a:ext cx="1827900" cy="2399700"/>
            <a:chOff x="2744034" y="1146343"/>
            <a:chExt cx="1827900" cy="2399700"/>
          </a:xfrm>
        </p:grpSpPr>
        <p:sp>
          <p:nvSpPr>
            <p:cNvPr id="162" name="Google Shape;162;p21"/>
            <p:cNvSpPr/>
            <p:nvPr/>
          </p:nvSpPr>
          <p:spPr>
            <a:xfrm rot="-5400000">
              <a:off x="2458134" y="1432243"/>
              <a:ext cx="2399700" cy="1827900"/>
            </a:xfrm>
            <a:prstGeom prst="rightArrowCallout">
              <a:avLst>
                <a:gd name="adj1" fmla="val 9283"/>
                <a:gd name="adj2" fmla="val 13570"/>
                <a:gd name="adj3" fmla="val 16082"/>
                <a:gd name="adj4" fmla="val 81236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1"/>
            <p:cNvSpPr/>
            <p:nvPr/>
          </p:nvSpPr>
          <p:spPr>
            <a:xfrm flipH="1">
              <a:off x="2832600" y="1686400"/>
              <a:ext cx="1649400" cy="1769700"/>
            </a:xfrm>
            <a:prstGeom prst="snip1Rect">
              <a:avLst>
                <a:gd name="adj" fmla="val 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1"/>
            <p:cNvSpPr txBox="1"/>
            <p:nvPr/>
          </p:nvSpPr>
          <p:spPr>
            <a:xfrm>
              <a:off x="2902875" y="1768450"/>
              <a:ext cx="1510200" cy="1605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sovereign receives an infusion of private investment, earmarked for climate financing and achieving its NDCs.</a:t>
              </a: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167" name="Google Shape;167;p21"/>
          <p:cNvGrpSpPr/>
          <p:nvPr/>
        </p:nvGrpSpPr>
        <p:grpSpPr>
          <a:xfrm>
            <a:off x="6934284" y="1597469"/>
            <a:ext cx="1827900" cy="2399700"/>
            <a:chOff x="4572084" y="1597469"/>
            <a:chExt cx="1827900" cy="2399700"/>
          </a:xfrm>
        </p:grpSpPr>
        <p:sp>
          <p:nvSpPr>
            <p:cNvPr id="168" name="Google Shape;168;p21"/>
            <p:cNvSpPr/>
            <p:nvPr/>
          </p:nvSpPr>
          <p:spPr>
            <a:xfrm rot="5400000">
              <a:off x="4286184" y="1883369"/>
              <a:ext cx="2399700" cy="1827900"/>
            </a:xfrm>
            <a:prstGeom prst="rightArrowCallout">
              <a:avLst>
                <a:gd name="adj1" fmla="val 9283"/>
                <a:gd name="adj2" fmla="val 13570"/>
                <a:gd name="adj3" fmla="val 16082"/>
                <a:gd name="adj4" fmla="val 81236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1"/>
            <p:cNvSpPr txBox="1"/>
            <p:nvPr/>
          </p:nvSpPr>
          <p:spPr>
            <a:xfrm>
              <a:off x="4794525" y="1904895"/>
              <a:ext cx="1383000" cy="147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 contributes to the financing of clean infrastructure and a green economy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170" name="Google Shape;170;p21"/>
            <p:cNvSpPr/>
            <p:nvPr/>
          </p:nvSpPr>
          <p:spPr>
            <a:xfrm rot="10800000" flipH="1">
              <a:off x="4662018" y="1687411"/>
              <a:ext cx="1649400" cy="1769700"/>
            </a:xfrm>
            <a:prstGeom prst="snip1Rect">
              <a:avLst>
                <a:gd name="adj" fmla="val 0"/>
              </a:avLst>
            </a:prstGeom>
            <a:solidFill>
              <a:srgbClr val="A72A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21"/>
          <p:cNvSpPr txBox="1"/>
          <p:nvPr/>
        </p:nvSpPr>
        <p:spPr>
          <a:xfrm>
            <a:off x="7156725" y="1709695"/>
            <a:ext cx="1383000" cy="1476000"/>
          </a:xfrm>
          <a:prstGeom prst="rect">
            <a:avLst/>
          </a:prstGeom>
          <a:solidFill>
            <a:srgbClr val="A72A1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investor actively contributes to sustainability objectives and experiences a variable return on investment.</a:t>
            </a:r>
            <a:endParaRPr sz="11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800">
              <a:solidFill>
                <a:srgbClr val="FFFFFF"/>
              </a:solidFill>
            </a:endParaRPr>
          </a:p>
        </p:txBody>
      </p:sp>
      <p:sp>
        <p:nvSpPr>
          <p:cNvPr id="9" name="Google Shape;165;p21">
            <a:extLst>
              <a:ext uri="{FF2B5EF4-FFF2-40B4-BE49-F238E27FC236}">
                <a16:creationId xmlns:a16="http://schemas.microsoft.com/office/drawing/2014/main" id="{60083420-582F-E0B4-F91A-8C424A68AE23}"/>
              </a:ext>
            </a:extLst>
          </p:cNvPr>
          <p:cNvSpPr txBox="1">
            <a:spLocks/>
          </p:cNvSpPr>
          <p:nvPr/>
        </p:nvSpPr>
        <p:spPr>
          <a:xfrm>
            <a:off x="4847025" y="1546800"/>
            <a:ext cx="1909200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spcAft>
                <a:spcPts val="1200"/>
              </a:spcAft>
              <a:buSzPct val="57291"/>
              <a:buFont typeface="Roboto"/>
              <a:buNone/>
            </a:pPr>
            <a:r>
              <a:rPr lang="en-GB" sz="1200" b="1">
                <a:solidFill>
                  <a:srgbClr val="002F4A"/>
                </a:solidFill>
              </a:rPr>
              <a:t>Contributes to global public good and concurrently lowers interest rate on debt</a:t>
            </a:r>
            <a:endParaRPr lang="en-GB" sz="612" b="1" dirty="0">
              <a:solidFill>
                <a:srgbClr val="002F4A"/>
              </a:solidFill>
            </a:endParaRPr>
          </a:p>
        </p:txBody>
      </p:sp>
      <p:sp>
        <p:nvSpPr>
          <p:cNvPr id="10" name="Google Shape;166;p21">
            <a:extLst>
              <a:ext uri="{FF2B5EF4-FFF2-40B4-BE49-F238E27FC236}">
                <a16:creationId xmlns:a16="http://schemas.microsoft.com/office/drawing/2014/main" id="{E49057D2-0D95-A3B7-8677-9A0DB80FFBB4}"/>
              </a:ext>
            </a:extLst>
          </p:cNvPr>
          <p:cNvSpPr txBox="1">
            <a:spLocks/>
          </p:cNvSpPr>
          <p:nvPr/>
        </p:nvSpPr>
        <p:spPr>
          <a:xfrm>
            <a:off x="6893625" y="4077200"/>
            <a:ext cx="1909200" cy="981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spcAft>
                <a:spcPts val="1200"/>
              </a:spcAft>
              <a:buFont typeface="Roboto"/>
              <a:buNone/>
            </a:pPr>
            <a:r>
              <a:rPr lang="en" sz="1000" b="1">
                <a:solidFill>
                  <a:srgbClr val="B85741"/>
                </a:solidFill>
              </a:rPr>
              <a:t>Stands to receive a higher payment rate if the country deviates from public good provision</a:t>
            </a:r>
            <a:endParaRPr lang="en" sz="1000" b="1" dirty="0">
              <a:solidFill>
                <a:srgbClr val="B8574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ABEDB2-D7F4-0AF9-5F59-D18AF8D3A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Sustainability-Linked Bonds</a:t>
            </a:r>
            <a:br>
              <a:rPr lang="en-US" dirty="0"/>
            </a:br>
            <a:r>
              <a:rPr lang="en" dirty="0"/>
              <a:t>Shortcomings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bg1"/>
                </a:solidFill>
              </a:rPr>
              <a:t>Shortcomings</a:t>
            </a:r>
            <a:endParaRPr sz="25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24"/>
          <p:cNvSpPr txBox="1"/>
          <p:nvPr/>
        </p:nvSpPr>
        <p:spPr>
          <a:xfrm>
            <a:off x="5001550" y="328550"/>
            <a:ext cx="3954900" cy="15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Disincentives for Investors:</a:t>
            </a:r>
            <a:endParaRPr sz="1200" b="1" dirty="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298450">
              <a:lnSpc>
                <a:spcPct val="115000"/>
              </a:lnSpc>
              <a:spcBef>
                <a:spcPts val="1200"/>
              </a:spcBef>
              <a:buClr>
                <a:schemeClr val="accent1"/>
              </a:buClr>
              <a:buSzPts val="1100"/>
              <a:buFont typeface="Roboto"/>
              <a:buChar char="●"/>
            </a:pP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Activist investors are uncomfortable with </a:t>
            </a:r>
            <a:r>
              <a:rPr lang="en" sz="1100" b="1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higher</a:t>
            </a:r>
            <a:r>
              <a:rPr lang="en" sz="1100" i="1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coupon payments being linked to a </a:t>
            </a:r>
            <a:r>
              <a:rPr lang="en" sz="1100" b="1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failure</a:t>
            </a:r>
            <a:r>
              <a:rPr lang="en" sz="1100" i="1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to achieve climate objectives. 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</a:pP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Investors are exposed to </a:t>
            </a:r>
            <a:r>
              <a:rPr lang="en" sz="1100" b="1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risks</a:t>
            </a: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related to non payments.</a:t>
            </a:r>
            <a:endParaRPr sz="1100" dirty="0">
              <a:solidFill>
                <a:srgbClr val="002F4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5228350" y="2118388"/>
            <a:ext cx="3604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300"/>
          </a:p>
        </p:txBody>
      </p:sp>
      <p:sp>
        <p:nvSpPr>
          <p:cNvPr id="210" name="Google Shape;210;p24"/>
          <p:cNvSpPr txBox="1"/>
          <p:nvPr/>
        </p:nvSpPr>
        <p:spPr>
          <a:xfrm>
            <a:off x="5228350" y="3431000"/>
            <a:ext cx="3402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300" b="1"/>
          </a:p>
        </p:txBody>
      </p:sp>
      <p:pic>
        <p:nvPicPr>
          <p:cNvPr id="211" name="Google Shape;2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3000"/>
            <a:ext cx="5151900" cy="33705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212" name="Google Shape;212;p24"/>
          <p:cNvSpPr/>
          <p:nvPr/>
        </p:nvSpPr>
        <p:spPr>
          <a:xfrm>
            <a:off x="4084400" y="429800"/>
            <a:ext cx="846000" cy="23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084400" y="2017150"/>
            <a:ext cx="846000" cy="23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384"/>
          </a:solidFill>
          <a:ln w="9525" cap="flat" cmpd="sng">
            <a:solidFill>
              <a:srgbClr val="0093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5429350" y="3604500"/>
            <a:ext cx="3000000" cy="1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084400" y="3604500"/>
            <a:ext cx="846000" cy="23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F4A"/>
          </a:solidFill>
          <a:ln w="9525" cap="flat" cmpd="sng">
            <a:solidFill>
              <a:srgbClr val="002F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5001550" y="1837158"/>
            <a:ext cx="3855600" cy="15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Disincentives for Sovereign:</a:t>
            </a:r>
            <a:endParaRPr lang="en-US" sz="1200" dirty="0">
              <a:solidFill>
                <a:schemeClr val="accent5"/>
              </a:solidFill>
              <a:latin typeface="Roboto"/>
              <a:ea typeface="Roboto"/>
              <a:cs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Nearly 95% of SLBs employ a step-up coupon structure (</a:t>
            </a:r>
            <a:r>
              <a:rPr lang="en" sz="1100" dirty="0" err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Berrada</a:t>
            </a: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et al., 2022).</a:t>
            </a:r>
            <a:endParaRPr sz="1100" dirty="0">
              <a:solidFill>
                <a:srgbClr val="002F4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Sovereigns are </a:t>
            </a:r>
            <a:r>
              <a:rPr lang="en" sz="1100" b="1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penalized</a:t>
            </a: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for not achieving KPI targets, rather than being rewarded for outperforming.</a:t>
            </a:r>
            <a:endParaRPr sz="1100" dirty="0">
              <a:solidFill>
                <a:srgbClr val="002F4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5001550" y="3321499"/>
            <a:ext cx="3954900" cy="17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Complexity:</a:t>
            </a:r>
            <a:endParaRPr lang="en-US" sz="1200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</a:pPr>
            <a:r>
              <a:rPr lang="en-AU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While SLBs hold great potential, they have not seen widespread adoption from sovereigns or financial institutions. 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</a:pP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Perceived </a:t>
            </a:r>
            <a:r>
              <a:rPr lang="en" sz="1100" b="1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complexity</a:t>
            </a: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is a key deterrent.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</a:pPr>
            <a:r>
              <a:rPr lang="en-GB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Up</a:t>
            </a: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take of </a:t>
            </a:r>
            <a:r>
              <a:rPr lang="en" sz="1100" b="1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uniform standards </a:t>
            </a:r>
            <a:r>
              <a:rPr lang="en" sz="1100" dirty="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for targets has been slow.</a:t>
            </a:r>
            <a:endParaRPr sz="1100" dirty="0">
              <a:solidFill>
                <a:srgbClr val="002F4A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0ABEF84D-C045-2278-92DA-59B30D6DB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GB" dirty="0"/>
              <a:t>KPI Bonds</a:t>
            </a:r>
          </a:p>
          <a:p>
            <a:pPr lvl="0"/>
            <a:r>
              <a:rPr lang="en-GB" dirty="0"/>
              <a:t>Basic Concept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C42FE23C-A3C2-B842-E92C-7F3C38F3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>
            <a:extLst>
              <a:ext uri="{FF2B5EF4-FFF2-40B4-BE49-F238E27FC236}">
                <a16:creationId xmlns:a16="http://schemas.microsoft.com/office/drawing/2014/main" id="{64BCDA48-FB99-B1E4-5ADA-BA7EDAACF5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AU" dirty="0"/>
              <a:t>KPI Bonds</a:t>
            </a:r>
            <a:endParaRPr lang="en" dirty="0"/>
          </a:p>
        </p:txBody>
      </p:sp>
      <p:sp>
        <p:nvSpPr>
          <p:cNvPr id="5" name="Google Shape;229;p26">
            <a:extLst>
              <a:ext uri="{FF2B5EF4-FFF2-40B4-BE49-F238E27FC236}">
                <a16:creationId xmlns:a16="http://schemas.microsoft.com/office/drawing/2014/main" id="{607EBD93-C391-4EF8-BBE2-B9995925E2FD}"/>
              </a:ext>
            </a:extLst>
          </p:cNvPr>
          <p:cNvSpPr txBox="1">
            <a:spLocks/>
          </p:cNvSpPr>
          <p:nvPr/>
        </p:nvSpPr>
        <p:spPr>
          <a:xfrm>
            <a:off x="355830" y="1034715"/>
            <a:ext cx="8266802" cy="399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2100" b="0" i="0" u="none" strike="noStrike" cap="none">
                <a:solidFill>
                  <a:schemeClr val="bg1"/>
                </a:solidFill>
                <a:latin typeface="Merriweather" pitchFamily="2" charset="77"/>
                <a:ea typeface="Roboto"/>
                <a:cs typeface="Roboto"/>
                <a:sym typeface="Roboto"/>
              </a:defRPr>
            </a:lvl1pPr>
            <a:lvl2pPr marL="3429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35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52400" algn="ctr">
              <a:lnSpc>
                <a:spcPct val="160000"/>
              </a:lnSpc>
              <a:buClr>
                <a:schemeClr val="accent1"/>
              </a:buClr>
              <a:buSzPts val="1200"/>
            </a:pPr>
            <a:r>
              <a:rPr lang="en" sz="2000" b="1" dirty="0">
                <a:solidFill>
                  <a:srgbClr val="B85741"/>
                </a:solidFill>
                <a:latin typeface="Roboto"/>
              </a:rPr>
              <a:t>Motivation</a:t>
            </a:r>
          </a:p>
          <a:p>
            <a:pPr marL="152400" algn="ctr">
              <a:lnSpc>
                <a:spcPct val="160000"/>
              </a:lnSpc>
              <a:buClr>
                <a:schemeClr val="accent1"/>
              </a:buClr>
              <a:buSzPts val="1200"/>
            </a:pPr>
            <a:endParaRPr lang="en" sz="2000" b="1" dirty="0">
              <a:solidFill>
                <a:srgbClr val="B85741"/>
              </a:solidFill>
              <a:latin typeface="Roboto"/>
            </a:endParaRP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rgbClr val="002F4A"/>
                </a:solidFill>
                <a:latin typeface="Roboto"/>
              </a:rPr>
              <a:t>Tie down private sector and official sector flows to climate agenda in developing countries, without compromising WB </a:t>
            </a:r>
            <a:r>
              <a:rPr lang="en" sz="20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balance sheet.</a:t>
            </a: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endParaRPr lang="en" sz="2000" b="1" dirty="0">
              <a:solidFill>
                <a:srgbClr val="002F4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Enhancing incentives for private sector financing without hurting incentives for developiong countries to achieve climate targets.</a:t>
            </a: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endParaRPr lang="en" sz="2000" b="1" dirty="0">
              <a:solidFill>
                <a:srgbClr val="002F4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Unifying aspects of WB operations and private sector lending into only one bond would hardwire this complementarity and bypass market failures.</a:t>
            </a:r>
            <a:endParaRPr lang="en" sz="2000" b="1" dirty="0">
              <a:solidFill>
                <a:srgbClr val="002F4A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7460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C42FE23C-A3C2-B842-E92C-7F3C38F3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E54242-28E7-57E2-55AE-5501E4C1C7EA}"/>
              </a:ext>
            </a:extLst>
          </p:cNvPr>
          <p:cNvSpPr/>
          <p:nvPr/>
        </p:nvSpPr>
        <p:spPr>
          <a:xfrm>
            <a:off x="445699" y="1485900"/>
            <a:ext cx="4278701" cy="33541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Google Shape;229;p26">
            <a:extLst>
              <a:ext uri="{FF2B5EF4-FFF2-40B4-BE49-F238E27FC236}">
                <a16:creationId xmlns:a16="http://schemas.microsoft.com/office/drawing/2014/main" id="{64BCDA48-FB99-B1E4-5ADA-BA7EDAACF5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AU" dirty="0"/>
              <a:t>KPI Bonds</a:t>
            </a:r>
            <a:endParaRPr lang="en" dirty="0"/>
          </a:p>
        </p:txBody>
      </p:sp>
      <p:grpSp>
        <p:nvGrpSpPr>
          <p:cNvPr id="230" name="Google Shape;230;p26">
            <a:extLst>
              <a:ext uri="{FF2B5EF4-FFF2-40B4-BE49-F238E27FC236}">
                <a16:creationId xmlns:a16="http://schemas.microsoft.com/office/drawing/2014/main" id="{61F08F50-F03D-4F8E-FD3D-D232781BF25F}"/>
              </a:ext>
            </a:extLst>
          </p:cNvPr>
          <p:cNvGrpSpPr/>
          <p:nvPr/>
        </p:nvGrpSpPr>
        <p:grpSpPr>
          <a:xfrm>
            <a:off x="1383359" y="3485386"/>
            <a:ext cx="2196033" cy="1220887"/>
            <a:chOff x="5040038" y="2459523"/>
            <a:chExt cx="1718739" cy="966656"/>
          </a:xfrm>
        </p:grpSpPr>
        <p:sp>
          <p:nvSpPr>
            <p:cNvPr id="231" name="Google Shape;231;p26">
              <a:extLst>
                <a:ext uri="{FF2B5EF4-FFF2-40B4-BE49-F238E27FC236}">
                  <a16:creationId xmlns:a16="http://schemas.microsoft.com/office/drawing/2014/main" id="{A85334DD-0A46-D8F7-16DF-3A6C90688376}"/>
                </a:ext>
              </a:extLst>
            </p:cNvPr>
            <p:cNvSpPr/>
            <p:nvPr/>
          </p:nvSpPr>
          <p:spPr>
            <a:xfrm>
              <a:off x="5040039" y="2707679"/>
              <a:ext cx="1718738" cy="71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Guarantees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the coupon rate for the investor and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lowers the rate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the sovereign depending on target achievement. 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232" name="Google Shape;232;p26">
              <a:extLst>
                <a:ext uri="{FF2B5EF4-FFF2-40B4-BE49-F238E27FC236}">
                  <a16:creationId xmlns:a16="http://schemas.microsoft.com/office/drawing/2014/main" id="{136142B9-C076-0543-CCE1-F674005A3730}"/>
                </a:ext>
              </a:extLst>
            </p:cNvPr>
            <p:cNvSpPr/>
            <p:nvPr/>
          </p:nvSpPr>
          <p:spPr>
            <a:xfrm>
              <a:off x="5040038" y="2459523"/>
              <a:ext cx="1718739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Institution or Fund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33" name="Google Shape;233;p26">
            <a:extLst>
              <a:ext uri="{FF2B5EF4-FFF2-40B4-BE49-F238E27FC236}">
                <a16:creationId xmlns:a16="http://schemas.microsoft.com/office/drawing/2014/main" id="{51EF34A2-97C1-7D55-80D1-E57DF1A07DC0}"/>
              </a:ext>
            </a:extLst>
          </p:cNvPr>
          <p:cNvGrpSpPr/>
          <p:nvPr/>
        </p:nvGrpSpPr>
        <p:grpSpPr>
          <a:xfrm>
            <a:off x="2933404" y="1701170"/>
            <a:ext cx="1638596" cy="1295717"/>
            <a:chOff x="3798075" y="647329"/>
            <a:chExt cx="1332300" cy="1052915"/>
          </a:xfrm>
        </p:grpSpPr>
        <p:sp>
          <p:nvSpPr>
            <p:cNvPr id="234" name="Google Shape;234;p26">
              <a:extLst>
                <a:ext uri="{FF2B5EF4-FFF2-40B4-BE49-F238E27FC236}">
                  <a16:creationId xmlns:a16="http://schemas.microsoft.com/office/drawing/2014/main" id="{5362C647-7156-E40F-8ED7-2CDE802ABEC7}"/>
                </a:ext>
              </a:extLst>
            </p:cNvPr>
            <p:cNvSpPr/>
            <p:nvPr/>
          </p:nvSpPr>
          <p:spPr>
            <a:xfrm>
              <a:off x="3798075" y="932329"/>
              <a:ext cx="1332300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Pays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 coupon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payments when certain targets are met. Is incentivized to pursue climate action.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235" name="Google Shape;235;p26">
              <a:extLst>
                <a:ext uri="{FF2B5EF4-FFF2-40B4-BE49-F238E27FC236}">
                  <a16:creationId xmlns:a16="http://schemas.microsoft.com/office/drawing/2014/main" id="{E6EF399D-902E-FA52-830A-27DD7F75BDA7}"/>
                </a:ext>
              </a:extLst>
            </p:cNvPr>
            <p:cNvSpPr/>
            <p:nvPr/>
          </p:nvSpPr>
          <p:spPr>
            <a:xfrm>
              <a:off x="3798075" y="647329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236" name="Google Shape;236;p26">
            <a:extLst>
              <a:ext uri="{FF2B5EF4-FFF2-40B4-BE49-F238E27FC236}">
                <a16:creationId xmlns:a16="http://schemas.microsoft.com/office/drawing/2014/main" id="{344A37BE-9339-D768-FFF5-C4AC03DC0C8E}"/>
              </a:ext>
            </a:extLst>
          </p:cNvPr>
          <p:cNvGrpSpPr/>
          <p:nvPr/>
        </p:nvGrpSpPr>
        <p:grpSpPr>
          <a:xfrm>
            <a:off x="559499" y="1666540"/>
            <a:ext cx="1638596" cy="1325411"/>
            <a:chOff x="2465775" y="2422675"/>
            <a:chExt cx="1332300" cy="992966"/>
          </a:xfrm>
        </p:grpSpPr>
        <p:sp>
          <p:nvSpPr>
            <p:cNvPr id="237" name="Google Shape;237;p26">
              <a:extLst>
                <a:ext uri="{FF2B5EF4-FFF2-40B4-BE49-F238E27FC236}">
                  <a16:creationId xmlns:a16="http://schemas.microsoft.com/office/drawing/2014/main" id="{115BCE6D-62A9-CE71-28B7-4DBDDA365977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Guaranteed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to receive stable returns and is incentivized to invest.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238" name="Google Shape;238;p26">
              <a:extLst>
                <a:ext uri="{FF2B5EF4-FFF2-40B4-BE49-F238E27FC236}">
                  <a16:creationId xmlns:a16="http://schemas.microsoft.com/office/drawing/2014/main" id="{8D86FD10-03A1-6F6D-B262-64137B1F48D0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sp>
        <p:nvSpPr>
          <p:cNvPr id="5" name="Google Shape;229;p26">
            <a:extLst>
              <a:ext uri="{FF2B5EF4-FFF2-40B4-BE49-F238E27FC236}">
                <a16:creationId xmlns:a16="http://schemas.microsoft.com/office/drawing/2014/main" id="{607EBD93-C391-4EF8-BBE2-B9995925E2FD}"/>
              </a:ext>
            </a:extLst>
          </p:cNvPr>
          <p:cNvSpPr txBox="1">
            <a:spLocks/>
          </p:cNvSpPr>
          <p:nvPr/>
        </p:nvSpPr>
        <p:spPr>
          <a:xfrm>
            <a:off x="4657119" y="1004637"/>
            <a:ext cx="4717486" cy="431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2100" b="0" i="0" u="none" strike="noStrike" cap="none">
                <a:solidFill>
                  <a:schemeClr val="bg1"/>
                </a:solidFill>
                <a:latin typeface="Merriweather" pitchFamily="2" charset="77"/>
                <a:ea typeface="Roboto"/>
                <a:cs typeface="Roboto"/>
                <a:sym typeface="Roboto"/>
              </a:defRPr>
            </a:lvl1pPr>
            <a:lvl2pPr marL="3429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35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52400">
              <a:lnSpc>
                <a:spcPct val="160000"/>
              </a:lnSpc>
              <a:buClr>
                <a:schemeClr val="accent1"/>
              </a:buClr>
              <a:buSzPts val="1200"/>
            </a:pPr>
            <a:r>
              <a:rPr lang="en" sz="1000" b="1" dirty="0">
                <a:solidFill>
                  <a:srgbClr val="B85741"/>
                </a:solidFill>
                <a:latin typeface="Roboto"/>
              </a:rPr>
              <a:t>From Sovereign Side:</a:t>
            </a:r>
          </a:p>
          <a:p>
            <a:pPr marL="4381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Pays a </a:t>
            </a:r>
            <a:r>
              <a:rPr lang="en" sz="1000" b="1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lower</a:t>
            </a:r>
            <a:r>
              <a:rPr lang="en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 coupon when KPIs are met.</a:t>
            </a:r>
          </a:p>
          <a:p>
            <a:pPr marL="4381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Rewarded</a:t>
            </a:r>
            <a:r>
              <a:rPr lang="en-GB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 for meeting targets.</a:t>
            </a:r>
            <a:endParaRPr lang="en" sz="1000" dirty="0">
              <a:solidFill>
                <a:schemeClr val="accent6">
                  <a:lumMod val="10000"/>
                </a:schemeClr>
              </a:solidFill>
              <a:latin typeface="Roboto"/>
            </a:endParaRPr>
          </a:p>
          <a:p>
            <a:pPr marL="152400">
              <a:lnSpc>
                <a:spcPct val="160000"/>
              </a:lnSpc>
            </a:pPr>
            <a:endParaRPr lang="en" sz="1000" dirty="0">
              <a:solidFill>
                <a:schemeClr val="accent6">
                  <a:lumMod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52400">
              <a:lnSpc>
                <a:spcPct val="160000"/>
              </a:lnSpc>
            </a:pPr>
            <a:r>
              <a:rPr lang="en" sz="1000" b="1" dirty="0">
                <a:solidFill>
                  <a:srgbClr val="B85741"/>
                </a:solidFill>
                <a:latin typeface="Roboto"/>
              </a:rPr>
              <a:t>On Investor Side: </a:t>
            </a:r>
          </a:p>
          <a:p>
            <a:pPr marL="4381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KPI bonds maintain a </a:t>
            </a:r>
            <a:r>
              <a:rPr lang="en-US" sz="1000" b="1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fixed coupon </a:t>
            </a:r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payment, </a:t>
            </a:r>
            <a:r>
              <a:rPr lang="en-US" sz="1000" b="1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regardless of performance</a:t>
            </a:r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. </a:t>
            </a:r>
          </a:p>
          <a:p>
            <a:pPr marL="4381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" sz="1000" b="1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Different from SLBs</a:t>
            </a:r>
          </a:p>
          <a:p>
            <a:pPr marL="152400">
              <a:lnSpc>
                <a:spcPct val="160000"/>
              </a:lnSpc>
            </a:pPr>
            <a:endParaRPr lang="en" sz="1000" b="1" dirty="0">
              <a:solidFill>
                <a:schemeClr val="accent6">
                  <a:lumMod val="10000"/>
                </a:schemeClr>
              </a:solidFill>
              <a:latin typeface="Robo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" sz="1000" b="1" dirty="0">
                <a:solidFill>
                  <a:srgbClr val="B85741"/>
                </a:solidFill>
                <a:latin typeface="Roboto"/>
              </a:rPr>
              <a:t>Key characteristic: </a:t>
            </a:r>
            <a:endParaRPr lang="en-US" sz="1000">
              <a:solidFill>
                <a:srgbClr val="31394D"/>
              </a:solidFill>
              <a:latin typeface="Roboto"/>
            </a:endParaRPr>
          </a:p>
          <a:p>
            <a:pPr marL="438150" indent="-285750">
              <a:lnSpc>
                <a:spcPct val="160000"/>
              </a:lnSpc>
              <a:buFont typeface="Arial,Sans-Serif" panose="020B0604020202020204" pitchFamily="34" charset="0"/>
              <a:buChar char="•"/>
            </a:pPr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KPIs, possibility of WB funding, and minimum private sector capital enshrined in bond contract.</a:t>
            </a:r>
          </a:p>
          <a:p>
            <a:pPr marL="438150" indent="-285750">
              <a:lnSpc>
                <a:spcPct val="160000"/>
              </a:lnSpc>
              <a:buFont typeface="Arial,Sans-Serif" panose="020B0604020202020204" pitchFamily="34" charset="0"/>
              <a:buChar char="•"/>
            </a:pPr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Besides possible </a:t>
            </a:r>
            <a:r>
              <a:rPr lang="en-US" sz="1000" err="1">
                <a:solidFill>
                  <a:schemeClr val="accent6">
                    <a:lumMod val="10000"/>
                  </a:schemeClr>
                </a:solidFill>
                <a:latin typeface="Roboto"/>
              </a:rPr>
              <a:t>concessionality</a:t>
            </a:r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Roboto"/>
              </a:rPr>
              <a:t>, WB (or another fund) disbursement adds duration to the bond ==&gt; effective coupon payments are lower from the sovereign point of view. </a:t>
            </a:r>
            <a:endParaRPr lang="en-US" sz="1000">
              <a:solidFill>
                <a:schemeClr val="accent6">
                  <a:lumMod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90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FE45F3-DAD3-B16B-FD92-E0B70D89039A}"/>
              </a:ext>
            </a:extLst>
          </p:cNvPr>
          <p:cNvSpPr/>
          <p:nvPr/>
        </p:nvSpPr>
        <p:spPr>
          <a:xfrm>
            <a:off x="6261100" y="1543496"/>
            <a:ext cx="2679700" cy="314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676F00-BF1D-C219-E04C-1E1A5DBBA9F2}"/>
              </a:ext>
            </a:extLst>
          </p:cNvPr>
          <p:cNvSpPr/>
          <p:nvPr/>
        </p:nvSpPr>
        <p:spPr>
          <a:xfrm>
            <a:off x="3224796" y="1543496"/>
            <a:ext cx="2679700" cy="314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800425-BBC2-C8E1-103D-2366A3778EF6}"/>
              </a:ext>
            </a:extLst>
          </p:cNvPr>
          <p:cNvSpPr/>
          <p:nvPr/>
        </p:nvSpPr>
        <p:spPr>
          <a:xfrm>
            <a:off x="203200" y="1549400"/>
            <a:ext cx="2679700" cy="314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5FB6F-B1FE-32B1-DBE4-B2A6F7C11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KPI Bonds: How to Fund and De-Risk?</a:t>
            </a:r>
            <a:endParaRPr lang="en-US" dirty="0"/>
          </a:p>
        </p:txBody>
      </p:sp>
      <p:sp>
        <p:nvSpPr>
          <p:cNvPr id="8" name="Google Shape;369;p37">
            <a:extLst>
              <a:ext uri="{FF2B5EF4-FFF2-40B4-BE49-F238E27FC236}">
                <a16:creationId xmlns:a16="http://schemas.microsoft.com/office/drawing/2014/main" id="{F2F60D32-9EF8-8A9F-FAD1-9A9DA2885284}"/>
              </a:ext>
            </a:extLst>
          </p:cNvPr>
          <p:cNvSpPr/>
          <p:nvPr/>
        </p:nvSpPr>
        <p:spPr>
          <a:xfrm>
            <a:off x="1173746" y="3392354"/>
            <a:ext cx="1515586" cy="114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Costly, and does not fully leverage the institutional advantages of WB to reduce costs</a:t>
            </a: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370;p37">
            <a:extLst>
              <a:ext uri="{FF2B5EF4-FFF2-40B4-BE49-F238E27FC236}">
                <a16:creationId xmlns:a16="http://schemas.microsoft.com/office/drawing/2014/main" id="{BE41EC1B-465E-D679-93AC-A3D7996C2F0C}"/>
              </a:ext>
            </a:extLst>
          </p:cNvPr>
          <p:cNvSpPr/>
          <p:nvPr/>
        </p:nvSpPr>
        <p:spPr>
          <a:xfrm>
            <a:off x="1173746" y="2594833"/>
            <a:ext cx="1363066" cy="61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Involves diversified funding sources</a:t>
            </a:r>
            <a:endParaRPr sz="11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371;p37">
            <a:extLst>
              <a:ext uri="{FF2B5EF4-FFF2-40B4-BE49-F238E27FC236}">
                <a16:creationId xmlns:a16="http://schemas.microsoft.com/office/drawing/2014/main" id="{0599B662-64ED-0844-7D3A-9AD91E5AD663}"/>
              </a:ext>
            </a:extLst>
          </p:cNvPr>
          <p:cNvSpPr/>
          <p:nvPr/>
        </p:nvSpPr>
        <p:spPr>
          <a:xfrm>
            <a:off x="294141" y="3499450"/>
            <a:ext cx="703800" cy="623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372;p37">
            <a:extLst>
              <a:ext uri="{FF2B5EF4-FFF2-40B4-BE49-F238E27FC236}">
                <a16:creationId xmlns:a16="http://schemas.microsoft.com/office/drawing/2014/main" id="{A8480FFA-5E55-648C-534B-D9A79954690C}"/>
              </a:ext>
            </a:extLst>
          </p:cNvPr>
          <p:cNvSpPr/>
          <p:nvPr/>
        </p:nvSpPr>
        <p:spPr>
          <a:xfrm>
            <a:off x="318043" y="2647488"/>
            <a:ext cx="703800" cy="5233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373;p37">
            <a:extLst>
              <a:ext uri="{FF2B5EF4-FFF2-40B4-BE49-F238E27FC236}">
                <a16:creationId xmlns:a16="http://schemas.microsoft.com/office/drawing/2014/main" id="{927A803F-73A7-606E-3471-A742847C47E3}"/>
              </a:ext>
            </a:extLst>
          </p:cNvPr>
          <p:cNvSpPr/>
          <p:nvPr/>
        </p:nvSpPr>
        <p:spPr>
          <a:xfrm rot="-3020993">
            <a:off x="536215" y="2837028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74;p37">
            <a:extLst>
              <a:ext uri="{FF2B5EF4-FFF2-40B4-BE49-F238E27FC236}">
                <a16:creationId xmlns:a16="http://schemas.microsoft.com/office/drawing/2014/main" id="{7CC8CC90-F5EB-2645-B237-67618E2350D8}"/>
              </a:ext>
            </a:extLst>
          </p:cNvPr>
          <p:cNvSpPr/>
          <p:nvPr/>
        </p:nvSpPr>
        <p:spPr>
          <a:xfrm>
            <a:off x="491872" y="3625150"/>
            <a:ext cx="308400" cy="372300"/>
          </a:xfrm>
          <a:prstGeom prst="mathMultiply">
            <a:avLst>
              <a:gd name="adj1" fmla="val 50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81;p38">
            <a:extLst>
              <a:ext uri="{FF2B5EF4-FFF2-40B4-BE49-F238E27FC236}">
                <a16:creationId xmlns:a16="http://schemas.microsoft.com/office/drawing/2014/main" id="{5EF87FD6-7622-B0D6-DA6F-C415283CDF14}"/>
              </a:ext>
            </a:extLst>
          </p:cNvPr>
          <p:cNvSpPr/>
          <p:nvPr/>
        </p:nvSpPr>
        <p:spPr>
          <a:xfrm>
            <a:off x="4218036" y="3527820"/>
            <a:ext cx="1448794" cy="10125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Limits on overall MDB lending. No WB desire to share preferred creditor status.</a:t>
            </a:r>
            <a:endParaRPr lang="en" sz="1100" dirty="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" name="Google Shape;386;p38">
            <a:extLst>
              <a:ext uri="{FF2B5EF4-FFF2-40B4-BE49-F238E27FC236}">
                <a16:creationId xmlns:a16="http://schemas.microsoft.com/office/drawing/2014/main" id="{8C407171-8CB8-4475-FDCD-7DA248BE17FC}"/>
              </a:ext>
            </a:extLst>
          </p:cNvPr>
          <p:cNvSpPr/>
          <p:nvPr/>
        </p:nvSpPr>
        <p:spPr>
          <a:xfrm>
            <a:off x="4224476" y="2638613"/>
            <a:ext cx="1442353" cy="6685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Expertise of WB; </a:t>
            </a:r>
          </a:p>
          <a:p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WB's preferred creditor status </a:t>
            </a: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372;p37">
            <a:extLst>
              <a:ext uri="{FF2B5EF4-FFF2-40B4-BE49-F238E27FC236}">
                <a16:creationId xmlns:a16="http://schemas.microsoft.com/office/drawing/2014/main" id="{2048E527-4DC6-77F7-99F4-9E63C1A41D18}"/>
              </a:ext>
            </a:extLst>
          </p:cNvPr>
          <p:cNvSpPr/>
          <p:nvPr/>
        </p:nvSpPr>
        <p:spPr>
          <a:xfrm>
            <a:off x="3349728" y="2741606"/>
            <a:ext cx="703800" cy="5233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373;p37">
            <a:extLst>
              <a:ext uri="{FF2B5EF4-FFF2-40B4-BE49-F238E27FC236}">
                <a16:creationId xmlns:a16="http://schemas.microsoft.com/office/drawing/2014/main" id="{1530C8B4-B64B-74EB-A4E9-A4225F7FB1B3}"/>
              </a:ext>
            </a:extLst>
          </p:cNvPr>
          <p:cNvSpPr/>
          <p:nvPr/>
        </p:nvSpPr>
        <p:spPr>
          <a:xfrm rot="-3020993">
            <a:off x="3577655" y="2940631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71;p37">
            <a:extLst>
              <a:ext uri="{FF2B5EF4-FFF2-40B4-BE49-F238E27FC236}">
                <a16:creationId xmlns:a16="http://schemas.microsoft.com/office/drawing/2014/main" id="{A8020641-369A-11F0-1C0F-99942DAB41E3}"/>
              </a:ext>
            </a:extLst>
          </p:cNvPr>
          <p:cNvSpPr/>
          <p:nvPr/>
        </p:nvSpPr>
        <p:spPr>
          <a:xfrm>
            <a:off x="3340466" y="3576982"/>
            <a:ext cx="703800" cy="623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374;p37">
            <a:extLst>
              <a:ext uri="{FF2B5EF4-FFF2-40B4-BE49-F238E27FC236}">
                <a16:creationId xmlns:a16="http://schemas.microsoft.com/office/drawing/2014/main" id="{652E8AFE-A738-EEDC-8B66-CBC9718C60F8}"/>
              </a:ext>
            </a:extLst>
          </p:cNvPr>
          <p:cNvSpPr/>
          <p:nvPr/>
        </p:nvSpPr>
        <p:spPr>
          <a:xfrm>
            <a:off x="3538166" y="3724012"/>
            <a:ext cx="308400" cy="372300"/>
          </a:xfrm>
          <a:prstGeom prst="mathMultiply">
            <a:avLst>
              <a:gd name="adj1" fmla="val 50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72;p37">
            <a:extLst>
              <a:ext uri="{FF2B5EF4-FFF2-40B4-BE49-F238E27FC236}">
                <a16:creationId xmlns:a16="http://schemas.microsoft.com/office/drawing/2014/main" id="{77FDFC08-BEF6-BE92-42F1-3E5DB071380C}"/>
              </a:ext>
            </a:extLst>
          </p:cNvPr>
          <p:cNvSpPr/>
          <p:nvPr/>
        </p:nvSpPr>
        <p:spPr>
          <a:xfrm>
            <a:off x="6474928" y="2743660"/>
            <a:ext cx="703800" cy="5233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73;p37">
            <a:extLst>
              <a:ext uri="{FF2B5EF4-FFF2-40B4-BE49-F238E27FC236}">
                <a16:creationId xmlns:a16="http://schemas.microsoft.com/office/drawing/2014/main" id="{F3CACD2D-5D09-14FD-7C79-A6AE3948D7A4}"/>
              </a:ext>
            </a:extLst>
          </p:cNvPr>
          <p:cNvSpPr/>
          <p:nvPr/>
        </p:nvSpPr>
        <p:spPr>
          <a:xfrm rot="-3020993">
            <a:off x="6714192" y="2940077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71;p37">
            <a:extLst>
              <a:ext uri="{FF2B5EF4-FFF2-40B4-BE49-F238E27FC236}">
                <a16:creationId xmlns:a16="http://schemas.microsoft.com/office/drawing/2014/main" id="{B2595465-BFBC-FAAC-C22E-5208A0C00BED}"/>
              </a:ext>
            </a:extLst>
          </p:cNvPr>
          <p:cNvSpPr/>
          <p:nvPr/>
        </p:nvSpPr>
        <p:spPr>
          <a:xfrm>
            <a:off x="6494933" y="3571184"/>
            <a:ext cx="703800" cy="623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374;p37">
            <a:extLst>
              <a:ext uri="{FF2B5EF4-FFF2-40B4-BE49-F238E27FC236}">
                <a16:creationId xmlns:a16="http://schemas.microsoft.com/office/drawing/2014/main" id="{757DBC20-54C1-BD00-310C-B1C62DF6E1E2}"/>
              </a:ext>
            </a:extLst>
          </p:cNvPr>
          <p:cNvSpPr/>
          <p:nvPr/>
        </p:nvSpPr>
        <p:spPr>
          <a:xfrm>
            <a:off x="6720619" y="3711302"/>
            <a:ext cx="308400" cy="372300"/>
          </a:xfrm>
          <a:prstGeom prst="mathMultiply">
            <a:avLst>
              <a:gd name="adj1" fmla="val 50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81;p38">
            <a:extLst>
              <a:ext uri="{FF2B5EF4-FFF2-40B4-BE49-F238E27FC236}">
                <a16:creationId xmlns:a16="http://schemas.microsoft.com/office/drawing/2014/main" id="{43C4C10C-3DF3-9A43-4693-3B0693879AE6}"/>
              </a:ext>
            </a:extLst>
          </p:cNvPr>
          <p:cNvSpPr/>
          <p:nvPr/>
        </p:nvSpPr>
        <p:spPr>
          <a:xfrm>
            <a:off x="7450509" y="3499136"/>
            <a:ext cx="1266501" cy="9091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Requires new funds/institution. Higher financing cost than WB.</a:t>
            </a:r>
            <a:endParaRPr lang="en" sz="1100" dirty="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9" name="Google Shape;386;p38">
            <a:extLst>
              <a:ext uri="{FF2B5EF4-FFF2-40B4-BE49-F238E27FC236}">
                <a16:creationId xmlns:a16="http://schemas.microsoft.com/office/drawing/2014/main" id="{BA88ACF5-9268-B809-38FF-CD38F50E92BB}"/>
              </a:ext>
            </a:extLst>
          </p:cNvPr>
          <p:cNvSpPr/>
          <p:nvPr/>
        </p:nvSpPr>
        <p:spPr>
          <a:xfrm>
            <a:off x="7426513" y="2731168"/>
            <a:ext cx="1266501" cy="56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Risk mitigation  </a:t>
            </a:r>
          </a:p>
        </p:txBody>
      </p:sp>
      <p:sp>
        <p:nvSpPr>
          <p:cNvPr id="48" name="Google Shape;341;p36">
            <a:extLst>
              <a:ext uri="{FF2B5EF4-FFF2-40B4-BE49-F238E27FC236}">
                <a16:creationId xmlns:a16="http://schemas.microsoft.com/office/drawing/2014/main" id="{7B87891B-4E1C-83EA-BAB9-FF47E60D0ABB}"/>
              </a:ext>
            </a:extLst>
          </p:cNvPr>
          <p:cNvSpPr/>
          <p:nvPr/>
        </p:nvSpPr>
        <p:spPr>
          <a:xfrm flipH="1">
            <a:off x="976921" y="1701110"/>
            <a:ext cx="1712411" cy="777610"/>
          </a:xfrm>
          <a:prstGeom prst="rect">
            <a:avLst/>
          </a:prstGeom>
          <a:solidFill>
            <a:srgbClr val="002F4A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Create a fund to subsidize these KPI Bonds</a:t>
            </a:r>
            <a:endParaRPr sz="1200" dirty="0"/>
          </a:p>
        </p:txBody>
      </p:sp>
      <p:sp>
        <p:nvSpPr>
          <p:cNvPr id="49" name="Google Shape;345;p36">
            <a:extLst>
              <a:ext uri="{FF2B5EF4-FFF2-40B4-BE49-F238E27FC236}">
                <a16:creationId xmlns:a16="http://schemas.microsoft.com/office/drawing/2014/main" id="{07204897-38CB-0F52-2BD7-E9ADF9200485}"/>
              </a:ext>
            </a:extLst>
          </p:cNvPr>
          <p:cNvSpPr/>
          <p:nvPr/>
        </p:nvSpPr>
        <p:spPr>
          <a:xfrm>
            <a:off x="294141" y="1701110"/>
            <a:ext cx="682755" cy="777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01</a:t>
            </a:r>
            <a:endParaRPr sz="2600" b="1" dirty="0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52" name="Google Shape;349;p36">
            <a:extLst>
              <a:ext uri="{FF2B5EF4-FFF2-40B4-BE49-F238E27FC236}">
                <a16:creationId xmlns:a16="http://schemas.microsoft.com/office/drawing/2014/main" id="{A29248ED-4939-B911-34EC-2C1D5C6BC6F0}"/>
              </a:ext>
            </a:extLst>
          </p:cNvPr>
          <p:cNvSpPr/>
          <p:nvPr/>
        </p:nvSpPr>
        <p:spPr>
          <a:xfrm flipH="1">
            <a:off x="3998545" y="1701110"/>
            <a:ext cx="1825034" cy="77761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Engage WB as an intermediary</a:t>
            </a:r>
            <a:endParaRPr lang="en-GB" sz="1200" dirty="0"/>
          </a:p>
        </p:txBody>
      </p:sp>
      <p:sp>
        <p:nvSpPr>
          <p:cNvPr id="53" name="Google Shape;353;p36">
            <a:extLst>
              <a:ext uri="{FF2B5EF4-FFF2-40B4-BE49-F238E27FC236}">
                <a16:creationId xmlns:a16="http://schemas.microsoft.com/office/drawing/2014/main" id="{CFAEBCEB-2493-B1B2-1B99-31FAF2586218}"/>
              </a:ext>
            </a:extLst>
          </p:cNvPr>
          <p:cNvSpPr/>
          <p:nvPr/>
        </p:nvSpPr>
        <p:spPr>
          <a:xfrm>
            <a:off x="3315765" y="1701110"/>
            <a:ext cx="682755" cy="777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02</a:t>
            </a:r>
            <a:endParaRPr sz="2600" b="1" dirty="0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54" name="Google Shape;357;p36">
            <a:extLst>
              <a:ext uri="{FF2B5EF4-FFF2-40B4-BE49-F238E27FC236}">
                <a16:creationId xmlns:a16="http://schemas.microsoft.com/office/drawing/2014/main" id="{3EB36EB1-6757-8B56-FDDC-91B1641CD689}"/>
              </a:ext>
            </a:extLst>
          </p:cNvPr>
          <p:cNvSpPr/>
          <p:nvPr/>
        </p:nvSpPr>
        <p:spPr>
          <a:xfrm flipH="1">
            <a:off x="7048036" y="1701110"/>
            <a:ext cx="1802163" cy="77761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Establish a separate special purpose vehicle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55" name="Google Shape;361;p36">
            <a:extLst>
              <a:ext uri="{FF2B5EF4-FFF2-40B4-BE49-F238E27FC236}">
                <a16:creationId xmlns:a16="http://schemas.microsoft.com/office/drawing/2014/main" id="{D6A35CAC-F5F8-8C57-60DC-24115A1DD893}"/>
              </a:ext>
            </a:extLst>
          </p:cNvPr>
          <p:cNvSpPr/>
          <p:nvPr/>
        </p:nvSpPr>
        <p:spPr>
          <a:xfrm>
            <a:off x="6373813" y="1701110"/>
            <a:ext cx="674199" cy="777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03</a:t>
            </a:r>
            <a:endParaRPr sz="2600" b="1" dirty="0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</p:spTree>
    <p:extLst>
      <p:ext uri="{BB962C8B-B14F-4D97-AF65-F5344CB8AC3E}">
        <p14:creationId xmlns:p14="http://schemas.microsoft.com/office/powerpoint/2010/main" val="378777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9D5D7312-659C-669E-FA5C-652B310E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84223B5E-A7F6-9A48-5DC5-450DAEF34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Implementing KPI Bonds</a:t>
            </a:r>
          </a:p>
          <a:p>
            <a:pPr lvl="0"/>
            <a:r>
              <a:rPr lang="en-US" dirty="0"/>
              <a:t>Option One: WB Side Payments</a:t>
            </a:r>
          </a:p>
        </p:txBody>
      </p:sp>
    </p:spTree>
    <p:extLst>
      <p:ext uri="{BB962C8B-B14F-4D97-AF65-F5344CB8AC3E}">
        <p14:creationId xmlns:p14="http://schemas.microsoft.com/office/powerpoint/2010/main" val="17787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body" sz="quarter" idx="11"/>
          </p:nvPr>
        </p:nvSpPr>
        <p:spPr>
          <a:xfrm>
            <a:off x="293300" y="1445455"/>
            <a:ext cx="3897700" cy="3375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KPI Bonds would consist of two components</a:t>
            </a:r>
            <a:r>
              <a:rPr lang="en" sz="1400" b="1" dirty="0">
                <a:solidFill>
                  <a:schemeClr val="accent4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rgbClr val="002F4A"/>
                </a:solidFill>
              </a:rPr>
              <a:t>Standard sovereign bonds with fixed coupons, but ‘green’ tagged (because of second component…)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rgbClr val="002F4A"/>
                </a:solidFill>
              </a:rPr>
              <a:t>WB payments conditional on a) Achievement of KPIs and b) sufficient private sector interest in the first component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How To Implement WB Payments?</a:t>
            </a:r>
            <a:endParaRPr lang="en" sz="1400" b="1" dirty="0">
              <a:solidFill>
                <a:schemeClr val="accent4"/>
              </a:solidFill>
            </a:endParaRP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rgbClr val="002F4A"/>
                </a:solidFill>
              </a:rPr>
              <a:t>Payment-for-results Results Based Climate Finance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rgbClr val="002F4A"/>
                </a:solidFill>
              </a:rPr>
              <a:t>DPF lending conditional on schedule of prior actions.</a:t>
            </a:r>
          </a:p>
          <a:p>
            <a:pPr indent="0">
              <a:lnSpc>
                <a:spcPct val="150000"/>
              </a:lnSpc>
              <a:buNone/>
            </a:pPr>
            <a:endParaRPr lang="en-US" sz="1200" dirty="0">
              <a:solidFill>
                <a:srgbClr val="002F4A"/>
              </a:solidFill>
            </a:endParaRPr>
          </a:p>
          <a:p>
            <a:pPr indent="0">
              <a:lnSpc>
                <a:spcPct val="150000"/>
              </a:lnSpc>
              <a:buNone/>
            </a:pPr>
            <a:endParaRPr lang="en-US" sz="1200" dirty="0">
              <a:solidFill>
                <a:srgbClr val="002F4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8C64C-9964-0DEE-5572-7BF97CC91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dirty="0"/>
              <a:t>How To Implement KPI Bonds: Option One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EB803-981C-19EA-EDFA-2A0543493A98}"/>
              </a:ext>
            </a:extLst>
          </p:cNvPr>
          <p:cNvSpPr/>
          <p:nvPr/>
        </p:nvSpPr>
        <p:spPr>
          <a:xfrm>
            <a:off x="4724399" y="1400175"/>
            <a:ext cx="4278701" cy="33541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oogle Shape;230;p26">
            <a:extLst>
              <a:ext uri="{FF2B5EF4-FFF2-40B4-BE49-F238E27FC236}">
                <a16:creationId xmlns:a16="http://schemas.microsoft.com/office/drawing/2014/main" id="{6436A11E-6A3B-04C2-1C71-DA57757BF6B1}"/>
              </a:ext>
            </a:extLst>
          </p:cNvPr>
          <p:cNvGrpSpPr/>
          <p:nvPr/>
        </p:nvGrpSpPr>
        <p:grpSpPr>
          <a:xfrm>
            <a:off x="4838199" y="3361884"/>
            <a:ext cx="2196033" cy="1220887"/>
            <a:chOff x="5040038" y="2459523"/>
            <a:chExt cx="1718739" cy="966656"/>
          </a:xfrm>
        </p:grpSpPr>
        <p:sp>
          <p:nvSpPr>
            <p:cNvPr id="9" name="Google Shape;231;p26">
              <a:extLst>
                <a:ext uri="{FF2B5EF4-FFF2-40B4-BE49-F238E27FC236}">
                  <a16:creationId xmlns:a16="http://schemas.microsoft.com/office/drawing/2014/main" id="{BA16C714-6A5D-A349-DB4A-5313D8AFD7E4}"/>
                </a:ext>
              </a:extLst>
            </p:cNvPr>
            <p:cNvSpPr/>
            <p:nvPr/>
          </p:nvSpPr>
          <p:spPr>
            <a:xfrm>
              <a:off x="5040039" y="2707679"/>
              <a:ext cx="1718738" cy="71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Pays to </a:t>
              </a:r>
              <a:r>
                <a:rPr lang="en-US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sovereign a net payment conditional on the KPIs being met 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0" name="Google Shape;232;p26">
              <a:extLst>
                <a:ext uri="{FF2B5EF4-FFF2-40B4-BE49-F238E27FC236}">
                  <a16:creationId xmlns:a16="http://schemas.microsoft.com/office/drawing/2014/main" id="{0E117292-AB98-9E20-65E1-450C44D7DA8A}"/>
                </a:ext>
              </a:extLst>
            </p:cNvPr>
            <p:cNvSpPr/>
            <p:nvPr/>
          </p:nvSpPr>
          <p:spPr>
            <a:xfrm>
              <a:off x="5040038" y="2459523"/>
              <a:ext cx="1718739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WB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Google Shape;233;p26">
            <a:extLst>
              <a:ext uri="{FF2B5EF4-FFF2-40B4-BE49-F238E27FC236}">
                <a16:creationId xmlns:a16="http://schemas.microsoft.com/office/drawing/2014/main" id="{09493CD9-8639-6AFA-6D15-02DFD5BA214F}"/>
              </a:ext>
            </a:extLst>
          </p:cNvPr>
          <p:cNvGrpSpPr/>
          <p:nvPr/>
        </p:nvGrpSpPr>
        <p:grpSpPr>
          <a:xfrm>
            <a:off x="7212104" y="1586869"/>
            <a:ext cx="1638596" cy="1295717"/>
            <a:chOff x="3798075" y="647329"/>
            <a:chExt cx="1332300" cy="1052915"/>
          </a:xfrm>
        </p:grpSpPr>
        <p:sp>
          <p:nvSpPr>
            <p:cNvPr id="12" name="Google Shape;234;p26">
              <a:extLst>
                <a:ext uri="{FF2B5EF4-FFF2-40B4-BE49-F238E27FC236}">
                  <a16:creationId xmlns:a16="http://schemas.microsoft.com/office/drawing/2014/main" id="{B89664C2-74B3-E04F-BFBC-B0D4898264A8}"/>
                </a:ext>
              </a:extLst>
            </p:cNvPr>
            <p:cNvSpPr/>
            <p:nvPr/>
          </p:nvSpPr>
          <p:spPr>
            <a:xfrm>
              <a:off x="3798075" y="932329"/>
              <a:ext cx="1332300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Pays </a:t>
              </a:r>
              <a:r>
                <a:rPr lang="en" sz="1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 coupon </a:t>
              </a: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payments when certain targets are met. Is incentivized to pursue climate action.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3" name="Google Shape;235;p26">
              <a:extLst>
                <a:ext uri="{FF2B5EF4-FFF2-40B4-BE49-F238E27FC236}">
                  <a16:creationId xmlns:a16="http://schemas.microsoft.com/office/drawing/2014/main" id="{769052A4-9135-D0EA-7F10-E2836B9CE702}"/>
                </a:ext>
              </a:extLst>
            </p:cNvPr>
            <p:cNvSpPr/>
            <p:nvPr/>
          </p:nvSpPr>
          <p:spPr>
            <a:xfrm>
              <a:off x="3798075" y="647329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4" name="Google Shape;236;p26">
            <a:extLst>
              <a:ext uri="{FF2B5EF4-FFF2-40B4-BE49-F238E27FC236}">
                <a16:creationId xmlns:a16="http://schemas.microsoft.com/office/drawing/2014/main" id="{72141A81-D02A-6185-851D-A4105B501A14}"/>
              </a:ext>
            </a:extLst>
          </p:cNvPr>
          <p:cNvGrpSpPr/>
          <p:nvPr/>
        </p:nvGrpSpPr>
        <p:grpSpPr>
          <a:xfrm>
            <a:off x="4838199" y="1552239"/>
            <a:ext cx="1638596" cy="1325411"/>
            <a:chOff x="2465775" y="2422675"/>
            <a:chExt cx="1332300" cy="992966"/>
          </a:xfrm>
        </p:grpSpPr>
        <p:sp>
          <p:nvSpPr>
            <p:cNvPr id="15" name="Google Shape;237;p26">
              <a:extLst>
                <a:ext uri="{FF2B5EF4-FFF2-40B4-BE49-F238E27FC236}">
                  <a16:creationId xmlns:a16="http://schemas.microsoft.com/office/drawing/2014/main" id="{EB5D3633-8140-D6E5-86C9-DB9CECB6C59E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Receives</a:t>
              </a: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stable payment of coupon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6" name="Google Shape;238;p26">
              <a:extLst>
                <a:ext uri="{FF2B5EF4-FFF2-40B4-BE49-F238E27FC236}">
                  <a16:creationId xmlns:a16="http://schemas.microsoft.com/office/drawing/2014/main" id="{825D3FF2-D38C-567F-82AC-9DC2B78BBD8C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Google Shape;236;p26">
            <a:extLst>
              <a:ext uri="{FF2B5EF4-FFF2-40B4-BE49-F238E27FC236}">
                <a16:creationId xmlns:a16="http://schemas.microsoft.com/office/drawing/2014/main" id="{B20C65B4-21B4-DF45-FBBA-E552C292DEE6}"/>
              </a:ext>
            </a:extLst>
          </p:cNvPr>
          <p:cNvGrpSpPr/>
          <p:nvPr/>
        </p:nvGrpSpPr>
        <p:grpSpPr>
          <a:xfrm>
            <a:off x="7246788" y="3242058"/>
            <a:ext cx="1638596" cy="1325411"/>
            <a:chOff x="2465775" y="2422675"/>
            <a:chExt cx="1332300" cy="992966"/>
          </a:xfrm>
        </p:grpSpPr>
        <p:sp>
          <p:nvSpPr>
            <p:cNvPr id="18" name="Google Shape;237;p26">
              <a:extLst>
                <a:ext uri="{FF2B5EF4-FFF2-40B4-BE49-F238E27FC236}">
                  <a16:creationId xmlns:a16="http://schemas.microsoft.com/office/drawing/2014/main" id="{0E3A837D-D3E8-B449-10D0-35C5F07C1E5E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6">
                <a:lumMod val="25000"/>
              </a:schemeClr>
            </a:solidFill>
            <a:ln>
              <a:solidFill>
                <a:schemeClr val="accent6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Provides</a:t>
              </a:r>
              <a:r>
                <a:rPr lang="en" sz="1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technical assistance </a:t>
              </a: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 ensure KPIs are met.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9" name="Google Shape;238;p26">
              <a:extLst>
                <a:ext uri="{FF2B5EF4-FFF2-40B4-BE49-F238E27FC236}">
                  <a16:creationId xmlns:a16="http://schemas.microsoft.com/office/drawing/2014/main" id="{EA4B82BA-5A5D-14F0-28A3-C7709416B1B1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Partner Agency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0" name="Google Shape;182;p22">
            <a:extLst>
              <a:ext uri="{FF2B5EF4-FFF2-40B4-BE49-F238E27FC236}">
                <a16:creationId xmlns:a16="http://schemas.microsoft.com/office/drawing/2014/main" id="{36B0820F-9C6E-B9FE-E9A6-0FD5B4D8A48E}"/>
              </a:ext>
            </a:extLst>
          </p:cNvPr>
          <p:cNvSpPr/>
          <p:nvPr/>
        </p:nvSpPr>
        <p:spPr>
          <a:xfrm rot="18814122">
            <a:off x="6646065" y="2997902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182;p22">
            <a:extLst>
              <a:ext uri="{FF2B5EF4-FFF2-40B4-BE49-F238E27FC236}">
                <a16:creationId xmlns:a16="http://schemas.microsoft.com/office/drawing/2014/main" id="{7FCCDD9D-9C73-70BF-93B2-ADDD149C333D}"/>
              </a:ext>
            </a:extLst>
          </p:cNvPr>
          <p:cNvSpPr/>
          <p:nvPr/>
        </p:nvSpPr>
        <p:spPr>
          <a:xfrm rot="10800000">
            <a:off x="6493821" y="2308438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182;p22">
            <a:extLst>
              <a:ext uri="{FF2B5EF4-FFF2-40B4-BE49-F238E27FC236}">
                <a16:creationId xmlns:a16="http://schemas.microsoft.com/office/drawing/2014/main" id="{CBBD8091-6535-11C7-F2AC-ADDE94C89120}"/>
              </a:ext>
            </a:extLst>
          </p:cNvPr>
          <p:cNvSpPr/>
          <p:nvPr/>
        </p:nvSpPr>
        <p:spPr>
          <a:xfrm rot="16200000">
            <a:off x="8331100" y="3169465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1BA6-B51F-8902-0A21-FF433A06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4B401A4-F19C-B499-98C5-BF9AF0546267}"/>
              </a:ext>
            </a:extLst>
          </p:cNvPr>
          <p:cNvSpPr/>
          <p:nvPr/>
        </p:nvSpPr>
        <p:spPr>
          <a:xfrm>
            <a:off x="4754056" y="1337036"/>
            <a:ext cx="4096647" cy="3574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56DBD-11B7-9C3A-2AA1-4811E9EE3213}"/>
              </a:ext>
            </a:extLst>
          </p:cNvPr>
          <p:cNvSpPr/>
          <p:nvPr/>
        </p:nvSpPr>
        <p:spPr>
          <a:xfrm>
            <a:off x="293299" y="1314680"/>
            <a:ext cx="4096647" cy="3574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CFFA8-1FFA-B544-B19B-C119715DD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KPI Bonds: Operationalizing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D5858-A5D5-B73E-8F59-10343FDD2F0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799905" y="1337036"/>
            <a:ext cx="4000500" cy="2354038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None/>
              <a:tabLst/>
              <a:defRPr/>
            </a:pPr>
            <a:r>
              <a:rPr kumimoji="0" lang="en" sz="1200" b="1" i="0" u="none" strike="noStrike" kern="0" cap="none" spc="0" normalizeH="0" baseline="0" noProof="0" dirty="0">
                <a:ln>
                  <a:noFill/>
                </a:ln>
                <a:solidFill>
                  <a:srgbClr val="B8574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Option 2: Results-Based Coupon Reduction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B85741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2F4A"/>
              </a:buClr>
              <a:buSzPts val="1200"/>
              <a:buFont typeface="Roboto"/>
              <a:buChar char="●"/>
              <a:tabLst/>
              <a:defRPr/>
            </a:pPr>
            <a:r>
              <a:rPr kumimoji="0" lang="en" sz="1200" b="0" i="0" u="none" strike="noStrike" kern="0" cap="none" spc="0" normalizeH="0" baseline="0" noProof="0" dirty="0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Ongoing coupon rate reductions as targets are met. Main option: WB disbursement at concessional rate (or grants) as KPIs are achieved.</a:t>
            </a: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2F4A"/>
              </a:buClr>
              <a:buSzPts val="1200"/>
              <a:buFont typeface="Roboto"/>
              <a:buChar char="●"/>
              <a:tabLst/>
              <a:defRPr/>
            </a:pPr>
            <a:r>
              <a:rPr lang="en-US" sz="1200" dirty="0">
                <a:solidFill>
                  <a:srgbClr val="002F4A"/>
                </a:solidFill>
              </a:rPr>
              <a:t>Alternatively, i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nterest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rate changes linked to KPI target accomplishments</a:t>
            </a: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2F4A"/>
              </a:buClr>
              <a:buSzPts val="1200"/>
              <a:buFont typeface="Roboto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P for R Model </a:t>
            </a:r>
            <a:r>
              <a:rPr lang="en-US" sz="1200" dirty="0">
                <a:solidFill>
                  <a:srgbClr val="002F4A"/>
                </a:solidFill>
              </a:rPr>
              <a:t>reference framework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e.g. Ci-Dev</a:t>
            </a:r>
          </a:p>
          <a:p>
            <a:pPr indent="-304800">
              <a:lnSpc>
                <a:spcPct val="150000"/>
              </a:lnSpc>
              <a:spcBef>
                <a:spcPts val="600"/>
              </a:spcBef>
              <a:buClr>
                <a:srgbClr val="002F4A"/>
              </a:buClr>
              <a:buSzPts val="1200"/>
              <a:defRPr/>
            </a:pPr>
            <a:r>
              <a:rPr lang="en" sz="1200" dirty="0">
                <a:solidFill>
                  <a:srgbClr val="002F4A"/>
                </a:solidFill>
              </a:rPr>
              <a:t>Can be linked to Carbon credits (CERs).</a:t>
            </a:r>
          </a:p>
          <a:p>
            <a:pPr marL="15240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2F4A"/>
              </a:buClr>
              <a:buSzPts val="1200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2F4A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146050" indent="0">
              <a:buNone/>
            </a:pPr>
            <a:endParaRPr lang="en-US" dirty="0"/>
          </a:p>
        </p:txBody>
      </p:sp>
      <p:sp>
        <p:nvSpPr>
          <p:cNvPr id="6" name="Google Shape;280;p29">
            <a:extLst>
              <a:ext uri="{FF2B5EF4-FFF2-40B4-BE49-F238E27FC236}">
                <a16:creationId xmlns:a16="http://schemas.microsoft.com/office/drawing/2014/main" id="{22B2BBE9-5E66-0789-9206-EB0773917FFA}"/>
              </a:ext>
            </a:extLst>
          </p:cNvPr>
          <p:cNvSpPr/>
          <p:nvPr/>
        </p:nvSpPr>
        <p:spPr>
          <a:xfrm>
            <a:off x="1418671" y="4170398"/>
            <a:ext cx="2825783" cy="600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Overemphasis on achieving minimum threshold, neglecting broader goals</a:t>
            </a:r>
            <a:endParaRPr lang="en" sz="1100" dirty="0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281;p29">
            <a:extLst>
              <a:ext uri="{FF2B5EF4-FFF2-40B4-BE49-F238E27FC236}">
                <a16:creationId xmlns:a16="http://schemas.microsoft.com/office/drawing/2014/main" id="{304FEC41-D9E6-1562-BC4D-CC182BD6376C}"/>
              </a:ext>
            </a:extLst>
          </p:cNvPr>
          <p:cNvSpPr/>
          <p:nvPr/>
        </p:nvSpPr>
        <p:spPr>
          <a:xfrm>
            <a:off x="1418671" y="3524798"/>
            <a:ext cx="2702067" cy="6007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Financing conditional on meeting targets; risk reduced.</a:t>
            </a:r>
            <a:endParaRPr lang="en" sz="1100" dirty="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Google Shape;282;p29">
            <a:extLst>
              <a:ext uri="{FF2B5EF4-FFF2-40B4-BE49-F238E27FC236}">
                <a16:creationId xmlns:a16="http://schemas.microsoft.com/office/drawing/2014/main" id="{2BC91152-4443-DD5E-00A1-935011835CCE}"/>
              </a:ext>
            </a:extLst>
          </p:cNvPr>
          <p:cNvSpPr/>
          <p:nvPr/>
        </p:nvSpPr>
        <p:spPr>
          <a:xfrm>
            <a:off x="374074" y="4157744"/>
            <a:ext cx="703800" cy="63543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83;p29">
            <a:extLst>
              <a:ext uri="{FF2B5EF4-FFF2-40B4-BE49-F238E27FC236}">
                <a16:creationId xmlns:a16="http://schemas.microsoft.com/office/drawing/2014/main" id="{557E2C2C-4370-201F-30AC-A020B155158D}"/>
              </a:ext>
            </a:extLst>
          </p:cNvPr>
          <p:cNvSpPr/>
          <p:nvPr/>
        </p:nvSpPr>
        <p:spPr>
          <a:xfrm>
            <a:off x="374074" y="3526351"/>
            <a:ext cx="703800" cy="59916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84;p29">
            <a:extLst>
              <a:ext uri="{FF2B5EF4-FFF2-40B4-BE49-F238E27FC236}">
                <a16:creationId xmlns:a16="http://schemas.microsoft.com/office/drawing/2014/main" id="{AE786181-CA10-7815-419B-21492A27023C}"/>
              </a:ext>
            </a:extLst>
          </p:cNvPr>
          <p:cNvSpPr/>
          <p:nvPr/>
        </p:nvSpPr>
        <p:spPr>
          <a:xfrm rot="18579007">
            <a:off x="598566" y="3778334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85;p29">
            <a:extLst>
              <a:ext uri="{FF2B5EF4-FFF2-40B4-BE49-F238E27FC236}">
                <a16:creationId xmlns:a16="http://schemas.microsoft.com/office/drawing/2014/main" id="{60D815C0-E109-2697-A4B2-15200A518B42}"/>
              </a:ext>
            </a:extLst>
          </p:cNvPr>
          <p:cNvSpPr/>
          <p:nvPr/>
        </p:nvSpPr>
        <p:spPr>
          <a:xfrm>
            <a:off x="571782" y="4289312"/>
            <a:ext cx="308400" cy="372300"/>
          </a:xfrm>
          <a:prstGeom prst="mathMultiply">
            <a:avLst>
              <a:gd name="adj1" fmla="val 50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295;p30">
            <a:extLst>
              <a:ext uri="{FF2B5EF4-FFF2-40B4-BE49-F238E27FC236}">
                <a16:creationId xmlns:a16="http://schemas.microsoft.com/office/drawing/2014/main" id="{B805D687-D0AD-20AE-CD95-7E60B52B62EF}"/>
              </a:ext>
            </a:extLst>
          </p:cNvPr>
          <p:cNvSpPr/>
          <p:nvPr/>
        </p:nvSpPr>
        <p:spPr>
          <a:xfrm>
            <a:off x="5910233" y="3907223"/>
            <a:ext cx="2853862" cy="563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Continuous incentives increase likelihood of sustained commitment to targets</a:t>
            </a:r>
            <a:endParaRPr sz="11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297;p30">
            <a:extLst>
              <a:ext uri="{FF2B5EF4-FFF2-40B4-BE49-F238E27FC236}">
                <a16:creationId xmlns:a16="http://schemas.microsoft.com/office/drawing/2014/main" id="{615AB3A1-A9D6-D7FD-060C-FA193599E23C}"/>
              </a:ext>
            </a:extLst>
          </p:cNvPr>
          <p:cNvSpPr/>
          <p:nvPr/>
        </p:nvSpPr>
        <p:spPr>
          <a:xfrm>
            <a:off x="4824415" y="3907355"/>
            <a:ext cx="703800" cy="56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98;p30">
            <a:extLst>
              <a:ext uri="{FF2B5EF4-FFF2-40B4-BE49-F238E27FC236}">
                <a16:creationId xmlns:a16="http://schemas.microsoft.com/office/drawing/2014/main" id="{AE233B66-ACA9-C380-AB14-C6D2D22DFAF6}"/>
              </a:ext>
            </a:extLst>
          </p:cNvPr>
          <p:cNvSpPr/>
          <p:nvPr/>
        </p:nvSpPr>
        <p:spPr>
          <a:xfrm rot="18579007">
            <a:off x="5080082" y="4076941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AE14CCA-B710-C97D-39DC-1C507570F4E2}"/>
              </a:ext>
            </a:extLst>
          </p:cNvPr>
          <p:cNvSpPr txBox="1">
            <a:spLocks/>
          </p:cNvSpPr>
          <p:nvPr/>
        </p:nvSpPr>
        <p:spPr>
          <a:xfrm>
            <a:off x="341372" y="1337036"/>
            <a:ext cx="4000500" cy="222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B85741"/>
                </a:solidFill>
              </a:rPr>
              <a:t>Option 1: </a:t>
            </a:r>
            <a:r>
              <a:rPr lang="en-US" b="1" dirty="0">
                <a:solidFill>
                  <a:schemeClr val="accent4"/>
                </a:solidFill>
              </a:rPr>
              <a:t>Prior Actions</a:t>
            </a:r>
            <a:endParaRPr lang="en-US" dirty="0"/>
          </a:p>
          <a:p>
            <a:pPr indent="-299720">
              <a:lnSpc>
                <a:spcPct val="160000"/>
              </a:lnSpc>
              <a:spcBef>
                <a:spcPts val="1200"/>
              </a:spcBef>
              <a:buClr>
                <a:schemeClr val="accent1"/>
              </a:buClr>
              <a:buSzPts val="1120"/>
            </a:pPr>
            <a:r>
              <a:rPr lang="en-US" sz="1200" dirty="0">
                <a:solidFill>
                  <a:srgbClr val="002F4A"/>
                </a:solidFill>
              </a:rPr>
              <a:t>Similar to Development Policy Frameworks, but all parameters are specified in bond prospectus. </a:t>
            </a:r>
          </a:p>
          <a:p>
            <a:pPr marL="457200" lvl="0" indent="-29972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Char char="●"/>
            </a:pPr>
            <a:r>
              <a:rPr lang="en-US" sz="1200" dirty="0">
                <a:solidFill>
                  <a:srgbClr val="002F4A"/>
                </a:solidFill>
              </a:rPr>
              <a:t>Low-cost interest rates are contingent on agreed-upon prior actions.</a:t>
            </a:r>
          </a:p>
          <a:p>
            <a:pPr marL="457200" lvl="0" indent="-29972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Char char="●"/>
            </a:pPr>
            <a:r>
              <a:rPr lang="en-US" sz="1200" dirty="0">
                <a:solidFill>
                  <a:srgbClr val="002F4A"/>
                </a:solidFill>
              </a:rPr>
              <a:t>Second financing round conditional on meeting minimum achievement thresholds</a:t>
            </a:r>
            <a:endParaRPr lang="en-US" sz="1100" dirty="0">
              <a:solidFill>
                <a:srgbClr val="002F4A"/>
              </a:solidFill>
            </a:endParaRPr>
          </a:p>
          <a:p>
            <a:pPr marL="146050" indent="0">
              <a:buFont typeface="Roboto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0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4B9CEE40-C7ED-5F57-AD3D-60F4A50F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E9BF3A1-8884-4D4A-29B3-AEDABE379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Implementing KPI Bonds</a:t>
            </a:r>
          </a:p>
          <a:p>
            <a:pPr lvl="0"/>
            <a:r>
              <a:rPr lang="en-US" dirty="0"/>
              <a:t>Option Two: Trusted Intermediary Model</a:t>
            </a:r>
          </a:p>
        </p:txBody>
      </p:sp>
    </p:spTree>
    <p:extLst>
      <p:ext uri="{BB962C8B-B14F-4D97-AF65-F5344CB8AC3E}">
        <p14:creationId xmlns:p14="http://schemas.microsoft.com/office/powerpoint/2010/main" val="277250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D1029096-2D44-DCEE-CE92-8D46F931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>
            <a:extLst>
              <a:ext uri="{FF2B5EF4-FFF2-40B4-BE49-F238E27FC236}">
                <a16:creationId xmlns:a16="http://schemas.microsoft.com/office/drawing/2014/main" id="{D1C96F6F-6A14-C8B7-2CFC-7AF8F11A1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870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 dirty="0"/>
              <a:t>Option Two: </a:t>
            </a:r>
            <a:r>
              <a:rPr lang="en" sz="2250" dirty="0">
                <a:solidFill>
                  <a:schemeClr val="bg1"/>
                </a:solidFill>
              </a:rPr>
              <a:t>Trusted </a:t>
            </a:r>
            <a:endParaRPr sz="225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 dirty="0">
                <a:solidFill>
                  <a:schemeClr val="bg1"/>
                </a:solidFill>
              </a:rPr>
              <a:t>Intermediary</a:t>
            </a:r>
            <a:endParaRPr sz="2250" dirty="0">
              <a:solidFill>
                <a:schemeClr val="bg1"/>
              </a:solidFill>
            </a:endParaRPr>
          </a:p>
        </p:txBody>
      </p:sp>
      <p:sp>
        <p:nvSpPr>
          <p:cNvPr id="380" name="Google Shape;380;p38">
            <a:extLst>
              <a:ext uri="{FF2B5EF4-FFF2-40B4-BE49-F238E27FC236}">
                <a16:creationId xmlns:a16="http://schemas.microsoft.com/office/drawing/2014/main" id="{E44FADED-FE6F-4AA7-151A-12E1228BDA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2F4A"/>
                </a:solidFill>
              </a:rPr>
              <a:t>The second/third option involves the utilization of a </a:t>
            </a:r>
            <a:r>
              <a:rPr lang="en" sz="1400" b="1" dirty="0">
                <a:solidFill>
                  <a:srgbClr val="002F4A"/>
                </a:solidFill>
              </a:rPr>
              <a:t>trusted intermediary</a:t>
            </a:r>
            <a:r>
              <a:rPr lang="en" sz="1400" dirty="0">
                <a:solidFill>
                  <a:srgbClr val="002F4A"/>
                </a:solidFill>
              </a:rPr>
              <a:t>, such as the World Bank or a special purpose vehicle backed by guarantees from a third party. In both scenarios, the crucial aspect is ensuring that the intermediary is adequately capitalized or possesses sufficient guarantees to maintain a low-risk profile.</a:t>
            </a:r>
            <a:endParaRPr sz="1400" dirty="0">
              <a:solidFill>
                <a:srgbClr val="002F4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accent1"/>
              </a:solidFill>
            </a:endParaRPr>
          </a:p>
        </p:txBody>
      </p:sp>
      <p:sp>
        <p:nvSpPr>
          <p:cNvPr id="381" name="Google Shape;381;p38">
            <a:extLst>
              <a:ext uri="{FF2B5EF4-FFF2-40B4-BE49-F238E27FC236}">
                <a16:creationId xmlns:a16="http://schemas.microsoft.com/office/drawing/2014/main" id="{E4C0AD42-13E4-D672-74D5-E7BE0C7FEEA2}"/>
              </a:ext>
            </a:extLst>
          </p:cNvPr>
          <p:cNvSpPr/>
          <p:nvPr/>
        </p:nvSpPr>
        <p:spPr>
          <a:xfrm>
            <a:off x="6190157" y="4003425"/>
            <a:ext cx="2465400" cy="56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Possible funding limitations and added complexity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8">
            <a:extLst>
              <a:ext uri="{FF2B5EF4-FFF2-40B4-BE49-F238E27FC236}">
                <a16:creationId xmlns:a16="http://schemas.microsoft.com/office/drawing/2014/main" id="{4F89E409-9E0A-9DDC-DF68-C708850433BC}"/>
              </a:ext>
            </a:extLst>
          </p:cNvPr>
          <p:cNvSpPr/>
          <p:nvPr/>
        </p:nvSpPr>
        <p:spPr>
          <a:xfrm>
            <a:off x="5027182" y="4003425"/>
            <a:ext cx="703800" cy="56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8">
            <a:extLst>
              <a:ext uri="{FF2B5EF4-FFF2-40B4-BE49-F238E27FC236}">
                <a16:creationId xmlns:a16="http://schemas.microsoft.com/office/drawing/2014/main" id="{98683F97-DC3C-E14A-EDCA-F57240A30A4F}"/>
              </a:ext>
            </a:extLst>
          </p:cNvPr>
          <p:cNvSpPr/>
          <p:nvPr/>
        </p:nvSpPr>
        <p:spPr>
          <a:xfrm>
            <a:off x="5027157" y="3069225"/>
            <a:ext cx="703800" cy="56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8">
            <a:extLst>
              <a:ext uri="{FF2B5EF4-FFF2-40B4-BE49-F238E27FC236}">
                <a16:creationId xmlns:a16="http://schemas.microsoft.com/office/drawing/2014/main" id="{CFAE74A1-3FC0-4D49-FADC-3B7CCBA32957}"/>
              </a:ext>
            </a:extLst>
          </p:cNvPr>
          <p:cNvSpPr/>
          <p:nvPr/>
        </p:nvSpPr>
        <p:spPr>
          <a:xfrm rot="-3020993">
            <a:off x="5251649" y="3278270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8">
            <a:extLst>
              <a:ext uri="{FF2B5EF4-FFF2-40B4-BE49-F238E27FC236}">
                <a16:creationId xmlns:a16="http://schemas.microsoft.com/office/drawing/2014/main" id="{BCF3EB51-4280-8324-A697-D110C106632E}"/>
              </a:ext>
            </a:extLst>
          </p:cNvPr>
          <p:cNvSpPr/>
          <p:nvPr/>
        </p:nvSpPr>
        <p:spPr>
          <a:xfrm>
            <a:off x="5224890" y="4098973"/>
            <a:ext cx="308400" cy="372300"/>
          </a:xfrm>
          <a:prstGeom prst="mathMultiply">
            <a:avLst>
              <a:gd name="adj1" fmla="val 50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8">
            <a:extLst>
              <a:ext uri="{FF2B5EF4-FFF2-40B4-BE49-F238E27FC236}">
                <a16:creationId xmlns:a16="http://schemas.microsoft.com/office/drawing/2014/main" id="{79099830-D71F-B400-A8AA-D65C3F5A0A4D}"/>
              </a:ext>
            </a:extLst>
          </p:cNvPr>
          <p:cNvSpPr/>
          <p:nvPr/>
        </p:nvSpPr>
        <p:spPr>
          <a:xfrm>
            <a:off x="6190157" y="3069300"/>
            <a:ext cx="2175000" cy="56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Expertise of intermediary and risk mitigation 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EDFEE-BC04-5CB9-7C5D-4CCDD26D19F1}"/>
              </a:ext>
            </a:extLst>
          </p:cNvPr>
          <p:cNvSpPr txBox="1"/>
          <p:nvPr/>
        </p:nvSpPr>
        <p:spPr>
          <a:xfrm>
            <a:off x="248674" y="1716707"/>
            <a:ext cx="4016302" cy="242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7938">
              <a:lnSpc>
                <a:spcPct val="150000"/>
              </a:lnSpc>
              <a:spcBef>
                <a:spcPts val="1200"/>
              </a:spcBef>
              <a:buSzPts val="1018"/>
            </a:pPr>
            <a:r>
              <a:rPr lang="en-US" sz="1200" dirty="0">
                <a:solidFill>
                  <a:schemeClr val="bg1"/>
                </a:solidFill>
              </a:rPr>
              <a:t>Option Two, instead of requiring funding, use a trusted intermediary to borrow from the markets at a lower rate than the sovereign. The </a:t>
            </a:r>
            <a:r>
              <a:rPr lang="en-US" sz="1200" b="1" dirty="0">
                <a:solidFill>
                  <a:schemeClr val="bg1"/>
                </a:solidFill>
              </a:rPr>
              <a:t>intermediary</a:t>
            </a:r>
            <a:r>
              <a:rPr lang="en-US" sz="1200" dirty="0">
                <a:solidFill>
                  <a:schemeClr val="bg1"/>
                </a:solidFill>
              </a:rPr>
              <a:t> then </a:t>
            </a:r>
            <a:r>
              <a:rPr lang="en-US" sz="1200" b="1" dirty="0">
                <a:solidFill>
                  <a:schemeClr val="bg1"/>
                </a:solidFill>
              </a:rPr>
              <a:t>on-lends</a:t>
            </a:r>
            <a:r>
              <a:rPr lang="en-US" sz="1200" dirty="0">
                <a:solidFill>
                  <a:schemeClr val="bg1"/>
                </a:solidFill>
              </a:rPr>
              <a:t> to the sovereign. The intermediary could be the WB itself or some other institution or special purpose vehicle.</a:t>
            </a:r>
          </a:p>
          <a:p>
            <a:pPr indent="7938">
              <a:lnSpc>
                <a:spcPct val="150000"/>
              </a:lnSpc>
              <a:spcBef>
                <a:spcPts val="1200"/>
              </a:spcBef>
              <a:buSzPts val="1018"/>
            </a:pPr>
            <a:r>
              <a:rPr lang="en-US" sz="1200" dirty="0">
                <a:solidFill>
                  <a:schemeClr val="bg1"/>
                </a:solidFill>
              </a:rPr>
              <a:t>The </a:t>
            </a:r>
            <a:r>
              <a:rPr lang="en-US" sz="1200" b="1" dirty="0">
                <a:solidFill>
                  <a:schemeClr val="bg1"/>
                </a:solidFill>
              </a:rPr>
              <a:t>basic idea</a:t>
            </a:r>
            <a:r>
              <a:rPr lang="en-US" sz="1200" dirty="0">
                <a:solidFill>
                  <a:schemeClr val="bg1"/>
                </a:solidFill>
              </a:rPr>
              <a:t> is the </a:t>
            </a:r>
            <a:r>
              <a:rPr lang="en-US" sz="1200" b="1" dirty="0">
                <a:solidFill>
                  <a:schemeClr val="bg1"/>
                </a:solidFill>
              </a:rPr>
              <a:t>lower interest costs </a:t>
            </a:r>
            <a:r>
              <a:rPr lang="en-US" sz="1200" dirty="0">
                <a:solidFill>
                  <a:schemeClr val="bg1"/>
                </a:solidFill>
              </a:rPr>
              <a:t>of the intermediary/WB are </a:t>
            </a:r>
            <a:r>
              <a:rPr lang="en-US" sz="1200" b="1" dirty="0">
                <a:solidFill>
                  <a:schemeClr val="bg1"/>
                </a:solidFill>
              </a:rPr>
              <a:t>passed on </a:t>
            </a:r>
            <a:r>
              <a:rPr lang="en-US" sz="1200" dirty="0">
                <a:solidFill>
                  <a:schemeClr val="bg1"/>
                </a:solidFill>
              </a:rPr>
              <a:t>in reduced interest costs to the sovereign </a:t>
            </a:r>
            <a:r>
              <a:rPr lang="en-US" sz="1200" b="1" dirty="0">
                <a:solidFill>
                  <a:schemeClr val="bg1"/>
                </a:solidFill>
              </a:rPr>
              <a:t>only if KPIs are met.</a:t>
            </a:r>
          </a:p>
        </p:txBody>
      </p:sp>
    </p:spTree>
    <p:extLst>
      <p:ext uri="{BB962C8B-B14F-4D97-AF65-F5344CB8AC3E}">
        <p14:creationId xmlns:p14="http://schemas.microsoft.com/office/powerpoint/2010/main" val="640958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>
          <a:extLst>
            <a:ext uri="{FF2B5EF4-FFF2-40B4-BE49-F238E27FC236}">
              <a16:creationId xmlns:a16="http://schemas.microsoft.com/office/drawing/2014/main" id="{88E2D76C-4BB5-C9D6-0327-F22B1CA8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31BC723C-9BD2-98D7-A391-0B8604C953F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293300" y="1445455"/>
            <a:ext cx="2650791" cy="3375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KPI Bonds would consist of two components</a:t>
            </a:r>
            <a:r>
              <a:rPr lang="en" sz="1400" b="1" dirty="0">
                <a:solidFill>
                  <a:schemeClr val="accent4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rgbClr val="002F4A"/>
                </a:solidFill>
              </a:rPr>
              <a:t>Standard sovereign bonds with fixed coupons, but ‘green’ tagged (because of second component…)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rgbClr val="002F4A"/>
                </a:solidFill>
              </a:rPr>
              <a:t>WB payments conditional on a) Achievement of KPIs and b) sufficient private sector interest in the first component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solidFill>
                <a:srgbClr val="002F4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D4685-0435-B7D7-A875-DED68C183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dirty="0"/>
              <a:t>How To Implement KPI Bonds: Option Two – Trusted Intermediary</a:t>
            </a:r>
          </a:p>
          <a:p>
            <a:endParaRPr lang="en-US" dirty="0"/>
          </a:p>
        </p:txBody>
      </p:sp>
      <p:grpSp>
        <p:nvGrpSpPr>
          <p:cNvPr id="8" name="Google Shape;230;p26">
            <a:extLst>
              <a:ext uri="{FF2B5EF4-FFF2-40B4-BE49-F238E27FC236}">
                <a16:creationId xmlns:a16="http://schemas.microsoft.com/office/drawing/2014/main" id="{B07A8872-3874-373C-E702-D8A8C4FEDE7D}"/>
              </a:ext>
            </a:extLst>
          </p:cNvPr>
          <p:cNvGrpSpPr/>
          <p:nvPr/>
        </p:nvGrpSpPr>
        <p:grpSpPr>
          <a:xfrm>
            <a:off x="5144611" y="2543982"/>
            <a:ext cx="1332390" cy="1220886"/>
            <a:chOff x="5040038" y="2459523"/>
            <a:chExt cx="1718739" cy="966655"/>
          </a:xfrm>
        </p:grpSpPr>
        <p:sp>
          <p:nvSpPr>
            <p:cNvPr id="9" name="Google Shape;231;p26">
              <a:extLst>
                <a:ext uri="{FF2B5EF4-FFF2-40B4-BE49-F238E27FC236}">
                  <a16:creationId xmlns:a16="http://schemas.microsoft.com/office/drawing/2014/main" id="{F51CD341-7FC2-BE14-967D-4E506F7475A9}"/>
                </a:ext>
              </a:extLst>
            </p:cNvPr>
            <p:cNvSpPr/>
            <p:nvPr/>
          </p:nvSpPr>
          <p:spPr>
            <a:xfrm>
              <a:off x="5040038" y="2707678"/>
              <a:ext cx="1718738" cy="71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000" dirty="0">
                  <a:solidFill>
                    <a:srgbClr val="FFFFFF"/>
                  </a:solidFill>
                </a:rPr>
                <a:t>Borrows at AAA financing rate thanks to guarantees. Receives 4-7%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0" name="Google Shape;232;p26">
              <a:extLst>
                <a:ext uri="{FF2B5EF4-FFF2-40B4-BE49-F238E27FC236}">
                  <a16:creationId xmlns:a16="http://schemas.microsoft.com/office/drawing/2014/main" id="{E7FCB302-6711-7661-651C-7F4CB1605C91}"/>
                </a:ext>
              </a:extLst>
            </p:cNvPr>
            <p:cNvSpPr/>
            <p:nvPr/>
          </p:nvSpPr>
          <p:spPr>
            <a:xfrm>
              <a:off x="5040038" y="2459523"/>
              <a:ext cx="1718739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SPV or WB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Google Shape;233;p26">
            <a:extLst>
              <a:ext uri="{FF2B5EF4-FFF2-40B4-BE49-F238E27FC236}">
                <a16:creationId xmlns:a16="http://schemas.microsoft.com/office/drawing/2014/main" id="{23F78598-C81B-C3A6-57AF-F4F1384FF8C0}"/>
              </a:ext>
            </a:extLst>
          </p:cNvPr>
          <p:cNvGrpSpPr/>
          <p:nvPr/>
        </p:nvGrpSpPr>
        <p:grpSpPr>
          <a:xfrm>
            <a:off x="7855527" y="1382570"/>
            <a:ext cx="1073728" cy="1295717"/>
            <a:chOff x="4432886" y="647329"/>
            <a:chExt cx="873020" cy="1052915"/>
          </a:xfrm>
        </p:grpSpPr>
        <p:sp>
          <p:nvSpPr>
            <p:cNvPr id="12" name="Google Shape;234;p26">
              <a:extLst>
                <a:ext uri="{FF2B5EF4-FFF2-40B4-BE49-F238E27FC236}">
                  <a16:creationId xmlns:a16="http://schemas.microsoft.com/office/drawing/2014/main" id="{19172850-CD93-0629-820A-DADE1EBD12FC}"/>
                </a:ext>
              </a:extLst>
            </p:cNvPr>
            <p:cNvSpPr/>
            <p:nvPr/>
          </p:nvSpPr>
          <p:spPr>
            <a:xfrm>
              <a:off x="4432886" y="932329"/>
              <a:ext cx="873019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Achieves KPI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3" name="Google Shape;235;p26">
              <a:extLst>
                <a:ext uri="{FF2B5EF4-FFF2-40B4-BE49-F238E27FC236}">
                  <a16:creationId xmlns:a16="http://schemas.microsoft.com/office/drawing/2014/main" id="{C65E950C-E9CB-4514-2BAF-1146735DE660}"/>
                </a:ext>
              </a:extLst>
            </p:cNvPr>
            <p:cNvSpPr/>
            <p:nvPr/>
          </p:nvSpPr>
          <p:spPr>
            <a:xfrm>
              <a:off x="4432886" y="647329"/>
              <a:ext cx="87302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 1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4" name="Google Shape;236;p26">
            <a:extLst>
              <a:ext uri="{FF2B5EF4-FFF2-40B4-BE49-F238E27FC236}">
                <a16:creationId xmlns:a16="http://schemas.microsoft.com/office/drawing/2014/main" id="{F5928925-377E-D0B5-71D2-402B23EDC091}"/>
              </a:ext>
            </a:extLst>
          </p:cNvPr>
          <p:cNvGrpSpPr/>
          <p:nvPr/>
        </p:nvGrpSpPr>
        <p:grpSpPr>
          <a:xfrm>
            <a:off x="3108419" y="2522975"/>
            <a:ext cx="1176007" cy="1220885"/>
            <a:chOff x="2465775" y="2422675"/>
            <a:chExt cx="1332300" cy="914658"/>
          </a:xfrm>
        </p:grpSpPr>
        <p:sp>
          <p:nvSpPr>
            <p:cNvPr id="15" name="Google Shape;237;p26">
              <a:extLst>
                <a:ext uri="{FF2B5EF4-FFF2-40B4-BE49-F238E27FC236}">
                  <a16:creationId xmlns:a16="http://schemas.microsoft.com/office/drawing/2014/main" id="{490E2C86-682B-EC96-7C62-22EF3B85C458}"/>
                </a:ext>
              </a:extLst>
            </p:cNvPr>
            <p:cNvSpPr/>
            <p:nvPr/>
          </p:nvSpPr>
          <p:spPr>
            <a:xfrm>
              <a:off x="2465775" y="2707674"/>
              <a:ext cx="1332300" cy="6296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Receives</a:t>
              </a: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stable payment of coupon from SPV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6" name="Google Shape;238;p26">
              <a:extLst>
                <a:ext uri="{FF2B5EF4-FFF2-40B4-BE49-F238E27FC236}">
                  <a16:creationId xmlns:a16="http://schemas.microsoft.com/office/drawing/2014/main" id="{D1A98517-0668-0C13-AF6E-6B777E289284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Investors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" name="Google Shape;233;p26">
            <a:extLst>
              <a:ext uri="{FF2B5EF4-FFF2-40B4-BE49-F238E27FC236}">
                <a16:creationId xmlns:a16="http://schemas.microsoft.com/office/drawing/2014/main" id="{6C344702-7599-F974-CDD6-4F6BF24B5F27}"/>
              </a:ext>
            </a:extLst>
          </p:cNvPr>
          <p:cNvGrpSpPr/>
          <p:nvPr/>
        </p:nvGrpSpPr>
        <p:grpSpPr>
          <a:xfrm>
            <a:off x="7855528" y="3154425"/>
            <a:ext cx="1073727" cy="1295717"/>
            <a:chOff x="4432886" y="647329"/>
            <a:chExt cx="873019" cy="1052915"/>
          </a:xfrm>
        </p:grpSpPr>
        <p:sp>
          <p:nvSpPr>
            <p:cNvPr id="5" name="Google Shape;234;p26">
              <a:extLst>
                <a:ext uri="{FF2B5EF4-FFF2-40B4-BE49-F238E27FC236}">
                  <a16:creationId xmlns:a16="http://schemas.microsoft.com/office/drawing/2014/main" id="{836836A5-DF28-54B3-50B4-1E9ED31E0F65}"/>
                </a:ext>
              </a:extLst>
            </p:cNvPr>
            <p:cNvSpPr/>
            <p:nvPr/>
          </p:nvSpPr>
          <p:spPr>
            <a:xfrm>
              <a:off x="4432886" y="932329"/>
              <a:ext cx="873019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000" dirty="0">
                  <a:solidFill>
                    <a:srgbClr val="FFFFFF"/>
                  </a:solidFill>
                </a:rPr>
                <a:t>Does not achieve KPI. </a:t>
              </a:r>
            </a:p>
          </p:txBody>
        </p:sp>
        <p:sp>
          <p:nvSpPr>
            <p:cNvPr id="6" name="Google Shape;235;p26">
              <a:extLst>
                <a:ext uri="{FF2B5EF4-FFF2-40B4-BE49-F238E27FC236}">
                  <a16:creationId xmlns:a16="http://schemas.microsoft.com/office/drawing/2014/main" id="{6BA75934-F008-47EF-CA28-825610C3C554}"/>
                </a:ext>
              </a:extLst>
            </p:cNvPr>
            <p:cNvSpPr/>
            <p:nvPr/>
          </p:nvSpPr>
          <p:spPr>
            <a:xfrm>
              <a:off x="4432886" y="647329"/>
              <a:ext cx="873017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 2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7" name="Google Shape;251;p27">
            <a:extLst>
              <a:ext uri="{FF2B5EF4-FFF2-40B4-BE49-F238E27FC236}">
                <a16:creationId xmlns:a16="http://schemas.microsoft.com/office/drawing/2014/main" id="{E56A3200-81F4-6282-23E4-9A0CA27CBC50}"/>
              </a:ext>
            </a:extLst>
          </p:cNvPr>
          <p:cNvSpPr/>
          <p:nvPr/>
        </p:nvSpPr>
        <p:spPr>
          <a:xfrm rot="9036882">
            <a:off x="6499020" y="2478653"/>
            <a:ext cx="1377375" cy="18841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251;p27">
            <a:extLst>
              <a:ext uri="{FF2B5EF4-FFF2-40B4-BE49-F238E27FC236}">
                <a16:creationId xmlns:a16="http://schemas.microsoft.com/office/drawing/2014/main" id="{0B6B40AB-1C67-4CED-98A6-6E1D2D9D6045}"/>
              </a:ext>
            </a:extLst>
          </p:cNvPr>
          <p:cNvSpPr/>
          <p:nvPr/>
        </p:nvSpPr>
        <p:spPr>
          <a:xfrm rot="12622189">
            <a:off x="6430128" y="3586555"/>
            <a:ext cx="1377375" cy="18841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Google Shape;250;p27">
            <a:extLst>
              <a:ext uri="{FF2B5EF4-FFF2-40B4-BE49-F238E27FC236}">
                <a16:creationId xmlns:a16="http://schemas.microsoft.com/office/drawing/2014/main" id="{77CD7E4A-3740-A876-9850-BF0671336A6F}"/>
              </a:ext>
            </a:extLst>
          </p:cNvPr>
          <p:cNvSpPr txBox="1"/>
          <p:nvPr/>
        </p:nvSpPr>
        <p:spPr>
          <a:xfrm rot="19840705">
            <a:off x="6484710" y="2201041"/>
            <a:ext cx="1173621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4% p.a. 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26" name="Google Shape;250;p27">
            <a:extLst>
              <a:ext uri="{FF2B5EF4-FFF2-40B4-BE49-F238E27FC236}">
                <a16:creationId xmlns:a16="http://schemas.microsoft.com/office/drawing/2014/main" id="{B51516B3-93A2-D03C-3197-858BED84E142}"/>
              </a:ext>
            </a:extLst>
          </p:cNvPr>
          <p:cNvSpPr txBox="1"/>
          <p:nvPr/>
        </p:nvSpPr>
        <p:spPr>
          <a:xfrm rot="1762067">
            <a:off x="6600896" y="3329696"/>
            <a:ext cx="1173621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7% p.a. 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29" name="Google Shape;251;p27">
            <a:extLst>
              <a:ext uri="{FF2B5EF4-FFF2-40B4-BE49-F238E27FC236}">
                <a16:creationId xmlns:a16="http://schemas.microsoft.com/office/drawing/2014/main" id="{FDED149C-8A98-9A9F-991D-2D46CC76B45D}"/>
              </a:ext>
            </a:extLst>
          </p:cNvPr>
          <p:cNvSpPr/>
          <p:nvPr/>
        </p:nvSpPr>
        <p:spPr>
          <a:xfrm rot="10800000">
            <a:off x="4285394" y="3154425"/>
            <a:ext cx="858249" cy="18841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250;p27">
            <a:extLst>
              <a:ext uri="{FF2B5EF4-FFF2-40B4-BE49-F238E27FC236}">
                <a16:creationId xmlns:a16="http://schemas.microsoft.com/office/drawing/2014/main" id="{1E1ED4DF-DEBD-C536-9E91-8E01C50FBEE3}"/>
              </a:ext>
            </a:extLst>
          </p:cNvPr>
          <p:cNvSpPr txBox="1"/>
          <p:nvPr/>
        </p:nvSpPr>
        <p:spPr>
          <a:xfrm rot="3823">
            <a:off x="4271085" y="2876706"/>
            <a:ext cx="97581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4% p.a. </a:t>
            </a:r>
            <a:endParaRPr sz="1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7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0E4E-A1F3-87C6-55C6-03270CE0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0271326-58B4-E0F6-C6B9-C9B0FEF61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Ecuador, IDB &amp; DFC 2023 Example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EDB45CC-E118-1480-808D-484091FD5A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5977" y="1298122"/>
            <a:ext cx="3954724" cy="3465738"/>
          </a:xfrm>
        </p:spPr>
        <p:txBody>
          <a:bodyPr>
            <a:normAutofit fontScale="92500"/>
          </a:bodyPr>
          <a:lstStyle/>
          <a:p>
            <a:pPr marL="285750" indent="-285750"/>
            <a:r>
              <a:rPr lang="en-US" b="1" dirty="0">
                <a:solidFill>
                  <a:srgbClr val="B85741"/>
                </a:solidFill>
              </a:rPr>
              <a:t>Debt-for-nature swap </a:t>
            </a:r>
            <a:r>
              <a:rPr lang="en-US" dirty="0">
                <a:solidFill>
                  <a:srgbClr val="002F4A"/>
                </a:solidFill>
              </a:rPr>
              <a:t>in Ecuador </a:t>
            </a:r>
            <a:r>
              <a:rPr lang="en-GB" b="0" i="0" dirty="0">
                <a:solidFill>
                  <a:srgbClr val="000000"/>
                </a:solidFill>
                <a:effectLst/>
              </a:rPr>
              <a:t>consists of an $85 million </a:t>
            </a:r>
            <a:r>
              <a:rPr lang="en-GB" b="1" i="0" dirty="0">
                <a:solidFill>
                  <a:srgbClr val="B85741"/>
                </a:solidFill>
                <a:effectLst/>
              </a:rPr>
              <a:t>IDB guarantee </a:t>
            </a:r>
            <a:r>
              <a:rPr lang="en-GB" b="0" i="0" dirty="0">
                <a:solidFill>
                  <a:srgbClr val="000000"/>
                </a:solidFill>
                <a:effectLst/>
              </a:rPr>
              <a:t>and an $656 million </a:t>
            </a:r>
            <a:r>
              <a:rPr lang="en-GB" b="1" i="0" dirty="0">
                <a:solidFill>
                  <a:srgbClr val="B85741"/>
                </a:solidFill>
                <a:effectLst/>
              </a:rPr>
              <a:t>DFC political-risk insurance</a:t>
            </a:r>
            <a:r>
              <a:rPr lang="en-GB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/>
            <a:r>
              <a:rPr lang="en-GB" dirty="0">
                <a:solidFill>
                  <a:srgbClr val="000000"/>
                </a:solidFill>
              </a:rPr>
              <a:t>E</a:t>
            </a:r>
            <a:r>
              <a:rPr lang="en-GB" b="0" i="0" dirty="0">
                <a:solidFill>
                  <a:srgbClr val="000000"/>
                </a:solidFill>
                <a:effectLst/>
              </a:rPr>
              <a:t>stimated to generate savings of </a:t>
            </a:r>
            <a:r>
              <a:rPr lang="en-GB" b="1" i="0" dirty="0">
                <a:solidFill>
                  <a:srgbClr val="B85741"/>
                </a:solidFill>
                <a:effectLst/>
              </a:rPr>
              <a:t>$323 million</a:t>
            </a:r>
            <a:r>
              <a:rPr lang="en-GB" b="0" i="0" dirty="0">
                <a:solidFill>
                  <a:srgbClr val="000000"/>
                </a:solidFill>
                <a:effectLst/>
              </a:rPr>
              <a:t> to finance conservation activities in the Galápagos (IDB, 2023). </a:t>
            </a:r>
          </a:p>
          <a:p>
            <a:pPr marL="285750" indent="-285750"/>
            <a:r>
              <a:rPr lang="en-US" dirty="0">
                <a:solidFill>
                  <a:srgbClr val="002F4A"/>
                </a:solidFill>
              </a:rPr>
              <a:t>First time an MDB has provided </a:t>
            </a:r>
            <a:r>
              <a:rPr lang="en-US" b="1" dirty="0">
                <a:solidFill>
                  <a:srgbClr val="B85741"/>
                </a:solidFill>
              </a:rPr>
              <a:t>financial guarantees </a:t>
            </a:r>
            <a:r>
              <a:rPr lang="en-US" dirty="0">
                <a:solidFill>
                  <a:srgbClr val="002F4A"/>
                </a:solidFill>
              </a:rPr>
              <a:t>coupled </a:t>
            </a:r>
            <a:r>
              <a:rPr lang="en-US" b="1" dirty="0">
                <a:solidFill>
                  <a:srgbClr val="B85741"/>
                </a:solidFill>
              </a:rPr>
              <a:t>with insurance against risks</a:t>
            </a:r>
            <a:r>
              <a:rPr lang="en-US" dirty="0">
                <a:solidFill>
                  <a:srgbClr val="002F4A"/>
                </a:solidFill>
              </a:rPr>
              <a:t> to promote </a:t>
            </a:r>
            <a:r>
              <a:rPr lang="en-US" b="1" dirty="0">
                <a:solidFill>
                  <a:srgbClr val="B85741"/>
                </a:solidFill>
              </a:rPr>
              <a:t>sustainability</a:t>
            </a:r>
            <a:r>
              <a:rPr lang="en-US" dirty="0">
                <a:solidFill>
                  <a:srgbClr val="002F4A"/>
                </a:solidFill>
              </a:rPr>
              <a:t> at the state level. </a:t>
            </a:r>
          </a:p>
          <a:p>
            <a:pPr marL="285750" indent="-285750"/>
            <a:r>
              <a:rPr lang="en-US" dirty="0">
                <a:solidFill>
                  <a:srgbClr val="002F4A"/>
                </a:solidFill>
              </a:rPr>
              <a:t>Largest debt-for-nature conversion in the world.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F36DD-8EBC-CFC4-3688-8D258A10313E}"/>
              </a:ext>
            </a:extLst>
          </p:cNvPr>
          <p:cNvSpPr/>
          <p:nvPr/>
        </p:nvSpPr>
        <p:spPr>
          <a:xfrm>
            <a:off x="363416" y="1298122"/>
            <a:ext cx="4173415" cy="3611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78;p22">
            <a:extLst>
              <a:ext uri="{FF2B5EF4-FFF2-40B4-BE49-F238E27FC236}">
                <a16:creationId xmlns:a16="http://schemas.microsoft.com/office/drawing/2014/main" id="{9E4F7072-E833-9E9E-01FD-1457C268A78B}"/>
              </a:ext>
            </a:extLst>
          </p:cNvPr>
          <p:cNvSpPr/>
          <p:nvPr/>
        </p:nvSpPr>
        <p:spPr>
          <a:xfrm>
            <a:off x="3086798" y="2467882"/>
            <a:ext cx="1287300" cy="990426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Ecuador</a:t>
            </a:r>
          </a:p>
        </p:txBody>
      </p:sp>
      <p:sp>
        <p:nvSpPr>
          <p:cNvPr id="9" name="Google Shape;180;p22">
            <a:extLst>
              <a:ext uri="{FF2B5EF4-FFF2-40B4-BE49-F238E27FC236}">
                <a16:creationId xmlns:a16="http://schemas.microsoft.com/office/drawing/2014/main" id="{4B1B0330-DC0F-2708-0D92-8633721B8074}"/>
              </a:ext>
            </a:extLst>
          </p:cNvPr>
          <p:cNvSpPr/>
          <p:nvPr/>
        </p:nvSpPr>
        <p:spPr>
          <a:xfrm>
            <a:off x="762185" y="2742691"/>
            <a:ext cx="1287300" cy="5766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Creditors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81;p22">
            <a:extLst>
              <a:ext uri="{FF2B5EF4-FFF2-40B4-BE49-F238E27FC236}">
                <a16:creationId xmlns:a16="http://schemas.microsoft.com/office/drawing/2014/main" id="{54F32028-7F08-08F0-AE1C-43EF179B52D3}"/>
              </a:ext>
            </a:extLst>
          </p:cNvPr>
          <p:cNvSpPr txBox="1"/>
          <p:nvPr/>
        </p:nvSpPr>
        <p:spPr>
          <a:xfrm>
            <a:off x="496357" y="2154728"/>
            <a:ext cx="1132428" cy="2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Financial Guarantee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83;p22">
            <a:extLst>
              <a:ext uri="{FF2B5EF4-FFF2-40B4-BE49-F238E27FC236}">
                <a16:creationId xmlns:a16="http://schemas.microsoft.com/office/drawing/2014/main" id="{A11CD9F5-B63C-46F9-3DE0-772ACF0F4790}"/>
              </a:ext>
            </a:extLst>
          </p:cNvPr>
          <p:cNvSpPr txBox="1"/>
          <p:nvPr/>
        </p:nvSpPr>
        <p:spPr>
          <a:xfrm>
            <a:off x="1443980" y="3545096"/>
            <a:ext cx="1287300" cy="47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Risk Insurance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84;p22">
            <a:extLst>
              <a:ext uri="{FF2B5EF4-FFF2-40B4-BE49-F238E27FC236}">
                <a16:creationId xmlns:a16="http://schemas.microsoft.com/office/drawing/2014/main" id="{466165A6-0F84-73FE-6BF0-D29955C9F07F}"/>
              </a:ext>
            </a:extLst>
          </p:cNvPr>
          <p:cNvSpPr/>
          <p:nvPr/>
        </p:nvSpPr>
        <p:spPr>
          <a:xfrm>
            <a:off x="762185" y="4015615"/>
            <a:ext cx="1287300" cy="576600"/>
          </a:xfrm>
          <a:prstGeom prst="rect">
            <a:avLst/>
          </a:prstGeom>
          <a:solidFill>
            <a:srgbClr val="B02C20"/>
          </a:solidFill>
          <a:ln w="9525" cap="flat" cmpd="sng">
            <a:solidFill>
              <a:srgbClr val="B02C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 DFC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87;p22">
            <a:extLst>
              <a:ext uri="{FF2B5EF4-FFF2-40B4-BE49-F238E27FC236}">
                <a16:creationId xmlns:a16="http://schemas.microsoft.com/office/drawing/2014/main" id="{814DA7EF-9A0B-4D61-CE6F-40B7248F9387}"/>
              </a:ext>
            </a:extLst>
          </p:cNvPr>
          <p:cNvSpPr/>
          <p:nvPr/>
        </p:nvSpPr>
        <p:spPr>
          <a:xfrm>
            <a:off x="762185" y="1566925"/>
            <a:ext cx="1287300" cy="576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IDB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188;p22">
            <a:extLst>
              <a:ext uri="{FF2B5EF4-FFF2-40B4-BE49-F238E27FC236}">
                <a16:creationId xmlns:a16="http://schemas.microsoft.com/office/drawing/2014/main" id="{2DF996B5-E4F2-87D3-6255-9BA7CCC64370}"/>
              </a:ext>
            </a:extLst>
          </p:cNvPr>
          <p:cNvSpPr txBox="1"/>
          <p:nvPr/>
        </p:nvSpPr>
        <p:spPr>
          <a:xfrm rot="-2688">
            <a:off x="3749678" y="3489282"/>
            <a:ext cx="767400" cy="44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New Funds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184;p22">
            <a:extLst>
              <a:ext uri="{FF2B5EF4-FFF2-40B4-BE49-F238E27FC236}">
                <a16:creationId xmlns:a16="http://schemas.microsoft.com/office/drawing/2014/main" id="{84FE63D8-4515-DD75-02FB-3AB9A3958B32}"/>
              </a:ext>
            </a:extLst>
          </p:cNvPr>
          <p:cNvSpPr/>
          <p:nvPr/>
        </p:nvSpPr>
        <p:spPr>
          <a:xfrm>
            <a:off x="3086798" y="4061287"/>
            <a:ext cx="1287300" cy="576600"/>
          </a:xfrm>
          <a:prstGeom prst="rect">
            <a:avLst/>
          </a:prstGeom>
          <a:solidFill>
            <a:schemeClr val="accent6">
              <a:lumMod val="25000"/>
            </a:schemeClr>
          </a:solidFill>
          <a:ln w="9525" cap="flat" cmpd="sng">
            <a:solidFill>
              <a:schemeClr val="accent6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Conservation Efforts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182;p22">
            <a:extLst>
              <a:ext uri="{FF2B5EF4-FFF2-40B4-BE49-F238E27FC236}">
                <a16:creationId xmlns:a16="http://schemas.microsoft.com/office/drawing/2014/main" id="{EB7C4E5D-F13D-8181-C231-964214386851}"/>
              </a:ext>
            </a:extLst>
          </p:cNvPr>
          <p:cNvSpPr/>
          <p:nvPr/>
        </p:nvSpPr>
        <p:spPr>
          <a:xfrm rot="5400000">
            <a:off x="3387493" y="3594861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Google Shape;182;p22">
            <a:extLst>
              <a:ext uri="{FF2B5EF4-FFF2-40B4-BE49-F238E27FC236}">
                <a16:creationId xmlns:a16="http://schemas.microsoft.com/office/drawing/2014/main" id="{EAD5F9B7-33C2-EF6F-6004-77060A497371}"/>
              </a:ext>
            </a:extLst>
          </p:cNvPr>
          <p:cNvSpPr/>
          <p:nvPr/>
        </p:nvSpPr>
        <p:spPr>
          <a:xfrm rot="10800000">
            <a:off x="2084653" y="2910913"/>
            <a:ext cx="1085373" cy="1605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182;p22">
            <a:extLst>
              <a:ext uri="{FF2B5EF4-FFF2-40B4-BE49-F238E27FC236}">
                <a16:creationId xmlns:a16="http://schemas.microsoft.com/office/drawing/2014/main" id="{9BABFA65-1F5A-DBB0-CB3A-4D9AF90105F3}"/>
              </a:ext>
            </a:extLst>
          </p:cNvPr>
          <p:cNvSpPr/>
          <p:nvPr/>
        </p:nvSpPr>
        <p:spPr>
          <a:xfrm rot="5400000">
            <a:off x="1085893" y="2229812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182;p22">
            <a:extLst>
              <a:ext uri="{FF2B5EF4-FFF2-40B4-BE49-F238E27FC236}">
                <a16:creationId xmlns:a16="http://schemas.microsoft.com/office/drawing/2014/main" id="{348B57A8-B5E4-C9B8-3455-A04B7D7717DD}"/>
              </a:ext>
            </a:extLst>
          </p:cNvPr>
          <p:cNvSpPr/>
          <p:nvPr/>
        </p:nvSpPr>
        <p:spPr>
          <a:xfrm rot="16200000">
            <a:off x="1071263" y="3687204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182;p22">
            <a:extLst>
              <a:ext uri="{FF2B5EF4-FFF2-40B4-BE49-F238E27FC236}">
                <a16:creationId xmlns:a16="http://schemas.microsoft.com/office/drawing/2014/main" id="{913B24F5-38DB-F870-9AE3-98A676B39382}"/>
              </a:ext>
            </a:extLst>
          </p:cNvPr>
          <p:cNvSpPr/>
          <p:nvPr/>
        </p:nvSpPr>
        <p:spPr>
          <a:xfrm rot="19249176">
            <a:off x="1805067" y="3829088"/>
            <a:ext cx="1379067" cy="136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188;p22">
            <a:extLst>
              <a:ext uri="{FF2B5EF4-FFF2-40B4-BE49-F238E27FC236}">
                <a16:creationId xmlns:a16="http://schemas.microsoft.com/office/drawing/2014/main" id="{EFF34AA5-0B90-C78D-B726-55067F37C3FA}"/>
              </a:ext>
            </a:extLst>
          </p:cNvPr>
          <p:cNvSpPr txBox="1"/>
          <p:nvPr/>
        </p:nvSpPr>
        <p:spPr>
          <a:xfrm rot="-2688">
            <a:off x="2013946" y="2272757"/>
            <a:ext cx="1091503" cy="36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Repays debt at cheaper rate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8364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CA4F28F8-3E12-B610-DAEA-CCFE664E9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304680-3F5D-CB03-186E-516B16E150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Two potential models ('Subsidy' and 'Intermediary’).</a:t>
            </a:r>
          </a:p>
          <a:p>
            <a:pPr marL="842963" lvl="1" indent="-285750">
              <a:lnSpc>
                <a:spcPct val="160000"/>
              </a:lnSpc>
              <a:buClr>
                <a:schemeClr val="accent1"/>
              </a:buClr>
              <a:buSzPts val="1200"/>
            </a:pPr>
            <a:r>
              <a:rPr lang="en" sz="1450" b="1" dirty="0">
                <a:solidFill>
                  <a:srgbClr val="B857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Subsidy</a:t>
            </a:r>
            <a:r>
              <a:rPr lang="en" sz="145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needs a source of funding.</a:t>
            </a:r>
          </a:p>
          <a:p>
            <a:pPr marL="842963" lvl="1" indent="-285750">
              <a:lnSpc>
                <a:spcPct val="160000"/>
              </a:lnSpc>
              <a:buClr>
                <a:schemeClr val="accent1"/>
              </a:buClr>
              <a:buSzPts val="1200"/>
            </a:pPr>
            <a:r>
              <a:rPr lang="en" sz="1450" b="1" dirty="0">
                <a:solidFill>
                  <a:srgbClr val="B857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Intermediary model</a:t>
            </a:r>
            <a:r>
              <a:rPr lang="en" sz="145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" sz="145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relies on low credit risk from intermediary and guarantees.</a:t>
            </a:r>
          </a:p>
          <a:p>
            <a:pPr marL="2857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</a:t>
            </a:r>
            <a:r>
              <a:rPr lang="en" sz="1600" dirty="0" err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rimary</a:t>
            </a:r>
            <a:r>
              <a:rPr lang="en" sz="16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operational focus is on WB as intermediary.</a:t>
            </a:r>
          </a:p>
          <a:p>
            <a:pPr marL="2857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Cooperation with </a:t>
            </a:r>
            <a:r>
              <a:rPr lang="en" sz="16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 agency partners </a:t>
            </a:r>
            <a:r>
              <a:rPr lang="en" sz="16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(e.g. </a:t>
            </a:r>
            <a:r>
              <a:rPr lang="en" sz="1600" dirty="0" err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GiZ</a:t>
            </a:r>
            <a:r>
              <a:rPr lang="en" sz="16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AFD) can improve effectiveness.</a:t>
            </a:r>
          </a:p>
          <a:p>
            <a:pPr marL="2857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Additional features </a:t>
            </a:r>
            <a:r>
              <a:rPr lang="en" sz="16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maximize private sector demand </a:t>
            </a:r>
            <a:r>
              <a:rPr lang="en" sz="16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 be added to basic KPI bond design.</a:t>
            </a:r>
            <a:endParaRPr lang="en-US" dirty="0"/>
          </a:p>
        </p:txBody>
      </p:sp>
      <p:sp>
        <p:nvSpPr>
          <p:cNvPr id="229" name="Google Shape;229;p26">
            <a:extLst>
              <a:ext uri="{FF2B5EF4-FFF2-40B4-BE49-F238E27FC236}">
                <a16:creationId xmlns:a16="http://schemas.microsoft.com/office/drawing/2014/main" id="{A1DE46E1-D172-1DF6-7093-F9415C6D68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KPI Bonds: </a:t>
            </a:r>
            <a:r>
              <a:rPr lang="en-AU" dirty="0"/>
              <a:t>Options Summary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79024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77BACC38-4E75-6929-DF5C-6F9DD7B7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0CB4FE-F1AC-C087-9826-A030411E3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/>
          <a:lstStyle/>
          <a:p>
            <a:r>
              <a:rPr lang="en" dirty="0"/>
              <a:t>Development Partner Roles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30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0093-C0CD-FA75-86AE-68E6DE7C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76B511-2DE4-2032-CB03-01621CE22C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3300" y="1273628"/>
            <a:ext cx="3921513" cy="3698045"/>
          </a:xfrm>
        </p:spPr>
        <p:txBody>
          <a:bodyPr>
            <a:noAutofit/>
          </a:bodyPr>
          <a:lstStyle/>
          <a:p>
            <a:pPr marL="285750" indent="-285750"/>
            <a:r>
              <a:rPr lang="en-US" sz="1600" dirty="0">
                <a:solidFill>
                  <a:srgbClr val="002F4A"/>
                </a:solidFill>
              </a:rPr>
              <a:t>Facilitating the design and </a:t>
            </a:r>
            <a:r>
              <a:rPr lang="en-US" sz="1600" b="1" dirty="0">
                <a:solidFill>
                  <a:srgbClr val="002F4A"/>
                </a:solidFill>
              </a:rPr>
              <a:t>structure of KPIs</a:t>
            </a:r>
            <a:r>
              <a:rPr lang="en-US" sz="1600" dirty="0">
                <a:solidFill>
                  <a:srgbClr val="002F4A"/>
                </a:solidFill>
              </a:rPr>
              <a:t>.</a:t>
            </a:r>
          </a:p>
          <a:p>
            <a:pPr marL="285750" indent="-285750"/>
            <a:r>
              <a:rPr lang="en-US" sz="1600" dirty="0">
                <a:solidFill>
                  <a:srgbClr val="002F4A"/>
                </a:solidFill>
              </a:rPr>
              <a:t>Providing additional </a:t>
            </a:r>
            <a:r>
              <a:rPr lang="en-US" sz="1600" b="1" dirty="0">
                <a:solidFill>
                  <a:srgbClr val="002F4A"/>
                </a:solidFill>
              </a:rPr>
              <a:t>financial guarantees</a:t>
            </a:r>
            <a:r>
              <a:rPr lang="en-US" sz="1600" dirty="0">
                <a:solidFill>
                  <a:srgbClr val="002F4A"/>
                </a:solidFill>
              </a:rPr>
              <a:t> to reassure investors.</a:t>
            </a:r>
          </a:p>
          <a:p>
            <a:pPr marL="285750" indent="-285750"/>
            <a:r>
              <a:rPr lang="en-US" sz="1600" dirty="0">
                <a:solidFill>
                  <a:srgbClr val="002F4A"/>
                </a:solidFill>
              </a:rPr>
              <a:t>Assisting in </a:t>
            </a:r>
            <a:r>
              <a:rPr lang="en-US" sz="1600" b="1" dirty="0">
                <a:solidFill>
                  <a:srgbClr val="002F4A"/>
                </a:solidFill>
              </a:rPr>
              <a:t>monitoring and evaluating </a:t>
            </a:r>
            <a:r>
              <a:rPr lang="en-US" sz="1600" dirty="0">
                <a:solidFill>
                  <a:srgbClr val="002F4A"/>
                </a:solidFill>
              </a:rPr>
              <a:t>KPIs.</a:t>
            </a:r>
          </a:p>
          <a:p>
            <a:pPr marL="285750" indent="-285750"/>
            <a:r>
              <a:rPr lang="en-US" sz="1600" dirty="0">
                <a:solidFill>
                  <a:srgbClr val="002F4A"/>
                </a:solidFill>
              </a:rPr>
              <a:t>Providing </a:t>
            </a:r>
            <a:r>
              <a:rPr lang="en-US" sz="1600" b="1" dirty="0">
                <a:solidFill>
                  <a:srgbClr val="002F4A"/>
                </a:solidFill>
              </a:rPr>
              <a:t>technical assistance </a:t>
            </a:r>
            <a:r>
              <a:rPr lang="en-US" sz="1600" dirty="0">
                <a:solidFill>
                  <a:srgbClr val="002F4A"/>
                </a:solidFill>
              </a:rPr>
              <a:t>and </a:t>
            </a:r>
            <a:r>
              <a:rPr lang="en-US" sz="1600" b="1" dirty="0">
                <a:solidFill>
                  <a:srgbClr val="002F4A"/>
                </a:solidFill>
              </a:rPr>
              <a:t>capacity building </a:t>
            </a:r>
            <a:r>
              <a:rPr lang="en-US" sz="1600" dirty="0">
                <a:solidFill>
                  <a:srgbClr val="002F4A"/>
                </a:solidFill>
              </a:rPr>
              <a:t>to assist sovereigns in achieving KPIs.</a:t>
            </a:r>
          </a:p>
          <a:p>
            <a:pPr indent="0">
              <a:buNone/>
            </a:pP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FEF88-4CEC-1943-EB1E-7F0CC161CD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Development Partner Roles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BEDEE-F758-A84C-DB9E-E0C7E00C8C50}"/>
              </a:ext>
            </a:extLst>
          </p:cNvPr>
          <p:cNvSpPr/>
          <p:nvPr/>
        </p:nvSpPr>
        <p:spPr>
          <a:xfrm>
            <a:off x="4724399" y="1400175"/>
            <a:ext cx="4278701" cy="33541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oogle Shape;230;p26">
            <a:extLst>
              <a:ext uri="{FF2B5EF4-FFF2-40B4-BE49-F238E27FC236}">
                <a16:creationId xmlns:a16="http://schemas.microsoft.com/office/drawing/2014/main" id="{8CA87BE6-503F-EE70-26E3-54B56828FBCA}"/>
              </a:ext>
            </a:extLst>
          </p:cNvPr>
          <p:cNvGrpSpPr/>
          <p:nvPr/>
        </p:nvGrpSpPr>
        <p:grpSpPr>
          <a:xfrm>
            <a:off x="4838199" y="3361884"/>
            <a:ext cx="2196033" cy="1220887"/>
            <a:chOff x="5040038" y="2459523"/>
            <a:chExt cx="1718739" cy="966656"/>
          </a:xfrm>
        </p:grpSpPr>
        <p:sp>
          <p:nvSpPr>
            <p:cNvPr id="7" name="Google Shape;231;p26">
              <a:extLst>
                <a:ext uri="{FF2B5EF4-FFF2-40B4-BE49-F238E27FC236}">
                  <a16:creationId xmlns:a16="http://schemas.microsoft.com/office/drawing/2014/main" id="{CCB1262A-5AD6-0B48-4C3C-D4836E286614}"/>
                </a:ext>
              </a:extLst>
            </p:cNvPr>
            <p:cNvSpPr/>
            <p:nvPr/>
          </p:nvSpPr>
          <p:spPr>
            <a:xfrm>
              <a:off x="5040039" y="2707679"/>
              <a:ext cx="1718738" cy="71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Guarantees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the coupon rate for the investor and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lowers the rate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the sovereign depending on target achievement. 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8" name="Google Shape;232;p26">
              <a:extLst>
                <a:ext uri="{FF2B5EF4-FFF2-40B4-BE49-F238E27FC236}">
                  <a16:creationId xmlns:a16="http://schemas.microsoft.com/office/drawing/2014/main" id="{8166F170-93D2-B476-D496-252E77B07462}"/>
                </a:ext>
              </a:extLst>
            </p:cNvPr>
            <p:cNvSpPr/>
            <p:nvPr/>
          </p:nvSpPr>
          <p:spPr>
            <a:xfrm>
              <a:off x="5040038" y="2459523"/>
              <a:ext cx="1718739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WB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9" name="Google Shape;233;p26">
            <a:extLst>
              <a:ext uri="{FF2B5EF4-FFF2-40B4-BE49-F238E27FC236}">
                <a16:creationId xmlns:a16="http://schemas.microsoft.com/office/drawing/2014/main" id="{D3738589-3488-56B0-8D64-60A04156EE4D}"/>
              </a:ext>
            </a:extLst>
          </p:cNvPr>
          <p:cNvGrpSpPr/>
          <p:nvPr/>
        </p:nvGrpSpPr>
        <p:grpSpPr>
          <a:xfrm>
            <a:off x="7212104" y="1586869"/>
            <a:ext cx="1638596" cy="1295717"/>
            <a:chOff x="3798075" y="647329"/>
            <a:chExt cx="1332300" cy="1052915"/>
          </a:xfrm>
        </p:grpSpPr>
        <p:sp>
          <p:nvSpPr>
            <p:cNvPr id="10" name="Google Shape;234;p26">
              <a:extLst>
                <a:ext uri="{FF2B5EF4-FFF2-40B4-BE49-F238E27FC236}">
                  <a16:creationId xmlns:a16="http://schemas.microsoft.com/office/drawing/2014/main" id="{C6701D46-5DB9-0653-DC14-5B7AA46DCD47}"/>
                </a:ext>
              </a:extLst>
            </p:cNvPr>
            <p:cNvSpPr/>
            <p:nvPr/>
          </p:nvSpPr>
          <p:spPr>
            <a:xfrm>
              <a:off x="3798075" y="932329"/>
              <a:ext cx="1332300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Pays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 coupon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payments when certain targets are met. Is incentivized to pursue climate action.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1" name="Google Shape;235;p26">
              <a:extLst>
                <a:ext uri="{FF2B5EF4-FFF2-40B4-BE49-F238E27FC236}">
                  <a16:creationId xmlns:a16="http://schemas.microsoft.com/office/drawing/2014/main" id="{C3D3E535-5394-0AAC-DC2D-83EBFA0E76EC}"/>
                </a:ext>
              </a:extLst>
            </p:cNvPr>
            <p:cNvSpPr/>
            <p:nvPr/>
          </p:nvSpPr>
          <p:spPr>
            <a:xfrm>
              <a:off x="3798075" y="647329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2" name="Google Shape;236;p26">
            <a:extLst>
              <a:ext uri="{FF2B5EF4-FFF2-40B4-BE49-F238E27FC236}">
                <a16:creationId xmlns:a16="http://schemas.microsoft.com/office/drawing/2014/main" id="{CB3C142E-ACA1-98E6-B323-3049A4E949A6}"/>
              </a:ext>
            </a:extLst>
          </p:cNvPr>
          <p:cNvGrpSpPr/>
          <p:nvPr/>
        </p:nvGrpSpPr>
        <p:grpSpPr>
          <a:xfrm>
            <a:off x="4838199" y="1552239"/>
            <a:ext cx="1638596" cy="1325411"/>
            <a:chOff x="2465775" y="2422675"/>
            <a:chExt cx="1332300" cy="992966"/>
          </a:xfrm>
        </p:grpSpPr>
        <p:sp>
          <p:nvSpPr>
            <p:cNvPr id="13" name="Google Shape;237;p26">
              <a:extLst>
                <a:ext uri="{FF2B5EF4-FFF2-40B4-BE49-F238E27FC236}">
                  <a16:creationId xmlns:a16="http://schemas.microsoft.com/office/drawing/2014/main" id="{D2131379-6BD2-E583-A990-9A7A4B6BF9E0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Guaranteed</a:t>
              </a: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to receive stable returns and is incentivized to invest.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4" name="Google Shape;238;p26">
              <a:extLst>
                <a:ext uri="{FF2B5EF4-FFF2-40B4-BE49-F238E27FC236}">
                  <a16:creationId xmlns:a16="http://schemas.microsoft.com/office/drawing/2014/main" id="{34F7055B-101E-924D-F030-9596C49151D6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" name="Google Shape;236;p26">
            <a:extLst>
              <a:ext uri="{FF2B5EF4-FFF2-40B4-BE49-F238E27FC236}">
                <a16:creationId xmlns:a16="http://schemas.microsoft.com/office/drawing/2014/main" id="{1461DBDF-84AA-26DC-CA83-13BFEC725160}"/>
              </a:ext>
            </a:extLst>
          </p:cNvPr>
          <p:cNvGrpSpPr/>
          <p:nvPr/>
        </p:nvGrpSpPr>
        <p:grpSpPr>
          <a:xfrm>
            <a:off x="7246788" y="3242058"/>
            <a:ext cx="1638596" cy="1325411"/>
            <a:chOff x="2465775" y="2422675"/>
            <a:chExt cx="1332300" cy="992966"/>
          </a:xfrm>
        </p:grpSpPr>
        <p:sp>
          <p:nvSpPr>
            <p:cNvPr id="16" name="Google Shape;237;p26">
              <a:extLst>
                <a:ext uri="{FF2B5EF4-FFF2-40B4-BE49-F238E27FC236}">
                  <a16:creationId xmlns:a16="http://schemas.microsoft.com/office/drawing/2014/main" id="{6D49BAE1-0FA5-BED3-8BE4-BFA000D0E634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6">
                <a:lumMod val="25000"/>
              </a:schemeClr>
            </a:solidFill>
            <a:ln>
              <a:solidFill>
                <a:schemeClr val="accent6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Provides</a:t>
              </a:r>
              <a:r>
                <a:rPr lang="en" sz="1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technical assistance </a:t>
              </a:r>
              <a:r>
                <a:rPr lang="en" sz="1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 ensure KPIs are met.</a:t>
              </a:r>
              <a:endParaRPr sz="1000" dirty="0">
                <a:solidFill>
                  <a:srgbClr val="FFFFFF"/>
                </a:solidFill>
              </a:endParaRPr>
            </a:p>
          </p:txBody>
        </p:sp>
        <p:sp>
          <p:nvSpPr>
            <p:cNvPr id="17" name="Google Shape;238;p26">
              <a:extLst>
                <a:ext uri="{FF2B5EF4-FFF2-40B4-BE49-F238E27FC236}">
                  <a16:creationId xmlns:a16="http://schemas.microsoft.com/office/drawing/2014/main" id="{BFE1F1FF-6543-165F-D29B-5F76EB0D1C9C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Partner Agency</a:t>
              </a:r>
              <a:endParaRPr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8" name="Google Shape;182;p22">
            <a:extLst>
              <a:ext uri="{FF2B5EF4-FFF2-40B4-BE49-F238E27FC236}">
                <a16:creationId xmlns:a16="http://schemas.microsoft.com/office/drawing/2014/main" id="{009E4B5F-8749-874A-D616-DD7C0B415F97}"/>
              </a:ext>
            </a:extLst>
          </p:cNvPr>
          <p:cNvSpPr/>
          <p:nvPr/>
        </p:nvSpPr>
        <p:spPr>
          <a:xfrm rot="16200000">
            <a:off x="5481364" y="3026722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182;p22">
            <a:extLst>
              <a:ext uri="{FF2B5EF4-FFF2-40B4-BE49-F238E27FC236}">
                <a16:creationId xmlns:a16="http://schemas.microsoft.com/office/drawing/2014/main" id="{DCD28330-9354-AF12-39FC-76FEAB9F2B8E}"/>
              </a:ext>
            </a:extLst>
          </p:cNvPr>
          <p:cNvSpPr/>
          <p:nvPr/>
        </p:nvSpPr>
        <p:spPr>
          <a:xfrm rot="8031831">
            <a:off x="6700987" y="2968218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182;p22">
            <a:extLst>
              <a:ext uri="{FF2B5EF4-FFF2-40B4-BE49-F238E27FC236}">
                <a16:creationId xmlns:a16="http://schemas.microsoft.com/office/drawing/2014/main" id="{87EA4C7C-B02E-509F-44F6-9B7F590881B6}"/>
              </a:ext>
            </a:extLst>
          </p:cNvPr>
          <p:cNvSpPr/>
          <p:nvPr/>
        </p:nvSpPr>
        <p:spPr>
          <a:xfrm rot="16200000">
            <a:off x="8331100" y="3169465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02077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261F-FAEA-7D51-8E8F-C120E825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BD4E397-D301-474E-4FAB-E4E4D312E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Structuring KPIs</a:t>
            </a:r>
          </a:p>
        </p:txBody>
      </p:sp>
    </p:spTree>
    <p:extLst>
      <p:ext uri="{BB962C8B-B14F-4D97-AF65-F5344CB8AC3E}">
        <p14:creationId xmlns:p14="http://schemas.microsoft.com/office/powerpoint/2010/main" val="256309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5B148762-D60F-F55D-AE0C-9BA6798C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38EE1B-515C-6A49-B614-83CD867EB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Structuring KPIs and </a:t>
            </a:r>
            <a:r>
              <a:rPr lang="en-US" dirty="0" err="1"/>
              <a:t>Capitalising</a:t>
            </a:r>
            <a:r>
              <a:rPr lang="en-US" dirty="0"/>
              <a:t> Intermediaries: Further Proposals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7EC8159-55F3-27C5-5844-9EB9B380591D}"/>
              </a:ext>
            </a:extLst>
          </p:cNvPr>
          <p:cNvGraphicFramePr>
            <a:graphicFrameLocks noGrp="1"/>
          </p:cNvGraphicFramePr>
          <p:nvPr/>
        </p:nvGraphicFramePr>
        <p:xfrm>
          <a:off x="475956" y="1423513"/>
          <a:ext cx="8049066" cy="343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022">
                  <a:extLst>
                    <a:ext uri="{9D8B030D-6E8A-4147-A177-3AD203B41FA5}">
                      <a16:colId xmlns:a16="http://schemas.microsoft.com/office/drawing/2014/main" val="1278786295"/>
                    </a:ext>
                  </a:extLst>
                </a:gridCol>
                <a:gridCol w="3741225">
                  <a:extLst>
                    <a:ext uri="{9D8B030D-6E8A-4147-A177-3AD203B41FA5}">
                      <a16:colId xmlns:a16="http://schemas.microsoft.com/office/drawing/2014/main" val="26124143"/>
                    </a:ext>
                  </a:extLst>
                </a:gridCol>
                <a:gridCol w="1624819">
                  <a:extLst>
                    <a:ext uri="{9D8B030D-6E8A-4147-A177-3AD203B41FA5}">
                      <a16:colId xmlns:a16="http://schemas.microsoft.com/office/drawing/2014/main" val="1018346668"/>
                    </a:ext>
                  </a:extLst>
                </a:gridCol>
              </a:tblGrid>
              <a:tr h="388504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"/>
                        </a:rPr>
                        <a:t>Issue</a:t>
                      </a:r>
                    </a:p>
                  </a:txBody>
                  <a:tcPr>
                    <a:solidFill>
                      <a:srgbClr val="A72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"/>
                        </a:rPr>
                        <a:t>Solution</a:t>
                      </a:r>
                    </a:p>
                  </a:txBody>
                  <a:tcPr>
                    <a:solidFill>
                      <a:srgbClr val="A72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"/>
                        </a:rPr>
                        <a:t>Proposal</a:t>
                      </a:r>
                    </a:p>
                  </a:txBody>
                  <a:tcPr>
                    <a:solidFill>
                      <a:srgbClr val="A72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48201"/>
                  </a:ext>
                </a:extLst>
              </a:tr>
              <a:tr h="11519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KPI approaches need to reflect the </a:t>
                      </a: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stocks 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of carbon, not just flow. Carbon markets can give </a:t>
                      </a: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perverse incentives 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because of lack of permanence.</a:t>
                      </a:r>
                      <a:endParaRPr lang="en-US" dirty="0">
                        <a:latin typeface="Roboto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Define a permanent ‘</a:t>
                      </a: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Notional Capitalized Value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’ (NCV) of the stock of forest in each country and pay an ‘interest rate’ (e.g. to begin 0.1% pa) on those values globally according to available funds.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Notional Capitalized Value KPIs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048234"/>
                  </a:ext>
                </a:extLst>
              </a:tr>
              <a:tr h="41675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KPI bonds non-WB Trusted-Intermediary 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option needs an </a:t>
                      </a: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additional capital buffer </a:t>
                      </a:r>
                      <a:r>
                        <a:rPr lang="en" sz="1400" b="0" dirty="0">
                          <a:solidFill>
                            <a:schemeClr val="tx1"/>
                          </a:solidFill>
                          <a:latin typeface="Roboto"/>
                        </a:rPr>
                        <a:t>and/or </a:t>
                      </a: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guarantees.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Climate Incentive Trust (CIT)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 collateral funds at national level.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Climate Incentive Trust 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 </a:t>
                      </a:r>
                      <a:endParaRPr lang="en-US" dirty="0"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238512"/>
                  </a:ext>
                </a:extLst>
              </a:tr>
              <a:tr h="41675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Forest protection (including NCV) and maintenance of CIT needs source of </a:t>
                      </a: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funding 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or financial </a:t>
                      </a: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returns.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Invest 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the CIT funds in the construction stage of Renewable Energy projects that are </a:t>
                      </a:r>
                      <a:r>
                        <a:rPr lang="en" sz="1400" b="1" dirty="0">
                          <a:solidFill>
                            <a:schemeClr val="tx1"/>
                          </a:solidFill>
                          <a:latin typeface="Roboto"/>
                        </a:rPr>
                        <a:t>refinanced </a:t>
                      </a:r>
                      <a:r>
                        <a:rPr lang="en" sz="1400" dirty="0">
                          <a:solidFill>
                            <a:schemeClr val="tx1"/>
                          </a:solidFill>
                          <a:latin typeface="Roboto"/>
                        </a:rPr>
                        <a:t>at low financing cost when complete.</a:t>
                      </a:r>
                      <a:endParaRPr lang="en" sz="1400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560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51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3E91FA-17C5-ABC3-D15D-2B1CF4F8B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r>
              <a:rPr lang="en" dirty="0"/>
              <a:t>Conclusions</a:t>
            </a:r>
            <a:br>
              <a:rPr lang="en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body" sz="quarter" idx="11"/>
          </p:nvPr>
        </p:nvSpPr>
        <p:spPr>
          <a:xfrm>
            <a:off x="293300" y="1445455"/>
            <a:ext cx="8534811" cy="3698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1400" b="1" dirty="0">
                <a:solidFill>
                  <a:schemeClr val="accent4"/>
                </a:solidFill>
              </a:rPr>
              <a:t>Challenge Overview:</a:t>
            </a:r>
          </a:p>
          <a:p>
            <a:pPr marL="285750" indent="-285750">
              <a:lnSpc>
                <a:spcPct val="150000"/>
              </a:lnSpc>
            </a:pPr>
            <a:r>
              <a:rPr lang="en-US" sz="1200" dirty="0">
                <a:solidFill>
                  <a:srgbClr val="002F4A"/>
                </a:solidFill>
              </a:rPr>
              <a:t>Urgent need for innovative solutions to mobilize private capital.</a:t>
            </a:r>
          </a:p>
          <a:p>
            <a:pPr marL="285750" indent="-285750">
              <a:lnSpc>
                <a:spcPct val="150000"/>
              </a:lnSpc>
            </a:pPr>
            <a:endParaRPr lang="en-US" sz="1200" dirty="0">
              <a:solidFill>
                <a:srgbClr val="002F4A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b="1" dirty="0">
              <a:solidFill>
                <a:schemeClr val="accent4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Room for Improvement- SLBs:</a:t>
            </a:r>
          </a:p>
          <a:p>
            <a:pPr marL="285750" indent="-285750">
              <a:lnSpc>
                <a:spcPct val="150000"/>
              </a:lnSpc>
            </a:pPr>
            <a:r>
              <a:rPr lang="en-US" sz="1200" dirty="0">
                <a:solidFill>
                  <a:srgbClr val="002F4A"/>
                </a:solidFill>
              </a:rPr>
              <a:t>Challenges observed in existing SLBs: complexity, variable coupon payments, and market resistance.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Enhanced Approach- KPI Bonds with WB Operationalization:</a:t>
            </a:r>
          </a:p>
          <a:p>
            <a:pPr marL="285750" indent="-285750">
              <a:lnSpc>
                <a:spcPct val="150000"/>
              </a:lnSpc>
            </a:pPr>
            <a:r>
              <a:rPr lang="en-US" sz="1200" dirty="0">
                <a:solidFill>
                  <a:srgbClr val="002F4A"/>
                </a:solidFill>
              </a:rPr>
              <a:t>A more attractive and effective financial instrument for investors and sovereigns.</a:t>
            </a:r>
          </a:p>
          <a:p>
            <a:pPr marL="285750" indent="-285750">
              <a:lnSpc>
                <a:spcPct val="150000"/>
              </a:lnSpc>
            </a:pPr>
            <a:r>
              <a:rPr lang="en-US" sz="1200" dirty="0">
                <a:solidFill>
                  <a:srgbClr val="002F4A"/>
                </a:solidFill>
              </a:rPr>
              <a:t>Development agency partner participation to enhance private sector confidence.</a:t>
            </a:r>
          </a:p>
          <a:p>
            <a:pPr marL="285750" indent="-285750">
              <a:lnSpc>
                <a:spcPct val="150000"/>
              </a:lnSpc>
            </a:pPr>
            <a:r>
              <a:rPr lang="en-US" sz="1200" dirty="0">
                <a:solidFill>
                  <a:srgbClr val="002F4A"/>
                </a:solidFill>
              </a:rPr>
              <a:t>Choice of ‘Prior Action’ or RBCF system, with </a:t>
            </a:r>
            <a:r>
              <a:rPr lang="en-US" sz="1200">
                <a:solidFill>
                  <a:srgbClr val="002F4A"/>
                </a:solidFill>
              </a:rPr>
              <a:t>former choice </a:t>
            </a:r>
            <a:r>
              <a:rPr lang="en-US" sz="1200" dirty="0">
                <a:solidFill>
                  <a:srgbClr val="002F4A"/>
                </a:solidFill>
              </a:rPr>
              <a:t>reducing financial risk to WB and latter offering stronger performance incentives to client country.</a:t>
            </a:r>
          </a:p>
          <a:p>
            <a:pPr marL="0" indent="0">
              <a:lnSpc>
                <a:spcPct val="110000"/>
              </a:lnSpc>
              <a:buNone/>
            </a:pPr>
            <a:endParaRPr lang="e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8C64C-9964-0DEE-5572-7BF97CC91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dirty="0"/>
              <a:t>Conclusions</a:t>
            </a:r>
            <a:endParaRPr lang="en-US" dirty="0"/>
          </a:p>
        </p:txBody>
      </p:sp>
      <p:grpSp>
        <p:nvGrpSpPr>
          <p:cNvPr id="7" name="Google Shape;318;p33">
            <a:extLst>
              <a:ext uri="{FF2B5EF4-FFF2-40B4-BE49-F238E27FC236}">
                <a16:creationId xmlns:a16="http://schemas.microsoft.com/office/drawing/2014/main" id="{5542B75F-53E2-E59F-13C4-A8999701EA46}"/>
              </a:ext>
            </a:extLst>
          </p:cNvPr>
          <p:cNvGrpSpPr/>
          <p:nvPr/>
        </p:nvGrpSpPr>
        <p:grpSpPr>
          <a:xfrm>
            <a:off x="5968721" y="1361508"/>
            <a:ext cx="2863604" cy="1235946"/>
            <a:chOff x="3071454" y="2013875"/>
            <a:chExt cx="2154300" cy="1589991"/>
          </a:xfrm>
        </p:grpSpPr>
        <p:sp>
          <p:nvSpPr>
            <p:cNvPr id="4" name="Google Shape;319;p33">
              <a:extLst>
                <a:ext uri="{FF2B5EF4-FFF2-40B4-BE49-F238E27FC236}">
                  <a16:creationId xmlns:a16="http://schemas.microsoft.com/office/drawing/2014/main" id="{2E517297-D1BD-B558-30FA-6F16E8DFC398}"/>
                </a:ext>
              </a:extLst>
            </p:cNvPr>
            <p:cNvSpPr/>
            <p:nvPr/>
          </p:nvSpPr>
          <p:spPr>
            <a:xfrm rot="10800000" flipH="1">
              <a:off x="3071454" y="2013875"/>
              <a:ext cx="21543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0;p33">
              <a:extLst>
                <a:ext uri="{FF2B5EF4-FFF2-40B4-BE49-F238E27FC236}">
                  <a16:creationId xmlns:a16="http://schemas.microsoft.com/office/drawing/2014/main" id="{00ACBB0C-29F2-21AA-48BE-8249C8D0951F}"/>
                </a:ext>
              </a:extLst>
            </p:cNvPr>
            <p:cNvSpPr txBox="1"/>
            <p:nvPr/>
          </p:nvSpPr>
          <p:spPr>
            <a:xfrm>
              <a:off x="3276556" y="2184138"/>
              <a:ext cx="1557900" cy="328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b="1">
                <a:solidFill>
                  <a:schemeClr val="accent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6" name="Google Shape;321;p33">
              <a:extLst>
                <a:ext uri="{FF2B5EF4-FFF2-40B4-BE49-F238E27FC236}">
                  <a16:creationId xmlns:a16="http://schemas.microsoft.com/office/drawing/2014/main" id="{16378F31-4A1F-B8F7-EDE2-CEFB68B6BB8C}"/>
                </a:ext>
              </a:extLst>
            </p:cNvPr>
            <p:cNvSpPr txBox="1"/>
            <p:nvPr/>
          </p:nvSpPr>
          <p:spPr>
            <a:xfrm>
              <a:off x="3231496" y="2069782"/>
              <a:ext cx="1929923" cy="1534084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58750">
                <a:lnSpc>
                  <a:spcPct val="150000"/>
                </a:lnSpc>
                <a:buClr>
                  <a:srgbClr val="FFFFFF"/>
                </a:buClr>
                <a:buSzPts val="1108"/>
              </a:pPr>
              <a:r>
                <a:rPr lang="en" sz="1000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</a:rPr>
                <a:t>Next Steps:</a:t>
              </a:r>
            </a:p>
            <a:p>
              <a:pPr marL="330200" indent="-171450">
                <a:lnSpc>
                  <a:spcPct val="150000"/>
                </a:lnSpc>
                <a:buClr>
                  <a:schemeClr val="bg1"/>
                </a:buClr>
                <a:buSzPts val="1108"/>
                <a:buFont typeface="Arial" panose="020B0604020202020204" pitchFamily="34" charset="0"/>
                <a:buChar char="•"/>
              </a:pPr>
              <a:r>
                <a:rPr lang="en" sz="1000" b="1" dirty="0">
                  <a:solidFill>
                    <a:srgbClr val="002060"/>
                  </a:solidFill>
                  <a:latin typeface="Roboto"/>
                  <a:ea typeface="Roboto"/>
                  <a:cs typeface="Roboto"/>
                  <a:sym typeface="Roboto"/>
                </a:rPr>
                <a:t>Refinement and Exploration </a:t>
              </a:r>
              <a:endParaRPr lang="en-US" sz="1000" dirty="0">
                <a:solidFill>
                  <a:srgbClr val="002060"/>
                </a:solidFill>
                <a:latin typeface="Roboto"/>
                <a:ea typeface="Roboto"/>
                <a:cs typeface="Roboto"/>
              </a:endParaRPr>
            </a:p>
            <a:p>
              <a:pPr marL="330200" indent="-171450">
                <a:lnSpc>
                  <a:spcPct val="150000"/>
                </a:lnSpc>
                <a:buClr>
                  <a:schemeClr val="bg1"/>
                </a:buClr>
                <a:buSzPts val="1108"/>
                <a:buFont typeface="Arial" panose="020B0604020202020204" pitchFamily="34" charset="0"/>
                <a:buChar char="•"/>
              </a:pPr>
              <a:r>
                <a:rPr lang="en" sz="1000" b="1" dirty="0">
                  <a:solidFill>
                    <a:srgbClr val="002060"/>
                  </a:solidFill>
                  <a:latin typeface="Roboto"/>
                  <a:ea typeface="Roboto"/>
                  <a:cs typeface="Roboto"/>
                  <a:sym typeface="Roboto"/>
                </a:rPr>
                <a:t>Feedback and Collaboration</a:t>
              </a:r>
              <a:endParaRPr lang="en" sz="1000" dirty="0">
                <a:solidFill>
                  <a:srgbClr val="002060"/>
                </a:solidFill>
                <a:latin typeface="Roboto"/>
                <a:ea typeface="Roboto"/>
                <a:cs typeface="Roboto"/>
              </a:endParaRPr>
            </a:p>
            <a:p>
              <a:pPr marL="330200" indent="-171450">
                <a:lnSpc>
                  <a:spcPct val="150000"/>
                </a:lnSpc>
                <a:buClr>
                  <a:schemeClr val="bg1"/>
                </a:buClr>
                <a:buSzPts val="1108"/>
                <a:buFont typeface="Arial" panose="020B0604020202020204" pitchFamily="34" charset="0"/>
                <a:buChar char="•"/>
              </a:pPr>
              <a:r>
                <a:rPr lang="en" sz="1000" b="1" dirty="0">
                  <a:solidFill>
                    <a:srgbClr val="002060"/>
                  </a:solidFill>
                  <a:latin typeface="Roboto"/>
                  <a:ea typeface="Roboto"/>
                  <a:cs typeface="Roboto"/>
                  <a:sym typeface="Roboto"/>
                </a:rPr>
                <a:t>Scaling Impact</a:t>
              </a:r>
              <a:endParaRPr lang="en" sz="1000" dirty="0">
                <a:solidFill>
                  <a:srgbClr val="002060"/>
                </a:solidFill>
                <a:latin typeface="Roboto"/>
                <a:ea typeface="Roboto"/>
                <a:cs typeface="Robo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9">
          <a:extLst>
            <a:ext uri="{FF2B5EF4-FFF2-40B4-BE49-F238E27FC236}">
              <a16:creationId xmlns:a16="http://schemas.microsoft.com/office/drawing/2014/main" id="{086FDFC8-EC80-00CA-79FC-60AF4C9A0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2">
            <a:extLst>
              <a:ext uri="{FF2B5EF4-FFF2-40B4-BE49-F238E27FC236}">
                <a16:creationId xmlns:a16="http://schemas.microsoft.com/office/drawing/2014/main" id="{87B7AC16-50DC-BD89-9428-91A77C6EF5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09623" y="1898650"/>
            <a:ext cx="2080278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50000"/>
              </a:lnSpc>
              <a:buSzPts val="990"/>
            </a:pPr>
            <a:br>
              <a:rPr lang="en" sz="2500" dirty="0">
                <a:solidFill>
                  <a:schemeClr val="accent4"/>
                </a:solidFill>
              </a:rPr>
            </a:br>
            <a:r>
              <a:rPr lang="en-GB" sz="2800" dirty="0">
                <a:solidFill>
                  <a:srgbClr val="002F4A"/>
                </a:solidFill>
              </a:rPr>
              <a:t>KPI Bonds</a:t>
            </a:r>
            <a:br>
              <a:rPr lang="en-GB" sz="2800" dirty="0">
                <a:solidFill>
                  <a:srgbClr val="002F4A"/>
                </a:solidFill>
              </a:rPr>
            </a:br>
            <a:r>
              <a:rPr lang="en" sz="2500" dirty="0">
                <a:solidFill>
                  <a:schemeClr val="accent4"/>
                </a:solidFill>
              </a:rPr>
              <a:t>Thank you! Discussion.</a:t>
            </a:r>
            <a:endParaRPr sz="25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66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1838</Words>
  <Application>Microsoft Office PowerPoint</Application>
  <PresentationFormat>On-screen Show (16:9)</PresentationFormat>
  <Paragraphs>222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Roboto</vt:lpstr>
      <vt:lpstr>Merriweather</vt:lpstr>
      <vt:lpstr>Roboto Thin</vt:lpstr>
      <vt:lpstr>Arial,Sans-Serif</vt:lpstr>
      <vt:lpstr>Paradigm</vt:lpstr>
      <vt:lpstr>  KPI Bonds (Overview)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Shortcomings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 Two: Trusted  Intermediary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KPI Bonds Thank you! Discussion.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 Bonds</dc:title>
  <cp:lastModifiedBy>Marcello Estevao</cp:lastModifiedBy>
  <cp:revision>201</cp:revision>
  <dcterms:modified xsi:type="dcterms:W3CDTF">2024-03-08T13:09:25Z</dcterms:modified>
</cp:coreProperties>
</file>