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598D51-E1CA-4B2A-BCE0-9FA604CD49C3}" v="9" dt="2026-06-12T15:12:05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da8c780b-1aa2-4e36-94fb-871dc8111504" providerId="ADAL" clId="{461C8D16-F91C-40AB-8163-8272BCB3CEB6}"/>
    <pc:docChg chg="undo custSel addSld modSld">
      <pc:chgData name="Stephen John Stretton" userId="da8c780b-1aa2-4e36-94fb-871dc8111504" providerId="ADAL" clId="{461C8D16-F91C-40AB-8163-8272BCB3CEB6}" dt="2026-06-12T15:12:08.548" v="4046" actId="20577"/>
      <pc:docMkLst>
        <pc:docMk/>
      </pc:docMkLst>
      <pc:sldChg chg="modSp mod">
        <pc:chgData name="Stephen John Stretton" userId="da8c780b-1aa2-4e36-94fb-871dc8111504" providerId="ADAL" clId="{461C8D16-F91C-40AB-8163-8272BCB3CEB6}" dt="2026-06-12T14:43:22.699" v="3113" actId="313"/>
        <pc:sldMkLst>
          <pc:docMk/>
          <pc:sldMk cId="335758096" sldId="256"/>
        </pc:sldMkLst>
        <pc:spChg chg="mod">
          <ac:chgData name="Stephen John Stretton" userId="da8c780b-1aa2-4e36-94fb-871dc8111504" providerId="ADAL" clId="{461C8D16-F91C-40AB-8163-8272BCB3CEB6}" dt="2026-06-12T14:43:22.699" v="3113" actId="313"/>
          <ac:spMkLst>
            <pc:docMk/>
            <pc:sldMk cId="335758096" sldId="256"/>
            <ac:spMk id="2" creationId="{6F2DB0A8-D888-400E-3A7B-D959DF3AD588}"/>
          </ac:spMkLst>
        </pc:spChg>
        <pc:spChg chg="mod">
          <ac:chgData name="Stephen John Stretton" userId="da8c780b-1aa2-4e36-94fb-871dc8111504" providerId="ADAL" clId="{461C8D16-F91C-40AB-8163-8272BCB3CEB6}" dt="2026-06-12T14:43:20.931" v="3112" actId="20577"/>
          <ac:spMkLst>
            <pc:docMk/>
            <pc:sldMk cId="335758096" sldId="256"/>
            <ac:spMk id="3" creationId="{9BB08330-C69B-B42D-D2B6-0FCE4E64E6C3}"/>
          </ac:spMkLst>
        </pc:spChg>
      </pc:sldChg>
      <pc:sldChg chg="modSp mod">
        <pc:chgData name="Stephen John Stretton" userId="da8c780b-1aa2-4e36-94fb-871dc8111504" providerId="ADAL" clId="{461C8D16-F91C-40AB-8163-8272BCB3CEB6}" dt="2026-06-12T15:11:33.351" v="3986" actId="207"/>
        <pc:sldMkLst>
          <pc:docMk/>
          <pc:sldMk cId="2214507229" sldId="257"/>
        </pc:sldMkLst>
        <pc:spChg chg="mod">
          <ac:chgData name="Stephen John Stretton" userId="da8c780b-1aa2-4e36-94fb-871dc8111504" providerId="ADAL" clId="{461C8D16-F91C-40AB-8163-8272BCB3CEB6}" dt="2026-06-12T14:39:00.482" v="2698" actId="20577"/>
          <ac:spMkLst>
            <pc:docMk/>
            <pc:sldMk cId="2214507229" sldId="257"/>
            <ac:spMk id="2" creationId="{5C1DEFD2-7086-6EA6-C529-F92DF5BD9AF7}"/>
          </ac:spMkLst>
        </pc:spChg>
        <pc:spChg chg="mod">
          <ac:chgData name="Stephen John Stretton" userId="da8c780b-1aa2-4e36-94fb-871dc8111504" providerId="ADAL" clId="{461C8D16-F91C-40AB-8163-8272BCB3CEB6}" dt="2026-06-12T15:11:33.351" v="3986" actId="207"/>
          <ac:spMkLst>
            <pc:docMk/>
            <pc:sldMk cId="2214507229" sldId="257"/>
            <ac:spMk id="3" creationId="{E0DDFAF3-BE6E-2870-20A2-2CD91A4BF15B}"/>
          </ac:spMkLst>
        </pc:spChg>
      </pc:sldChg>
      <pc:sldChg chg="modSp mod chgLayout">
        <pc:chgData name="Stephen John Stretton" userId="da8c780b-1aa2-4e36-94fb-871dc8111504" providerId="ADAL" clId="{461C8D16-F91C-40AB-8163-8272BCB3CEB6}" dt="2026-06-12T14:59:11.404" v="3322" actId="20577"/>
        <pc:sldMkLst>
          <pc:docMk/>
          <pc:sldMk cId="1220979771" sldId="258"/>
        </pc:sldMkLst>
        <pc:spChg chg="mod ord">
          <ac:chgData name="Stephen John Stretton" userId="da8c780b-1aa2-4e36-94fb-871dc8111504" providerId="ADAL" clId="{461C8D16-F91C-40AB-8163-8272BCB3CEB6}" dt="2026-06-12T14:22:19.473" v="496" actId="20577"/>
          <ac:spMkLst>
            <pc:docMk/>
            <pc:sldMk cId="1220979771" sldId="258"/>
            <ac:spMk id="2" creationId="{5DF1CEF3-C9F2-9906-584B-04BB920025DC}"/>
          </ac:spMkLst>
        </pc:spChg>
        <pc:spChg chg="mod ord">
          <ac:chgData name="Stephen John Stretton" userId="da8c780b-1aa2-4e36-94fb-871dc8111504" providerId="ADAL" clId="{461C8D16-F91C-40AB-8163-8272BCB3CEB6}" dt="2026-06-12T14:59:11.404" v="3322" actId="20577"/>
          <ac:spMkLst>
            <pc:docMk/>
            <pc:sldMk cId="1220979771" sldId="258"/>
            <ac:spMk id="3" creationId="{827E55D9-D442-E269-EE4A-FF1397866E71}"/>
          </ac:spMkLst>
        </pc:spChg>
      </pc:sldChg>
      <pc:sldChg chg="modSp add mod">
        <pc:chgData name="Stephen John Stretton" userId="da8c780b-1aa2-4e36-94fb-871dc8111504" providerId="ADAL" clId="{461C8D16-F91C-40AB-8163-8272BCB3CEB6}" dt="2026-06-12T15:12:01.880" v="4042" actId="20577"/>
        <pc:sldMkLst>
          <pc:docMk/>
          <pc:sldMk cId="46484012" sldId="259"/>
        </pc:sldMkLst>
        <pc:spChg chg="mod">
          <ac:chgData name="Stephen John Stretton" userId="da8c780b-1aa2-4e36-94fb-871dc8111504" providerId="ADAL" clId="{461C8D16-F91C-40AB-8163-8272BCB3CEB6}" dt="2026-06-12T15:12:01.880" v="4042" actId="20577"/>
          <ac:spMkLst>
            <pc:docMk/>
            <pc:sldMk cId="46484012" sldId="259"/>
            <ac:spMk id="2" creationId="{1A9EB45C-7061-44A3-26FF-62A53825BC3B}"/>
          </ac:spMkLst>
        </pc:spChg>
        <pc:spChg chg="mod">
          <ac:chgData name="Stephen John Stretton" userId="da8c780b-1aa2-4e36-94fb-871dc8111504" providerId="ADAL" clId="{461C8D16-F91C-40AB-8163-8272BCB3CEB6}" dt="2026-06-12T15:11:52.924" v="4007" actId="27636"/>
          <ac:spMkLst>
            <pc:docMk/>
            <pc:sldMk cId="46484012" sldId="259"/>
            <ac:spMk id="3" creationId="{936D2B39-AA0E-BFD6-CFCC-2DC5BAFD4152}"/>
          </ac:spMkLst>
        </pc:spChg>
      </pc:sldChg>
      <pc:sldChg chg="modSp add mod">
        <pc:chgData name="Stephen John Stretton" userId="da8c780b-1aa2-4e36-94fb-871dc8111504" providerId="ADAL" clId="{461C8D16-F91C-40AB-8163-8272BCB3CEB6}" dt="2026-06-12T15:12:08.548" v="4046" actId="20577"/>
        <pc:sldMkLst>
          <pc:docMk/>
          <pc:sldMk cId="1837834428" sldId="260"/>
        </pc:sldMkLst>
        <pc:spChg chg="mod">
          <ac:chgData name="Stephen John Stretton" userId="da8c780b-1aa2-4e36-94fb-871dc8111504" providerId="ADAL" clId="{461C8D16-F91C-40AB-8163-8272BCB3CEB6}" dt="2026-06-12T15:12:08.548" v="4046" actId="20577"/>
          <ac:spMkLst>
            <pc:docMk/>
            <pc:sldMk cId="1837834428" sldId="260"/>
            <ac:spMk id="2" creationId="{D18BF22C-34F5-3D79-D5C1-921548F1EE8F}"/>
          </ac:spMkLst>
        </pc:spChg>
        <pc:spChg chg="mod">
          <ac:chgData name="Stephen John Stretton" userId="da8c780b-1aa2-4e36-94fb-871dc8111504" providerId="ADAL" clId="{461C8D16-F91C-40AB-8163-8272BCB3CEB6}" dt="2026-06-12T15:11:10.063" v="3985" actId="5793"/>
          <ac:spMkLst>
            <pc:docMk/>
            <pc:sldMk cId="1837834428" sldId="260"/>
            <ac:spMk id="3" creationId="{BAD1BFDE-511D-20FE-4B1E-DFE75B3726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8AD2-9DCC-AE41-3DC6-320465FDA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06A9C-BF68-F191-1B99-B443B575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7FBBB-FC18-B514-D24F-7AECD370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3D134-6759-D44E-1E81-081B7E68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43C53-D039-80DC-8B96-83234E3B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3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831E2-B20E-E80F-857C-4141FB73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5DDE9-B045-619B-BE94-0093AC6C1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0A428-E3F0-EC37-F75F-B27E3B33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8612-99DE-8143-B904-BA9430E1F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413D2-BCC9-DBD7-D99B-51CD34D5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46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EF89-6DF6-42BB-D8BB-A079FBAA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FA03A-1DAE-C0FE-2AA1-5968012C9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D83C0-A9BE-B760-6C80-4CAD82F0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A5313-52AF-3D61-AEA0-DC1631E80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E8F2E-951C-AC6A-147A-EA44B8E5E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5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37A6-3B35-97A6-2155-84387480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67E2F-4CD4-492C-3D3E-F67FF6306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50FBC-718D-E2F4-1CDF-45252E609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0E51F-FF60-A878-28A7-D6409FBF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4F564-04BF-6881-3606-15B97917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D3681-078B-B687-495E-EE697995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3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D9E4-CAFC-B7E7-FD05-DA98DA12D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F4B1A-DB99-BBEA-4D55-E9BC8A37C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52207-8A15-F528-92F5-0B871C290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B857F-C324-BA9B-F52A-5F15EDB58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9CFFCA-46A5-95D2-BBEE-D92144D9D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04B7BF-2AE7-7111-C8DB-8F7B911B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6A7327-25D6-D8D9-282D-D79CED78F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87B446-8C3B-AE8B-B502-06CFE3E1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59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1AEA0-8FA4-5739-7979-C78CBD63B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AE372-AA26-7B56-AEA6-FFE6B0D9F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E9249-FA4E-2A88-486E-31CFE9CD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FE713-B97C-250A-2464-50580D18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39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A323A-334B-AAE4-085C-58ED76C3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E101-86CF-4552-BE58-3944D3898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21C5E-C026-EEC5-1A6D-364EEFB4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5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4F4B-CDB6-74F7-ADE3-680A23023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57D73-07D1-21EF-BABF-8C69989DF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BC3BD-5AC0-9133-129D-6F509E520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D6957-21F2-7997-19CA-72FC4892A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964C4-8C63-425D-8AEF-88FCEF408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7CE99-42AD-C27E-B791-657239F9C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1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81F06-6EA5-A0D8-F177-1DAE4333D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C7A82-DE89-88BB-61B5-03BE24185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80075-3397-C5AE-0174-8D6B4A14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BA3F3-4F0B-AA43-FCD6-51183E21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C3EBD-C864-42DA-4544-518F1A48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C9C23-5F81-2028-5935-5C6B4977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08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46F8B-E130-F4F2-7E5C-560B015BF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06834-FB76-D124-A9DB-76ADF8614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1581E-D27C-806E-E45A-3E6B7F5C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6411B-139E-9B9E-F82A-2DDEFB872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EDCCE-78B1-1D81-16E4-E9C54A9C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8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249924-20B5-191E-DBBF-2FD7DC458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3E9BE-571D-427F-0CBA-90FF0DC84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D6F4C-5692-8E6F-C3E0-E91742F4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D36F0-F351-B99A-D3C2-E946CE13B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01233-358C-225F-802D-FB8ADE07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B562AC-67A7-7246-E1BE-3058C35A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11A05-D907-5E05-73A9-77362CCFA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488AC-A9A8-BDC9-59E0-B5C991983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AC6EA-6200-4B38-ABED-902E46AB821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A12E-B065-51A9-ABCA-476D0B11F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F32FD-D6C1-BC14-0A55-092B5B234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C9C0F-9CE4-450A-AE81-1FE50BB6B7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E35321-122D-8693-2AA5-0FCC06C085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376875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B0A8-D888-400E-3A7B-D959DF3AD5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Commission Draft Implementing act on Carbon Pricing Effectively Paid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B08330-C69B-B42D-D2B6-0FCE4E64E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Personal Response, Stephen Stretton</a:t>
            </a:r>
          </a:p>
        </p:txBody>
      </p:sp>
    </p:spTree>
    <p:extLst>
      <p:ext uri="{BB962C8B-B14F-4D97-AF65-F5344CB8AC3E}">
        <p14:creationId xmlns:p14="http://schemas.microsoft.com/office/powerpoint/2010/main" val="335758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EFD2-7086-6EA6-C529-F92DF5BD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Main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DFAF3-BE6E-2870-20A2-2CD91A4BF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Implicit carbon pricing </a:t>
            </a:r>
            <a:r>
              <a:rPr lang="en-US" dirty="0"/>
              <a:t>is not included (subsidies, fuel prices, change in these things). Methodology for the default carbon price rates is not defined.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Competitiveness</a:t>
            </a:r>
            <a:r>
              <a:rPr lang="en-US" dirty="0"/>
              <a:t>: There is a </a:t>
            </a:r>
            <a:r>
              <a:rPr lang="en-US" b="1" dirty="0"/>
              <a:t>structural (architectural) conflict (cannot be resolved easily) </a:t>
            </a:r>
            <a:r>
              <a:rPr lang="en-US" dirty="0"/>
              <a:t>between international competitiveness of exporting country and </a:t>
            </a:r>
            <a:r>
              <a:rPr lang="en-US" i="1" dirty="0"/>
              <a:t>making the carbon price effectively paid across all exports </a:t>
            </a:r>
            <a:r>
              <a:rPr lang="en-US" dirty="0"/>
              <a:t>for EU. There’s a trilemma between EU needs of CBAM, WTO compliance and non-EU export competitiveness.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3"/>
                </a:solidFill>
              </a:rPr>
              <a:t>Shuffling</a:t>
            </a:r>
            <a:r>
              <a:rPr lang="en-US" dirty="0">
                <a:solidFill>
                  <a:schemeClr val="accent3"/>
                </a:solidFill>
              </a:rPr>
              <a:t>: If the MRV approach is taken there’s an incentive to ‘route’ low carbon facility level options to the EU and to route high carbon to non-EU exports.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Offsetting expenditures and SOEs with soft budget constraints: </a:t>
            </a:r>
            <a:r>
              <a:rPr lang="en-US" dirty="0"/>
              <a:t>The act does not try to police countervailing changes in government expenditures. Hard really to police Carbon Price Effectively Paid because of general expenditures.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507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0DC2-C831-3FFE-12BF-0A7E5D20B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CEF3-C9F2-9906-584B-04BB9200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Distinction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E55D9-D442-E269-EE4A-FF1397866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Two objectives </a:t>
            </a:r>
            <a:r>
              <a:rPr lang="en-US" dirty="0"/>
              <a:t>(EU competitiveness and decarbonization incentives) need to be distinguished in our thinking, with different metrics</a:t>
            </a:r>
          </a:p>
          <a:p>
            <a:pPr lvl="1"/>
            <a:r>
              <a:rPr lang="en-US" b="1" dirty="0"/>
              <a:t>Carbon Price Effectively Paid, CPEP </a:t>
            </a:r>
            <a:r>
              <a:rPr lang="en-US" dirty="0"/>
              <a:t>for EU Competitiveness: measures the</a:t>
            </a:r>
          </a:p>
          <a:p>
            <a:pPr lvl="1"/>
            <a:r>
              <a:rPr lang="en-US" b="1" dirty="0"/>
              <a:t>Relative Carbon Price, RCP</a:t>
            </a:r>
            <a:r>
              <a:rPr lang="en-US" dirty="0"/>
              <a:t>, for decarbonization: measures the difference between high carbon and low carbon industrial options</a:t>
            </a:r>
          </a:p>
          <a:p>
            <a:r>
              <a:rPr lang="en-US" dirty="0"/>
              <a:t>So, </a:t>
            </a:r>
            <a:r>
              <a:rPr lang="en-US" b="1" dirty="0"/>
              <a:t>an ETS system with intensity-based benchmarking </a:t>
            </a:r>
            <a:r>
              <a:rPr lang="en-US" dirty="0"/>
              <a:t>and a carbon tax with </a:t>
            </a:r>
            <a:r>
              <a:rPr lang="en-US" b="1" dirty="0"/>
              <a:t>output-based rebating </a:t>
            </a:r>
            <a:r>
              <a:rPr lang="en-US" dirty="0"/>
              <a:t>causes a Relative Carbon price, but this would not be recognized by CPEP.</a:t>
            </a:r>
          </a:p>
          <a:p>
            <a:r>
              <a:rPr lang="en-US" b="1" dirty="0"/>
              <a:t>Need this distinction </a:t>
            </a:r>
            <a:r>
              <a:rPr lang="en-US" dirty="0"/>
              <a:t>in the measures of carbon pricing reported and in our thinking.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979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81A13-ADE0-E0D3-4887-A92BDB8C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EB45C-7061-44A3-26FF-62A53825B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Proposals: One (of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D2B39-AA0E-BFD6-CFCC-2DC5BAFD4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Context: Need a </a:t>
            </a:r>
            <a:r>
              <a:rPr lang="en-US" b="1" dirty="0"/>
              <a:t>default approach for implicit carbon pricing</a:t>
            </a:r>
            <a:r>
              <a:rPr lang="en-US" dirty="0"/>
              <a:t>. Draw upon or select WB, IMF or OECD approach.</a:t>
            </a:r>
          </a:p>
          <a:p>
            <a:r>
              <a:rPr lang="en-US" b="1" dirty="0"/>
              <a:t>Phase in implicit carbon pricing (both for defaults and MRV approach) from zero to 100% from 2027 to 2034.</a:t>
            </a:r>
            <a:r>
              <a:rPr lang="en-US" dirty="0"/>
              <a:t>This achieves multiple objectives: </a:t>
            </a:r>
          </a:p>
          <a:p>
            <a:pPr lvl="1"/>
            <a:r>
              <a:rPr lang="en-US" dirty="0"/>
              <a:t>Recognizes price reform</a:t>
            </a:r>
          </a:p>
          <a:p>
            <a:pPr lvl="1"/>
            <a:r>
              <a:rPr lang="en-US" dirty="0"/>
              <a:t>Recognizes positive and negative carbon price</a:t>
            </a:r>
          </a:p>
          <a:p>
            <a:pPr lvl="1"/>
            <a:r>
              <a:rPr lang="en-US" dirty="0"/>
              <a:t>Allows phase in (giving countries with fuel subsidies time to react).</a:t>
            </a:r>
          </a:p>
          <a:p>
            <a:pPr lvl="1"/>
            <a:r>
              <a:rPr lang="en-US" dirty="0"/>
              <a:t>Attempt to police offsetting expenditures, by not recognizing CPEP if there are obvious offsetting changes more generally in the government budget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8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007F-2C76-2C38-CE96-550466FB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F22C-34F5-3D79-D5C1-921548F1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Proposals</a:t>
            </a:r>
            <a:r>
              <a:rPr lang="en-US"/>
              <a:t>: Two </a:t>
            </a:r>
            <a:r>
              <a:rPr lang="en-US" dirty="0"/>
              <a:t>(of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1BFDE-511D-20FE-4B1E-DFE75B372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Context: Need a third approach for overall equation </a:t>
            </a:r>
            <a:r>
              <a:rPr lang="en-US" dirty="0"/>
              <a:t>(including CPEP): (see neck slide)</a:t>
            </a:r>
          </a:p>
          <a:p>
            <a:pPr lvl="1"/>
            <a:r>
              <a:rPr lang="en-US" dirty="0"/>
              <a:t>Currently we have two main approaches: MRV or (punitive) defaults.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Proposal: </a:t>
            </a:r>
            <a:r>
              <a:rPr lang="en-US" dirty="0"/>
              <a:t>Non-punitive defaults conditional on a domestic relative carbon price (with CPEP benefit from additional costs, not just from net revenues).</a:t>
            </a:r>
          </a:p>
          <a:p>
            <a:pPr lvl="1"/>
            <a:r>
              <a:rPr lang="en-US" dirty="0"/>
              <a:t>Allows then output based rebating.</a:t>
            </a:r>
          </a:p>
          <a:p>
            <a:pPr lvl="1"/>
            <a:r>
              <a:rPr lang="en-US" dirty="0"/>
              <a:t>Resolves </a:t>
            </a:r>
            <a:r>
              <a:rPr lang="en-US" b="1" dirty="0"/>
              <a:t>architectural conflict  competitiveness conflict and the shuffling issue.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834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443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Commission Draft Implementing act on Carbon Pricing Effectively Paid</vt:lpstr>
      <vt:lpstr>Four Main Issues</vt:lpstr>
      <vt:lpstr>Analytical Distinction</vt:lpstr>
      <vt:lpstr>Proposals: One (of 2)</vt:lpstr>
      <vt:lpstr>Proposals: Two (of 2)</vt:lpstr>
    </vt:vector>
  </TitlesOfParts>
  <Company>WBG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John Stretton</dc:creator>
  <cp:lastModifiedBy>Stephen John Stretton</cp:lastModifiedBy>
  <cp:revision>1</cp:revision>
  <dcterms:created xsi:type="dcterms:W3CDTF">2026-06-12T14:06:11Z</dcterms:created>
  <dcterms:modified xsi:type="dcterms:W3CDTF">2026-06-12T15:12:09Z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2026-06-12T14:15:58Z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c21b02ee-114d-49da-9d9f-2f97e583d2fd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Official Use Only</vt:lpwstr>
  </property>
</Properties>
</file>