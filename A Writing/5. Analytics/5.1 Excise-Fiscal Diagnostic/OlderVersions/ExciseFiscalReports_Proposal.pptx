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— DRAFT FOR DISCUSSION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Excise-Fiscal Reports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standardised three-part diagnostic — instruments, externalities, pathways — for country fiscal teams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526280"/>
            <a:ext cx="2743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4690872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4672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Diagnostic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4526280"/>
            <a:ext cx="2743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3822192" y="4690872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3822192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34840" y="4672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Externality Diagnostic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4526280"/>
            <a:ext cx="27432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748272" y="4690872"/>
            <a:ext cx="502920" cy="50292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8" name="Text 16"/>
          <p:cNvSpPr/>
          <p:nvPr/>
        </p:nvSpPr>
        <p:spPr>
          <a:xfrm>
            <a:off x="6748272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60920" y="46725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6092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Pathways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· DAIS · Draft v1 ·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synthesis layer is needed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PFR reads excise instrument-by-instrument. It does not ask whether the tax system, taken together, deals with externalities. The diagnostic closes both gaps.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86400" cy="1463040"/>
          </a:xfrm>
          <a:prstGeom prst="rect">
            <a:avLst/>
          </a:prstGeom>
          <a:solidFill>
            <a:srgbClr val="F6F8F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40280"/>
            <a:ext cx="731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4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 — INSTRUMENT LEGIBILITY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PFR's by-instrument approach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0815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accrete line-by-line over decades. Nobody fully owns them; few read them end-to-end. We need a structured snapshot — categorised, standardised, with rates scaled three ways.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240280"/>
            <a:ext cx="5486400" cy="1463040"/>
          </a:xfrm>
          <a:prstGeom prst="rect">
            <a:avLst/>
          </a:prstGeom>
          <a:solidFill>
            <a:srgbClr val="F6F8FE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2240280"/>
            <a:ext cx="73152" cy="14630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404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 — THE EXTERNALITY QUESTION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8368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system handle externalities?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3081528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Carbon, local air pollution, accidents, congestion, road damage — each lives in a different silo. CPAT, the Climate &amp; Health Program, transport CBA, IMF GEPR. No product brings them together for a finance minister to read.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REPORT DELIVERS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873752"/>
            <a:ext cx="36576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5010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Excise Diagnostic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404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schedule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6784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 every line. Standardise on three measures: $/unit, % of consumer price, % of GDP. Surface erosion, gaps, incoherence.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4370832"/>
            <a:ext cx="3657600" cy="5029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4434840" y="4873752"/>
            <a:ext cx="36576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50109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Externality Diagnostic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663440" y="5404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system question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56784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Seven-section FVTD spine. Answer: “what is the biggest externality?”. Carbon, PM2.5, accidents, congestion — valued on a single spine.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21040" y="4370832"/>
            <a:ext cx="3291840" cy="50292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21040" y="4873752"/>
            <a:ext cx="32918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49640" y="4489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49640" y="50109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Pathways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549640" y="54041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to 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49640" y="567842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 benchmarks + Part B summary. Success stories. Narrative political-economy analysis. Reform proposals.</a:t>
            </a:r>
            <a:endParaRPr lang="en-US" sz="11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239512"/>
            <a:ext cx="274320" cy="274320"/>
          </a:xfrm>
          <a:prstGeom prst="rect">
            <a:avLst/>
          </a:prstGeom>
        </p:spPr>
      </p:pic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239512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48640" y="6565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Excise-Fiscal Reports  ·  01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PROCESS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generate a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has fixed inputs, a fixed method, and a fixed output. Country teams populate a parameter spreadsheet; the template renders the report.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13055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Excise Diagnostic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081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diagnostic working paper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593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8130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 every line (7 typology classes)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 five fields: rate, structure, differentiation, history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three measures: $/unit, % consumer price, % GDP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erosion, gaps, incoherence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5577840"/>
            <a:ext cx="3328416" cy="457200"/>
          </a:xfrm>
          <a:prstGeom prst="rect">
            <a:avLst/>
          </a:prstGeom>
          <a:solidFill>
            <a:srgbClr val="F6F8F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596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22960" y="5788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Appendix-style structured tables + narrative summary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1965960"/>
            <a:ext cx="3657600" cy="77724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13055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21671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Externality Diagnostic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66344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30815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FVTD seven-section spine + new sub-question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5935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3813048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1–7: tax baseline, externalities, optimal rate, gap, incidence, norms, pathway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“what is the biggest externality?” ranking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CPAT, Climate &amp; Health Program, IMF GEPR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country data; Tier 2 pooled defaults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99432" y="5577840"/>
            <a:ext cx="3328416" cy="457200"/>
          </a:xfrm>
          <a:prstGeom prst="rect">
            <a:avLst/>
          </a:prstGeom>
          <a:solidFill>
            <a:srgbClr val="F6F8FE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5596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09160" y="5788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externality assessment with ranges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21040" y="1965960"/>
            <a:ext cx="3291840" cy="77724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2743200"/>
            <a:ext cx="32918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549640" y="213055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9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98280" y="2167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Pathways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549640" y="2880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proposals + Part B + country context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49640" y="35935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49640" y="3813048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proposals: IMF benchmarks + summary of Part 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stories from comparator countries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political-economy analysis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prioritised reform proposals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485632" y="5577840"/>
            <a:ext cx="2962656" cy="457200"/>
          </a:xfrm>
          <a:prstGeom prst="rect">
            <a:avLst/>
          </a:prstGeom>
          <a:solidFill>
            <a:srgbClr val="F6F8FE"/>
          </a:solidFill>
          <a:ln/>
        </p:spPr>
      </p:sp>
      <p:sp>
        <p:nvSpPr>
          <p:cNvPr id="39" name="Text 37"/>
          <p:cNvSpPr/>
          <p:nvPr/>
        </p:nvSpPr>
        <p:spPr>
          <a:xfrm>
            <a:off x="8595360" y="5596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95360" y="57881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reform package with comparator references</a:t>
            </a:r>
            <a:endParaRPr lang="en-US" sz="100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794760"/>
            <a:ext cx="274320" cy="274320"/>
          </a:xfrm>
          <a:prstGeom prst="rect">
            <a:avLst/>
          </a:prstGeom>
        </p:spPr>
      </p:pic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794760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48640" y="6565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Excise-Fiscal Reports  ·  02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EXAMPLES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worked applications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directly from the Excise Diagnostic (Uganda / Sierra Leone) and the FVTD pilot framework. Both demonstrate Parts A and B; pathway logic for Part C is sketched.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5321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305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UGANDA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51760" y="213055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 + B + C candidate (Tier 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1.5–1.7%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344728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from energy + tobacco + alcohol + SSB excise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28346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51760" y="344728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pump price as petrol excise — close to OECD lower band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0" y="28346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7680" y="344728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GDP from tobacco — below SA (0.4%) and EU (0.6%)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DIAGNOSTIC SURFACES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4983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kerosene at UGX 200/litre — under 5% of pump price, unchanged since 2018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A: SSB excise is flat 12% — no sugar-content differentiation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B: fuel is closer to OECD intensity than tobacco; SSB is the largest gap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phase tobacco ↑; introduce sugar-graduated SSB; index specific rates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965960"/>
            <a:ext cx="5285232" cy="64008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2606040"/>
            <a:ext cx="5285232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2130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SIERRA LEONE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26880" y="2130552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surfaces what schedules hide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834640"/>
            <a:ext cx="4736592" cy="1188720"/>
          </a:xfrm>
          <a:prstGeom prst="rect">
            <a:avLst/>
          </a:prstGeom>
          <a:solidFill>
            <a:srgbClr val="FBF4E2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2834640"/>
            <a:ext cx="64008" cy="1188720"/>
          </a:xfrm>
          <a:prstGeom prst="rect">
            <a:avLst/>
          </a:prstGeom>
          <a:solidFill>
            <a:srgbClr val="D4A24C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971800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223760" y="299923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REDENOMINATION ANOMALY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12280" y="3291840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FA2024 wine excise (Le 4.20–22 / litre) was never restated after the 2022 1,000:1 redenomination. At face value, wine in Sierra Leone is currently untaxed — ≈ USD 0.0002/litre. Invisible on the schedule. Visible on the diagnostic.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629400" y="4251960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FINDINGS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29400" y="4480560"/>
            <a:ext cx="4736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 excise USD 0.14 / pack — a quarter of Uganda's lowest tier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soft drinks essentially untaxed by excise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priority excise raises 0.7–0.9% of GDP — half of Uganda</a:t>
            </a:r>
            <a:endParaRPr lang="en-US" sz="1100" dirty="0"/>
          </a:p>
          <a:p>
            <a:pPr marL="342900" indent="-342900">
              <a:buSzPct val="100000"/>
              <a:buChar char="▪"/>
            </a:pPr>
            <a:r>
              <a:rPr lang="en-US" sz="110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redenominate wine; phase tobacco ↑; broaden SSB base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565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Excise-Fiscal Reports  ·  03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Synthesis, not new modelling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does not generate new estimates where existing tools already do. It harmonises CPAT, the Climate &amp; Health Program, IMF GEPR, and country excise schedules into one report a finance minister can read and act on. The discipline of fixed structure and fixed valuation parameters is the contribution.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520440" cy="22860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926080"/>
            <a:ext cx="3520440" cy="54864"/>
          </a:xfrm>
          <a:prstGeom prst="rect">
            <a:avLst/>
          </a:prstGeom>
          <a:solidFill>
            <a:srgbClr val="D4A24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0040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NOTE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pages. Fixes the seven-section spine, the typology, the three measures, and the default valuation parameters. Drafted with CPAT, C&amp;H, MTI input.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2926080"/>
            <a:ext cx="3520440" cy="22860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2926080"/>
            <a:ext cx="3520440" cy="54864"/>
          </a:xfrm>
          <a:prstGeom prst="rect">
            <a:avLst/>
          </a:prstGeom>
          <a:solidFill>
            <a:srgbClr val="D4A24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2004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SPREADSHEET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17720" y="40690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Word template populated from a parameter spreadsheet. Country teams produce a draft report in 2–3 weeks using existing inputs, not three months.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2926080"/>
            <a:ext cx="3520440" cy="2286000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2926080"/>
            <a:ext cx="3520440" cy="54864"/>
          </a:xfrm>
          <a:prstGeom prst="rect">
            <a:avLst/>
          </a:prstGeom>
          <a:solidFill>
            <a:srgbClr val="D4A24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320040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PILOTS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321040" y="406908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Colombia or Chile (strong analytical infrastructure). Tier 2: Uganda (existing engagement, Part A already drafted). Stress-test data needs and political reception.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5577840"/>
            <a:ext cx="109728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D4A24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" y="560527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diagnostic does not require new institutional architecture. It sits between existing products as a synthesis layer.”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0080" y="6565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Excise-Fiscal Reports  ·  04 /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Inputs, methods, outputs at a glance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108960"/>
        </p:xfrm>
        <a:graphic>
          <a:graphicData uri="http://schemas.openxmlformats.org/drawingml/2006/table">
            <a:tbl>
              <a:tblPr/>
              <a:tblGrid>
                <a:gridCol w="2194560"/>
                <a:gridCol w="2468880"/>
                <a:gridCol w="4023360"/>
                <a:gridCol w="23774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Excise Diagnostic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excise schedule (current law + recent FAs)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Categorise lines; record on five fields; compute three measures ($/unit, % of consumer price, % of GDP)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tables + narrative on erosion, gaps, incoherence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Externality Diagnostic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CPAT outputs; C&amp;H Program outputs; IMF GEPR; country exposure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FVTD seven-section spine + standardised valuation parameters; “biggest externality” ranking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Fixed-structure externality assessment with sensitivity ranges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Policy Pathways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 benchmarks; comparator country experience; Part A + B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proposals → success stories → narrative political economy → 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7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Sequenced, prioritised reform 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t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vs  TIER 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440680" cy="1097280"/>
          </a:xfrm>
          <a:prstGeom prst="rect">
            <a:avLst/>
          </a:prstGeom>
          <a:solidFill>
            <a:srgbClr val="F6F8FE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5349240"/>
            <a:ext cx="7315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40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 — capable LMICs / UMICs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7332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Country-specific data; income-elasticity-transferred VSL; active-travel benefits via WHO HEAT; vintage modelling. Candidates: Chile, Colombia, South Africa, Mexico, Brazil, Indonesia.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5349240"/>
            <a:ext cx="5440680" cy="1097280"/>
          </a:xfrm>
          <a:prstGeom prst="rect">
            <a:avLst/>
          </a:prstGeom>
          <a:solidFill>
            <a:srgbClr val="F6F8FE"/>
          </a:solidFill>
          <a:ln/>
        </p:spPr>
      </p:sp>
      <p:sp>
        <p:nvSpPr>
          <p:cNvPr id="11" name="Shape 8"/>
          <p:cNvSpPr/>
          <p:nvPr/>
        </p:nvSpPr>
        <p:spPr>
          <a:xfrm>
            <a:off x="6172200" y="5349240"/>
            <a:ext cx="73152" cy="1097280"/>
          </a:xfrm>
          <a:prstGeom prst="rect">
            <a:avLst/>
          </a:prstGeom>
          <a:solidFill>
            <a:srgbClr val="D4A24C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5440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A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 — LICs / weak-data LMICs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5733288"/>
            <a:ext cx="5074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seven-section spine; pooled regional elasticities; benefit-transferred VSL; congestion only for primary city. Deliverable is direction and magnitude. Candidates: Uganda, Tanzania, Ghana, Senegal.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8640" y="656539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Excise-Fiscal Reports  ·  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Excise-Fiscal Reports</dc:title>
  <dc:subject>PptxGenJS Presentation</dc:subject>
  <dc:creator>Stephen — World Bank</dc:creator>
  <cp:lastModifiedBy>Stephen — World Bank</cp:lastModifiedBy>
  <cp:revision>1</cp:revision>
  <dcterms:created xsi:type="dcterms:W3CDTF">2026-05-07T22:14:14Z</dcterms:created>
  <dcterms:modified xsi:type="dcterms:W3CDTF">2026-05-07T22:14:14Z</dcterms:modified>
</cp:coreProperties>
</file>