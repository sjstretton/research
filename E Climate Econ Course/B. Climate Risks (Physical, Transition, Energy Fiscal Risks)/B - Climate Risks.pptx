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83" r:id="rId1"/>
  </p:sldMasterIdLst>
  <p:notesMasterIdLst>
    <p:notesMasterId r:id="rId39"/>
  </p:notesMasterIdLst>
  <p:sldIdLst>
    <p:sldId id="256" r:id="rId2"/>
    <p:sldId id="291" r:id="rId3"/>
    <p:sldId id="294" r:id="rId4"/>
    <p:sldId id="350" r:id="rId5"/>
    <p:sldId id="351" r:id="rId6"/>
    <p:sldId id="296" r:id="rId7"/>
    <p:sldId id="297" r:id="rId8"/>
    <p:sldId id="1085" r:id="rId9"/>
    <p:sldId id="529" r:id="rId10"/>
    <p:sldId id="530" r:id="rId11"/>
    <p:sldId id="1068" r:id="rId12"/>
    <p:sldId id="1037" r:id="rId13"/>
    <p:sldId id="1088" r:id="rId14"/>
    <p:sldId id="295" r:id="rId15"/>
    <p:sldId id="1069" r:id="rId16"/>
    <p:sldId id="1076" r:id="rId17"/>
    <p:sldId id="1077" r:id="rId18"/>
    <p:sldId id="1083" r:id="rId19"/>
    <p:sldId id="298" r:id="rId20"/>
    <p:sldId id="359" r:id="rId21"/>
    <p:sldId id="1047" r:id="rId22"/>
    <p:sldId id="1075" r:id="rId23"/>
    <p:sldId id="1074" r:id="rId24"/>
    <p:sldId id="1087" r:id="rId25"/>
    <p:sldId id="1084" r:id="rId26"/>
    <p:sldId id="1070" r:id="rId27"/>
    <p:sldId id="1071" r:id="rId28"/>
    <p:sldId id="1072" r:id="rId29"/>
    <p:sldId id="1073" r:id="rId30"/>
    <p:sldId id="1086" r:id="rId31"/>
    <p:sldId id="1082" r:id="rId32"/>
    <p:sldId id="276" r:id="rId33"/>
    <p:sldId id="277" r:id="rId34"/>
    <p:sldId id="266" r:id="rId35"/>
    <p:sldId id="1078" r:id="rId36"/>
    <p:sldId id="1079" r:id="rId37"/>
    <p:sldId id="1080"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45" roundtripDataSignature="AMtx7mgIoWk2XI8o1qaLFxKVZsFfmpna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6C35"/>
    <a:srgbClr val="FFFFFF"/>
    <a:srgbClr val="4F9AC2"/>
    <a:srgbClr val="022A03"/>
    <a:srgbClr val="9BC7E5"/>
    <a:srgbClr val="78B68E"/>
    <a:srgbClr val="62AA7B"/>
    <a:srgbClr val="E6E6E6"/>
    <a:srgbClr val="4B2513"/>
    <a:srgbClr val="0046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8F3F68-BE6E-A8EC-3CAF-C72A7CE86958}" v="15" dt="2024-09-13T01:00:24.8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6"/>
  </p:normalViewPr>
  <p:slideViewPr>
    <p:cSldViewPr snapToGrid="0">
      <p:cViewPr varScale="1">
        <p:scale>
          <a:sx n="58" d="100"/>
          <a:sy n="58" d="100"/>
        </p:scale>
        <p:origin x="92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e Lauren Davey" userId="S::eviedavey6_outlook.com#ext#@worldbankgroup.onmicrosoft.com::ae14ba05-11d6-4041-82d8-f2ed7e05eba3" providerId="AD" clId="Web-{B78F3F68-BE6E-A8EC-3CAF-C72A7CE86958}"/>
    <pc:docChg chg="modSld">
      <pc:chgData name="Eve Lauren Davey" userId="S::eviedavey6_outlook.com#ext#@worldbankgroup.onmicrosoft.com::ae14ba05-11d6-4041-82d8-f2ed7e05eba3" providerId="AD" clId="Web-{B78F3F68-BE6E-A8EC-3CAF-C72A7CE86958}" dt="2024-09-13T01:00:20.712" v="5" actId="20577"/>
      <pc:docMkLst>
        <pc:docMk/>
      </pc:docMkLst>
      <pc:sldChg chg="modSp">
        <pc:chgData name="Eve Lauren Davey" userId="S::eviedavey6_outlook.com#ext#@worldbankgroup.onmicrosoft.com::ae14ba05-11d6-4041-82d8-f2ed7e05eba3" providerId="AD" clId="Web-{B78F3F68-BE6E-A8EC-3CAF-C72A7CE86958}" dt="2024-09-13T01:00:20.712" v="5" actId="20577"/>
        <pc:sldMkLst>
          <pc:docMk/>
          <pc:sldMk cId="1498574551" sldId="1088"/>
        </pc:sldMkLst>
        <pc:spChg chg="mod">
          <ac:chgData name="Eve Lauren Davey" userId="S::eviedavey6_outlook.com#ext#@worldbankgroup.onmicrosoft.com::ae14ba05-11d6-4041-82d8-f2ed7e05eba3" providerId="AD" clId="Web-{B78F3F68-BE6E-A8EC-3CAF-C72A7CE86958}" dt="2024-09-13T01:00:07.743" v="0" actId="14100"/>
          <ac:spMkLst>
            <pc:docMk/>
            <pc:sldMk cId="1498574551" sldId="1088"/>
            <ac:spMk id="4" creationId="{826F8C47-B944-1797-F909-D63DD4597A00}"/>
          </ac:spMkLst>
        </pc:spChg>
        <pc:spChg chg="mod">
          <ac:chgData name="Eve Lauren Davey" userId="S::eviedavey6_outlook.com#ext#@worldbankgroup.onmicrosoft.com::ae14ba05-11d6-4041-82d8-f2ed7e05eba3" providerId="AD" clId="Web-{B78F3F68-BE6E-A8EC-3CAF-C72A7CE86958}" dt="2024-09-13T01:00:20.712" v="5" actId="20577"/>
          <ac:spMkLst>
            <pc:docMk/>
            <pc:sldMk cId="1498574551" sldId="1088"/>
            <ac:spMk id="5" creationId="{2F4E10D0-C821-7488-B74F-A174319A783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46202D-072F-4E8E-A5B4-ACF35A4BB7D4}" type="doc">
      <dgm:prSet loTypeId="urn:microsoft.com/office/officeart/2005/8/layout/bProcess3" loCatId="process" qsTypeId="urn:microsoft.com/office/officeart/2005/8/quickstyle/simple1" qsCatId="simple" csTypeId="urn:microsoft.com/office/officeart/2005/8/colors/colorful4" csCatId="colorful" phldr="1"/>
      <dgm:spPr/>
      <dgm:t>
        <a:bodyPr/>
        <a:lstStyle/>
        <a:p>
          <a:endParaRPr lang="en-GB"/>
        </a:p>
      </dgm:t>
    </dgm:pt>
    <dgm:pt modelId="{99689436-8B37-4F2C-83E0-B9F4FFF27F35}">
      <dgm:prSet phldrT="[Text]" custT="1"/>
      <dgm:spPr>
        <a:solidFill>
          <a:srgbClr val="62AA7B"/>
        </a:solidFill>
        <a:ln>
          <a:noFill/>
        </a:ln>
      </dgm:spPr>
      <dgm:t>
        <a:bodyPr/>
        <a:lstStyle/>
        <a:p>
          <a:r>
            <a:rPr lang="en-GB" sz="1600" b="0" dirty="0"/>
            <a:t>Energy transition </a:t>
          </a:r>
          <a:r>
            <a:rPr lang="en-GB" sz="1600" dirty="0"/>
            <a:t>(due to carbon tax, technology, or norms)</a:t>
          </a:r>
        </a:p>
      </dgm:t>
    </dgm:pt>
    <dgm:pt modelId="{E8EF61BE-1D98-4A5C-AB16-5C5F34B76FD1}" type="parTrans" cxnId="{76A7B520-3C05-4B2E-94A2-A66F420ECF1C}">
      <dgm:prSet/>
      <dgm:spPr/>
      <dgm:t>
        <a:bodyPr/>
        <a:lstStyle/>
        <a:p>
          <a:endParaRPr lang="en-GB"/>
        </a:p>
      </dgm:t>
    </dgm:pt>
    <dgm:pt modelId="{C68ADFBD-089C-4524-BF25-B679F91140CE}" type="sibTrans" cxnId="{76A7B520-3C05-4B2E-94A2-A66F420ECF1C}">
      <dgm:prSet custT="1">
        <dgm:style>
          <a:lnRef idx="0">
            <a:scrgbClr r="0" g="0" b="0"/>
          </a:lnRef>
          <a:fillRef idx="0">
            <a:scrgbClr r="0" g="0" b="0"/>
          </a:fillRef>
          <a:effectRef idx="0">
            <a:scrgbClr r="0" g="0" b="0"/>
          </a:effectRef>
          <a:fontRef idx="minor">
            <a:schemeClr val="tx1"/>
          </a:fontRef>
        </dgm:style>
      </dgm:prSet>
      <dgm:spPr>
        <a:ln w="19050" cap="flat" cmpd="sng" algn="ctr">
          <a:solidFill>
            <a:schemeClr val="accent5"/>
          </a:solidFill>
          <a:prstDash val="solid"/>
          <a:round/>
          <a:headEnd type="none" w="med" len="med"/>
          <a:tailEnd type="arrow" w="med" len="med"/>
        </a:ln>
      </dgm:spPr>
      <dgm:t>
        <a:bodyPr/>
        <a:lstStyle/>
        <a:p>
          <a:endParaRPr lang="en-GB" sz="1800"/>
        </a:p>
      </dgm:t>
    </dgm:pt>
    <dgm:pt modelId="{16D414A9-6D33-4866-B4FB-2E814017A5A0}">
      <dgm:prSet phldrT="[Text]" custT="1"/>
      <dgm:spPr>
        <a:ln>
          <a:noFill/>
        </a:ln>
      </dgm:spPr>
      <dgm:t>
        <a:bodyPr/>
        <a:lstStyle/>
        <a:p>
          <a:r>
            <a:rPr lang="en-GB" sz="1600" dirty="0"/>
            <a:t>Change in demand for green and fossil fuel sector goods strands fossil fuel assets</a:t>
          </a:r>
        </a:p>
      </dgm:t>
    </dgm:pt>
    <dgm:pt modelId="{5B68F41B-9408-4D55-BD71-CAA78D8E21B9}" type="parTrans" cxnId="{F312C3F6-30EB-4173-96D9-D8AF4E9E16FE}">
      <dgm:prSet/>
      <dgm:spPr/>
      <dgm:t>
        <a:bodyPr/>
        <a:lstStyle/>
        <a:p>
          <a:endParaRPr lang="en-GB"/>
        </a:p>
      </dgm:t>
    </dgm:pt>
    <dgm:pt modelId="{06E7163C-8514-4C54-BFE1-E6C98564381D}" type="sibTrans" cxnId="{F312C3F6-30EB-4173-96D9-D8AF4E9E16FE}">
      <dgm:prSet custT="1">
        <dgm:style>
          <a:lnRef idx="0">
            <a:scrgbClr r="0" g="0" b="0"/>
          </a:lnRef>
          <a:fillRef idx="0">
            <a:scrgbClr r="0" g="0" b="0"/>
          </a:fillRef>
          <a:effectRef idx="0">
            <a:scrgbClr r="0" g="0" b="0"/>
          </a:effectRef>
          <a:fontRef idx="minor">
            <a:schemeClr val="tx1"/>
          </a:fontRef>
        </dgm:style>
      </dgm:prSet>
      <dgm:spPr>
        <a:ln w="19050" cap="flat" cmpd="sng" algn="ctr">
          <a:solidFill>
            <a:schemeClr val="accent5"/>
          </a:solidFill>
          <a:prstDash val="solid"/>
          <a:round/>
          <a:headEnd type="none" w="med" len="med"/>
          <a:tailEnd type="arrow" w="med" len="med"/>
        </a:ln>
      </dgm:spPr>
      <dgm:t>
        <a:bodyPr/>
        <a:lstStyle/>
        <a:p>
          <a:endParaRPr lang="en-GB" sz="1800"/>
        </a:p>
      </dgm:t>
    </dgm:pt>
    <dgm:pt modelId="{36BAF94B-281F-4E63-832F-2716E7E27041}">
      <dgm:prSet phldrT="[Text]" custT="1"/>
      <dgm:spPr>
        <a:ln>
          <a:noFill/>
        </a:ln>
      </dgm:spPr>
      <dgm:t>
        <a:bodyPr/>
        <a:lstStyle/>
        <a:p>
          <a:r>
            <a:rPr lang="en-GB" sz="1600" dirty="0"/>
            <a:t>Decrease in value of fossil fuel assets on financial markets. </a:t>
          </a:r>
        </a:p>
      </dgm:t>
    </dgm:pt>
    <dgm:pt modelId="{86BC8A35-92B6-468E-AD10-9912521833A3}" type="parTrans" cxnId="{DDF0CFEE-8BF2-4A3C-9DE8-5208D62C8849}">
      <dgm:prSet/>
      <dgm:spPr/>
      <dgm:t>
        <a:bodyPr/>
        <a:lstStyle/>
        <a:p>
          <a:endParaRPr lang="en-GB"/>
        </a:p>
      </dgm:t>
    </dgm:pt>
    <dgm:pt modelId="{7EE1DE77-6DB0-4544-A4BC-F5C79C7C5E3A}" type="sibTrans" cxnId="{DDF0CFEE-8BF2-4A3C-9DE8-5208D62C8849}">
      <dgm:prSet custT="1">
        <dgm:style>
          <a:lnRef idx="0">
            <a:scrgbClr r="0" g="0" b="0"/>
          </a:lnRef>
          <a:fillRef idx="0">
            <a:scrgbClr r="0" g="0" b="0"/>
          </a:fillRef>
          <a:effectRef idx="0">
            <a:scrgbClr r="0" g="0" b="0"/>
          </a:effectRef>
          <a:fontRef idx="minor">
            <a:schemeClr val="tx1"/>
          </a:fontRef>
        </dgm:style>
      </dgm:prSet>
      <dgm:spPr>
        <a:ln w="19050" cap="flat" cmpd="sng" algn="ctr">
          <a:solidFill>
            <a:schemeClr val="accent5"/>
          </a:solidFill>
          <a:prstDash val="solid"/>
          <a:round/>
          <a:headEnd type="none" w="med" len="med"/>
          <a:tailEnd type="arrow" w="med" len="med"/>
        </a:ln>
      </dgm:spPr>
      <dgm:t>
        <a:bodyPr/>
        <a:lstStyle/>
        <a:p>
          <a:endParaRPr lang="en-GB" sz="1800"/>
        </a:p>
      </dgm:t>
    </dgm:pt>
    <dgm:pt modelId="{17EA7CDE-6111-4316-B635-E3775FD4A12A}">
      <dgm:prSet phldrT="[Text]" custT="1"/>
      <dgm:spPr>
        <a:ln>
          <a:noFill/>
        </a:ln>
      </dgm:spPr>
      <dgm:t>
        <a:bodyPr/>
        <a:lstStyle/>
        <a:p>
          <a:r>
            <a:rPr lang="en-GB" sz="1600" dirty="0"/>
            <a:t>Change in profits,  employment, etc. in energy and related sectors</a:t>
          </a:r>
        </a:p>
      </dgm:t>
    </dgm:pt>
    <dgm:pt modelId="{DB8B03C0-79AD-46B9-9F16-0BDA3C8B06E1}" type="parTrans" cxnId="{8B4178DE-52A6-4F82-A142-B48EEF82B775}">
      <dgm:prSet/>
      <dgm:spPr/>
      <dgm:t>
        <a:bodyPr/>
        <a:lstStyle/>
        <a:p>
          <a:endParaRPr lang="en-GB"/>
        </a:p>
      </dgm:t>
    </dgm:pt>
    <dgm:pt modelId="{9FD167CC-1C60-4854-8252-B683CFD096DC}" type="sibTrans" cxnId="{8B4178DE-52A6-4F82-A142-B48EEF82B775}">
      <dgm:prSet custT="1">
        <dgm:style>
          <a:lnRef idx="0">
            <a:scrgbClr r="0" g="0" b="0"/>
          </a:lnRef>
          <a:fillRef idx="0">
            <a:scrgbClr r="0" g="0" b="0"/>
          </a:fillRef>
          <a:effectRef idx="0">
            <a:scrgbClr r="0" g="0" b="0"/>
          </a:effectRef>
          <a:fontRef idx="minor">
            <a:schemeClr val="tx1"/>
          </a:fontRef>
        </dgm:style>
      </dgm:prSet>
      <dgm:spPr>
        <a:ln w="19050" cap="flat" cmpd="sng" algn="ctr">
          <a:solidFill>
            <a:schemeClr val="accent5"/>
          </a:solidFill>
          <a:prstDash val="solid"/>
          <a:round/>
          <a:headEnd type="none" w="med" len="med"/>
          <a:tailEnd type="arrow" w="med" len="med"/>
        </a:ln>
      </dgm:spPr>
      <dgm:t>
        <a:bodyPr/>
        <a:lstStyle/>
        <a:p>
          <a:endParaRPr lang="en-GB" sz="1800"/>
        </a:p>
      </dgm:t>
    </dgm:pt>
    <dgm:pt modelId="{F1D07850-CE69-4C10-AA08-74528CAAD6E4}">
      <dgm:prSet custT="1"/>
      <dgm:spPr>
        <a:ln>
          <a:noFill/>
        </a:ln>
      </dgm:spPr>
      <dgm:t>
        <a:bodyPr/>
        <a:lstStyle/>
        <a:p>
          <a:r>
            <a:rPr lang="en-GB" sz="1600" dirty="0"/>
            <a:t>Increase in non-performing fossil fuel loans</a:t>
          </a:r>
        </a:p>
      </dgm:t>
    </dgm:pt>
    <dgm:pt modelId="{BBB01490-D391-44B0-86A4-0C9067741532}" type="parTrans" cxnId="{70EBF773-CFFB-4776-AD85-E45C0FE8C9C2}">
      <dgm:prSet/>
      <dgm:spPr/>
      <dgm:t>
        <a:bodyPr/>
        <a:lstStyle/>
        <a:p>
          <a:endParaRPr lang="en-GB"/>
        </a:p>
      </dgm:t>
    </dgm:pt>
    <dgm:pt modelId="{2B2CBC76-5E2B-496A-B319-235152E92840}" type="sibTrans" cxnId="{70EBF773-CFFB-4776-AD85-E45C0FE8C9C2}">
      <dgm:prSet custT="1">
        <dgm:style>
          <a:lnRef idx="0">
            <a:scrgbClr r="0" g="0" b="0"/>
          </a:lnRef>
          <a:fillRef idx="0">
            <a:scrgbClr r="0" g="0" b="0"/>
          </a:fillRef>
          <a:effectRef idx="0">
            <a:scrgbClr r="0" g="0" b="0"/>
          </a:effectRef>
          <a:fontRef idx="minor">
            <a:schemeClr val="tx1"/>
          </a:fontRef>
        </dgm:style>
      </dgm:prSet>
      <dgm:spPr>
        <a:ln w="19050" cap="flat" cmpd="sng" algn="ctr">
          <a:solidFill>
            <a:schemeClr val="accent5"/>
          </a:solidFill>
          <a:prstDash val="solid"/>
          <a:round/>
          <a:headEnd type="none" w="med" len="med"/>
          <a:tailEnd type="arrow" w="med" len="med"/>
        </a:ln>
      </dgm:spPr>
      <dgm:t>
        <a:bodyPr/>
        <a:lstStyle/>
        <a:p>
          <a:endParaRPr lang="en-GB" sz="1800"/>
        </a:p>
      </dgm:t>
    </dgm:pt>
    <dgm:pt modelId="{6B8E11BF-EC56-4AD1-90DD-211591D8AD06}">
      <dgm:prSet custT="1"/>
      <dgm:spPr>
        <a:ln>
          <a:noFill/>
        </a:ln>
      </dgm:spPr>
      <dgm:t>
        <a:bodyPr/>
        <a:lstStyle/>
        <a:p>
          <a:r>
            <a:rPr lang="en-GB" sz="1600" dirty="0"/>
            <a:t>Banks and financial firms that hold these assets face losses</a:t>
          </a:r>
        </a:p>
      </dgm:t>
    </dgm:pt>
    <dgm:pt modelId="{F06D3B64-2287-4EB8-B745-7D0E53E55555}" type="parTrans" cxnId="{C5431314-8B97-4939-9634-C90511C4082F}">
      <dgm:prSet/>
      <dgm:spPr/>
      <dgm:t>
        <a:bodyPr/>
        <a:lstStyle/>
        <a:p>
          <a:endParaRPr lang="en-GB"/>
        </a:p>
      </dgm:t>
    </dgm:pt>
    <dgm:pt modelId="{69117471-0C47-4D0E-A933-C9B9E6F9F08E}" type="sibTrans" cxnId="{C5431314-8B97-4939-9634-C90511C4082F}">
      <dgm:prSet custT="1">
        <dgm:style>
          <a:lnRef idx="0">
            <a:scrgbClr r="0" g="0" b="0"/>
          </a:lnRef>
          <a:fillRef idx="0">
            <a:scrgbClr r="0" g="0" b="0"/>
          </a:fillRef>
          <a:effectRef idx="0">
            <a:scrgbClr r="0" g="0" b="0"/>
          </a:effectRef>
          <a:fontRef idx="minor">
            <a:schemeClr val="tx1"/>
          </a:fontRef>
        </dgm:style>
      </dgm:prSet>
      <dgm:spPr>
        <a:ln w="19050" cap="flat" cmpd="sng" algn="ctr">
          <a:solidFill>
            <a:schemeClr val="accent5"/>
          </a:solidFill>
          <a:prstDash val="solid"/>
          <a:round/>
          <a:headEnd type="none" w="med" len="med"/>
          <a:tailEnd type="arrow" w="med" len="med"/>
        </a:ln>
      </dgm:spPr>
      <dgm:t>
        <a:bodyPr/>
        <a:lstStyle/>
        <a:p>
          <a:endParaRPr lang="en-GB" sz="1800"/>
        </a:p>
      </dgm:t>
    </dgm:pt>
    <dgm:pt modelId="{009E75CD-5DA4-489E-B476-806F9367EC40}">
      <dgm:prSet custT="1"/>
      <dgm:spPr>
        <a:ln>
          <a:noFill/>
        </a:ln>
      </dgm:spPr>
      <dgm:t>
        <a:bodyPr/>
        <a:lstStyle/>
        <a:p>
          <a:r>
            <a:rPr lang="en-GB" sz="1600" dirty="0"/>
            <a:t>Banks and financial firms respond by tightening lending conditions</a:t>
          </a:r>
        </a:p>
      </dgm:t>
    </dgm:pt>
    <dgm:pt modelId="{A947027A-DD48-45FB-9195-CEFA9430D92B}" type="parTrans" cxnId="{3662E585-3481-4F76-A87B-D6D080C22331}">
      <dgm:prSet/>
      <dgm:spPr/>
      <dgm:t>
        <a:bodyPr/>
        <a:lstStyle/>
        <a:p>
          <a:endParaRPr lang="en-GB"/>
        </a:p>
      </dgm:t>
    </dgm:pt>
    <dgm:pt modelId="{04396CB2-B354-4AE7-B793-007CBDF62C90}" type="sibTrans" cxnId="{3662E585-3481-4F76-A87B-D6D080C22331}">
      <dgm:prSet custT="1">
        <dgm:style>
          <a:lnRef idx="0">
            <a:scrgbClr r="0" g="0" b="0"/>
          </a:lnRef>
          <a:fillRef idx="0">
            <a:scrgbClr r="0" g="0" b="0"/>
          </a:fillRef>
          <a:effectRef idx="0">
            <a:scrgbClr r="0" g="0" b="0"/>
          </a:effectRef>
          <a:fontRef idx="minor">
            <a:schemeClr val="tx1"/>
          </a:fontRef>
        </dgm:style>
      </dgm:prSet>
      <dgm:spPr>
        <a:ln w="19050" cap="flat" cmpd="sng" algn="ctr">
          <a:solidFill>
            <a:schemeClr val="accent5"/>
          </a:solidFill>
          <a:prstDash val="solid"/>
          <a:round/>
          <a:headEnd type="none" w="med" len="med"/>
          <a:tailEnd type="arrow" w="med" len="med"/>
        </a:ln>
      </dgm:spPr>
      <dgm:t>
        <a:bodyPr/>
        <a:lstStyle/>
        <a:p>
          <a:endParaRPr lang="en-GB" sz="1800"/>
        </a:p>
      </dgm:t>
    </dgm:pt>
    <dgm:pt modelId="{5FD6A081-A1DB-439A-A0D9-B2C99873B939}">
      <dgm:prSet custT="1"/>
      <dgm:spPr>
        <a:ln>
          <a:noFill/>
        </a:ln>
      </dgm:spPr>
      <dgm:t>
        <a:bodyPr/>
        <a:lstStyle/>
        <a:p>
          <a:r>
            <a:rPr lang="en-GB" sz="1600" dirty="0"/>
            <a:t>Negative knock-on effects on rest of economy</a:t>
          </a:r>
        </a:p>
      </dgm:t>
    </dgm:pt>
    <dgm:pt modelId="{71439DD4-9166-45E4-B321-6E984BD2BAEE}" type="parTrans" cxnId="{87998CFC-B6DE-4871-A3C9-01761D627280}">
      <dgm:prSet/>
      <dgm:spPr/>
      <dgm:t>
        <a:bodyPr/>
        <a:lstStyle/>
        <a:p>
          <a:endParaRPr lang="en-GB"/>
        </a:p>
      </dgm:t>
    </dgm:pt>
    <dgm:pt modelId="{0E9CB8CD-ECF0-4F5A-8992-7E0A062A35B0}" type="sibTrans" cxnId="{87998CFC-B6DE-4871-A3C9-01761D627280}">
      <dgm:prSet custT="1">
        <dgm:style>
          <a:lnRef idx="0">
            <a:scrgbClr r="0" g="0" b="0"/>
          </a:lnRef>
          <a:fillRef idx="0">
            <a:scrgbClr r="0" g="0" b="0"/>
          </a:fillRef>
          <a:effectRef idx="0">
            <a:scrgbClr r="0" g="0" b="0"/>
          </a:effectRef>
          <a:fontRef idx="minor">
            <a:schemeClr val="tx1"/>
          </a:fontRef>
        </dgm:style>
      </dgm:prSet>
      <dgm:spPr>
        <a:ln w="19050" cap="flat" cmpd="sng" algn="ctr">
          <a:solidFill>
            <a:schemeClr val="accent5"/>
          </a:solidFill>
          <a:prstDash val="solid"/>
          <a:round/>
          <a:headEnd type="none" w="med" len="med"/>
          <a:tailEnd type="arrow" w="med" len="med"/>
        </a:ln>
      </dgm:spPr>
      <dgm:t>
        <a:bodyPr/>
        <a:lstStyle/>
        <a:p>
          <a:endParaRPr lang="en-GB" sz="1800"/>
        </a:p>
      </dgm:t>
    </dgm:pt>
    <dgm:pt modelId="{84C71BE6-3F53-4BFB-BA54-27F294BFB715}">
      <dgm:prSet custT="1"/>
      <dgm:spPr>
        <a:ln>
          <a:noFill/>
        </a:ln>
      </dgm:spPr>
      <dgm:t>
        <a:bodyPr/>
        <a:lstStyle/>
        <a:p>
          <a:r>
            <a:rPr lang="en-GB" sz="1600" dirty="0"/>
            <a:t>Further losses, tightening of credit conditions etc.</a:t>
          </a:r>
        </a:p>
      </dgm:t>
    </dgm:pt>
    <dgm:pt modelId="{4376C557-3AC0-42AB-A2CE-6069753DD4EF}" type="parTrans" cxnId="{6948B70F-3405-4829-A65D-1F82811D3ADF}">
      <dgm:prSet/>
      <dgm:spPr/>
      <dgm:t>
        <a:bodyPr/>
        <a:lstStyle/>
        <a:p>
          <a:endParaRPr lang="en-GB"/>
        </a:p>
      </dgm:t>
    </dgm:pt>
    <dgm:pt modelId="{6F8695F0-2BA7-4888-A20A-D43E90620AB2}" type="sibTrans" cxnId="{6948B70F-3405-4829-A65D-1F82811D3ADF}">
      <dgm:prSet>
        <dgm:style>
          <a:lnRef idx="0">
            <a:scrgbClr r="0" g="0" b="0"/>
          </a:lnRef>
          <a:fillRef idx="0">
            <a:scrgbClr r="0" g="0" b="0"/>
          </a:fillRef>
          <a:effectRef idx="0">
            <a:scrgbClr r="0" g="0" b="0"/>
          </a:effectRef>
          <a:fontRef idx="minor">
            <a:schemeClr val="tx1"/>
          </a:fontRef>
        </dgm:style>
      </dgm:prSet>
      <dgm:spPr>
        <a:ln w="19050" cap="flat" cmpd="sng" algn="ctr">
          <a:solidFill>
            <a:schemeClr val="accent5"/>
          </a:solidFill>
          <a:prstDash val="solid"/>
          <a:round/>
          <a:headEnd type="none" w="med" len="med"/>
          <a:tailEnd type="arrow" w="med" len="med"/>
        </a:ln>
      </dgm:spPr>
      <dgm:t>
        <a:bodyPr/>
        <a:lstStyle/>
        <a:p>
          <a:endParaRPr lang="en-GB"/>
        </a:p>
      </dgm:t>
    </dgm:pt>
    <dgm:pt modelId="{C76541B4-79FC-4A6B-81B0-735A85EC50E6}">
      <dgm:prSet custT="1"/>
      <dgm:spPr>
        <a:solidFill>
          <a:schemeClr val="accent5">
            <a:lumMod val="50000"/>
          </a:schemeClr>
        </a:solidFill>
        <a:ln>
          <a:noFill/>
        </a:ln>
      </dgm:spPr>
      <dgm:t>
        <a:bodyPr/>
        <a:lstStyle/>
        <a:p>
          <a:r>
            <a:rPr lang="en-GB" sz="1600" b="0" dirty="0"/>
            <a:t>Further negative impacts on broader economy</a:t>
          </a:r>
        </a:p>
      </dgm:t>
    </dgm:pt>
    <dgm:pt modelId="{94EEB16F-DFCB-44D1-8C08-0D0AB0A714B4}" type="parTrans" cxnId="{F1965014-F837-49A4-A33E-52D5453EF76D}">
      <dgm:prSet/>
      <dgm:spPr/>
      <dgm:t>
        <a:bodyPr/>
        <a:lstStyle/>
        <a:p>
          <a:endParaRPr lang="en-GB"/>
        </a:p>
      </dgm:t>
    </dgm:pt>
    <dgm:pt modelId="{09735A44-06CC-40E8-89D1-C5D112A40E50}" type="sibTrans" cxnId="{F1965014-F837-49A4-A33E-52D5453EF76D}">
      <dgm:prSet/>
      <dgm:spPr/>
      <dgm:t>
        <a:bodyPr/>
        <a:lstStyle/>
        <a:p>
          <a:endParaRPr lang="en-GB"/>
        </a:p>
      </dgm:t>
    </dgm:pt>
    <dgm:pt modelId="{35C4A057-F7AB-A944-A447-BFF00B904098}" type="pres">
      <dgm:prSet presAssocID="{BC46202D-072F-4E8E-A5B4-ACF35A4BB7D4}" presName="Name0" presStyleCnt="0">
        <dgm:presLayoutVars>
          <dgm:dir/>
          <dgm:resizeHandles val="exact"/>
        </dgm:presLayoutVars>
      </dgm:prSet>
      <dgm:spPr/>
    </dgm:pt>
    <dgm:pt modelId="{455CBEDA-50A1-C345-BB7F-693EFA8FF279}" type="pres">
      <dgm:prSet presAssocID="{99689436-8B37-4F2C-83E0-B9F4FFF27F35}" presName="node" presStyleLbl="node1" presStyleIdx="0" presStyleCnt="10">
        <dgm:presLayoutVars>
          <dgm:bulletEnabled val="1"/>
        </dgm:presLayoutVars>
      </dgm:prSet>
      <dgm:spPr/>
    </dgm:pt>
    <dgm:pt modelId="{2B8759E1-CCCA-B24D-A400-2E8086FC904C}" type="pres">
      <dgm:prSet presAssocID="{C68ADFBD-089C-4524-BF25-B679F91140CE}" presName="sibTrans" presStyleLbl="sibTrans1D1" presStyleIdx="0" presStyleCnt="9"/>
      <dgm:spPr/>
    </dgm:pt>
    <dgm:pt modelId="{8F93AD8A-2D8E-D247-8E1A-761C2A3C6261}" type="pres">
      <dgm:prSet presAssocID="{C68ADFBD-089C-4524-BF25-B679F91140CE}" presName="connectorText" presStyleLbl="sibTrans1D1" presStyleIdx="0" presStyleCnt="9"/>
      <dgm:spPr/>
    </dgm:pt>
    <dgm:pt modelId="{203869EB-C399-C147-B3C5-15995D09B485}" type="pres">
      <dgm:prSet presAssocID="{16D414A9-6D33-4866-B4FB-2E814017A5A0}" presName="node" presStyleLbl="node1" presStyleIdx="1" presStyleCnt="10">
        <dgm:presLayoutVars>
          <dgm:bulletEnabled val="1"/>
        </dgm:presLayoutVars>
      </dgm:prSet>
      <dgm:spPr/>
    </dgm:pt>
    <dgm:pt modelId="{4327051A-11DA-7E42-BEE1-9BCDFEDD79D7}" type="pres">
      <dgm:prSet presAssocID="{06E7163C-8514-4C54-BFE1-E6C98564381D}" presName="sibTrans" presStyleLbl="sibTrans1D1" presStyleIdx="1" presStyleCnt="9"/>
      <dgm:spPr/>
    </dgm:pt>
    <dgm:pt modelId="{0C098830-860E-A644-A47A-5D79AEB059C4}" type="pres">
      <dgm:prSet presAssocID="{06E7163C-8514-4C54-BFE1-E6C98564381D}" presName="connectorText" presStyleLbl="sibTrans1D1" presStyleIdx="1" presStyleCnt="9"/>
      <dgm:spPr/>
    </dgm:pt>
    <dgm:pt modelId="{E8C21F97-6B7B-4A41-858D-68D6E5C52EF4}" type="pres">
      <dgm:prSet presAssocID="{17EA7CDE-6111-4316-B635-E3775FD4A12A}" presName="node" presStyleLbl="node1" presStyleIdx="2" presStyleCnt="10">
        <dgm:presLayoutVars>
          <dgm:bulletEnabled val="1"/>
        </dgm:presLayoutVars>
      </dgm:prSet>
      <dgm:spPr/>
    </dgm:pt>
    <dgm:pt modelId="{B053CBF2-6C2E-054E-A041-E70B3D9C5864}" type="pres">
      <dgm:prSet presAssocID="{9FD167CC-1C60-4854-8252-B683CFD096DC}" presName="sibTrans" presStyleLbl="sibTrans1D1" presStyleIdx="2" presStyleCnt="9"/>
      <dgm:spPr/>
    </dgm:pt>
    <dgm:pt modelId="{B62ADA46-0395-7A44-BCDC-A36E002A4365}" type="pres">
      <dgm:prSet presAssocID="{9FD167CC-1C60-4854-8252-B683CFD096DC}" presName="connectorText" presStyleLbl="sibTrans1D1" presStyleIdx="2" presStyleCnt="9"/>
      <dgm:spPr/>
    </dgm:pt>
    <dgm:pt modelId="{04BE95E0-805A-AC4D-9C0A-82B25629B0A5}" type="pres">
      <dgm:prSet presAssocID="{36BAF94B-281F-4E63-832F-2716E7E27041}" presName="node" presStyleLbl="node1" presStyleIdx="3" presStyleCnt="10">
        <dgm:presLayoutVars>
          <dgm:bulletEnabled val="1"/>
        </dgm:presLayoutVars>
      </dgm:prSet>
      <dgm:spPr/>
    </dgm:pt>
    <dgm:pt modelId="{C9BDE116-6917-8E4B-B320-F604BA4151D6}" type="pres">
      <dgm:prSet presAssocID="{7EE1DE77-6DB0-4544-A4BC-F5C79C7C5E3A}" presName="sibTrans" presStyleLbl="sibTrans1D1" presStyleIdx="3" presStyleCnt="9"/>
      <dgm:spPr/>
    </dgm:pt>
    <dgm:pt modelId="{7AC3E025-DF2F-964C-A0DC-2C56A1475BAC}" type="pres">
      <dgm:prSet presAssocID="{7EE1DE77-6DB0-4544-A4BC-F5C79C7C5E3A}" presName="connectorText" presStyleLbl="sibTrans1D1" presStyleIdx="3" presStyleCnt="9"/>
      <dgm:spPr/>
    </dgm:pt>
    <dgm:pt modelId="{43571065-821F-DB4D-A646-2D08A5162F90}" type="pres">
      <dgm:prSet presAssocID="{F1D07850-CE69-4C10-AA08-74528CAAD6E4}" presName="node" presStyleLbl="node1" presStyleIdx="4" presStyleCnt="10">
        <dgm:presLayoutVars>
          <dgm:bulletEnabled val="1"/>
        </dgm:presLayoutVars>
      </dgm:prSet>
      <dgm:spPr/>
    </dgm:pt>
    <dgm:pt modelId="{65CEDDD3-C35E-2F45-A505-321C4859E242}" type="pres">
      <dgm:prSet presAssocID="{2B2CBC76-5E2B-496A-B319-235152E92840}" presName="sibTrans" presStyleLbl="sibTrans1D1" presStyleIdx="4" presStyleCnt="9"/>
      <dgm:spPr/>
    </dgm:pt>
    <dgm:pt modelId="{05F7350B-4877-EE48-85E3-AEEA73A03131}" type="pres">
      <dgm:prSet presAssocID="{2B2CBC76-5E2B-496A-B319-235152E92840}" presName="connectorText" presStyleLbl="sibTrans1D1" presStyleIdx="4" presStyleCnt="9"/>
      <dgm:spPr/>
    </dgm:pt>
    <dgm:pt modelId="{8A8649D8-9286-D94B-ACEA-163558F56FC6}" type="pres">
      <dgm:prSet presAssocID="{6B8E11BF-EC56-4AD1-90DD-211591D8AD06}" presName="node" presStyleLbl="node1" presStyleIdx="5" presStyleCnt="10">
        <dgm:presLayoutVars>
          <dgm:bulletEnabled val="1"/>
        </dgm:presLayoutVars>
      </dgm:prSet>
      <dgm:spPr/>
    </dgm:pt>
    <dgm:pt modelId="{4C982032-0396-5144-B554-BF1F6CFADBC3}" type="pres">
      <dgm:prSet presAssocID="{69117471-0C47-4D0E-A933-C9B9E6F9F08E}" presName="sibTrans" presStyleLbl="sibTrans1D1" presStyleIdx="5" presStyleCnt="9"/>
      <dgm:spPr/>
    </dgm:pt>
    <dgm:pt modelId="{FADE6794-5D0B-5547-810F-DD95EAEFC34B}" type="pres">
      <dgm:prSet presAssocID="{69117471-0C47-4D0E-A933-C9B9E6F9F08E}" presName="connectorText" presStyleLbl="sibTrans1D1" presStyleIdx="5" presStyleCnt="9"/>
      <dgm:spPr/>
    </dgm:pt>
    <dgm:pt modelId="{FF763747-8EA9-2546-AF33-A9233598DF8B}" type="pres">
      <dgm:prSet presAssocID="{009E75CD-5DA4-489E-B476-806F9367EC40}" presName="node" presStyleLbl="node1" presStyleIdx="6" presStyleCnt="10">
        <dgm:presLayoutVars>
          <dgm:bulletEnabled val="1"/>
        </dgm:presLayoutVars>
      </dgm:prSet>
      <dgm:spPr/>
    </dgm:pt>
    <dgm:pt modelId="{B6CCF627-496A-794C-883C-6CF020A93994}" type="pres">
      <dgm:prSet presAssocID="{04396CB2-B354-4AE7-B793-007CBDF62C90}" presName="sibTrans" presStyleLbl="sibTrans1D1" presStyleIdx="6" presStyleCnt="9"/>
      <dgm:spPr/>
    </dgm:pt>
    <dgm:pt modelId="{FEAC046C-4334-544F-8423-635D0121A8E1}" type="pres">
      <dgm:prSet presAssocID="{04396CB2-B354-4AE7-B793-007CBDF62C90}" presName="connectorText" presStyleLbl="sibTrans1D1" presStyleIdx="6" presStyleCnt="9"/>
      <dgm:spPr/>
    </dgm:pt>
    <dgm:pt modelId="{55ABCAE0-49BF-564B-AC9D-E4F181291C31}" type="pres">
      <dgm:prSet presAssocID="{5FD6A081-A1DB-439A-A0D9-B2C99873B939}" presName="node" presStyleLbl="node1" presStyleIdx="7" presStyleCnt="10">
        <dgm:presLayoutVars>
          <dgm:bulletEnabled val="1"/>
        </dgm:presLayoutVars>
      </dgm:prSet>
      <dgm:spPr/>
    </dgm:pt>
    <dgm:pt modelId="{E291ACDB-98FB-EE43-86B6-EF7B74130702}" type="pres">
      <dgm:prSet presAssocID="{0E9CB8CD-ECF0-4F5A-8992-7E0A062A35B0}" presName="sibTrans" presStyleLbl="sibTrans1D1" presStyleIdx="7" presStyleCnt="9"/>
      <dgm:spPr/>
    </dgm:pt>
    <dgm:pt modelId="{F6408DC8-8BAD-A042-A6A8-04234CAA2957}" type="pres">
      <dgm:prSet presAssocID="{0E9CB8CD-ECF0-4F5A-8992-7E0A062A35B0}" presName="connectorText" presStyleLbl="sibTrans1D1" presStyleIdx="7" presStyleCnt="9"/>
      <dgm:spPr/>
    </dgm:pt>
    <dgm:pt modelId="{38FB50AC-8ECB-5044-B4F6-5D9B1E579BA6}" type="pres">
      <dgm:prSet presAssocID="{84C71BE6-3F53-4BFB-BA54-27F294BFB715}" presName="node" presStyleLbl="node1" presStyleIdx="8" presStyleCnt="10">
        <dgm:presLayoutVars>
          <dgm:bulletEnabled val="1"/>
        </dgm:presLayoutVars>
      </dgm:prSet>
      <dgm:spPr/>
    </dgm:pt>
    <dgm:pt modelId="{FC41E3D7-3E57-384D-87CE-CF3281836EA1}" type="pres">
      <dgm:prSet presAssocID="{6F8695F0-2BA7-4888-A20A-D43E90620AB2}" presName="sibTrans" presStyleLbl="sibTrans1D1" presStyleIdx="8" presStyleCnt="9"/>
      <dgm:spPr/>
    </dgm:pt>
    <dgm:pt modelId="{DF59AD9C-FC6D-3E47-A8A4-AA45756F24CC}" type="pres">
      <dgm:prSet presAssocID="{6F8695F0-2BA7-4888-A20A-D43E90620AB2}" presName="connectorText" presStyleLbl="sibTrans1D1" presStyleIdx="8" presStyleCnt="9"/>
      <dgm:spPr/>
    </dgm:pt>
    <dgm:pt modelId="{CF6EAC77-0017-EB4B-8A52-3CB93A3BE4C9}" type="pres">
      <dgm:prSet presAssocID="{C76541B4-79FC-4A6B-81B0-735A85EC50E6}" presName="node" presStyleLbl="node1" presStyleIdx="9" presStyleCnt="10">
        <dgm:presLayoutVars>
          <dgm:bulletEnabled val="1"/>
        </dgm:presLayoutVars>
      </dgm:prSet>
      <dgm:spPr/>
    </dgm:pt>
  </dgm:ptLst>
  <dgm:cxnLst>
    <dgm:cxn modelId="{82177909-AAC8-0B4A-889D-CA5F22FC7C3D}" type="presOf" srcId="{69117471-0C47-4D0E-A933-C9B9E6F9F08E}" destId="{FADE6794-5D0B-5547-810F-DD95EAEFC34B}" srcOrd="1" destOrd="0" presId="urn:microsoft.com/office/officeart/2005/8/layout/bProcess3"/>
    <dgm:cxn modelId="{7EFD850C-8EF9-534A-B3EC-F2299A147692}" type="presOf" srcId="{0E9CB8CD-ECF0-4F5A-8992-7E0A062A35B0}" destId="{F6408DC8-8BAD-A042-A6A8-04234CAA2957}" srcOrd="1" destOrd="0" presId="urn:microsoft.com/office/officeart/2005/8/layout/bProcess3"/>
    <dgm:cxn modelId="{6948B70F-3405-4829-A65D-1F82811D3ADF}" srcId="{BC46202D-072F-4E8E-A5B4-ACF35A4BB7D4}" destId="{84C71BE6-3F53-4BFB-BA54-27F294BFB715}" srcOrd="8" destOrd="0" parTransId="{4376C557-3AC0-42AB-A2CE-6069753DD4EF}" sibTransId="{6F8695F0-2BA7-4888-A20A-D43E90620AB2}"/>
    <dgm:cxn modelId="{C5431314-8B97-4939-9634-C90511C4082F}" srcId="{BC46202D-072F-4E8E-A5B4-ACF35A4BB7D4}" destId="{6B8E11BF-EC56-4AD1-90DD-211591D8AD06}" srcOrd="5" destOrd="0" parTransId="{F06D3B64-2287-4EB8-B745-7D0E53E55555}" sibTransId="{69117471-0C47-4D0E-A933-C9B9E6F9F08E}"/>
    <dgm:cxn modelId="{F1965014-F837-49A4-A33E-52D5453EF76D}" srcId="{BC46202D-072F-4E8E-A5B4-ACF35A4BB7D4}" destId="{C76541B4-79FC-4A6B-81B0-735A85EC50E6}" srcOrd="9" destOrd="0" parTransId="{94EEB16F-DFCB-44D1-8C08-0D0AB0A714B4}" sibTransId="{09735A44-06CC-40E8-89D1-C5D112A40E50}"/>
    <dgm:cxn modelId="{6077031E-E0E6-F940-8E64-D85BC796B9AC}" type="presOf" srcId="{C76541B4-79FC-4A6B-81B0-735A85EC50E6}" destId="{CF6EAC77-0017-EB4B-8A52-3CB93A3BE4C9}" srcOrd="0" destOrd="0" presId="urn:microsoft.com/office/officeart/2005/8/layout/bProcess3"/>
    <dgm:cxn modelId="{76A7B520-3C05-4B2E-94A2-A66F420ECF1C}" srcId="{BC46202D-072F-4E8E-A5B4-ACF35A4BB7D4}" destId="{99689436-8B37-4F2C-83E0-B9F4FFF27F35}" srcOrd="0" destOrd="0" parTransId="{E8EF61BE-1D98-4A5C-AB16-5C5F34B76FD1}" sibTransId="{C68ADFBD-089C-4524-BF25-B679F91140CE}"/>
    <dgm:cxn modelId="{F7905324-08FF-F742-8870-91D5F7EBF044}" type="presOf" srcId="{84C71BE6-3F53-4BFB-BA54-27F294BFB715}" destId="{38FB50AC-8ECB-5044-B4F6-5D9B1E579BA6}" srcOrd="0" destOrd="0" presId="urn:microsoft.com/office/officeart/2005/8/layout/bProcess3"/>
    <dgm:cxn modelId="{CD891834-388B-2248-BC54-BEEC9A153C8A}" type="presOf" srcId="{17EA7CDE-6111-4316-B635-E3775FD4A12A}" destId="{E8C21F97-6B7B-4A41-858D-68D6E5C52EF4}" srcOrd="0" destOrd="0" presId="urn:microsoft.com/office/officeart/2005/8/layout/bProcess3"/>
    <dgm:cxn modelId="{14B8A435-A561-3743-8BE4-06B78E4A315B}" type="presOf" srcId="{2B2CBC76-5E2B-496A-B319-235152E92840}" destId="{65CEDDD3-C35E-2F45-A505-321C4859E242}" srcOrd="0" destOrd="0" presId="urn:microsoft.com/office/officeart/2005/8/layout/bProcess3"/>
    <dgm:cxn modelId="{05623437-F50F-3148-8479-5C06832043A7}" type="presOf" srcId="{9FD167CC-1C60-4854-8252-B683CFD096DC}" destId="{B62ADA46-0395-7A44-BCDC-A36E002A4365}" srcOrd="1" destOrd="0" presId="urn:microsoft.com/office/officeart/2005/8/layout/bProcess3"/>
    <dgm:cxn modelId="{E74C0A3A-A6F7-CA44-8A3E-FE9114013D7E}" type="presOf" srcId="{2B2CBC76-5E2B-496A-B319-235152E92840}" destId="{05F7350B-4877-EE48-85E3-AEEA73A03131}" srcOrd="1" destOrd="0" presId="urn:microsoft.com/office/officeart/2005/8/layout/bProcess3"/>
    <dgm:cxn modelId="{EE3D293A-9F5A-CD46-A8B6-7537C3B9EB8F}" type="presOf" srcId="{36BAF94B-281F-4E63-832F-2716E7E27041}" destId="{04BE95E0-805A-AC4D-9C0A-82B25629B0A5}" srcOrd="0" destOrd="0" presId="urn:microsoft.com/office/officeart/2005/8/layout/bProcess3"/>
    <dgm:cxn modelId="{2D030362-3BE0-CC49-860E-56D80F0BD2D4}" type="presOf" srcId="{6F8695F0-2BA7-4888-A20A-D43E90620AB2}" destId="{FC41E3D7-3E57-384D-87CE-CF3281836EA1}" srcOrd="0" destOrd="0" presId="urn:microsoft.com/office/officeart/2005/8/layout/bProcess3"/>
    <dgm:cxn modelId="{85436866-9E07-4048-8793-03204B4ED048}" type="presOf" srcId="{06E7163C-8514-4C54-BFE1-E6C98564381D}" destId="{0C098830-860E-A644-A47A-5D79AEB059C4}" srcOrd="1" destOrd="0" presId="urn:microsoft.com/office/officeart/2005/8/layout/bProcess3"/>
    <dgm:cxn modelId="{A606B572-FC4B-6E40-B1FC-B366AE527A17}" type="presOf" srcId="{9FD167CC-1C60-4854-8252-B683CFD096DC}" destId="{B053CBF2-6C2E-054E-A041-E70B3D9C5864}" srcOrd="0" destOrd="0" presId="urn:microsoft.com/office/officeart/2005/8/layout/bProcess3"/>
    <dgm:cxn modelId="{70EBF773-CFFB-4776-AD85-E45C0FE8C9C2}" srcId="{BC46202D-072F-4E8E-A5B4-ACF35A4BB7D4}" destId="{F1D07850-CE69-4C10-AA08-74528CAAD6E4}" srcOrd="4" destOrd="0" parTransId="{BBB01490-D391-44B0-86A4-0C9067741532}" sibTransId="{2B2CBC76-5E2B-496A-B319-235152E92840}"/>
    <dgm:cxn modelId="{E54B2856-C800-B743-90F1-CC89BC726F66}" type="presOf" srcId="{C68ADFBD-089C-4524-BF25-B679F91140CE}" destId="{2B8759E1-CCCA-B24D-A400-2E8086FC904C}" srcOrd="0" destOrd="0" presId="urn:microsoft.com/office/officeart/2005/8/layout/bProcess3"/>
    <dgm:cxn modelId="{C21ACC76-AD52-DF4D-A982-7CAE7CF7C510}" type="presOf" srcId="{5FD6A081-A1DB-439A-A0D9-B2C99873B939}" destId="{55ABCAE0-49BF-564B-AC9D-E4F181291C31}" srcOrd="0" destOrd="0" presId="urn:microsoft.com/office/officeart/2005/8/layout/bProcess3"/>
    <dgm:cxn modelId="{CDEB9B57-7635-274A-AC1F-06AC20E7ECFA}" type="presOf" srcId="{04396CB2-B354-4AE7-B793-007CBDF62C90}" destId="{FEAC046C-4334-544F-8423-635D0121A8E1}" srcOrd="1" destOrd="0" presId="urn:microsoft.com/office/officeart/2005/8/layout/bProcess3"/>
    <dgm:cxn modelId="{3662E585-3481-4F76-A87B-D6D080C22331}" srcId="{BC46202D-072F-4E8E-A5B4-ACF35A4BB7D4}" destId="{009E75CD-5DA4-489E-B476-806F9367EC40}" srcOrd="6" destOrd="0" parTransId="{A947027A-DD48-45FB-9195-CEFA9430D92B}" sibTransId="{04396CB2-B354-4AE7-B793-007CBDF62C90}"/>
    <dgm:cxn modelId="{EB4C7B86-C72F-D54F-B267-D644BA5BE11B}" type="presOf" srcId="{F1D07850-CE69-4C10-AA08-74528CAAD6E4}" destId="{43571065-821F-DB4D-A646-2D08A5162F90}" srcOrd="0" destOrd="0" presId="urn:microsoft.com/office/officeart/2005/8/layout/bProcess3"/>
    <dgm:cxn modelId="{7E56F58E-E084-814F-8A65-3888E93EBE2F}" type="presOf" srcId="{04396CB2-B354-4AE7-B793-007CBDF62C90}" destId="{B6CCF627-496A-794C-883C-6CF020A93994}" srcOrd="0" destOrd="0" presId="urn:microsoft.com/office/officeart/2005/8/layout/bProcess3"/>
    <dgm:cxn modelId="{FED1AC96-CE34-7D45-AF07-CCA3055A331E}" type="presOf" srcId="{6F8695F0-2BA7-4888-A20A-D43E90620AB2}" destId="{DF59AD9C-FC6D-3E47-A8A4-AA45756F24CC}" srcOrd="1" destOrd="0" presId="urn:microsoft.com/office/officeart/2005/8/layout/bProcess3"/>
    <dgm:cxn modelId="{E4AA2D9E-0674-604F-A98B-5A9343EAF104}" type="presOf" srcId="{BC46202D-072F-4E8E-A5B4-ACF35A4BB7D4}" destId="{35C4A057-F7AB-A944-A447-BFF00B904098}" srcOrd="0" destOrd="0" presId="urn:microsoft.com/office/officeart/2005/8/layout/bProcess3"/>
    <dgm:cxn modelId="{8A8E1CA1-5C02-014C-97F5-97CF470B2DD9}" type="presOf" srcId="{6B8E11BF-EC56-4AD1-90DD-211591D8AD06}" destId="{8A8649D8-9286-D94B-ACEA-163558F56FC6}" srcOrd="0" destOrd="0" presId="urn:microsoft.com/office/officeart/2005/8/layout/bProcess3"/>
    <dgm:cxn modelId="{55F2F8A3-D05B-9444-A0C2-26A861748B37}" type="presOf" srcId="{69117471-0C47-4D0E-A933-C9B9E6F9F08E}" destId="{4C982032-0396-5144-B554-BF1F6CFADBC3}" srcOrd="0" destOrd="0" presId="urn:microsoft.com/office/officeart/2005/8/layout/bProcess3"/>
    <dgm:cxn modelId="{8D902AAE-6E61-7244-83AB-E96BB65DEF57}" type="presOf" srcId="{C68ADFBD-089C-4524-BF25-B679F91140CE}" destId="{8F93AD8A-2D8E-D247-8E1A-761C2A3C6261}" srcOrd="1" destOrd="0" presId="urn:microsoft.com/office/officeart/2005/8/layout/bProcess3"/>
    <dgm:cxn modelId="{A90216B5-4A49-D342-8E8C-6B545D6057AC}" type="presOf" srcId="{7EE1DE77-6DB0-4544-A4BC-F5C79C7C5E3A}" destId="{C9BDE116-6917-8E4B-B320-F604BA4151D6}" srcOrd="0" destOrd="0" presId="urn:microsoft.com/office/officeart/2005/8/layout/bProcess3"/>
    <dgm:cxn modelId="{90CBC9BC-CD5F-5944-92D3-019C539B54B0}" type="presOf" srcId="{7EE1DE77-6DB0-4544-A4BC-F5C79C7C5E3A}" destId="{7AC3E025-DF2F-964C-A0DC-2C56A1475BAC}" srcOrd="1" destOrd="0" presId="urn:microsoft.com/office/officeart/2005/8/layout/bProcess3"/>
    <dgm:cxn modelId="{8C995EC6-8756-0141-B155-2AD577D9D1C3}" type="presOf" srcId="{06E7163C-8514-4C54-BFE1-E6C98564381D}" destId="{4327051A-11DA-7E42-BEE1-9BCDFEDD79D7}" srcOrd="0" destOrd="0" presId="urn:microsoft.com/office/officeart/2005/8/layout/bProcess3"/>
    <dgm:cxn modelId="{65677AC7-E205-1544-83E1-590A4C70D494}" type="presOf" srcId="{0E9CB8CD-ECF0-4F5A-8992-7E0A062A35B0}" destId="{E291ACDB-98FB-EE43-86B6-EF7B74130702}" srcOrd="0" destOrd="0" presId="urn:microsoft.com/office/officeart/2005/8/layout/bProcess3"/>
    <dgm:cxn modelId="{FB3841CA-CE2C-3F46-B3C9-FFCF531CE838}" type="presOf" srcId="{16D414A9-6D33-4866-B4FB-2E814017A5A0}" destId="{203869EB-C399-C147-B3C5-15995D09B485}" srcOrd="0" destOrd="0" presId="urn:microsoft.com/office/officeart/2005/8/layout/bProcess3"/>
    <dgm:cxn modelId="{8F7F2ACD-AE77-7845-9741-DF267209B8DB}" type="presOf" srcId="{99689436-8B37-4F2C-83E0-B9F4FFF27F35}" destId="{455CBEDA-50A1-C345-BB7F-693EFA8FF279}" srcOrd="0" destOrd="0" presId="urn:microsoft.com/office/officeart/2005/8/layout/bProcess3"/>
    <dgm:cxn modelId="{A7C103D9-5765-A44C-9728-DED0727471B4}" type="presOf" srcId="{009E75CD-5DA4-489E-B476-806F9367EC40}" destId="{FF763747-8EA9-2546-AF33-A9233598DF8B}" srcOrd="0" destOrd="0" presId="urn:microsoft.com/office/officeart/2005/8/layout/bProcess3"/>
    <dgm:cxn modelId="{8B4178DE-52A6-4F82-A142-B48EEF82B775}" srcId="{BC46202D-072F-4E8E-A5B4-ACF35A4BB7D4}" destId="{17EA7CDE-6111-4316-B635-E3775FD4A12A}" srcOrd="2" destOrd="0" parTransId="{DB8B03C0-79AD-46B9-9F16-0BDA3C8B06E1}" sibTransId="{9FD167CC-1C60-4854-8252-B683CFD096DC}"/>
    <dgm:cxn modelId="{DDF0CFEE-8BF2-4A3C-9DE8-5208D62C8849}" srcId="{BC46202D-072F-4E8E-A5B4-ACF35A4BB7D4}" destId="{36BAF94B-281F-4E63-832F-2716E7E27041}" srcOrd="3" destOrd="0" parTransId="{86BC8A35-92B6-468E-AD10-9912521833A3}" sibTransId="{7EE1DE77-6DB0-4544-A4BC-F5C79C7C5E3A}"/>
    <dgm:cxn modelId="{F312C3F6-30EB-4173-96D9-D8AF4E9E16FE}" srcId="{BC46202D-072F-4E8E-A5B4-ACF35A4BB7D4}" destId="{16D414A9-6D33-4866-B4FB-2E814017A5A0}" srcOrd="1" destOrd="0" parTransId="{5B68F41B-9408-4D55-BD71-CAA78D8E21B9}" sibTransId="{06E7163C-8514-4C54-BFE1-E6C98564381D}"/>
    <dgm:cxn modelId="{87998CFC-B6DE-4871-A3C9-01761D627280}" srcId="{BC46202D-072F-4E8E-A5B4-ACF35A4BB7D4}" destId="{5FD6A081-A1DB-439A-A0D9-B2C99873B939}" srcOrd="7" destOrd="0" parTransId="{71439DD4-9166-45E4-B321-6E984BD2BAEE}" sibTransId="{0E9CB8CD-ECF0-4F5A-8992-7E0A062A35B0}"/>
    <dgm:cxn modelId="{B3E79657-19BF-E845-B23E-8E3D0C2D3982}" type="presParOf" srcId="{35C4A057-F7AB-A944-A447-BFF00B904098}" destId="{455CBEDA-50A1-C345-BB7F-693EFA8FF279}" srcOrd="0" destOrd="0" presId="urn:microsoft.com/office/officeart/2005/8/layout/bProcess3"/>
    <dgm:cxn modelId="{10410C15-391B-B647-A945-467DF7039AF4}" type="presParOf" srcId="{35C4A057-F7AB-A944-A447-BFF00B904098}" destId="{2B8759E1-CCCA-B24D-A400-2E8086FC904C}" srcOrd="1" destOrd="0" presId="urn:microsoft.com/office/officeart/2005/8/layout/bProcess3"/>
    <dgm:cxn modelId="{DFED93F3-5757-0043-A947-91741E67D694}" type="presParOf" srcId="{2B8759E1-CCCA-B24D-A400-2E8086FC904C}" destId="{8F93AD8A-2D8E-D247-8E1A-761C2A3C6261}" srcOrd="0" destOrd="0" presId="urn:microsoft.com/office/officeart/2005/8/layout/bProcess3"/>
    <dgm:cxn modelId="{D42E9276-BCB1-7C4F-99F2-EEAA295B1796}" type="presParOf" srcId="{35C4A057-F7AB-A944-A447-BFF00B904098}" destId="{203869EB-C399-C147-B3C5-15995D09B485}" srcOrd="2" destOrd="0" presId="urn:microsoft.com/office/officeart/2005/8/layout/bProcess3"/>
    <dgm:cxn modelId="{FFFED7A2-0EF7-0243-B160-4D74D9FA5B9A}" type="presParOf" srcId="{35C4A057-F7AB-A944-A447-BFF00B904098}" destId="{4327051A-11DA-7E42-BEE1-9BCDFEDD79D7}" srcOrd="3" destOrd="0" presId="urn:microsoft.com/office/officeart/2005/8/layout/bProcess3"/>
    <dgm:cxn modelId="{16018AEB-E2CD-4948-9606-BE4F1A34EBA7}" type="presParOf" srcId="{4327051A-11DA-7E42-BEE1-9BCDFEDD79D7}" destId="{0C098830-860E-A644-A47A-5D79AEB059C4}" srcOrd="0" destOrd="0" presId="urn:microsoft.com/office/officeart/2005/8/layout/bProcess3"/>
    <dgm:cxn modelId="{01BE88EA-97D9-8245-854F-CFD4943C550F}" type="presParOf" srcId="{35C4A057-F7AB-A944-A447-BFF00B904098}" destId="{E8C21F97-6B7B-4A41-858D-68D6E5C52EF4}" srcOrd="4" destOrd="0" presId="urn:microsoft.com/office/officeart/2005/8/layout/bProcess3"/>
    <dgm:cxn modelId="{DA36E6C8-CCBB-B94F-8216-395B7E2E76AF}" type="presParOf" srcId="{35C4A057-F7AB-A944-A447-BFF00B904098}" destId="{B053CBF2-6C2E-054E-A041-E70B3D9C5864}" srcOrd="5" destOrd="0" presId="urn:microsoft.com/office/officeart/2005/8/layout/bProcess3"/>
    <dgm:cxn modelId="{6452F299-5350-2942-9FC9-17F26A929A3B}" type="presParOf" srcId="{B053CBF2-6C2E-054E-A041-E70B3D9C5864}" destId="{B62ADA46-0395-7A44-BCDC-A36E002A4365}" srcOrd="0" destOrd="0" presId="urn:microsoft.com/office/officeart/2005/8/layout/bProcess3"/>
    <dgm:cxn modelId="{8920DFA7-388B-5A4F-9051-C7695C854D93}" type="presParOf" srcId="{35C4A057-F7AB-A944-A447-BFF00B904098}" destId="{04BE95E0-805A-AC4D-9C0A-82B25629B0A5}" srcOrd="6" destOrd="0" presId="urn:microsoft.com/office/officeart/2005/8/layout/bProcess3"/>
    <dgm:cxn modelId="{C12964C3-C338-E94D-B66E-E6E90F613C69}" type="presParOf" srcId="{35C4A057-F7AB-A944-A447-BFF00B904098}" destId="{C9BDE116-6917-8E4B-B320-F604BA4151D6}" srcOrd="7" destOrd="0" presId="urn:microsoft.com/office/officeart/2005/8/layout/bProcess3"/>
    <dgm:cxn modelId="{08F8AD45-FBD8-F141-A205-D5CA954661EC}" type="presParOf" srcId="{C9BDE116-6917-8E4B-B320-F604BA4151D6}" destId="{7AC3E025-DF2F-964C-A0DC-2C56A1475BAC}" srcOrd="0" destOrd="0" presId="urn:microsoft.com/office/officeart/2005/8/layout/bProcess3"/>
    <dgm:cxn modelId="{AC40AA44-7B88-1549-8BBD-97CF4B0B8111}" type="presParOf" srcId="{35C4A057-F7AB-A944-A447-BFF00B904098}" destId="{43571065-821F-DB4D-A646-2D08A5162F90}" srcOrd="8" destOrd="0" presId="urn:microsoft.com/office/officeart/2005/8/layout/bProcess3"/>
    <dgm:cxn modelId="{1B4F2C9D-6B30-FE48-A428-855A6B6D01B7}" type="presParOf" srcId="{35C4A057-F7AB-A944-A447-BFF00B904098}" destId="{65CEDDD3-C35E-2F45-A505-321C4859E242}" srcOrd="9" destOrd="0" presId="urn:microsoft.com/office/officeart/2005/8/layout/bProcess3"/>
    <dgm:cxn modelId="{9B8940B8-B3A0-EF4D-92B5-648F2360E1A8}" type="presParOf" srcId="{65CEDDD3-C35E-2F45-A505-321C4859E242}" destId="{05F7350B-4877-EE48-85E3-AEEA73A03131}" srcOrd="0" destOrd="0" presId="urn:microsoft.com/office/officeart/2005/8/layout/bProcess3"/>
    <dgm:cxn modelId="{C8FC0198-10C0-1E44-A1E4-D1974F6182D4}" type="presParOf" srcId="{35C4A057-F7AB-A944-A447-BFF00B904098}" destId="{8A8649D8-9286-D94B-ACEA-163558F56FC6}" srcOrd="10" destOrd="0" presId="urn:microsoft.com/office/officeart/2005/8/layout/bProcess3"/>
    <dgm:cxn modelId="{DF71A194-EDF8-424F-BE6D-1A3042B7807C}" type="presParOf" srcId="{35C4A057-F7AB-A944-A447-BFF00B904098}" destId="{4C982032-0396-5144-B554-BF1F6CFADBC3}" srcOrd="11" destOrd="0" presId="urn:microsoft.com/office/officeart/2005/8/layout/bProcess3"/>
    <dgm:cxn modelId="{C1823C32-0D2C-734A-979F-4DD7856A0C1C}" type="presParOf" srcId="{4C982032-0396-5144-B554-BF1F6CFADBC3}" destId="{FADE6794-5D0B-5547-810F-DD95EAEFC34B}" srcOrd="0" destOrd="0" presId="urn:microsoft.com/office/officeart/2005/8/layout/bProcess3"/>
    <dgm:cxn modelId="{71BE7827-366D-D544-AB61-865D1066FB79}" type="presParOf" srcId="{35C4A057-F7AB-A944-A447-BFF00B904098}" destId="{FF763747-8EA9-2546-AF33-A9233598DF8B}" srcOrd="12" destOrd="0" presId="urn:microsoft.com/office/officeart/2005/8/layout/bProcess3"/>
    <dgm:cxn modelId="{4FF44287-F887-9847-8F40-179BF126B017}" type="presParOf" srcId="{35C4A057-F7AB-A944-A447-BFF00B904098}" destId="{B6CCF627-496A-794C-883C-6CF020A93994}" srcOrd="13" destOrd="0" presId="urn:microsoft.com/office/officeart/2005/8/layout/bProcess3"/>
    <dgm:cxn modelId="{0270B6A8-AF2F-9D45-85D6-FBAFFD85B704}" type="presParOf" srcId="{B6CCF627-496A-794C-883C-6CF020A93994}" destId="{FEAC046C-4334-544F-8423-635D0121A8E1}" srcOrd="0" destOrd="0" presId="urn:microsoft.com/office/officeart/2005/8/layout/bProcess3"/>
    <dgm:cxn modelId="{E43BFA22-46CD-7243-AA5F-E3A31DD4D6B8}" type="presParOf" srcId="{35C4A057-F7AB-A944-A447-BFF00B904098}" destId="{55ABCAE0-49BF-564B-AC9D-E4F181291C31}" srcOrd="14" destOrd="0" presId="urn:microsoft.com/office/officeart/2005/8/layout/bProcess3"/>
    <dgm:cxn modelId="{BA42615D-9970-3C4E-9BDE-B6C6ECAFE72C}" type="presParOf" srcId="{35C4A057-F7AB-A944-A447-BFF00B904098}" destId="{E291ACDB-98FB-EE43-86B6-EF7B74130702}" srcOrd="15" destOrd="0" presId="urn:microsoft.com/office/officeart/2005/8/layout/bProcess3"/>
    <dgm:cxn modelId="{355B44CC-9172-3041-8C3D-1B0CC6BCBCC5}" type="presParOf" srcId="{E291ACDB-98FB-EE43-86B6-EF7B74130702}" destId="{F6408DC8-8BAD-A042-A6A8-04234CAA2957}" srcOrd="0" destOrd="0" presId="urn:microsoft.com/office/officeart/2005/8/layout/bProcess3"/>
    <dgm:cxn modelId="{918DFD1A-3625-9B40-917E-3D8C99ED2F4F}" type="presParOf" srcId="{35C4A057-F7AB-A944-A447-BFF00B904098}" destId="{38FB50AC-8ECB-5044-B4F6-5D9B1E579BA6}" srcOrd="16" destOrd="0" presId="urn:microsoft.com/office/officeart/2005/8/layout/bProcess3"/>
    <dgm:cxn modelId="{53CB4A90-C005-EA48-B955-3715A5C38D9B}" type="presParOf" srcId="{35C4A057-F7AB-A944-A447-BFF00B904098}" destId="{FC41E3D7-3E57-384D-87CE-CF3281836EA1}" srcOrd="17" destOrd="0" presId="urn:microsoft.com/office/officeart/2005/8/layout/bProcess3"/>
    <dgm:cxn modelId="{48F87807-19C2-5141-A1B8-89262B8CED6D}" type="presParOf" srcId="{FC41E3D7-3E57-384D-87CE-CF3281836EA1}" destId="{DF59AD9C-FC6D-3E47-A8A4-AA45756F24CC}" srcOrd="0" destOrd="0" presId="urn:microsoft.com/office/officeart/2005/8/layout/bProcess3"/>
    <dgm:cxn modelId="{9877F8D6-EE86-244C-B230-0E5A1703AF56}" type="presParOf" srcId="{35C4A057-F7AB-A944-A447-BFF00B904098}" destId="{CF6EAC77-0017-EB4B-8A52-3CB93A3BE4C9}" srcOrd="18" destOrd="0" presId="urn:microsoft.com/office/officeart/2005/8/layout/bProcess3"/>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8759E1-CCCA-B24D-A400-2E8086FC904C}">
      <dsp:nvSpPr>
        <dsp:cNvPr id="0" name=""/>
        <dsp:cNvSpPr/>
      </dsp:nvSpPr>
      <dsp:spPr>
        <a:xfrm>
          <a:off x="2846134" y="596983"/>
          <a:ext cx="458864" cy="91440"/>
        </a:xfrm>
        <a:custGeom>
          <a:avLst/>
          <a:gdLst/>
          <a:ahLst/>
          <a:cxnLst/>
          <a:rect l="0" t="0" r="0" b="0"/>
          <a:pathLst>
            <a:path>
              <a:moveTo>
                <a:pt x="0" y="45720"/>
              </a:moveTo>
              <a:lnTo>
                <a:pt x="458864" y="45720"/>
              </a:lnTo>
            </a:path>
          </a:pathLst>
        </a:custGeom>
        <a:noFill/>
        <a:ln w="19050" cap="flat" cmpd="sng" algn="ctr">
          <a:solidFill>
            <a:schemeClr val="accent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3063330" y="640253"/>
        <a:ext cx="24473" cy="4899"/>
      </dsp:txXfrm>
    </dsp:sp>
    <dsp:sp modelId="{455CBEDA-50A1-C345-BB7F-693EFA8FF279}">
      <dsp:nvSpPr>
        <dsp:cNvPr id="0" name=""/>
        <dsp:cNvSpPr/>
      </dsp:nvSpPr>
      <dsp:spPr>
        <a:xfrm>
          <a:off x="719828" y="4271"/>
          <a:ext cx="2128105" cy="1276863"/>
        </a:xfrm>
        <a:prstGeom prst="rect">
          <a:avLst/>
        </a:prstGeom>
        <a:solidFill>
          <a:srgbClr val="62AA7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b="0" kern="1200" dirty="0"/>
            <a:t>Energy transition </a:t>
          </a:r>
          <a:r>
            <a:rPr lang="en-GB" sz="1600" kern="1200" dirty="0"/>
            <a:t>(due to carbon tax, technology, or norms)</a:t>
          </a:r>
        </a:p>
      </dsp:txBody>
      <dsp:txXfrm>
        <a:off x="719828" y="4271"/>
        <a:ext cx="2128105" cy="1276863"/>
      </dsp:txXfrm>
    </dsp:sp>
    <dsp:sp modelId="{4327051A-11DA-7E42-BEE1-9BCDFEDD79D7}">
      <dsp:nvSpPr>
        <dsp:cNvPr id="0" name=""/>
        <dsp:cNvSpPr/>
      </dsp:nvSpPr>
      <dsp:spPr>
        <a:xfrm>
          <a:off x="5463705" y="596983"/>
          <a:ext cx="458864" cy="91440"/>
        </a:xfrm>
        <a:custGeom>
          <a:avLst/>
          <a:gdLst/>
          <a:ahLst/>
          <a:cxnLst/>
          <a:rect l="0" t="0" r="0" b="0"/>
          <a:pathLst>
            <a:path>
              <a:moveTo>
                <a:pt x="0" y="45720"/>
              </a:moveTo>
              <a:lnTo>
                <a:pt x="458864" y="45720"/>
              </a:lnTo>
            </a:path>
          </a:pathLst>
        </a:custGeom>
        <a:noFill/>
        <a:ln w="19050" cap="flat" cmpd="sng" algn="ctr">
          <a:solidFill>
            <a:schemeClr val="accent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5680900" y="640253"/>
        <a:ext cx="24473" cy="4899"/>
      </dsp:txXfrm>
    </dsp:sp>
    <dsp:sp modelId="{203869EB-C399-C147-B3C5-15995D09B485}">
      <dsp:nvSpPr>
        <dsp:cNvPr id="0" name=""/>
        <dsp:cNvSpPr/>
      </dsp:nvSpPr>
      <dsp:spPr>
        <a:xfrm>
          <a:off x="3337399" y="4271"/>
          <a:ext cx="2128105" cy="1276863"/>
        </a:xfrm>
        <a:prstGeom prst="rect">
          <a:avLst/>
        </a:prstGeom>
        <a:solidFill>
          <a:schemeClr val="accent4">
            <a:hueOff val="182826"/>
            <a:satOff val="792"/>
            <a:lumOff val="523"/>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Change in demand for green and fossil fuel sector goods strands fossil fuel assets</a:t>
          </a:r>
        </a:p>
      </dsp:txBody>
      <dsp:txXfrm>
        <a:off x="3337399" y="4271"/>
        <a:ext cx="2128105" cy="1276863"/>
      </dsp:txXfrm>
    </dsp:sp>
    <dsp:sp modelId="{B053CBF2-6C2E-054E-A041-E70B3D9C5864}">
      <dsp:nvSpPr>
        <dsp:cNvPr id="0" name=""/>
        <dsp:cNvSpPr/>
      </dsp:nvSpPr>
      <dsp:spPr>
        <a:xfrm>
          <a:off x="8081275" y="596983"/>
          <a:ext cx="458864" cy="91440"/>
        </a:xfrm>
        <a:custGeom>
          <a:avLst/>
          <a:gdLst/>
          <a:ahLst/>
          <a:cxnLst/>
          <a:rect l="0" t="0" r="0" b="0"/>
          <a:pathLst>
            <a:path>
              <a:moveTo>
                <a:pt x="0" y="45720"/>
              </a:moveTo>
              <a:lnTo>
                <a:pt x="458864" y="45720"/>
              </a:lnTo>
            </a:path>
          </a:pathLst>
        </a:custGeom>
        <a:noFill/>
        <a:ln w="19050" cap="flat" cmpd="sng" algn="ctr">
          <a:solidFill>
            <a:schemeClr val="accent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8298471" y="640253"/>
        <a:ext cx="24473" cy="4899"/>
      </dsp:txXfrm>
    </dsp:sp>
    <dsp:sp modelId="{E8C21F97-6B7B-4A41-858D-68D6E5C52EF4}">
      <dsp:nvSpPr>
        <dsp:cNvPr id="0" name=""/>
        <dsp:cNvSpPr/>
      </dsp:nvSpPr>
      <dsp:spPr>
        <a:xfrm>
          <a:off x="5954969" y="4271"/>
          <a:ext cx="2128105" cy="1276863"/>
        </a:xfrm>
        <a:prstGeom prst="rect">
          <a:avLst/>
        </a:prstGeom>
        <a:solidFill>
          <a:schemeClr val="accent4">
            <a:hueOff val="365652"/>
            <a:satOff val="1585"/>
            <a:lumOff val="1046"/>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Change in profits,  employment, etc. in energy and related sectors</a:t>
          </a:r>
        </a:p>
      </dsp:txBody>
      <dsp:txXfrm>
        <a:off x="5954969" y="4271"/>
        <a:ext cx="2128105" cy="1276863"/>
      </dsp:txXfrm>
    </dsp:sp>
    <dsp:sp modelId="{C9BDE116-6917-8E4B-B320-F604BA4151D6}">
      <dsp:nvSpPr>
        <dsp:cNvPr id="0" name=""/>
        <dsp:cNvSpPr/>
      </dsp:nvSpPr>
      <dsp:spPr>
        <a:xfrm>
          <a:off x="1783881" y="1279335"/>
          <a:ext cx="7852711" cy="458864"/>
        </a:xfrm>
        <a:custGeom>
          <a:avLst/>
          <a:gdLst/>
          <a:ahLst/>
          <a:cxnLst/>
          <a:rect l="0" t="0" r="0" b="0"/>
          <a:pathLst>
            <a:path>
              <a:moveTo>
                <a:pt x="7852711" y="0"/>
              </a:moveTo>
              <a:lnTo>
                <a:pt x="7852711" y="246532"/>
              </a:lnTo>
              <a:lnTo>
                <a:pt x="0" y="246532"/>
              </a:lnTo>
              <a:lnTo>
                <a:pt x="0" y="458864"/>
              </a:lnTo>
            </a:path>
          </a:pathLst>
        </a:custGeom>
        <a:noFill/>
        <a:ln w="19050" cap="flat" cmpd="sng" algn="ctr">
          <a:solidFill>
            <a:schemeClr val="accent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5513538" y="1506317"/>
        <a:ext cx="393397" cy="4899"/>
      </dsp:txXfrm>
    </dsp:sp>
    <dsp:sp modelId="{04BE95E0-805A-AC4D-9C0A-82B25629B0A5}">
      <dsp:nvSpPr>
        <dsp:cNvPr id="0" name=""/>
        <dsp:cNvSpPr/>
      </dsp:nvSpPr>
      <dsp:spPr>
        <a:xfrm>
          <a:off x="8572540" y="4271"/>
          <a:ext cx="2128105" cy="1276863"/>
        </a:xfrm>
        <a:prstGeom prst="rect">
          <a:avLst/>
        </a:prstGeom>
        <a:solidFill>
          <a:schemeClr val="accent4">
            <a:hueOff val="548478"/>
            <a:satOff val="2377"/>
            <a:lumOff val="1569"/>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Decrease in value of fossil fuel assets on financial markets. </a:t>
          </a:r>
        </a:p>
      </dsp:txBody>
      <dsp:txXfrm>
        <a:off x="8572540" y="4271"/>
        <a:ext cx="2128105" cy="1276863"/>
      </dsp:txXfrm>
    </dsp:sp>
    <dsp:sp modelId="{65CEDDD3-C35E-2F45-A505-321C4859E242}">
      <dsp:nvSpPr>
        <dsp:cNvPr id="0" name=""/>
        <dsp:cNvSpPr/>
      </dsp:nvSpPr>
      <dsp:spPr>
        <a:xfrm>
          <a:off x="2846134" y="2363311"/>
          <a:ext cx="458864" cy="91440"/>
        </a:xfrm>
        <a:custGeom>
          <a:avLst/>
          <a:gdLst/>
          <a:ahLst/>
          <a:cxnLst/>
          <a:rect l="0" t="0" r="0" b="0"/>
          <a:pathLst>
            <a:path>
              <a:moveTo>
                <a:pt x="0" y="45720"/>
              </a:moveTo>
              <a:lnTo>
                <a:pt x="458864" y="45720"/>
              </a:lnTo>
            </a:path>
          </a:pathLst>
        </a:custGeom>
        <a:noFill/>
        <a:ln w="19050" cap="flat" cmpd="sng" algn="ctr">
          <a:solidFill>
            <a:schemeClr val="accent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3063330" y="2406581"/>
        <a:ext cx="24473" cy="4899"/>
      </dsp:txXfrm>
    </dsp:sp>
    <dsp:sp modelId="{43571065-821F-DB4D-A646-2D08A5162F90}">
      <dsp:nvSpPr>
        <dsp:cNvPr id="0" name=""/>
        <dsp:cNvSpPr/>
      </dsp:nvSpPr>
      <dsp:spPr>
        <a:xfrm>
          <a:off x="719828" y="1770599"/>
          <a:ext cx="2128105" cy="1276863"/>
        </a:xfrm>
        <a:prstGeom prst="rect">
          <a:avLst/>
        </a:prstGeom>
        <a:solidFill>
          <a:schemeClr val="accent4">
            <a:hueOff val="731304"/>
            <a:satOff val="3170"/>
            <a:lumOff val="2092"/>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Increase in non-performing fossil fuel loans</a:t>
          </a:r>
        </a:p>
      </dsp:txBody>
      <dsp:txXfrm>
        <a:off x="719828" y="1770599"/>
        <a:ext cx="2128105" cy="1276863"/>
      </dsp:txXfrm>
    </dsp:sp>
    <dsp:sp modelId="{4C982032-0396-5144-B554-BF1F6CFADBC3}">
      <dsp:nvSpPr>
        <dsp:cNvPr id="0" name=""/>
        <dsp:cNvSpPr/>
      </dsp:nvSpPr>
      <dsp:spPr>
        <a:xfrm>
          <a:off x="5463705" y="2363311"/>
          <a:ext cx="458864" cy="91440"/>
        </a:xfrm>
        <a:custGeom>
          <a:avLst/>
          <a:gdLst/>
          <a:ahLst/>
          <a:cxnLst/>
          <a:rect l="0" t="0" r="0" b="0"/>
          <a:pathLst>
            <a:path>
              <a:moveTo>
                <a:pt x="0" y="45720"/>
              </a:moveTo>
              <a:lnTo>
                <a:pt x="458864" y="45720"/>
              </a:lnTo>
            </a:path>
          </a:pathLst>
        </a:custGeom>
        <a:noFill/>
        <a:ln w="19050" cap="flat" cmpd="sng" algn="ctr">
          <a:solidFill>
            <a:schemeClr val="accent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5680900" y="2406581"/>
        <a:ext cx="24473" cy="4899"/>
      </dsp:txXfrm>
    </dsp:sp>
    <dsp:sp modelId="{8A8649D8-9286-D94B-ACEA-163558F56FC6}">
      <dsp:nvSpPr>
        <dsp:cNvPr id="0" name=""/>
        <dsp:cNvSpPr/>
      </dsp:nvSpPr>
      <dsp:spPr>
        <a:xfrm>
          <a:off x="3337399" y="1770599"/>
          <a:ext cx="2128105" cy="1276863"/>
        </a:xfrm>
        <a:prstGeom prst="rect">
          <a:avLst/>
        </a:prstGeom>
        <a:solidFill>
          <a:schemeClr val="accent4">
            <a:hueOff val="914130"/>
            <a:satOff val="3962"/>
            <a:lumOff val="2614"/>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Banks and financial firms that hold these assets face losses</a:t>
          </a:r>
        </a:p>
      </dsp:txBody>
      <dsp:txXfrm>
        <a:off x="3337399" y="1770599"/>
        <a:ext cx="2128105" cy="1276863"/>
      </dsp:txXfrm>
    </dsp:sp>
    <dsp:sp modelId="{B6CCF627-496A-794C-883C-6CF020A93994}">
      <dsp:nvSpPr>
        <dsp:cNvPr id="0" name=""/>
        <dsp:cNvSpPr/>
      </dsp:nvSpPr>
      <dsp:spPr>
        <a:xfrm>
          <a:off x="8081275" y="2363311"/>
          <a:ext cx="458864" cy="91440"/>
        </a:xfrm>
        <a:custGeom>
          <a:avLst/>
          <a:gdLst/>
          <a:ahLst/>
          <a:cxnLst/>
          <a:rect l="0" t="0" r="0" b="0"/>
          <a:pathLst>
            <a:path>
              <a:moveTo>
                <a:pt x="0" y="45720"/>
              </a:moveTo>
              <a:lnTo>
                <a:pt x="458864" y="45720"/>
              </a:lnTo>
            </a:path>
          </a:pathLst>
        </a:custGeom>
        <a:noFill/>
        <a:ln w="19050" cap="flat" cmpd="sng" algn="ctr">
          <a:solidFill>
            <a:schemeClr val="accent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8298471" y="2406581"/>
        <a:ext cx="24473" cy="4899"/>
      </dsp:txXfrm>
    </dsp:sp>
    <dsp:sp modelId="{FF763747-8EA9-2546-AF33-A9233598DF8B}">
      <dsp:nvSpPr>
        <dsp:cNvPr id="0" name=""/>
        <dsp:cNvSpPr/>
      </dsp:nvSpPr>
      <dsp:spPr>
        <a:xfrm>
          <a:off x="5954969" y="1770599"/>
          <a:ext cx="2128105" cy="1276863"/>
        </a:xfrm>
        <a:prstGeom prst="rect">
          <a:avLst/>
        </a:prstGeom>
        <a:solidFill>
          <a:schemeClr val="accent4">
            <a:hueOff val="1096956"/>
            <a:satOff val="4755"/>
            <a:lumOff val="3137"/>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Banks and financial firms respond by tightening lending conditions</a:t>
          </a:r>
        </a:p>
      </dsp:txBody>
      <dsp:txXfrm>
        <a:off x="5954969" y="1770599"/>
        <a:ext cx="2128105" cy="1276863"/>
      </dsp:txXfrm>
    </dsp:sp>
    <dsp:sp modelId="{E291ACDB-98FB-EE43-86B6-EF7B74130702}">
      <dsp:nvSpPr>
        <dsp:cNvPr id="0" name=""/>
        <dsp:cNvSpPr/>
      </dsp:nvSpPr>
      <dsp:spPr>
        <a:xfrm>
          <a:off x="1783881" y="3045663"/>
          <a:ext cx="7852711" cy="458864"/>
        </a:xfrm>
        <a:custGeom>
          <a:avLst/>
          <a:gdLst/>
          <a:ahLst/>
          <a:cxnLst/>
          <a:rect l="0" t="0" r="0" b="0"/>
          <a:pathLst>
            <a:path>
              <a:moveTo>
                <a:pt x="7852711" y="0"/>
              </a:moveTo>
              <a:lnTo>
                <a:pt x="7852711" y="246532"/>
              </a:lnTo>
              <a:lnTo>
                <a:pt x="0" y="246532"/>
              </a:lnTo>
              <a:lnTo>
                <a:pt x="0" y="458864"/>
              </a:lnTo>
            </a:path>
          </a:pathLst>
        </a:custGeom>
        <a:noFill/>
        <a:ln w="19050" cap="flat" cmpd="sng" algn="ctr">
          <a:solidFill>
            <a:schemeClr val="accent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5513538" y="3272645"/>
        <a:ext cx="393397" cy="4899"/>
      </dsp:txXfrm>
    </dsp:sp>
    <dsp:sp modelId="{55ABCAE0-49BF-564B-AC9D-E4F181291C31}">
      <dsp:nvSpPr>
        <dsp:cNvPr id="0" name=""/>
        <dsp:cNvSpPr/>
      </dsp:nvSpPr>
      <dsp:spPr>
        <a:xfrm>
          <a:off x="8572540" y="1770599"/>
          <a:ext cx="2128105" cy="1276863"/>
        </a:xfrm>
        <a:prstGeom prst="rect">
          <a:avLst/>
        </a:prstGeom>
        <a:solidFill>
          <a:schemeClr val="accent4">
            <a:hueOff val="1279782"/>
            <a:satOff val="5547"/>
            <a:lumOff val="366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Negative knock-on effects on rest of economy</a:t>
          </a:r>
        </a:p>
      </dsp:txBody>
      <dsp:txXfrm>
        <a:off x="8572540" y="1770599"/>
        <a:ext cx="2128105" cy="1276863"/>
      </dsp:txXfrm>
    </dsp:sp>
    <dsp:sp modelId="{FC41E3D7-3E57-384D-87CE-CF3281836EA1}">
      <dsp:nvSpPr>
        <dsp:cNvPr id="0" name=""/>
        <dsp:cNvSpPr/>
      </dsp:nvSpPr>
      <dsp:spPr>
        <a:xfrm>
          <a:off x="2846134" y="4129639"/>
          <a:ext cx="458864" cy="91440"/>
        </a:xfrm>
        <a:custGeom>
          <a:avLst/>
          <a:gdLst/>
          <a:ahLst/>
          <a:cxnLst/>
          <a:rect l="0" t="0" r="0" b="0"/>
          <a:pathLst>
            <a:path>
              <a:moveTo>
                <a:pt x="0" y="45720"/>
              </a:moveTo>
              <a:lnTo>
                <a:pt x="458864" y="45720"/>
              </a:lnTo>
            </a:path>
          </a:pathLst>
        </a:custGeom>
        <a:noFill/>
        <a:ln w="19050" cap="flat" cmpd="sng" algn="ctr">
          <a:solidFill>
            <a:schemeClr val="accent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063330" y="4172909"/>
        <a:ext cx="24473" cy="4899"/>
      </dsp:txXfrm>
    </dsp:sp>
    <dsp:sp modelId="{38FB50AC-8ECB-5044-B4F6-5D9B1E579BA6}">
      <dsp:nvSpPr>
        <dsp:cNvPr id="0" name=""/>
        <dsp:cNvSpPr/>
      </dsp:nvSpPr>
      <dsp:spPr>
        <a:xfrm>
          <a:off x="719828" y="3536927"/>
          <a:ext cx="2128105" cy="1276863"/>
        </a:xfrm>
        <a:prstGeom prst="rect">
          <a:avLst/>
        </a:prstGeom>
        <a:solidFill>
          <a:schemeClr val="accent4">
            <a:hueOff val="1462608"/>
            <a:satOff val="6340"/>
            <a:lumOff val="4183"/>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Further losses, tightening of credit conditions etc.</a:t>
          </a:r>
        </a:p>
      </dsp:txBody>
      <dsp:txXfrm>
        <a:off x="719828" y="3536927"/>
        <a:ext cx="2128105" cy="1276863"/>
      </dsp:txXfrm>
    </dsp:sp>
    <dsp:sp modelId="{CF6EAC77-0017-EB4B-8A52-3CB93A3BE4C9}">
      <dsp:nvSpPr>
        <dsp:cNvPr id="0" name=""/>
        <dsp:cNvSpPr/>
      </dsp:nvSpPr>
      <dsp:spPr>
        <a:xfrm>
          <a:off x="3337399" y="3536927"/>
          <a:ext cx="2128105" cy="1276863"/>
        </a:xfrm>
        <a:prstGeom prst="rect">
          <a:avLst/>
        </a:prstGeom>
        <a:solidFill>
          <a:schemeClr val="accent5">
            <a:lumMod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b="0" kern="1200" dirty="0"/>
            <a:t>Further negative impacts on broader economy</a:t>
          </a:r>
        </a:p>
      </dsp:txBody>
      <dsp:txXfrm>
        <a:off x="3337399" y="3536927"/>
        <a:ext cx="2128105" cy="1276863"/>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cfb641d87b_0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g2cfb641d87b_0_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88280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cfb641d87b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3" name="Google Shape;453;g2cfb641d87b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2064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F99B032-730C-4889-9031-A0A7CCEFDA99}" type="slidenum">
              <a:rPr lang="en-GB" smtClean="0"/>
              <a:t>9</a:t>
            </a:fld>
            <a:endParaRPr lang="en-GB"/>
          </a:p>
        </p:txBody>
      </p:sp>
    </p:spTree>
    <p:extLst>
      <p:ext uri="{BB962C8B-B14F-4D97-AF65-F5344CB8AC3E}">
        <p14:creationId xmlns:p14="http://schemas.microsoft.com/office/powerpoint/2010/main" val="2311267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F99B032-730C-4889-9031-A0A7CCEFDA99}" type="slidenum">
              <a:rPr lang="en-GB" smtClean="0"/>
              <a:t>12</a:t>
            </a:fld>
            <a:endParaRPr lang="en-GB"/>
          </a:p>
        </p:txBody>
      </p:sp>
    </p:spTree>
    <p:extLst>
      <p:ext uri="{BB962C8B-B14F-4D97-AF65-F5344CB8AC3E}">
        <p14:creationId xmlns:p14="http://schemas.microsoft.com/office/powerpoint/2010/main" val="600561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cfb641d87b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3" name="Google Shape;453;g2cfb641d87b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8442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cfb641d87b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3" name="Google Shape;453;g2cfb641d87b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7852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46490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a:p>
            <a:endParaRPr lang="en-GB" dirty="0"/>
          </a:p>
        </p:txBody>
      </p:sp>
      <p:sp>
        <p:nvSpPr>
          <p:cNvPr id="4" name="Slide Number Placeholder 3"/>
          <p:cNvSpPr>
            <a:spLocks noGrp="1"/>
          </p:cNvSpPr>
          <p:nvPr>
            <p:ph type="sldNum" sz="quarter" idx="10"/>
          </p:nvPr>
        </p:nvSpPr>
        <p:spPr/>
        <p:txBody>
          <a:bodyPr/>
          <a:lstStyle/>
          <a:p>
            <a:fld id="{65575379-4A28-42F9-B09A-F35842C473CA}" type="slidenum">
              <a:rPr lang="en-GB" smtClean="0"/>
              <a:t>20</a:t>
            </a:fld>
            <a:endParaRPr lang="en-GB" dirty="0"/>
          </a:p>
        </p:txBody>
      </p:sp>
    </p:spTree>
    <p:extLst>
      <p:ext uri="{BB962C8B-B14F-4D97-AF65-F5344CB8AC3E}">
        <p14:creationId xmlns:p14="http://schemas.microsoft.com/office/powerpoint/2010/main" val="4060942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F99B032-730C-4889-9031-A0A7CCEFDA99}" type="slidenum">
              <a:rPr lang="en-GB" smtClean="0"/>
              <a:t>21</a:t>
            </a:fld>
            <a:endParaRPr lang="en-GB"/>
          </a:p>
        </p:txBody>
      </p:sp>
    </p:spTree>
    <p:extLst>
      <p:ext uri="{BB962C8B-B14F-4D97-AF65-F5344CB8AC3E}">
        <p14:creationId xmlns:p14="http://schemas.microsoft.com/office/powerpoint/2010/main" val="596428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8545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1f7fa948e71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1f7fa948e71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1f7fa948e71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1f7fa948e71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cfb641d87b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3" name="Google Shape;453;g2cfb641d87b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4A1690-501B-E3A8-EC14-F39DD4830685}"/>
              </a:ext>
            </a:extLst>
          </p:cNvPr>
          <p:cNvSpPr>
            <a:spLocks noChangeArrowheads="1"/>
          </p:cNvSpPr>
          <p:nvPr userDrawn="1"/>
        </p:nvSpPr>
        <p:spPr bwMode="auto">
          <a:xfrm flipV="1">
            <a:off x="0" y="1"/>
            <a:ext cx="12192000" cy="4479924"/>
          </a:xfrm>
          <a:prstGeom prst="rect">
            <a:avLst/>
          </a:prstGeom>
          <a:solidFill>
            <a:srgbClr val="022A03"/>
          </a:solidFill>
          <a:ln>
            <a:noFill/>
          </a:ln>
        </p:spPr>
        <p:txBody>
          <a:bodyPr lIns="0" tIns="0" rIns="0" bIns="0"/>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p>
        </p:txBody>
      </p:sp>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2536694"/>
            <a:ext cx="10955383" cy="1066818"/>
          </a:xfrm>
        </p:spPr>
        <p:txBody>
          <a:bodyPr anchor="b"/>
          <a:lstStyle>
            <a:lvl1pPr algn="l">
              <a:defRPr sz="6000" b="1">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CD8EEF29-1660-B535-28CA-CDB76C2A94FB}"/>
              </a:ext>
            </a:extLst>
          </p:cNvPr>
          <p:cNvSpPr>
            <a:spLocks noGrp="1"/>
          </p:cNvSpPr>
          <p:nvPr>
            <p:ph type="subTitle" idx="1"/>
          </p:nvPr>
        </p:nvSpPr>
        <p:spPr>
          <a:xfrm>
            <a:off x="618308" y="3610452"/>
            <a:ext cx="10955383" cy="491290"/>
          </a:xfrm>
        </p:spPr>
        <p:txBody>
          <a:bodyPr/>
          <a:lstStyle>
            <a:lvl1pPr marL="0" indent="0" algn="l">
              <a:buNone/>
              <a:defRPr sz="2400">
                <a:solidFill>
                  <a:srgbClr val="DAEFB8"/>
                </a:solidFill>
                <a:latin typeface="Aptos Ligh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8" name="Rectangle 7">
            <a:extLst>
              <a:ext uri="{FF2B5EF4-FFF2-40B4-BE49-F238E27FC236}">
                <a16:creationId xmlns:a16="http://schemas.microsoft.com/office/drawing/2014/main" id="{61D466BD-30A3-5235-DD6E-0AE34EA4C34A}"/>
              </a:ext>
            </a:extLst>
          </p:cNvPr>
          <p:cNvSpPr>
            <a:spLocks noChangeArrowheads="1"/>
          </p:cNvSpPr>
          <p:nvPr userDrawn="1"/>
        </p:nvSpPr>
        <p:spPr bwMode="auto">
          <a:xfrm>
            <a:off x="0" y="4448157"/>
            <a:ext cx="12192000" cy="8309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10" name="Text Placeholder 331">
            <a:extLst>
              <a:ext uri="{FF2B5EF4-FFF2-40B4-BE49-F238E27FC236}">
                <a16:creationId xmlns:a16="http://schemas.microsoft.com/office/drawing/2014/main" id="{07F963C1-B46B-E73C-0D6F-78ACDC434F34}"/>
              </a:ext>
            </a:extLst>
          </p:cNvPr>
          <p:cNvSpPr>
            <a:spLocks noGrp="1"/>
          </p:cNvSpPr>
          <p:nvPr>
            <p:ph type="body" sz="quarter" idx="14" hasCustomPrompt="1"/>
          </p:nvPr>
        </p:nvSpPr>
        <p:spPr>
          <a:xfrm>
            <a:off x="7688062" y="5247968"/>
            <a:ext cx="3885629" cy="1093938"/>
          </a:xfrm>
          <a:prstGeom prst="rect">
            <a:avLst/>
          </a:prstGeom>
        </p:spPr>
        <p:txBody>
          <a:bodyPr lIns="0" tIns="0" rIns="0" bIns="0" anchor="t">
            <a:normAutofit/>
          </a:bodyPr>
          <a:lstStyle>
            <a:lvl1pPr marL="0" marR="0" indent="0" algn="r" defTabSz="914400" rtl="0" eaLnBrk="1" fontAlgn="base" latinLnBrk="0" hangingPunct="1">
              <a:lnSpc>
                <a:spcPct val="115000"/>
              </a:lnSpc>
              <a:spcBef>
                <a:spcPts val="0"/>
              </a:spcBef>
              <a:spcAft>
                <a:spcPct val="0"/>
              </a:spcAft>
              <a:buClr>
                <a:srgbClr val="00783C"/>
              </a:buClr>
              <a:buSzTx/>
              <a:buFontTx/>
              <a:buNone/>
              <a:tabLst/>
              <a:defRPr sz="1600" b="0" i="0" baseline="0">
                <a:solidFill>
                  <a:schemeClr val="tx1"/>
                </a:solidFill>
                <a:latin typeface="Aptos Light" panose="020B0004020202020204" pitchFamily="34" charset="0"/>
                <a:cs typeface="Arial"/>
              </a:defRPr>
            </a:lvl1pPr>
            <a:lvl2pPr marL="0" marR="0" indent="0" algn="r" defTabSz="914400" rtl="0" eaLnBrk="1" fontAlgn="base" latinLnBrk="0" hangingPunct="1">
              <a:lnSpc>
                <a:spcPct val="100000"/>
              </a:lnSpc>
              <a:spcBef>
                <a:spcPts val="0"/>
              </a:spcBef>
              <a:spcAft>
                <a:spcPct val="0"/>
              </a:spcAft>
              <a:buClr>
                <a:srgbClr val="00783C"/>
              </a:buClr>
              <a:buSzTx/>
              <a:buFont typeface="Wingdings" charset="0"/>
              <a:buNone/>
              <a:tabLst/>
              <a:defRPr sz="1600" b="0" i="0">
                <a:solidFill>
                  <a:schemeClr val="tx1"/>
                </a:solidFill>
                <a:latin typeface="Aptos Light" panose="020B0004020202020204" pitchFamily="34" charset="0"/>
                <a:cs typeface="Andes ExtraLight"/>
              </a:defRPr>
            </a:lvl2pPr>
            <a:lvl3pPr>
              <a:defRPr b="0" i="0">
                <a:latin typeface="Andes ExtraLight"/>
                <a:cs typeface="Andes ExtraLight"/>
              </a:defRPr>
            </a:lvl3pPr>
            <a:lvl4pPr>
              <a:defRPr b="0" i="0">
                <a:latin typeface="Andes ExtraLight"/>
                <a:cs typeface="Andes ExtraLight"/>
              </a:defRPr>
            </a:lvl4pPr>
            <a:lvl5pPr>
              <a:defRPr b="0" i="0">
                <a:latin typeface="Andes ExtraLight"/>
                <a:cs typeface="Andes ExtraLight"/>
              </a:defRPr>
            </a:lvl5pPr>
          </a:lstStyle>
          <a:p>
            <a:pPr lvl="0"/>
            <a:r>
              <a:rPr lang="en-US"/>
              <a:t>Edit Master text styles</a:t>
            </a:r>
          </a:p>
          <a:p>
            <a:pPr lvl="1"/>
            <a:r>
              <a:rPr lang="en-US"/>
              <a:t>Second level</a:t>
            </a:r>
          </a:p>
        </p:txBody>
      </p:sp>
    </p:spTree>
    <p:extLst>
      <p:ext uri="{BB962C8B-B14F-4D97-AF65-F5344CB8AC3E}">
        <p14:creationId xmlns:p14="http://schemas.microsoft.com/office/powerpoint/2010/main" val="386062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rotWithShape="1">
          <a:blip r:embed="rId2"/>
          <a:srcRect r="1716"/>
          <a:stretch/>
        </p:blipFill>
        <p:spPr>
          <a:xfrm>
            <a:off x="-1" y="152227"/>
            <a:ext cx="12192001" cy="6705774"/>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12192000" cy="6477000"/>
          </a:xfrm>
          <a:custGeom>
            <a:avLst/>
            <a:gdLst/>
            <a:ahLst/>
            <a:cxnLst/>
            <a:rect l="l" t="t" r="r" b="b"/>
            <a:pathLst>
              <a:path w="365770" h="175924" extrusionOk="0">
                <a:moveTo>
                  <a:pt x="0" y="0"/>
                </a:moveTo>
                <a:lnTo>
                  <a:pt x="365770" y="0"/>
                </a:lnTo>
                <a:lnTo>
                  <a:pt x="365760" y="70914"/>
                </a:lnTo>
                <a:lnTo>
                  <a:pt x="0" y="175924"/>
                </a:lnTo>
                <a:close/>
              </a:path>
            </a:pathLst>
          </a:custGeom>
          <a:solidFill>
            <a:schemeClr val="tx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560070" y="641434"/>
            <a:ext cx="10431780" cy="2387600"/>
          </a:xfrm>
          <a:prstGeom prst="rect">
            <a:avLst/>
          </a:prstGeom>
        </p:spPr>
        <p:txBody>
          <a:bodyPr anchor="b">
            <a:normAutofit/>
          </a:bodyPr>
          <a:lstStyle>
            <a:lvl1pPr algn="l">
              <a:defRPr sz="5400" b="1" i="0">
                <a:solidFill>
                  <a:srgbClr val="012903"/>
                </a:solidFill>
                <a:latin typeface="+mj-lt"/>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560070" y="3238500"/>
            <a:ext cx="6172200" cy="641434"/>
          </a:xfrm>
          <a:prstGeom prst="rect">
            <a:avLst/>
          </a:prstGeom>
        </p:spPr>
        <p:txBody>
          <a:bodyPr/>
          <a:lstStyle>
            <a:lvl1pPr marL="0" indent="0" algn="l">
              <a:buNone/>
              <a:defRPr sz="2400" b="0" i="0">
                <a:solidFill>
                  <a:srgbClr val="20615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9103660" y="5015753"/>
            <a:ext cx="2729566" cy="1575547"/>
          </a:xfrm>
          <a:prstGeom prst="rect">
            <a:avLst/>
          </a:prstGeom>
        </p:spPr>
        <p:txBody>
          <a:bodyPr/>
          <a:lstStyle>
            <a:lvl1pPr marL="0" indent="0" algn="r">
              <a:lnSpc>
                <a:spcPct val="150000"/>
              </a:lnSpc>
              <a:spcBef>
                <a:spcPts val="0"/>
              </a:spcBef>
              <a:buNone/>
              <a:defRPr sz="1600">
                <a:solidFill>
                  <a:schemeClr val="tx1"/>
                </a:solidFill>
                <a:latin typeface="+mn-lt"/>
                <a:ea typeface="Roboto" panose="02000000000000000000" pitchFamily="2" charset="0"/>
                <a:cs typeface="Roboto" panose="02000000000000000000" pitchFamily="2" charset="0"/>
              </a:defRPr>
            </a:lvl1pPr>
          </a:lstStyle>
          <a:p>
            <a:pPr lvl="0"/>
            <a:r>
              <a:rPr lang="en-GB"/>
              <a:t>Click to edit Master text styles</a:t>
            </a:r>
          </a:p>
        </p:txBody>
      </p:sp>
    </p:spTree>
    <p:extLst>
      <p:ext uri="{BB962C8B-B14F-4D97-AF65-F5344CB8AC3E}">
        <p14:creationId xmlns:p14="http://schemas.microsoft.com/office/powerpoint/2010/main" val="2962355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5279894"/>
            <a:ext cx="10955383" cy="1066818"/>
          </a:xfrm>
          <a:solidFill>
            <a:schemeClr val="tx1"/>
          </a:solidFill>
        </p:spPr>
        <p:txBody>
          <a:bodyPr lIns="0" tIns="0" rIns="0" bIns="0" anchor="b"/>
          <a:lstStyle>
            <a:lvl1pPr algn="l">
              <a:defRPr sz="6000" b="1">
                <a:solidFill>
                  <a:srgbClr val="022A03"/>
                </a:solidFill>
              </a:defRPr>
            </a:lvl1pPr>
          </a:lstStyle>
          <a:p>
            <a:r>
              <a:rPr lang="en-GB"/>
              <a:t>Click to edit Master title style</a:t>
            </a:r>
            <a:endParaRPr lang="en-US"/>
          </a:p>
        </p:txBody>
      </p:sp>
      <p:pic>
        <p:nvPicPr>
          <p:cNvPr id="4" name="Picture 3" descr="A road through a forest&#10;&#10;Description automatically generated">
            <a:extLst>
              <a:ext uri="{FF2B5EF4-FFF2-40B4-BE49-F238E27FC236}">
                <a16:creationId xmlns:a16="http://schemas.microsoft.com/office/drawing/2014/main" id="{968505F6-D10F-F3F2-069D-D9803AFF55B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573" b="17096"/>
          <a:stretch/>
        </p:blipFill>
        <p:spPr>
          <a:xfrm>
            <a:off x="-1" y="-1077066"/>
            <a:ext cx="12191999" cy="5708103"/>
          </a:xfrm>
          <a:prstGeom prst="rect">
            <a:avLst/>
          </a:prstGeom>
        </p:spPr>
      </p:pic>
      <p:sp>
        <p:nvSpPr>
          <p:cNvPr id="5" name="Rectangle 4">
            <a:extLst>
              <a:ext uri="{FF2B5EF4-FFF2-40B4-BE49-F238E27FC236}">
                <a16:creationId xmlns:a16="http://schemas.microsoft.com/office/drawing/2014/main" id="{B739B807-FF59-567E-4263-5A96FBAA9828}"/>
              </a:ext>
            </a:extLst>
          </p:cNvPr>
          <p:cNvSpPr>
            <a:spLocks noChangeArrowheads="1"/>
          </p:cNvSpPr>
          <p:nvPr userDrawn="1"/>
        </p:nvSpPr>
        <p:spPr bwMode="auto">
          <a:xfrm>
            <a:off x="0" y="4631037"/>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51691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ub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5279894"/>
            <a:ext cx="10955383" cy="1066818"/>
          </a:xfrm>
          <a:solidFill>
            <a:schemeClr val="tx1"/>
          </a:solidFill>
        </p:spPr>
        <p:txBody>
          <a:bodyPr lIns="0" tIns="0" rIns="0" bIns="0" anchor="b"/>
          <a:lstStyle>
            <a:lvl1pPr algn="l">
              <a:defRPr sz="6000" b="1">
                <a:solidFill>
                  <a:srgbClr val="022A03"/>
                </a:solidFill>
              </a:defRPr>
            </a:lvl1pPr>
          </a:lstStyle>
          <a:p>
            <a:r>
              <a:rPr lang="en-GB"/>
              <a:t>Click to edit Master title style</a:t>
            </a:r>
            <a:endParaRPr lang="en-US"/>
          </a:p>
        </p:txBody>
      </p:sp>
      <p:sp>
        <p:nvSpPr>
          <p:cNvPr id="5" name="Rectangle 4">
            <a:extLst>
              <a:ext uri="{FF2B5EF4-FFF2-40B4-BE49-F238E27FC236}">
                <a16:creationId xmlns:a16="http://schemas.microsoft.com/office/drawing/2014/main" id="{B739B807-FF59-567E-4263-5A96FBAA9828}"/>
              </a:ext>
            </a:extLst>
          </p:cNvPr>
          <p:cNvSpPr>
            <a:spLocks noChangeArrowheads="1"/>
          </p:cNvSpPr>
          <p:nvPr userDrawn="1"/>
        </p:nvSpPr>
        <p:spPr bwMode="auto">
          <a:xfrm>
            <a:off x="0" y="4631037"/>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pic>
        <p:nvPicPr>
          <p:cNvPr id="6" name="Picture 5" descr="A city skyline with a graph&#10;&#10;Description automatically generated with medium confidence">
            <a:extLst>
              <a:ext uri="{FF2B5EF4-FFF2-40B4-BE49-F238E27FC236}">
                <a16:creationId xmlns:a16="http://schemas.microsoft.com/office/drawing/2014/main" id="{EB670796-86BE-1BDC-6439-0517590CB980}"/>
              </a:ext>
            </a:extLst>
          </p:cNvPr>
          <p:cNvPicPr>
            <a:picLocks noChangeAspect="1"/>
          </p:cNvPicPr>
          <p:nvPr userDrawn="1"/>
        </p:nvPicPr>
        <p:blipFill rotWithShape="1">
          <a:blip r:embed="rId2"/>
          <a:srcRect b="36536"/>
          <a:stretch/>
        </p:blipFill>
        <p:spPr>
          <a:xfrm>
            <a:off x="0" y="1"/>
            <a:ext cx="12192000" cy="4786964"/>
          </a:xfrm>
          <a:prstGeom prst="rect">
            <a:avLst/>
          </a:prstGeom>
        </p:spPr>
      </p:pic>
    </p:spTree>
    <p:extLst>
      <p:ext uri="{BB962C8B-B14F-4D97-AF65-F5344CB8AC3E}">
        <p14:creationId xmlns:p14="http://schemas.microsoft.com/office/powerpoint/2010/main" val="859656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ub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5279894"/>
            <a:ext cx="10955383" cy="1066818"/>
          </a:xfrm>
          <a:solidFill>
            <a:schemeClr val="tx1"/>
          </a:solidFill>
        </p:spPr>
        <p:txBody>
          <a:bodyPr lIns="0" tIns="0" rIns="0" bIns="0" anchor="b"/>
          <a:lstStyle>
            <a:lvl1pPr algn="l">
              <a:defRPr sz="6000" b="1">
                <a:solidFill>
                  <a:srgbClr val="022A03"/>
                </a:solidFill>
              </a:defRPr>
            </a:lvl1pPr>
          </a:lstStyle>
          <a:p>
            <a:r>
              <a:rPr lang="en-GB"/>
              <a:t>Click to edit Master title style</a:t>
            </a:r>
            <a:endParaRPr lang="en-US"/>
          </a:p>
        </p:txBody>
      </p:sp>
      <p:sp>
        <p:nvSpPr>
          <p:cNvPr id="5" name="Rectangle 4">
            <a:extLst>
              <a:ext uri="{FF2B5EF4-FFF2-40B4-BE49-F238E27FC236}">
                <a16:creationId xmlns:a16="http://schemas.microsoft.com/office/drawing/2014/main" id="{B739B807-FF59-567E-4263-5A96FBAA9828}"/>
              </a:ext>
            </a:extLst>
          </p:cNvPr>
          <p:cNvSpPr>
            <a:spLocks noChangeArrowheads="1"/>
          </p:cNvSpPr>
          <p:nvPr userDrawn="1"/>
        </p:nvSpPr>
        <p:spPr bwMode="auto">
          <a:xfrm>
            <a:off x="0" y="4631037"/>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pic>
        <p:nvPicPr>
          <p:cNvPr id="4" name="Picture 3" descr="A stack of coins with a plant growing on them&#10;&#10;Description automatically generated">
            <a:extLst>
              <a:ext uri="{FF2B5EF4-FFF2-40B4-BE49-F238E27FC236}">
                <a16:creationId xmlns:a16="http://schemas.microsoft.com/office/drawing/2014/main" id="{B53F19FB-C169-B28B-F3A5-5F72619D9171}"/>
              </a:ext>
            </a:extLst>
          </p:cNvPr>
          <p:cNvPicPr>
            <a:picLocks noChangeAspect="1"/>
          </p:cNvPicPr>
          <p:nvPr userDrawn="1"/>
        </p:nvPicPr>
        <p:blipFill rotWithShape="1">
          <a:blip r:embed="rId2"/>
          <a:srcRect b="38913"/>
          <a:stretch/>
        </p:blipFill>
        <p:spPr>
          <a:xfrm>
            <a:off x="1" y="1"/>
            <a:ext cx="12191999" cy="4786964"/>
          </a:xfrm>
          <a:prstGeom prst="rect">
            <a:avLst/>
          </a:prstGeom>
        </p:spPr>
      </p:pic>
    </p:spTree>
    <p:extLst>
      <p:ext uri="{BB962C8B-B14F-4D97-AF65-F5344CB8AC3E}">
        <p14:creationId xmlns:p14="http://schemas.microsoft.com/office/powerpoint/2010/main" val="2017833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Statement">
    <p:spTree>
      <p:nvGrpSpPr>
        <p:cNvPr id="1" name=""/>
        <p:cNvGrpSpPr/>
        <p:nvPr/>
      </p:nvGrpSpPr>
      <p:grpSpPr>
        <a:xfrm>
          <a:off x="0" y="0"/>
          <a:ext cx="0" cy="0"/>
          <a:chOff x="0" y="0"/>
          <a:chExt cx="0" cy="0"/>
        </a:xfrm>
      </p:grpSpPr>
      <p:pic>
        <p:nvPicPr>
          <p:cNvPr id="2" name="Picture 1" descr="A road through a forest&#10;&#10;Description automatically generated">
            <a:extLst>
              <a:ext uri="{FF2B5EF4-FFF2-40B4-BE49-F238E27FC236}">
                <a16:creationId xmlns:a16="http://schemas.microsoft.com/office/drawing/2014/main" id="{0AF91E05-FC38-FE38-4ECF-292EF2AA62ED}"/>
              </a:ext>
            </a:extLst>
          </p:cNvPr>
          <p:cNvPicPr>
            <a:picLocks noChangeAspect="1"/>
          </p:cNvPicPr>
          <p:nvPr userDrawn="1"/>
        </p:nvPicPr>
        <p:blipFill rotWithShape="1">
          <a:blip r:embed="rId2"/>
          <a:srcRect t="57150" b="-10177"/>
          <a:stretch/>
        </p:blipFill>
        <p:spPr>
          <a:xfrm>
            <a:off x="0" y="-1"/>
            <a:ext cx="12192000" cy="4243405"/>
          </a:xfrm>
          <a:prstGeom prst="rect">
            <a:avLst/>
          </a:prstGeom>
        </p:spPr>
      </p:pic>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1502997"/>
            <a:ext cx="11430000" cy="782584"/>
          </a:xfrm>
        </p:spPr>
        <p:txBody>
          <a:bodyPr lIns="0" tIns="0" rIns="0" bIns="0">
            <a:noAutofit/>
          </a:bodyPr>
          <a:lstStyle>
            <a:lvl1pPr algn="ctr">
              <a:lnSpc>
                <a:spcPct val="100000"/>
              </a:lnSpc>
              <a:defRPr sz="6000" b="1" i="0">
                <a:solidFill>
                  <a:schemeClr val="tx1"/>
                </a:solidFill>
                <a:latin typeface="Aptos ExtraBold" panose="020B0004020202020204" pitchFamily="34" charset="0"/>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C16930D3-75B6-6460-3374-82A5C33B6A37}"/>
              </a:ext>
            </a:extLst>
          </p:cNvPr>
          <p:cNvSpPr>
            <a:spLocks noGrp="1"/>
          </p:cNvSpPr>
          <p:nvPr>
            <p:ph sz="half" idx="2"/>
          </p:nvPr>
        </p:nvSpPr>
        <p:spPr>
          <a:xfrm>
            <a:off x="381000" y="3624942"/>
            <a:ext cx="11430000" cy="2580821"/>
          </a:xfrm>
        </p:spPr>
        <p:txBody>
          <a:bodyPr/>
          <a:lstStyle>
            <a:lvl1pPr marL="514350" indent="-514350">
              <a:buFont typeface="+mj-lt"/>
              <a:buAutoNum type="arabicPeriod"/>
              <a:defRPr b="0" i="0">
                <a:solidFill>
                  <a:srgbClr val="022A03"/>
                </a:solidFill>
                <a:latin typeface="Aptos Light" panose="020B0004020202020204" pitchFamily="34" charset="0"/>
              </a:defRPr>
            </a:lvl1pPr>
            <a:lvl2pPr marL="914400" indent="-457200">
              <a:buFont typeface="Arial" panose="020B0604020202020204" pitchFamily="34" charset="0"/>
              <a:buChar char="•"/>
              <a:defRPr b="0" i="0">
                <a:solidFill>
                  <a:srgbClr val="416E2A"/>
                </a:solidFill>
                <a:latin typeface="Aptos Light" panose="020B0004020202020204" pitchFamily="34" charset="0"/>
              </a:defRPr>
            </a:lvl2pPr>
            <a:lvl3pPr marL="1371600" indent="-457200">
              <a:buFont typeface="Arial" panose="020B0604020202020204" pitchFamily="34" charset="0"/>
              <a:buChar char="•"/>
              <a:defRPr b="0" i="0">
                <a:solidFill>
                  <a:srgbClr val="416E2A"/>
                </a:solidFill>
                <a:latin typeface="Aptos Light" panose="020B0004020202020204" pitchFamily="34" charset="0"/>
              </a:defRPr>
            </a:lvl3pPr>
            <a:lvl4pPr marL="1714500" indent="-342900">
              <a:buFont typeface="Arial" panose="020B0604020202020204" pitchFamily="34" charset="0"/>
              <a:buChar char="•"/>
              <a:defRPr b="0" i="0">
                <a:solidFill>
                  <a:srgbClr val="416E2A"/>
                </a:solidFill>
                <a:latin typeface="Aptos Light" panose="020B0004020202020204" pitchFamily="34" charset="0"/>
              </a:defRPr>
            </a:lvl4pPr>
            <a:lvl5pPr marL="2171700" indent="-342900">
              <a:buFont typeface="Arial" panose="020B0604020202020204" pitchFamily="34" charset="0"/>
              <a:buChar char="•"/>
              <a:defRPr b="0" i="0">
                <a:solidFill>
                  <a:srgbClr val="416E2A"/>
                </a:solidFill>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24996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4A1690-501B-E3A8-EC14-F39DD4830685}"/>
              </a:ext>
            </a:extLst>
          </p:cNvPr>
          <p:cNvSpPr>
            <a:spLocks noChangeArrowheads="1"/>
          </p:cNvSpPr>
          <p:nvPr userDrawn="1"/>
        </p:nvSpPr>
        <p:spPr bwMode="auto">
          <a:xfrm flipV="1">
            <a:off x="0" y="-3"/>
            <a:ext cx="4251962" cy="6858001"/>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p>
        </p:txBody>
      </p:sp>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10" y="502920"/>
            <a:ext cx="3293290" cy="1676400"/>
          </a:xfrm>
        </p:spPr>
        <p:txBody>
          <a:bodyPr lIns="0" tIns="0" rIns="0" bIns="0" anchor="t">
            <a:normAutofit/>
          </a:bodyPr>
          <a:lstStyle>
            <a:lvl1pPr algn="l">
              <a:defRPr sz="4800" b="1">
                <a:solidFill>
                  <a:schemeClr val="tx1"/>
                </a:solidFill>
              </a:defRPr>
            </a:lvl1pPr>
          </a:lstStyle>
          <a:p>
            <a:r>
              <a:rPr lang="en-GB"/>
              <a:t>Click to edit Master title style</a:t>
            </a:r>
            <a:endParaRPr lang="en-US"/>
          </a:p>
        </p:txBody>
      </p:sp>
      <p:sp>
        <p:nvSpPr>
          <p:cNvPr id="8" name="Rectangle 7">
            <a:extLst>
              <a:ext uri="{FF2B5EF4-FFF2-40B4-BE49-F238E27FC236}">
                <a16:creationId xmlns:a16="http://schemas.microsoft.com/office/drawing/2014/main" id="{61D466BD-30A3-5235-DD6E-0AE34EA4C34A}"/>
              </a:ext>
            </a:extLst>
          </p:cNvPr>
          <p:cNvSpPr>
            <a:spLocks noChangeArrowheads="1"/>
          </p:cNvSpPr>
          <p:nvPr userDrawn="1"/>
        </p:nvSpPr>
        <p:spPr bwMode="auto">
          <a:xfrm rot="16200000">
            <a:off x="800103" y="3406141"/>
            <a:ext cx="6857999" cy="45719"/>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bg1"/>
              </a:solidFill>
            </a:endParaRPr>
          </a:p>
        </p:txBody>
      </p:sp>
      <p:sp>
        <p:nvSpPr>
          <p:cNvPr id="4" name="Content Placeholder 3">
            <a:extLst>
              <a:ext uri="{FF2B5EF4-FFF2-40B4-BE49-F238E27FC236}">
                <a16:creationId xmlns:a16="http://schemas.microsoft.com/office/drawing/2014/main" id="{8A7EED4C-3CAC-6637-0225-8789721FD08D}"/>
              </a:ext>
            </a:extLst>
          </p:cNvPr>
          <p:cNvSpPr>
            <a:spLocks noGrp="1"/>
          </p:cNvSpPr>
          <p:nvPr>
            <p:ph sz="half" idx="2"/>
          </p:nvPr>
        </p:nvSpPr>
        <p:spPr>
          <a:xfrm>
            <a:off x="4546605" y="502920"/>
            <a:ext cx="7027086" cy="6069330"/>
          </a:xfrm>
        </p:spPr>
        <p:txBody>
          <a:bodyPr/>
          <a:lstStyle>
            <a:lvl1pPr marL="514350" indent="-514350">
              <a:buFont typeface="+mj-lt"/>
              <a:buAutoNum type="arabicPeriod"/>
              <a:defRPr>
                <a:latin typeface="Aptos Light" panose="020B0004020202020204" pitchFamily="34" charset="0"/>
              </a:defRPr>
            </a:lvl1pPr>
            <a:lvl2pPr marL="914400" indent="-457200">
              <a:buFont typeface="+mj-lt"/>
              <a:buAutoNum type="alphaLcPeriod"/>
              <a:defRPr>
                <a:latin typeface="Aptos Light" panose="020B0004020202020204" pitchFamily="34" charset="0"/>
              </a:defRPr>
            </a:lvl2pPr>
            <a:lvl3pPr marL="1371600" indent="-457200">
              <a:buFont typeface="+mj-lt"/>
              <a:buAutoNum type="alphaLcPeriod"/>
              <a:defRPr>
                <a:latin typeface="Aptos Light" panose="020B0004020202020204" pitchFamily="34" charset="0"/>
              </a:defRPr>
            </a:lvl3pPr>
            <a:lvl4pPr marL="1714500" indent="-342900">
              <a:buFont typeface="+mj-lt"/>
              <a:buAutoNum type="alphaLcPeriod"/>
              <a:defRPr>
                <a:latin typeface="Aptos Light" panose="020B0004020202020204" pitchFamily="34" charset="0"/>
              </a:defRPr>
            </a:lvl4pPr>
            <a:lvl5pPr marL="2171700" indent="-342900">
              <a:buFont typeface="+mj-lt"/>
              <a:buAutoNum type="alphaLcPeriod"/>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70828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ey Point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5" name="Rectangle 4">
            <a:extLst>
              <a:ext uri="{FF2B5EF4-FFF2-40B4-BE49-F238E27FC236}">
                <a16:creationId xmlns:a16="http://schemas.microsoft.com/office/drawing/2014/main" id="{BE21C46E-C07A-23B4-FD4E-7D2CB47B1BB7}"/>
              </a:ext>
            </a:extLst>
          </p:cNvPr>
          <p:cNvSpPr/>
          <p:nvPr userDrawn="1"/>
        </p:nvSpPr>
        <p:spPr>
          <a:xfrm>
            <a:off x="2110740" y="2028118"/>
            <a:ext cx="7970520" cy="1004641"/>
          </a:xfrm>
          <a:prstGeom prst="rect">
            <a:avLst/>
          </a:prstGeom>
          <a:solidFill>
            <a:schemeClr val="bg2">
              <a:lumMod val="10000"/>
              <a:lumOff val="90000"/>
            </a:schemeClr>
          </a:solidFill>
          <a:ln>
            <a:solidFill>
              <a:srgbClr val="EBF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3F7E2"/>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
        <p:nvSpPr>
          <p:cNvPr id="7" name="Rectangle 6">
            <a:extLst>
              <a:ext uri="{FF2B5EF4-FFF2-40B4-BE49-F238E27FC236}">
                <a16:creationId xmlns:a16="http://schemas.microsoft.com/office/drawing/2014/main" id="{0284ECE9-FB3A-2F1D-4F8A-B6156A14D49A}"/>
              </a:ext>
            </a:extLst>
          </p:cNvPr>
          <p:cNvSpPr/>
          <p:nvPr userDrawn="1"/>
        </p:nvSpPr>
        <p:spPr>
          <a:xfrm>
            <a:off x="2110740" y="3514283"/>
            <a:ext cx="7970520" cy="1004641"/>
          </a:xfrm>
          <a:prstGeom prst="rect">
            <a:avLst/>
          </a:prstGeom>
          <a:solidFill>
            <a:schemeClr val="accent4">
              <a:lumMod val="20000"/>
              <a:lumOff val="80000"/>
            </a:schemeClr>
          </a:solidFill>
          <a:ln>
            <a:solidFill>
              <a:srgbClr val="DA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D735EB7-8A85-F1A7-484B-19DF5EDFBCF7}"/>
              </a:ext>
            </a:extLst>
          </p:cNvPr>
          <p:cNvSpPr/>
          <p:nvPr userDrawn="1"/>
        </p:nvSpPr>
        <p:spPr>
          <a:xfrm>
            <a:off x="2110740" y="5000448"/>
            <a:ext cx="7970520" cy="1004641"/>
          </a:xfrm>
          <a:prstGeom prst="rect">
            <a:avLst/>
          </a:prstGeom>
          <a:solidFill>
            <a:srgbClr val="EBF4D6"/>
          </a:solidFill>
          <a:ln>
            <a:solidFill>
              <a:srgbClr val="ECF4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3DF2199-3789-DB84-6347-50303262C3CB}"/>
              </a:ext>
            </a:extLst>
          </p:cNvPr>
          <p:cNvSpPr txBox="1"/>
          <p:nvPr userDrawn="1"/>
        </p:nvSpPr>
        <p:spPr>
          <a:xfrm>
            <a:off x="2331720" y="2028118"/>
            <a:ext cx="7528560" cy="467885"/>
          </a:xfrm>
          <a:prstGeom prst="rect">
            <a:avLst/>
          </a:prstGeom>
          <a:noFill/>
        </p:spPr>
        <p:txBody>
          <a:bodyPr wrap="square" rtlCol="0">
            <a:spAutoFit/>
          </a:bodyPr>
          <a:lstStyle/>
          <a:p>
            <a:pPr>
              <a:lnSpc>
                <a:spcPct val="150000"/>
              </a:lnSpc>
            </a:pPr>
            <a:endParaRPr lang="en-US">
              <a:solidFill>
                <a:srgbClr val="022A03"/>
              </a:solidFill>
            </a:endParaRPr>
          </a:p>
        </p:txBody>
      </p:sp>
      <p:sp>
        <p:nvSpPr>
          <p:cNvPr id="10" name="Content Placeholder 2">
            <a:extLst>
              <a:ext uri="{FF2B5EF4-FFF2-40B4-BE49-F238E27FC236}">
                <a16:creationId xmlns:a16="http://schemas.microsoft.com/office/drawing/2014/main" id="{1121D204-B214-EC89-8A00-774DF2A83F19}"/>
              </a:ext>
            </a:extLst>
          </p:cNvPr>
          <p:cNvSpPr>
            <a:spLocks noGrp="1"/>
          </p:cNvSpPr>
          <p:nvPr>
            <p:ph idx="1"/>
          </p:nvPr>
        </p:nvSpPr>
        <p:spPr>
          <a:xfrm>
            <a:off x="3604260" y="2028118"/>
            <a:ext cx="6256020" cy="1004641"/>
          </a:xfrm>
        </p:spPr>
        <p:txBody>
          <a:bodyPr lIns="0" tIns="0" rIns="0" bIns="0" anchor="ctr">
            <a:normAutofit/>
          </a:bodyPr>
          <a:lstStyle>
            <a:lvl1pPr marL="0" indent="0" algn="ctr">
              <a:lnSpc>
                <a:spcPct val="150000"/>
              </a:lnSpc>
              <a:spcBef>
                <a:spcPts val="0"/>
              </a:spcBef>
              <a:buFontTx/>
              <a:buNone/>
              <a:defRPr sz="2000" b="1">
                <a:solidFill>
                  <a:srgbClr val="022A03"/>
                </a:solidFill>
                <a:latin typeface="+mj-lt"/>
              </a:defRPr>
            </a:lvl1pPr>
            <a:lvl2pPr marL="180000" indent="0">
              <a:lnSpc>
                <a:spcPct val="150000"/>
              </a:lnSpc>
              <a:spcBef>
                <a:spcPts val="0"/>
              </a:spcBef>
              <a:buFontTx/>
              <a:buNone/>
              <a:defRPr sz="1600" b="1">
                <a:latin typeface="Aptos Light" panose="020B0004020202020204" pitchFamily="34" charset="0"/>
              </a:defRPr>
            </a:lvl2pPr>
            <a:lvl3pPr marL="180000" indent="0">
              <a:lnSpc>
                <a:spcPct val="150000"/>
              </a:lnSpc>
              <a:spcBef>
                <a:spcPts val="0"/>
              </a:spcBef>
              <a:buFontTx/>
              <a:buNone/>
              <a:defRPr sz="1200">
                <a:latin typeface="Aptos Light" panose="020B0004020202020204" pitchFamily="34" charset="0"/>
              </a:defRPr>
            </a:lvl3pPr>
            <a:lvl4pPr marL="180000" indent="0">
              <a:lnSpc>
                <a:spcPct val="150000"/>
              </a:lnSpc>
              <a:spcBef>
                <a:spcPts val="0"/>
              </a:spcBef>
              <a:buFontTx/>
              <a:buNone/>
              <a:defRPr sz="1100">
                <a:latin typeface="Aptos Light" panose="020B0004020202020204" pitchFamily="34" charset="0"/>
              </a:defRPr>
            </a:lvl4pPr>
            <a:lvl5pPr marL="180000" indent="0">
              <a:lnSpc>
                <a:spcPct val="150000"/>
              </a:lnSpc>
              <a:spcBef>
                <a:spcPts val="0"/>
              </a:spcBef>
              <a:buFontTx/>
              <a:buNone/>
              <a:defRPr sz="1100">
                <a:latin typeface="Aptos Light" panose="020B0004020202020204" pitchFamily="34" charset="0"/>
              </a:defRPr>
            </a:lvl5pPr>
          </a:lstStyle>
          <a:p>
            <a:pPr lvl="0"/>
            <a:r>
              <a:rPr lang="en-GB"/>
              <a:t>Click to edit Master text styles</a:t>
            </a:r>
          </a:p>
        </p:txBody>
      </p:sp>
      <p:sp>
        <p:nvSpPr>
          <p:cNvPr id="11" name="Content Placeholder 2">
            <a:extLst>
              <a:ext uri="{FF2B5EF4-FFF2-40B4-BE49-F238E27FC236}">
                <a16:creationId xmlns:a16="http://schemas.microsoft.com/office/drawing/2014/main" id="{B11B325F-AC10-1656-7E35-68E4607B6464}"/>
              </a:ext>
            </a:extLst>
          </p:cNvPr>
          <p:cNvSpPr>
            <a:spLocks noGrp="1"/>
          </p:cNvSpPr>
          <p:nvPr>
            <p:ph idx="10"/>
          </p:nvPr>
        </p:nvSpPr>
        <p:spPr>
          <a:xfrm>
            <a:off x="3604259" y="3514283"/>
            <a:ext cx="6256019" cy="1004641"/>
          </a:xfrm>
        </p:spPr>
        <p:txBody>
          <a:bodyPr lIns="0" tIns="0" rIns="0" bIns="0" anchor="ctr">
            <a:normAutofit/>
          </a:bodyPr>
          <a:lstStyle>
            <a:lvl1pPr marL="0" indent="0" algn="ctr">
              <a:lnSpc>
                <a:spcPct val="150000"/>
              </a:lnSpc>
              <a:spcBef>
                <a:spcPts val="0"/>
              </a:spcBef>
              <a:buFontTx/>
              <a:buNone/>
              <a:defRPr sz="2000" b="1">
                <a:solidFill>
                  <a:srgbClr val="022A03"/>
                </a:solidFill>
                <a:latin typeface="+mj-lt"/>
              </a:defRPr>
            </a:lvl1pPr>
            <a:lvl2pPr marL="180000" indent="0">
              <a:lnSpc>
                <a:spcPct val="150000"/>
              </a:lnSpc>
              <a:spcBef>
                <a:spcPts val="0"/>
              </a:spcBef>
              <a:buFontTx/>
              <a:buNone/>
              <a:defRPr sz="1600" b="1">
                <a:latin typeface="Aptos Light" panose="020B0004020202020204" pitchFamily="34" charset="0"/>
              </a:defRPr>
            </a:lvl2pPr>
            <a:lvl3pPr marL="180000" indent="0">
              <a:lnSpc>
                <a:spcPct val="150000"/>
              </a:lnSpc>
              <a:spcBef>
                <a:spcPts val="0"/>
              </a:spcBef>
              <a:buFontTx/>
              <a:buNone/>
              <a:defRPr sz="1200">
                <a:latin typeface="Aptos Light" panose="020B0004020202020204" pitchFamily="34" charset="0"/>
              </a:defRPr>
            </a:lvl3pPr>
            <a:lvl4pPr marL="180000" indent="0">
              <a:lnSpc>
                <a:spcPct val="150000"/>
              </a:lnSpc>
              <a:spcBef>
                <a:spcPts val="0"/>
              </a:spcBef>
              <a:buFontTx/>
              <a:buNone/>
              <a:defRPr sz="1100">
                <a:latin typeface="Aptos Light" panose="020B0004020202020204" pitchFamily="34" charset="0"/>
              </a:defRPr>
            </a:lvl4pPr>
            <a:lvl5pPr marL="180000" indent="0">
              <a:lnSpc>
                <a:spcPct val="150000"/>
              </a:lnSpc>
              <a:spcBef>
                <a:spcPts val="0"/>
              </a:spcBef>
              <a:buFontTx/>
              <a:buNone/>
              <a:defRPr sz="1100">
                <a:latin typeface="Aptos Light" panose="020B0004020202020204" pitchFamily="34" charset="0"/>
              </a:defRPr>
            </a:lvl5pPr>
          </a:lstStyle>
          <a:p>
            <a:pPr lvl="0"/>
            <a:r>
              <a:rPr lang="en-GB"/>
              <a:t>Click to edit Master text styles</a:t>
            </a:r>
          </a:p>
        </p:txBody>
      </p:sp>
      <p:sp>
        <p:nvSpPr>
          <p:cNvPr id="12" name="Content Placeholder 2">
            <a:extLst>
              <a:ext uri="{FF2B5EF4-FFF2-40B4-BE49-F238E27FC236}">
                <a16:creationId xmlns:a16="http://schemas.microsoft.com/office/drawing/2014/main" id="{159C0CB4-338D-ED40-8A54-E72C02A503A5}"/>
              </a:ext>
            </a:extLst>
          </p:cNvPr>
          <p:cNvSpPr>
            <a:spLocks noGrp="1"/>
          </p:cNvSpPr>
          <p:nvPr>
            <p:ph idx="11"/>
          </p:nvPr>
        </p:nvSpPr>
        <p:spPr>
          <a:xfrm>
            <a:off x="3604259" y="5000447"/>
            <a:ext cx="6256019" cy="1004641"/>
          </a:xfrm>
        </p:spPr>
        <p:txBody>
          <a:bodyPr lIns="0" tIns="0" rIns="0" bIns="0" anchor="ctr">
            <a:normAutofit/>
          </a:bodyPr>
          <a:lstStyle>
            <a:lvl1pPr marL="0" indent="0" algn="ctr">
              <a:lnSpc>
                <a:spcPct val="150000"/>
              </a:lnSpc>
              <a:spcBef>
                <a:spcPts val="0"/>
              </a:spcBef>
              <a:buFontTx/>
              <a:buNone/>
              <a:defRPr sz="2000" b="1">
                <a:solidFill>
                  <a:srgbClr val="022A03"/>
                </a:solidFill>
                <a:latin typeface="+mj-lt"/>
              </a:defRPr>
            </a:lvl1pPr>
            <a:lvl2pPr marL="180000" indent="0">
              <a:lnSpc>
                <a:spcPct val="150000"/>
              </a:lnSpc>
              <a:spcBef>
                <a:spcPts val="0"/>
              </a:spcBef>
              <a:buFontTx/>
              <a:buNone/>
              <a:defRPr sz="1600" b="1">
                <a:latin typeface="Aptos Light" panose="020B0004020202020204" pitchFamily="34" charset="0"/>
              </a:defRPr>
            </a:lvl2pPr>
            <a:lvl3pPr marL="180000" indent="0">
              <a:lnSpc>
                <a:spcPct val="150000"/>
              </a:lnSpc>
              <a:spcBef>
                <a:spcPts val="0"/>
              </a:spcBef>
              <a:buFontTx/>
              <a:buNone/>
              <a:defRPr sz="1200">
                <a:latin typeface="Aptos Light" panose="020B0004020202020204" pitchFamily="34" charset="0"/>
              </a:defRPr>
            </a:lvl3pPr>
            <a:lvl4pPr marL="180000" indent="0">
              <a:lnSpc>
                <a:spcPct val="150000"/>
              </a:lnSpc>
              <a:spcBef>
                <a:spcPts val="0"/>
              </a:spcBef>
              <a:buFontTx/>
              <a:buNone/>
              <a:defRPr sz="1100">
                <a:latin typeface="Aptos Light" panose="020B0004020202020204" pitchFamily="34" charset="0"/>
              </a:defRPr>
            </a:lvl4pPr>
            <a:lvl5pPr marL="180000" indent="0">
              <a:lnSpc>
                <a:spcPct val="150000"/>
              </a:lnSpc>
              <a:spcBef>
                <a:spcPts val="0"/>
              </a:spcBef>
              <a:buFontTx/>
              <a:buNone/>
              <a:defRPr sz="1100">
                <a:latin typeface="Aptos Light" panose="020B0004020202020204" pitchFamily="34" charset="0"/>
              </a:defRPr>
            </a:lvl5pPr>
          </a:lstStyle>
          <a:p>
            <a:pPr lvl="0"/>
            <a:r>
              <a:rPr lang="en-GB"/>
              <a:t>Click to edit Master text styles</a:t>
            </a:r>
          </a:p>
        </p:txBody>
      </p:sp>
      <p:sp>
        <p:nvSpPr>
          <p:cNvPr id="13" name="TextBox 12">
            <a:extLst>
              <a:ext uri="{FF2B5EF4-FFF2-40B4-BE49-F238E27FC236}">
                <a16:creationId xmlns:a16="http://schemas.microsoft.com/office/drawing/2014/main" id="{2A63633D-EB5D-A98F-07DA-3BA009619755}"/>
              </a:ext>
            </a:extLst>
          </p:cNvPr>
          <p:cNvSpPr txBox="1"/>
          <p:nvPr userDrawn="1"/>
        </p:nvSpPr>
        <p:spPr>
          <a:xfrm>
            <a:off x="2110740" y="2028118"/>
            <a:ext cx="1226820" cy="1015663"/>
          </a:xfrm>
          <a:prstGeom prst="rect">
            <a:avLst/>
          </a:prstGeom>
          <a:noFill/>
        </p:spPr>
        <p:txBody>
          <a:bodyPr wrap="square" rtlCol="0">
            <a:spAutoFit/>
          </a:bodyPr>
          <a:lstStyle/>
          <a:p>
            <a:pPr algn="ctr"/>
            <a:r>
              <a:rPr lang="en-US" sz="6000" b="1">
                <a:solidFill>
                  <a:srgbClr val="022A03"/>
                </a:solidFill>
              </a:rPr>
              <a:t>1</a:t>
            </a:r>
          </a:p>
        </p:txBody>
      </p:sp>
      <p:sp>
        <p:nvSpPr>
          <p:cNvPr id="14" name="TextBox 13">
            <a:extLst>
              <a:ext uri="{FF2B5EF4-FFF2-40B4-BE49-F238E27FC236}">
                <a16:creationId xmlns:a16="http://schemas.microsoft.com/office/drawing/2014/main" id="{5966B016-9CAC-1A98-A39F-7A2C4634380B}"/>
              </a:ext>
            </a:extLst>
          </p:cNvPr>
          <p:cNvSpPr txBox="1"/>
          <p:nvPr userDrawn="1"/>
        </p:nvSpPr>
        <p:spPr>
          <a:xfrm>
            <a:off x="2110740" y="3508771"/>
            <a:ext cx="1226820" cy="1015663"/>
          </a:xfrm>
          <a:prstGeom prst="rect">
            <a:avLst/>
          </a:prstGeom>
          <a:noFill/>
        </p:spPr>
        <p:txBody>
          <a:bodyPr wrap="square" rtlCol="0">
            <a:spAutoFit/>
          </a:bodyPr>
          <a:lstStyle/>
          <a:p>
            <a:pPr algn="ctr"/>
            <a:r>
              <a:rPr lang="en-US" sz="6000" b="1">
                <a:solidFill>
                  <a:srgbClr val="022A03"/>
                </a:solidFill>
              </a:rPr>
              <a:t>2</a:t>
            </a:r>
          </a:p>
        </p:txBody>
      </p:sp>
      <p:sp>
        <p:nvSpPr>
          <p:cNvPr id="15" name="TextBox 14">
            <a:extLst>
              <a:ext uri="{FF2B5EF4-FFF2-40B4-BE49-F238E27FC236}">
                <a16:creationId xmlns:a16="http://schemas.microsoft.com/office/drawing/2014/main" id="{9BEBA865-8E0C-574B-6D4E-A940B292CEC2}"/>
              </a:ext>
            </a:extLst>
          </p:cNvPr>
          <p:cNvSpPr txBox="1"/>
          <p:nvPr userDrawn="1"/>
        </p:nvSpPr>
        <p:spPr>
          <a:xfrm>
            <a:off x="2110740" y="4985593"/>
            <a:ext cx="1226820" cy="1015663"/>
          </a:xfrm>
          <a:prstGeom prst="rect">
            <a:avLst/>
          </a:prstGeom>
          <a:noFill/>
        </p:spPr>
        <p:txBody>
          <a:bodyPr wrap="square" rtlCol="0">
            <a:spAutoFit/>
          </a:bodyPr>
          <a:lstStyle/>
          <a:p>
            <a:pPr algn="ctr"/>
            <a:r>
              <a:rPr lang="en-US" sz="6000" b="1">
                <a:solidFill>
                  <a:srgbClr val="022A03"/>
                </a:solidFill>
              </a:rPr>
              <a:t>3</a:t>
            </a:r>
          </a:p>
        </p:txBody>
      </p:sp>
      <p:sp>
        <p:nvSpPr>
          <p:cNvPr id="17" name="Rectangle 16">
            <a:extLst>
              <a:ext uri="{FF2B5EF4-FFF2-40B4-BE49-F238E27FC236}">
                <a16:creationId xmlns:a16="http://schemas.microsoft.com/office/drawing/2014/main" id="{01D10C3E-C94C-ABFF-8AD4-E5A988B72F6E}"/>
              </a:ext>
            </a:extLst>
          </p:cNvPr>
          <p:cNvSpPr>
            <a:spLocks noChangeArrowheads="1"/>
          </p:cNvSpPr>
          <p:nvPr userDrawn="1"/>
        </p:nvSpPr>
        <p:spPr bwMode="auto">
          <a:xfrm rot="16200000">
            <a:off x="2814370" y="2489725"/>
            <a:ext cx="1030518" cy="107303"/>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18" name="Rectangle 17">
            <a:extLst>
              <a:ext uri="{FF2B5EF4-FFF2-40B4-BE49-F238E27FC236}">
                <a16:creationId xmlns:a16="http://schemas.microsoft.com/office/drawing/2014/main" id="{3DCAFB70-F0DE-04D2-6E4C-9C0E7BF36D9A}"/>
              </a:ext>
            </a:extLst>
          </p:cNvPr>
          <p:cNvSpPr>
            <a:spLocks noChangeArrowheads="1"/>
          </p:cNvSpPr>
          <p:nvPr userDrawn="1"/>
        </p:nvSpPr>
        <p:spPr bwMode="auto">
          <a:xfrm rot="16200000">
            <a:off x="2814369" y="3962951"/>
            <a:ext cx="1030518" cy="107303"/>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19" name="Rectangle 18">
            <a:extLst>
              <a:ext uri="{FF2B5EF4-FFF2-40B4-BE49-F238E27FC236}">
                <a16:creationId xmlns:a16="http://schemas.microsoft.com/office/drawing/2014/main" id="{3D9EB62E-E343-2D52-74C0-6A97CF75238C}"/>
              </a:ext>
            </a:extLst>
          </p:cNvPr>
          <p:cNvSpPr>
            <a:spLocks noChangeArrowheads="1"/>
          </p:cNvSpPr>
          <p:nvPr userDrawn="1"/>
        </p:nvSpPr>
        <p:spPr bwMode="auto">
          <a:xfrm rot="16200000">
            <a:off x="2814368" y="5429432"/>
            <a:ext cx="1030518" cy="107303"/>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85522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lank">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141308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7922-DC05-E090-3733-47F38B64A6B9}"/>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114300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3">
            <a:extLst>
              <a:ext uri="{FF2B5EF4-FFF2-40B4-BE49-F238E27FC236}">
                <a16:creationId xmlns:a16="http://schemas.microsoft.com/office/drawing/2014/main" id="{BDF33BF7-518E-D456-88E0-CC757E244600}"/>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454252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Row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11430000" cy="245101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FA5A3EFE-D4C6-CD71-FF12-B7BA4700E696}"/>
              </a:ext>
            </a:extLst>
          </p:cNvPr>
          <p:cNvSpPr>
            <a:spLocks noGrp="1"/>
          </p:cNvSpPr>
          <p:nvPr>
            <p:ph idx="10"/>
          </p:nvPr>
        </p:nvSpPr>
        <p:spPr>
          <a:xfrm>
            <a:off x="381000" y="4199953"/>
            <a:ext cx="11430000" cy="245101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6A14FACF-FB05-C1DF-5ED5-B96388F76E41}"/>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790D7F58-F86D-8FFC-DE9C-F1B5AAA9332C}"/>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088851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56134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6197602" y="1659430"/>
            <a:ext cx="56134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97DF5A4A-C504-EC4B-9173-257B619ED874}"/>
              </a:ext>
            </a:extLst>
          </p:cNvPr>
          <p:cNvSpPr>
            <a:spLocks noGrp="1"/>
          </p:cNvSpPr>
          <p:nvPr>
            <p:ph type="title"/>
          </p:nvPr>
        </p:nvSpPr>
        <p:spPr>
          <a:xfrm>
            <a:off x="381000" y="451968"/>
            <a:ext cx="11430000" cy="782584"/>
          </a:xfrm>
        </p:spPr>
        <p:txBody>
          <a:bodyPr lIns="0" tIns="0" rIns="0" bIns="0"/>
          <a:lstStyle>
            <a:lvl1pPr>
              <a:lnSpc>
                <a:spcPct val="100000"/>
              </a:lnSpc>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74B6DE8E-8099-E1A6-5857-888283BBFBEF}"/>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84735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umn and Graphic">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56134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97DF5A4A-C504-EC4B-9173-257B619ED874}"/>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129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74B6DE8E-8099-E1A6-5857-888283BBFBEF}"/>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372406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s &amp; 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2090057"/>
            <a:ext cx="5600700" cy="398852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6210302" y="2090057"/>
            <a:ext cx="5600700" cy="398852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2">
            <a:extLst>
              <a:ext uri="{FF2B5EF4-FFF2-40B4-BE49-F238E27FC236}">
                <a16:creationId xmlns:a16="http://schemas.microsoft.com/office/drawing/2014/main" id="{B57F982E-7A3C-7545-FD99-AB3C6948944C}"/>
              </a:ext>
            </a:extLst>
          </p:cNvPr>
          <p:cNvSpPr>
            <a:spLocks noGrp="1"/>
          </p:cNvSpPr>
          <p:nvPr>
            <p:ph idx="13"/>
          </p:nvPr>
        </p:nvSpPr>
        <p:spPr>
          <a:xfrm>
            <a:off x="380998" y="1659429"/>
            <a:ext cx="5600700" cy="430628"/>
          </a:xfrm>
        </p:spPr>
        <p:txBody>
          <a:bodyPr lIns="0" tIns="0" rIns="0" bIns="0">
            <a:normAutofit/>
          </a:bodyPr>
          <a:lstStyle>
            <a:lvl1pPr marL="0" indent="0">
              <a:lnSpc>
                <a:spcPct val="100000"/>
              </a:lnSpc>
              <a:spcBef>
                <a:spcPts val="0"/>
              </a:spcBef>
              <a:buNone/>
              <a:defRPr sz="1400" b="1">
                <a:latin typeface="Aptos Light" panose="020B0004020202020204" pitchFamily="34" charset="0"/>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GB"/>
              <a:t>Click to edit Master text styles</a:t>
            </a:r>
          </a:p>
        </p:txBody>
      </p:sp>
      <p:sp>
        <p:nvSpPr>
          <p:cNvPr id="9" name="Content Placeholder 2">
            <a:extLst>
              <a:ext uri="{FF2B5EF4-FFF2-40B4-BE49-F238E27FC236}">
                <a16:creationId xmlns:a16="http://schemas.microsoft.com/office/drawing/2014/main" id="{A63CA293-AF07-B48E-784E-090121C7D02A}"/>
              </a:ext>
            </a:extLst>
          </p:cNvPr>
          <p:cNvSpPr>
            <a:spLocks noGrp="1"/>
          </p:cNvSpPr>
          <p:nvPr>
            <p:ph idx="14"/>
          </p:nvPr>
        </p:nvSpPr>
        <p:spPr>
          <a:xfrm>
            <a:off x="6210302" y="1659429"/>
            <a:ext cx="5600700" cy="430628"/>
          </a:xfrm>
        </p:spPr>
        <p:txBody>
          <a:bodyPr lIns="0" tIns="0" rIns="0" bIns="0">
            <a:normAutofit/>
          </a:bodyPr>
          <a:lstStyle>
            <a:lvl1pPr marL="0" indent="0">
              <a:lnSpc>
                <a:spcPct val="100000"/>
              </a:lnSpc>
              <a:spcBef>
                <a:spcPts val="0"/>
              </a:spcBef>
              <a:buNone/>
              <a:defRPr sz="1400" b="1">
                <a:latin typeface="Aptos Light" panose="020B0004020202020204" pitchFamily="34" charset="0"/>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GB"/>
              <a:t>Click to edit Master text styles</a:t>
            </a:r>
          </a:p>
        </p:txBody>
      </p:sp>
      <p:sp>
        <p:nvSpPr>
          <p:cNvPr id="5" name="Content Placeholder 3">
            <a:extLst>
              <a:ext uri="{FF2B5EF4-FFF2-40B4-BE49-F238E27FC236}">
                <a16:creationId xmlns:a16="http://schemas.microsoft.com/office/drawing/2014/main" id="{5E58DB2A-9A7E-122D-D4B9-6C7666CF2281}"/>
              </a:ext>
            </a:extLst>
          </p:cNvPr>
          <p:cNvSpPr>
            <a:spLocks noGrp="1"/>
          </p:cNvSpPr>
          <p:nvPr>
            <p:ph sz="half" idx="15"/>
          </p:nvPr>
        </p:nvSpPr>
        <p:spPr>
          <a:xfrm>
            <a:off x="381000" y="6078583"/>
            <a:ext cx="11430000" cy="587828"/>
          </a:xfrm>
        </p:spPr>
        <p:txBody>
          <a:bodyPr>
            <a:normAutofit/>
          </a:bodyPr>
          <a:lstStyle>
            <a:lvl1pPr marL="0" indent="0">
              <a:buNone/>
              <a:defRPr sz="1400">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GB"/>
              <a:t>Click to edit Master text styles</a:t>
            </a:r>
          </a:p>
        </p:txBody>
      </p:sp>
      <p:sp>
        <p:nvSpPr>
          <p:cNvPr id="6" name="Title 1">
            <a:extLst>
              <a:ext uri="{FF2B5EF4-FFF2-40B4-BE49-F238E27FC236}">
                <a16:creationId xmlns:a16="http://schemas.microsoft.com/office/drawing/2014/main" id="{F28FD8D7-CA6B-F920-3AB1-CB8A5A95CA5B}"/>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051D5AFC-0440-485B-86C8-810AC47BC78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118542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81153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3C6CF8AF-8E7F-C392-6B60-25F939B99E87}"/>
              </a:ext>
            </a:extLst>
          </p:cNvPr>
          <p:cNvSpPr>
            <a:spLocks noGrp="1"/>
          </p:cNvSpPr>
          <p:nvPr>
            <p:ph idx="11"/>
          </p:nvPr>
        </p:nvSpPr>
        <p:spPr>
          <a:xfrm>
            <a:off x="424815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itle 1">
            <a:extLst>
              <a:ext uri="{FF2B5EF4-FFF2-40B4-BE49-F238E27FC236}">
                <a16:creationId xmlns:a16="http://schemas.microsoft.com/office/drawing/2014/main" id="{14C23E97-5B22-0A3A-F786-3D00A0AE101C}"/>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6328C66A-A1B5-E52B-DD72-9B16AED5E2DC}"/>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188867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Uneven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4248150" y="1659430"/>
            <a:ext cx="756132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EFABAE81-F060-D0FD-2B68-9764A8A75E6B}"/>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B38CE43B-C898-AC6A-07F1-7A35FE409241}"/>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6505323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Uneven Columns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7561326" cy="4995894"/>
          </a:xfrm>
        </p:spPr>
        <p:txBody>
          <a:bodyPr lIns="0" tIns="0" rIns="0" bIns="0"/>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8115300" y="1659430"/>
            <a:ext cx="3694176" cy="4995894"/>
          </a:xfrm>
        </p:spPr>
        <p:txBody>
          <a:bodyPr lIns="0" tIns="0" rIns="0" bIns="0"/>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D1DD5961-ADE9-2181-33D2-EC5BE44F2EDD}"/>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2344F587-94FB-7D0A-7054-897BD1844FF5}"/>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787229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ulti Sec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4995894"/>
          </a:xfrm>
        </p:spPr>
        <p:txBody>
          <a:bodyPr lIns="0" tIns="0" rIns="0" bIns="0"/>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Content Placeholder 2">
            <a:extLst>
              <a:ext uri="{FF2B5EF4-FFF2-40B4-BE49-F238E27FC236}">
                <a16:creationId xmlns:a16="http://schemas.microsoft.com/office/drawing/2014/main" id="{242E47B4-724D-A743-4C32-A99CFAC5C79A}"/>
              </a:ext>
            </a:extLst>
          </p:cNvPr>
          <p:cNvSpPr>
            <a:spLocks noGrp="1"/>
          </p:cNvSpPr>
          <p:nvPr>
            <p:ph idx="10"/>
          </p:nvPr>
        </p:nvSpPr>
        <p:spPr>
          <a:xfrm>
            <a:off x="4248912" y="1659429"/>
            <a:ext cx="3694176" cy="2397673"/>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Content Placeholder 2">
            <a:extLst>
              <a:ext uri="{FF2B5EF4-FFF2-40B4-BE49-F238E27FC236}">
                <a16:creationId xmlns:a16="http://schemas.microsoft.com/office/drawing/2014/main" id="{535A7E6D-E8D4-E6DA-B873-7DD55BBEA6E4}"/>
              </a:ext>
            </a:extLst>
          </p:cNvPr>
          <p:cNvSpPr>
            <a:spLocks noGrp="1"/>
          </p:cNvSpPr>
          <p:nvPr>
            <p:ph idx="11"/>
          </p:nvPr>
        </p:nvSpPr>
        <p:spPr>
          <a:xfrm>
            <a:off x="8116062" y="1659429"/>
            <a:ext cx="3694176" cy="2397673"/>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Content Placeholder 2">
            <a:extLst>
              <a:ext uri="{FF2B5EF4-FFF2-40B4-BE49-F238E27FC236}">
                <a16:creationId xmlns:a16="http://schemas.microsoft.com/office/drawing/2014/main" id="{86857C3D-DFAF-2C05-2FA1-0AE2EE70D8A4}"/>
              </a:ext>
            </a:extLst>
          </p:cNvPr>
          <p:cNvSpPr>
            <a:spLocks noGrp="1"/>
          </p:cNvSpPr>
          <p:nvPr>
            <p:ph idx="12"/>
          </p:nvPr>
        </p:nvSpPr>
        <p:spPr>
          <a:xfrm>
            <a:off x="4248912" y="4240679"/>
            <a:ext cx="3694176" cy="2414644"/>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C2311C06-D0D0-F28C-7A0E-2E1DBAFCECEB}"/>
              </a:ext>
            </a:extLst>
          </p:cNvPr>
          <p:cNvSpPr>
            <a:spLocks noGrp="1"/>
          </p:cNvSpPr>
          <p:nvPr>
            <p:ph idx="13"/>
          </p:nvPr>
        </p:nvSpPr>
        <p:spPr>
          <a:xfrm>
            <a:off x="8116062" y="4240679"/>
            <a:ext cx="3694176" cy="2397673"/>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itle 1">
            <a:extLst>
              <a:ext uri="{FF2B5EF4-FFF2-40B4-BE49-F238E27FC236}">
                <a16:creationId xmlns:a16="http://schemas.microsoft.com/office/drawing/2014/main" id="{CB158A48-4088-8821-E336-55D08AAF82AC}"/>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53A4887F-C1C1-1B12-7812-77CC727B0DB1}"/>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5386251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ulti Section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81153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3C6CF8AF-8E7F-C392-6B60-25F939B99E87}"/>
              </a:ext>
            </a:extLst>
          </p:cNvPr>
          <p:cNvSpPr>
            <a:spLocks noGrp="1"/>
          </p:cNvSpPr>
          <p:nvPr>
            <p:ph idx="11"/>
          </p:nvPr>
        </p:nvSpPr>
        <p:spPr>
          <a:xfrm>
            <a:off x="4248150" y="165943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2">
            <a:extLst>
              <a:ext uri="{FF2B5EF4-FFF2-40B4-BE49-F238E27FC236}">
                <a16:creationId xmlns:a16="http://schemas.microsoft.com/office/drawing/2014/main" id="{DE33F1A7-9B69-663A-6FCC-445F8A306714}"/>
              </a:ext>
            </a:extLst>
          </p:cNvPr>
          <p:cNvSpPr>
            <a:spLocks noGrp="1"/>
          </p:cNvSpPr>
          <p:nvPr>
            <p:ph idx="12"/>
          </p:nvPr>
        </p:nvSpPr>
        <p:spPr>
          <a:xfrm>
            <a:off x="381000" y="424068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2">
            <a:extLst>
              <a:ext uri="{FF2B5EF4-FFF2-40B4-BE49-F238E27FC236}">
                <a16:creationId xmlns:a16="http://schemas.microsoft.com/office/drawing/2014/main" id="{55B16FC6-E5D0-5E3C-FD29-0F9A5CDE76E6}"/>
              </a:ext>
            </a:extLst>
          </p:cNvPr>
          <p:cNvSpPr>
            <a:spLocks noGrp="1"/>
          </p:cNvSpPr>
          <p:nvPr>
            <p:ph idx="13"/>
          </p:nvPr>
        </p:nvSpPr>
        <p:spPr>
          <a:xfrm>
            <a:off x="4248150" y="424068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itle 1">
            <a:extLst>
              <a:ext uri="{FF2B5EF4-FFF2-40B4-BE49-F238E27FC236}">
                <a16:creationId xmlns:a16="http://schemas.microsoft.com/office/drawing/2014/main" id="{03E00A60-14E6-D079-B651-45272189B32D}"/>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5F70C8F2-C127-AF53-70B7-4952579458D2}"/>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4598218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Sectio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6197602" y="1659429"/>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B6C4B1BB-C5E2-974C-81F3-2FF06120B36C}"/>
              </a:ext>
            </a:extLst>
          </p:cNvPr>
          <p:cNvSpPr>
            <a:spLocks noGrp="1"/>
          </p:cNvSpPr>
          <p:nvPr>
            <p:ph idx="11"/>
          </p:nvPr>
        </p:nvSpPr>
        <p:spPr>
          <a:xfrm>
            <a:off x="380998" y="4201485"/>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2">
            <a:extLst>
              <a:ext uri="{FF2B5EF4-FFF2-40B4-BE49-F238E27FC236}">
                <a16:creationId xmlns:a16="http://schemas.microsoft.com/office/drawing/2014/main" id="{87849F3D-31FF-F086-E4A6-F57D3C5BDB6F}"/>
              </a:ext>
            </a:extLst>
          </p:cNvPr>
          <p:cNvSpPr>
            <a:spLocks noGrp="1"/>
          </p:cNvSpPr>
          <p:nvPr>
            <p:ph idx="12"/>
          </p:nvPr>
        </p:nvSpPr>
        <p:spPr>
          <a:xfrm>
            <a:off x="6197600" y="4201484"/>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1">
            <a:extLst>
              <a:ext uri="{FF2B5EF4-FFF2-40B4-BE49-F238E27FC236}">
                <a16:creationId xmlns:a16="http://schemas.microsoft.com/office/drawing/2014/main" id="{F7DDA1A4-E243-0BD0-0643-3DEA660DC7C9}"/>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E637B879-CC67-E7A8-1C3D-AD59065A8CE5}"/>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4012344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0646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descr="A factory with smoke coming out of it&#10;&#10;Description automatically generated">
            <a:extLst>
              <a:ext uri="{FF2B5EF4-FFF2-40B4-BE49-F238E27FC236}">
                <a16:creationId xmlns:a16="http://schemas.microsoft.com/office/drawing/2014/main" id="{A9157873-58AD-4AA2-6D8E-F03598A35D92}"/>
              </a:ext>
            </a:extLst>
          </p:cNvPr>
          <p:cNvPicPr>
            <a:picLocks noChangeAspect="1"/>
          </p:cNvPicPr>
          <p:nvPr userDrawn="1"/>
        </p:nvPicPr>
        <p:blipFill rotWithShape="1">
          <a:blip r:embed="rId2"/>
          <a:srcRect l="3707" t="-2" b="15321"/>
          <a:stretch/>
        </p:blipFill>
        <p:spPr>
          <a:xfrm>
            <a:off x="0" y="-1"/>
            <a:ext cx="12445594" cy="6858001"/>
          </a:xfrm>
          <a:prstGeom prst="rect">
            <a:avLst/>
          </a:prstGeom>
        </p:spPr>
      </p:pic>
      <p:sp>
        <p:nvSpPr>
          <p:cNvPr id="6" name="Google Shape;90;p19">
            <a:extLst>
              <a:ext uri="{FF2B5EF4-FFF2-40B4-BE49-F238E27FC236}">
                <a16:creationId xmlns:a16="http://schemas.microsoft.com/office/drawing/2014/main" id="{39AFFF43-5BE9-F318-34BD-0DC6CEA6A8AA}"/>
              </a:ext>
            </a:extLst>
          </p:cNvPr>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549758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4" name="Picture 3" descr="A factory with smoke coming out of it&#10;&#10;Description automatically generated">
            <a:extLst>
              <a:ext uri="{FF2B5EF4-FFF2-40B4-BE49-F238E27FC236}">
                <a16:creationId xmlns:a16="http://schemas.microsoft.com/office/drawing/2014/main" id="{A9157873-58AD-4AA2-6D8E-F03598A35D92}"/>
              </a:ext>
            </a:extLst>
          </p:cNvPr>
          <p:cNvPicPr>
            <a:picLocks noChangeAspect="1"/>
          </p:cNvPicPr>
          <p:nvPr userDrawn="1"/>
        </p:nvPicPr>
        <p:blipFill rotWithShape="1">
          <a:blip r:embed="rId2"/>
          <a:srcRect l="3707" t="-2" b="81342"/>
          <a:stretch/>
        </p:blipFill>
        <p:spPr>
          <a:xfrm>
            <a:off x="0" y="-1"/>
            <a:ext cx="12445594" cy="1511159"/>
          </a:xfrm>
          <a:prstGeom prst="rect">
            <a:avLst/>
          </a:prstGeom>
        </p:spPr>
      </p:pic>
      <p:sp>
        <p:nvSpPr>
          <p:cNvPr id="6" name="Google Shape;90;p19">
            <a:extLst>
              <a:ext uri="{FF2B5EF4-FFF2-40B4-BE49-F238E27FC236}">
                <a16:creationId xmlns:a16="http://schemas.microsoft.com/office/drawing/2014/main" id="{39AFFF43-5BE9-F318-34BD-0DC6CEA6A8AA}"/>
              </a:ext>
            </a:extLst>
          </p:cNvPr>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extLst>
      <p:ext uri="{BB962C8B-B14F-4D97-AF65-F5344CB8AC3E}">
        <p14:creationId xmlns:p14="http://schemas.microsoft.com/office/powerpoint/2010/main" val="41357664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04665"/>
            <a:ext cx="5198293" cy="1296145"/>
          </a:xfrm>
        </p:spPr>
        <p:txBody>
          <a:bodyPr>
            <a:noAutofit/>
          </a:bodyPr>
          <a:lstStyle>
            <a:lvl1pPr>
              <a:lnSpc>
                <a:spcPct val="90000"/>
              </a:lnSpc>
              <a:defRPr sz="3600">
                <a:solidFill>
                  <a:schemeClr val="accent3">
                    <a:lumMod val="50000"/>
                  </a:schemeClr>
                </a:solidFill>
              </a:defRPr>
            </a:lvl1pPr>
          </a:lstStyle>
          <a:p>
            <a:r>
              <a:rPr lang="en-GB"/>
              <a:t>Click to edit Master title style</a:t>
            </a:r>
            <a:endParaRPr lang="en-US"/>
          </a:p>
        </p:txBody>
      </p:sp>
      <p:sp>
        <p:nvSpPr>
          <p:cNvPr id="3" name="Date Placeholder 2"/>
          <p:cNvSpPr>
            <a:spLocks noGrp="1"/>
          </p:cNvSpPr>
          <p:nvPr>
            <p:ph type="dt" sz="half" idx="10"/>
          </p:nvPr>
        </p:nvSpPr>
        <p:spPr/>
        <p:txBody>
          <a:bodyPr/>
          <a:lstStyle/>
          <a:p>
            <a:fld id="{425404F2-BE9A-4460-8815-8F645183555F}" type="datetimeFigureOut">
              <a:rPr lang="en-US" smtClean="0"/>
              <a:pPr/>
              <a:t>27-Sep-24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17" name="Text Placeholder 16">
            <a:extLst>
              <a:ext uri="{FF2B5EF4-FFF2-40B4-BE49-F238E27FC236}">
                <a16:creationId xmlns:a16="http://schemas.microsoft.com/office/drawing/2014/main" id="{AD29DD13-E7CE-CD40-CC13-3D082FB689DB}"/>
              </a:ext>
            </a:extLst>
          </p:cNvPr>
          <p:cNvSpPr>
            <a:spLocks noGrp="1"/>
          </p:cNvSpPr>
          <p:nvPr>
            <p:ph type="body" sz="quarter" idx="13" hasCustomPrompt="1"/>
          </p:nvPr>
        </p:nvSpPr>
        <p:spPr>
          <a:xfrm>
            <a:off x="5967534" y="404660"/>
            <a:ext cx="3860799" cy="1296145"/>
          </a:xfrm>
        </p:spPr>
        <p:txBody>
          <a:bodyPr anchor="ctr">
            <a:noAutofit/>
          </a:bodyPr>
          <a:lstStyle>
            <a:lvl1pPr marL="0" indent="0">
              <a:buNone/>
              <a:defRPr sz="1800"/>
            </a:lvl1pPr>
            <a:lvl2pPr marL="609494" indent="0">
              <a:buNone/>
              <a:defRPr sz="1800"/>
            </a:lvl2pPr>
            <a:lvl3pPr marL="1218986" indent="0">
              <a:buNone/>
              <a:defRPr sz="1800"/>
            </a:lvl3pPr>
            <a:lvl4pPr marL="1828480" indent="0">
              <a:buNone/>
              <a:defRPr sz="1800"/>
            </a:lvl4pPr>
            <a:lvl5pPr marL="2437973" indent="0">
              <a:buNone/>
              <a:defRPr sz="1800"/>
            </a:lvl5pPr>
          </a:lstStyle>
          <a:p>
            <a:pPr lvl="0"/>
            <a:r>
              <a:rPr lang="en-US"/>
              <a:t>Insert your desired text here. This is a sample text.</a:t>
            </a:r>
          </a:p>
        </p:txBody>
      </p:sp>
    </p:spTree>
    <p:extLst>
      <p:ext uri="{BB962C8B-B14F-4D97-AF65-F5344CB8AC3E}">
        <p14:creationId xmlns:p14="http://schemas.microsoft.com/office/powerpoint/2010/main" val="4969611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Key Points">
  <p:cSld name="1_Key Points">
    <p:spTree>
      <p:nvGrpSpPr>
        <p:cNvPr id="1" name="Shape 18"/>
        <p:cNvGrpSpPr/>
        <p:nvPr/>
      </p:nvGrpSpPr>
      <p:grpSpPr>
        <a:xfrm>
          <a:off x="0" y="0"/>
          <a:ext cx="0" cy="0"/>
          <a:chOff x="0" y="0"/>
          <a:chExt cx="0" cy="0"/>
        </a:xfrm>
      </p:grpSpPr>
      <p:sp>
        <p:nvSpPr>
          <p:cNvPr id="19" name="Google Shape;19;p7"/>
          <p:cNvSpPr/>
          <p:nvPr/>
        </p:nvSpPr>
        <p:spPr>
          <a:xfrm>
            <a:off x="0" y="1"/>
            <a:ext cx="12192000" cy="1351398"/>
          </a:xfrm>
          <a:prstGeom prst="rect">
            <a:avLst/>
          </a:prstGeom>
          <a:solidFill>
            <a:srgbClr val="022A03"/>
          </a:solidFill>
          <a:ln w="12700" cap="flat" cmpd="sng">
            <a:solidFill>
              <a:srgbClr val="022A0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 name="Google Shape;20;p7"/>
          <p:cNvSpPr/>
          <p:nvPr/>
        </p:nvSpPr>
        <p:spPr>
          <a:xfrm>
            <a:off x="0" y="1355231"/>
            <a:ext cx="12192000" cy="155927"/>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21" name="Google Shape;21;p7"/>
          <p:cNvSpPr/>
          <p:nvPr/>
        </p:nvSpPr>
        <p:spPr>
          <a:xfrm>
            <a:off x="2110740" y="2028118"/>
            <a:ext cx="7970520" cy="1004641"/>
          </a:xfrm>
          <a:prstGeom prst="rect">
            <a:avLst/>
          </a:prstGeom>
          <a:solidFill>
            <a:srgbClr val="E9F0EE"/>
          </a:solidFill>
          <a:ln w="12700" cap="flat" cmpd="sng">
            <a:solidFill>
              <a:srgbClr val="EBF1E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3F7E2"/>
              </a:solidFill>
              <a:latin typeface="Arial"/>
              <a:ea typeface="Arial"/>
              <a:cs typeface="Arial"/>
              <a:sym typeface="Arial"/>
            </a:endParaRPr>
          </a:p>
        </p:txBody>
      </p:sp>
      <p:sp>
        <p:nvSpPr>
          <p:cNvPr id="22" name="Google Shape;22;p7"/>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lt1"/>
              </a:buClr>
              <a:buSzPts val="4400"/>
              <a:buFont typeface="Arial"/>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7"/>
          <p:cNvSpPr/>
          <p:nvPr/>
        </p:nvSpPr>
        <p:spPr>
          <a:xfrm>
            <a:off x="2110740" y="3514283"/>
            <a:ext cx="7970520" cy="1004641"/>
          </a:xfrm>
          <a:prstGeom prst="rect">
            <a:avLst/>
          </a:prstGeom>
          <a:solidFill>
            <a:srgbClr val="D7F3EC"/>
          </a:solidFill>
          <a:ln w="12700" cap="flat" cmpd="sng">
            <a:solidFill>
              <a:srgbClr val="DAF4E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7"/>
          <p:cNvSpPr/>
          <p:nvPr/>
        </p:nvSpPr>
        <p:spPr>
          <a:xfrm>
            <a:off x="2110740" y="5000448"/>
            <a:ext cx="7970520" cy="1004641"/>
          </a:xfrm>
          <a:prstGeom prst="rect">
            <a:avLst/>
          </a:prstGeom>
          <a:solidFill>
            <a:srgbClr val="EBF4D6"/>
          </a:solidFill>
          <a:ln w="12700" cap="flat" cmpd="sng">
            <a:solidFill>
              <a:srgbClr val="ECF4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 name="Google Shape;25;p7"/>
          <p:cNvSpPr txBox="1"/>
          <p:nvPr/>
        </p:nvSpPr>
        <p:spPr>
          <a:xfrm>
            <a:off x="2331720" y="2028118"/>
            <a:ext cx="7528560" cy="46788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800" b="0" i="0" u="none" strike="noStrike" cap="none">
              <a:solidFill>
                <a:srgbClr val="022A03"/>
              </a:solidFill>
              <a:latin typeface="Arial"/>
              <a:ea typeface="Arial"/>
              <a:cs typeface="Arial"/>
              <a:sym typeface="Arial"/>
            </a:endParaRPr>
          </a:p>
        </p:txBody>
      </p:sp>
      <p:sp>
        <p:nvSpPr>
          <p:cNvPr id="26" name="Google Shape;26;p7"/>
          <p:cNvSpPr txBox="1">
            <a:spLocks noGrp="1"/>
          </p:cNvSpPr>
          <p:nvPr>
            <p:ph type="body" idx="1"/>
          </p:nvPr>
        </p:nvSpPr>
        <p:spPr>
          <a:xfrm>
            <a:off x="3604260" y="2028118"/>
            <a:ext cx="6256020" cy="1004641"/>
          </a:xfrm>
          <a:prstGeom prst="rect">
            <a:avLst/>
          </a:prstGeom>
          <a:noFill/>
          <a:ln>
            <a:noFill/>
          </a:ln>
        </p:spPr>
        <p:txBody>
          <a:bodyPr spcFirstLastPara="1" wrap="square" lIns="0" tIns="0" rIns="0" bIns="0" anchor="ctr" anchorCtr="0">
            <a:normAutofit/>
          </a:bodyPr>
          <a:lstStyle>
            <a:lvl1pPr marL="457200" lvl="0" indent="-228600" algn="ctr">
              <a:lnSpc>
                <a:spcPct val="150000"/>
              </a:lnSpc>
              <a:spcBef>
                <a:spcPts val="0"/>
              </a:spcBef>
              <a:spcAft>
                <a:spcPts val="0"/>
              </a:spcAft>
              <a:buClr>
                <a:srgbClr val="022A03"/>
              </a:buClr>
              <a:buSzPts val="2000"/>
              <a:buFont typeface="Play"/>
              <a:buNone/>
              <a:defRPr sz="2000" b="1">
                <a:solidFill>
                  <a:srgbClr val="022A03"/>
                </a:solidFill>
                <a:latin typeface="Play"/>
                <a:ea typeface="Play"/>
                <a:cs typeface="Play"/>
                <a:sym typeface="Play"/>
              </a:defRPr>
            </a:lvl1pPr>
            <a:lvl2pPr marL="914400" lvl="1" indent="-228600" algn="l">
              <a:lnSpc>
                <a:spcPct val="150000"/>
              </a:lnSpc>
              <a:spcBef>
                <a:spcPts val="0"/>
              </a:spcBef>
              <a:spcAft>
                <a:spcPts val="0"/>
              </a:spcAft>
              <a:buClr>
                <a:srgbClr val="356D18"/>
              </a:buClr>
              <a:buSzPts val="1600"/>
              <a:buFont typeface="Arial"/>
              <a:buNone/>
              <a:defRPr sz="1600" b="1">
                <a:latin typeface="Arial"/>
                <a:ea typeface="Arial"/>
                <a:cs typeface="Arial"/>
                <a:sym typeface="Arial"/>
              </a:defRPr>
            </a:lvl2pPr>
            <a:lvl3pPr marL="1371600" lvl="2" indent="-228600" algn="l">
              <a:lnSpc>
                <a:spcPct val="150000"/>
              </a:lnSpc>
              <a:spcBef>
                <a:spcPts val="0"/>
              </a:spcBef>
              <a:spcAft>
                <a:spcPts val="0"/>
              </a:spcAft>
              <a:buClr>
                <a:srgbClr val="356D18"/>
              </a:buClr>
              <a:buSzPts val="1200"/>
              <a:buFont typeface="Arial"/>
              <a:buNone/>
              <a:defRPr sz="1200">
                <a:latin typeface="Arial"/>
                <a:ea typeface="Arial"/>
                <a:cs typeface="Arial"/>
                <a:sym typeface="Arial"/>
              </a:defRPr>
            </a:lvl3pPr>
            <a:lvl4pPr marL="1828800" lvl="3"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4pPr>
            <a:lvl5pPr marL="2286000" lvl="4"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 name="Google Shape;27;p7"/>
          <p:cNvSpPr txBox="1">
            <a:spLocks noGrp="1"/>
          </p:cNvSpPr>
          <p:nvPr>
            <p:ph type="body" idx="2"/>
          </p:nvPr>
        </p:nvSpPr>
        <p:spPr>
          <a:xfrm>
            <a:off x="3604259" y="3514283"/>
            <a:ext cx="6256019" cy="1004641"/>
          </a:xfrm>
          <a:prstGeom prst="rect">
            <a:avLst/>
          </a:prstGeom>
          <a:noFill/>
          <a:ln>
            <a:noFill/>
          </a:ln>
        </p:spPr>
        <p:txBody>
          <a:bodyPr spcFirstLastPara="1" wrap="square" lIns="0" tIns="0" rIns="0" bIns="0" anchor="ctr" anchorCtr="0">
            <a:normAutofit/>
          </a:bodyPr>
          <a:lstStyle>
            <a:lvl1pPr marL="457200" lvl="0" indent="-228600" algn="ctr">
              <a:lnSpc>
                <a:spcPct val="150000"/>
              </a:lnSpc>
              <a:spcBef>
                <a:spcPts val="0"/>
              </a:spcBef>
              <a:spcAft>
                <a:spcPts val="0"/>
              </a:spcAft>
              <a:buClr>
                <a:srgbClr val="022A03"/>
              </a:buClr>
              <a:buSzPts val="2000"/>
              <a:buFont typeface="Play"/>
              <a:buNone/>
              <a:defRPr sz="2000" b="1">
                <a:solidFill>
                  <a:srgbClr val="022A03"/>
                </a:solidFill>
                <a:latin typeface="Play"/>
                <a:ea typeface="Play"/>
                <a:cs typeface="Play"/>
                <a:sym typeface="Play"/>
              </a:defRPr>
            </a:lvl1pPr>
            <a:lvl2pPr marL="914400" lvl="1" indent="-228600" algn="l">
              <a:lnSpc>
                <a:spcPct val="150000"/>
              </a:lnSpc>
              <a:spcBef>
                <a:spcPts val="0"/>
              </a:spcBef>
              <a:spcAft>
                <a:spcPts val="0"/>
              </a:spcAft>
              <a:buClr>
                <a:srgbClr val="356D18"/>
              </a:buClr>
              <a:buSzPts val="1600"/>
              <a:buFont typeface="Arial"/>
              <a:buNone/>
              <a:defRPr sz="1600" b="1">
                <a:latin typeface="Arial"/>
                <a:ea typeface="Arial"/>
                <a:cs typeface="Arial"/>
                <a:sym typeface="Arial"/>
              </a:defRPr>
            </a:lvl2pPr>
            <a:lvl3pPr marL="1371600" lvl="2" indent="-228600" algn="l">
              <a:lnSpc>
                <a:spcPct val="150000"/>
              </a:lnSpc>
              <a:spcBef>
                <a:spcPts val="0"/>
              </a:spcBef>
              <a:spcAft>
                <a:spcPts val="0"/>
              </a:spcAft>
              <a:buClr>
                <a:srgbClr val="356D18"/>
              </a:buClr>
              <a:buSzPts val="1200"/>
              <a:buFont typeface="Arial"/>
              <a:buNone/>
              <a:defRPr sz="1200">
                <a:latin typeface="Arial"/>
                <a:ea typeface="Arial"/>
                <a:cs typeface="Arial"/>
                <a:sym typeface="Arial"/>
              </a:defRPr>
            </a:lvl3pPr>
            <a:lvl4pPr marL="1828800" lvl="3"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4pPr>
            <a:lvl5pPr marL="2286000" lvl="4"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 name="Google Shape;28;p7"/>
          <p:cNvSpPr txBox="1">
            <a:spLocks noGrp="1"/>
          </p:cNvSpPr>
          <p:nvPr>
            <p:ph type="body" idx="3"/>
          </p:nvPr>
        </p:nvSpPr>
        <p:spPr>
          <a:xfrm>
            <a:off x="3604259" y="5000447"/>
            <a:ext cx="6256019" cy="1004641"/>
          </a:xfrm>
          <a:prstGeom prst="rect">
            <a:avLst/>
          </a:prstGeom>
          <a:noFill/>
          <a:ln>
            <a:noFill/>
          </a:ln>
        </p:spPr>
        <p:txBody>
          <a:bodyPr spcFirstLastPara="1" wrap="square" lIns="0" tIns="0" rIns="0" bIns="0" anchor="ctr" anchorCtr="0">
            <a:normAutofit/>
          </a:bodyPr>
          <a:lstStyle>
            <a:lvl1pPr marL="457200" lvl="0" indent="-228600" algn="ctr">
              <a:lnSpc>
                <a:spcPct val="150000"/>
              </a:lnSpc>
              <a:spcBef>
                <a:spcPts val="0"/>
              </a:spcBef>
              <a:spcAft>
                <a:spcPts val="0"/>
              </a:spcAft>
              <a:buClr>
                <a:srgbClr val="022A03"/>
              </a:buClr>
              <a:buSzPts val="2000"/>
              <a:buFont typeface="Play"/>
              <a:buNone/>
              <a:defRPr sz="2000" b="1">
                <a:solidFill>
                  <a:srgbClr val="022A03"/>
                </a:solidFill>
                <a:latin typeface="Play"/>
                <a:ea typeface="Play"/>
                <a:cs typeface="Play"/>
                <a:sym typeface="Play"/>
              </a:defRPr>
            </a:lvl1pPr>
            <a:lvl2pPr marL="914400" lvl="1" indent="-228600" algn="l">
              <a:lnSpc>
                <a:spcPct val="150000"/>
              </a:lnSpc>
              <a:spcBef>
                <a:spcPts val="0"/>
              </a:spcBef>
              <a:spcAft>
                <a:spcPts val="0"/>
              </a:spcAft>
              <a:buClr>
                <a:srgbClr val="356D18"/>
              </a:buClr>
              <a:buSzPts val="1600"/>
              <a:buFont typeface="Arial"/>
              <a:buNone/>
              <a:defRPr sz="1600" b="1">
                <a:latin typeface="Arial"/>
                <a:ea typeface="Arial"/>
                <a:cs typeface="Arial"/>
                <a:sym typeface="Arial"/>
              </a:defRPr>
            </a:lvl2pPr>
            <a:lvl3pPr marL="1371600" lvl="2" indent="-228600" algn="l">
              <a:lnSpc>
                <a:spcPct val="150000"/>
              </a:lnSpc>
              <a:spcBef>
                <a:spcPts val="0"/>
              </a:spcBef>
              <a:spcAft>
                <a:spcPts val="0"/>
              </a:spcAft>
              <a:buClr>
                <a:srgbClr val="356D18"/>
              </a:buClr>
              <a:buSzPts val="1200"/>
              <a:buFont typeface="Arial"/>
              <a:buNone/>
              <a:defRPr sz="1200">
                <a:latin typeface="Arial"/>
                <a:ea typeface="Arial"/>
                <a:cs typeface="Arial"/>
                <a:sym typeface="Arial"/>
              </a:defRPr>
            </a:lvl3pPr>
            <a:lvl4pPr marL="1828800" lvl="3"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4pPr>
            <a:lvl5pPr marL="2286000" lvl="4"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 name="Google Shape;29;p7"/>
          <p:cNvSpPr txBox="1"/>
          <p:nvPr/>
        </p:nvSpPr>
        <p:spPr>
          <a:xfrm>
            <a:off x="2110740" y="2028118"/>
            <a:ext cx="1226820"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22A03"/>
                </a:solidFill>
                <a:latin typeface="Arial"/>
                <a:ea typeface="Arial"/>
                <a:cs typeface="Arial"/>
                <a:sym typeface="Arial"/>
              </a:rPr>
              <a:t>1</a:t>
            </a:r>
            <a:endParaRPr/>
          </a:p>
        </p:txBody>
      </p:sp>
      <p:sp>
        <p:nvSpPr>
          <p:cNvPr id="30" name="Google Shape;30;p7"/>
          <p:cNvSpPr txBox="1"/>
          <p:nvPr/>
        </p:nvSpPr>
        <p:spPr>
          <a:xfrm>
            <a:off x="2110740" y="3508771"/>
            <a:ext cx="1226820"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22A03"/>
                </a:solidFill>
                <a:latin typeface="Arial"/>
                <a:ea typeface="Arial"/>
                <a:cs typeface="Arial"/>
                <a:sym typeface="Arial"/>
              </a:rPr>
              <a:t>2</a:t>
            </a:r>
            <a:endParaRPr/>
          </a:p>
        </p:txBody>
      </p:sp>
      <p:sp>
        <p:nvSpPr>
          <p:cNvPr id="31" name="Google Shape;31;p7"/>
          <p:cNvSpPr txBox="1"/>
          <p:nvPr/>
        </p:nvSpPr>
        <p:spPr>
          <a:xfrm>
            <a:off x="2110740" y="4985593"/>
            <a:ext cx="1226820"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22A03"/>
                </a:solidFill>
                <a:latin typeface="Arial"/>
                <a:ea typeface="Arial"/>
                <a:cs typeface="Arial"/>
                <a:sym typeface="Arial"/>
              </a:rPr>
              <a:t>3</a:t>
            </a:r>
            <a:endParaRPr/>
          </a:p>
        </p:txBody>
      </p:sp>
      <p:sp>
        <p:nvSpPr>
          <p:cNvPr id="32" name="Google Shape;32;p7"/>
          <p:cNvSpPr/>
          <p:nvPr/>
        </p:nvSpPr>
        <p:spPr>
          <a:xfrm rot="-5400000">
            <a:off x="2814370" y="2489725"/>
            <a:ext cx="1030518" cy="107303"/>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33" name="Google Shape;33;p7"/>
          <p:cNvSpPr/>
          <p:nvPr/>
        </p:nvSpPr>
        <p:spPr>
          <a:xfrm rot="-5400000">
            <a:off x="2814369" y="3962951"/>
            <a:ext cx="1030518" cy="107303"/>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34" name="Google Shape;34;p7"/>
          <p:cNvSpPr/>
          <p:nvPr/>
        </p:nvSpPr>
        <p:spPr>
          <a:xfrm rot="-5400000">
            <a:off x="2814368" y="5429432"/>
            <a:ext cx="1030518" cy="107303"/>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1160575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 Rows">
  <p:cSld name="1_2 Rows">
    <p:spTree>
      <p:nvGrpSpPr>
        <p:cNvPr id="1" name="Shape 87"/>
        <p:cNvGrpSpPr/>
        <p:nvPr/>
      </p:nvGrpSpPr>
      <p:grpSpPr>
        <a:xfrm>
          <a:off x="0" y="0"/>
          <a:ext cx="0" cy="0"/>
          <a:chOff x="0" y="0"/>
          <a:chExt cx="0" cy="0"/>
        </a:xfrm>
      </p:grpSpPr>
      <p:sp>
        <p:nvSpPr>
          <p:cNvPr id="88" name="Google Shape;88;p19"/>
          <p:cNvSpPr txBox="1">
            <a:spLocks noGrp="1"/>
          </p:cNvSpPr>
          <p:nvPr>
            <p:ph type="body" idx="1"/>
          </p:nvPr>
        </p:nvSpPr>
        <p:spPr>
          <a:xfrm>
            <a:off x="381000" y="1659430"/>
            <a:ext cx="11430000" cy="2451016"/>
          </a:xfrm>
          <a:prstGeom prst="rect">
            <a:avLst/>
          </a:prstGeom>
          <a:noFill/>
          <a:ln>
            <a:noFill/>
          </a:ln>
        </p:spPr>
        <p:txBody>
          <a:bodyPr spcFirstLastPara="1" wrap="square" lIns="0" tIns="0" rIns="0" bIns="0" anchor="t" anchorCtr="0">
            <a:normAutofit/>
          </a:bodyPr>
          <a:lstStyle>
            <a:lvl1pPr marL="457200" lvl="0" indent="-406400" algn="l">
              <a:lnSpc>
                <a:spcPct val="150000"/>
              </a:lnSpc>
              <a:spcBef>
                <a:spcPts val="0"/>
              </a:spcBef>
              <a:spcAft>
                <a:spcPts val="0"/>
              </a:spcAft>
              <a:buClr>
                <a:schemeClr val="dk1"/>
              </a:buClr>
              <a:buSzPts val="2800"/>
              <a:buChar char="•"/>
              <a:defRPr>
                <a:latin typeface="Arial"/>
                <a:ea typeface="Arial"/>
                <a:cs typeface="Arial"/>
                <a:sym typeface="Arial"/>
              </a:defRPr>
            </a:lvl1pPr>
            <a:lvl2pPr marL="914400" lvl="1" indent="-381000" algn="l">
              <a:lnSpc>
                <a:spcPct val="150000"/>
              </a:lnSpc>
              <a:spcBef>
                <a:spcPts val="0"/>
              </a:spcBef>
              <a:spcAft>
                <a:spcPts val="0"/>
              </a:spcAft>
              <a:buClr>
                <a:srgbClr val="356D18"/>
              </a:buClr>
              <a:buSzPts val="2400"/>
              <a:buChar char="•"/>
              <a:defRPr>
                <a:latin typeface="Arial"/>
                <a:ea typeface="Arial"/>
                <a:cs typeface="Arial"/>
                <a:sym typeface="Arial"/>
              </a:defRPr>
            </a:lvl2pPr>
            <a:lvl3pPr marL="1371600" lvl="2" indent="-355600" algn="l">
              <a:lnSpc>
                <a:spcPct val="150000"/>
              </a:lnSpc>
              <a:spcBef>
                <a:spcPts val="0"/>
              </a:spcBef>
              <a:spcAft>
                <a:spcPts val="0"/>
              </a:spcAft>
              <a:buClr>
                <a:srgbClr val="356D18"/>
              </a:buClr>
              <a:buSzPts val="2000"/>
              <a:buChar char="•"/>
              <a:defRPr>
                <a:latin typeface="Arial"/>
                <a:ea typeface="Arial"/>
                <a:cs typeface="Arial"/>
                <a:sym typeface="Arial"/>
              </a:defRPr>
            </a:lvl3pPr>
            <a:lvl4pPr marL="1828800" lvl="3" indent="-342900" algn="l">
              <a:lnSpc>
                <a:spcPct val="150000"/>
              </a:lnSpc>
              <a:spcBef>
                <a:spcPts val="0"/>
              </a:spcBef>
              <a:spcAft>
                <a:spcPts val="0"/>
              </a:spcAft>
              <a:buClr>
                <a:srgbClr val="356D18"/>
              </a:buClr>
              <a:buSzPts val="1800"/>
              <a:buChar char="•"/>
              <a:defRPr>
                <a:latin typeface="Arial"/>
                <a:ea typeface="Arial"/>
                <a:cs typeface="Arial"/>
                <a:sym typeface="Arial"/>
              </a:defRPr>
            </a:lvl4pPr>
            <a:lvl5pPr marL="2286000" lvl="4" indent="-342900" algn="l">
              <a:lnSpc>
                <a:spcPct val="150000"/>
              </a:lnSpc>
              <a:spcBef>
                <a:spcPts val="0"/>
              </a:spcBef>
              <a:spcAft>
                <a:spcPts val="0"/>
              </a:spcAft>
              <a:buClr>
                <a:srgbClr val="356D18"/>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9" name="Google Shape;89;p19"/>
          <p:cNvSpPr txBox="1">
            <a:spLocks noGrp="1"/>
          </p:cNvSpPr>
          <p:nvPr>
            <p:ph type="body" idx="2"/>
          </p:nvPr>
        </p:nvSpPr>
        <p:spPr>
          <a:xfrm>
            <a:off x="381000" y="4199953"/>
            <a:ext cx="11430000" cy="2451016"/>
          </a:xfrm>
          <a:prstGeom prst="rect">
            <a:avLst/>
          </a:prstGeom>
          <a:noFill/>
          <a:ln>
            <a:noFill/>
          </a:ln>
        </p:spPr>
        <p:txBody>
          <a:bodyPr spcFirstLastPara="1" wrap="square" lIns="0" tIns="0" rIns="0" bIns="0" anchor="t" anchorCtr="0">
            <a:normAutofit/>
          </a:bodyPr>
          <a:lstStyle>
            <a:lvl1pPr marL="457200" lvl="0" indent="-406400" algn="l">
              <a:lnSpc>
                <a:spcPct val="150000"/>
              </a:lnSpc>
              <a:spcBef>
                <a:spcPts val="0"/>
              </a:spcBef>
              <a:spcAft>
                <a:spcPts val="0"/>
              </a:spcAft>
              <a:buClr>
                <a:schemeClr val="dk1"/>
              </a:buClr>
              <a:buSzPts val="2800"/>
              <a:buChar char="•"/>
              <a:defRPr>
                <a:latin typeface="Arial"/>
                <a:ea typeface="Arial"/>
                <a:cs typeface="Arial"/>
                <a:sym typeface="Arial"/>
              </a:defRPr>
            </a:lvl1pPr>
            <a:lvl2pPr marL="914400" lvl="1" indent="-381000" algn="l">
              <a:lnSpc>
                <a:spcPct val="150000"/>
              </a:lnSpc>
              <a:spcBef>
                <a:spcPts val="0"/>
              </a:spcBef>
              <a:spcAft>
                <a:spcPts val="0"/>
              </a:spcAft>
              <a:buClr>
                <a:srgbClr val="356D18"/>
              </a:buClr>
              <a:buSzPts val="2400"/>
              <a:buChar char="•"/>
              <a:defRPr>
                <a:latin typeface="Arial"/>
                <a:ea typeface="Arial"/>
                <a:cs typeface="Arial"/>
                <a:sym typeface="Arial"/>
              </a:defRPr>
            </a:lvl2pPr>
            <a:lvl3pPr marL="1371600" lvl="2" indent="-355600" algn="l">
              <a:lnSpc>
                <a:spcPct val="150000"/>
              </a:lnSpc>
              <a:spcBef>
                <a:spcPts val="0"/>
              </a:spcBef>
              <a:spcAft>
                <a:spcPts val="0"/>
              </a:spcAft>
              <a:buClr>
                <a:srgbClr val="356D18"/>
              </a:buClr>
              <a:buSzPts val="2000"/>
              <a:buChar char="•"/>
              <a:defRPr>
                <a:latin typeface="Arial"/>
                <a:ea typeface="Arial"/>
                <a:cs typeface="Arial"/>
                <a:sym typeface="Arial"/>
              </a:defRPr>
            </a:lvl3pPr>
            <a:lvl4pPr marL="1828800" lvl="3" indent="-342900" algn="l">
              <a:lnSpc>
                <a:spcPct val="150000"/>
              </a:lnSpc>
              <a:spcBef>
                <a:spcPts val="0"/>
              </a:spcBef>
              <a:spcAft>
                <a:spcPts val="0"/>
              </a:spcAft>
              <a:buClr>
                <a:srgbClr val="356D18"/>
              </a:buClr>
              <a:buSzPts val="1800"/>
              <a:buChar char="•"/>
              <a:defRPr>
                <a:latin typeface="Arial"/>
                <a:ea typeface="Arial"/>
                <a:cs typeface="Arial"/>
                <a:sym typeface="Arial"/>
              </a:defRPr>
            </a:lvl4pPr>
            <a:lvl5pPr marL="2286000" lvl="4" indent="-342900" algn="l">
              <a:lnSpc>
                <a:spcPct val="150000"/>
              </a:lnSpc>
              <a:spcBef>
                <a:spcPts val="0"/>
              </a:spcBef>
              <a:spcAft>
                <a:spcPts val="0"/>
              </a:spcAft>
              <a:buClr>
                <a:srgbClr val="356D18"/>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0" name="Google Shape;90;p19"/>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rgbClr val="022A0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9"/>
          <p:cNvSpPr/>
          <p:nvPr/>
        </p:nvSpPr>
        <p:spPr>
          <a:xfrm>
            <a:off x="0" y="1355231"/>
            <a:ext cx="12192000" cy="155927"/>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3514430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983212-0AE2-29C1-9A4B-0250F4060FB9}"/>
              </a:ext>
            </a:extLst>
          </p:cNvPr>
          <p:cNvSpPr>
            <a:spLocks noGrp="1"/>
          </p:cNvSpPr>
          <p:nvPr>
            <p:ph type="title"/>
          </p:nvPr>
        </p:nvSpPr>
        <p:spPr>
          <a:xfrm>
            <a:off x="380999" y="685800"/>
            <a:ext cx="11439526" cy="1004888"/>
          </a:xfrm>
          <a:prstGeom prst="rect">
            <a:avLst/>
          </a:prstGeom>
        </p:spPr>
        <p:txBody>
          <a:bodyPr vert="horz" lIns="0" tIns="0" rIns="0" bIns="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09D208F-AA04-F314-4451-C85FCF1D9131}"/>
              </a:ext>
            </a:extLst>
          </p:cNvPr>
          <p:cNvSpPr>
            <a:spLocks noGrp="1"/>
          </p:cNvSpPr>
          <p:nvPr>
            <p:ph type="body" idx="1"/>
          </p:nvPr>
        </p:nvSpPr>
        <p:spPr>
          <a:xfrm>
            <a:off x="380999" y="1825624"/>
            <a:ext cx="11439525" cy="4829699"/>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64614227"/>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710" r:id="rId4"/>
    <p:sldLayoutId id="2147483715" r:id="rId5"/>
    <p:sldLayoutId id="2147483716" r:id="rId6"/>
    <p:sldLayoutId id="2147483687" r:id="rId7"/>
    <p:sldLayoutId id="2147483689" r:id="rId8"/>
    <p:sldLayoutId id="2147483690"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12" r:id="rId22"/>
    <p:sldLayoutId id="2147483714" r:id="rId23"/>
    <p:sldLayoutId id="2147483707" r:id="rId24"/>
    <p:sldLayoutId id="2147483708" r:id="rId25"/>
    <p:sldLayoutId id="2147483709" r:id="rId26"/>
  </p:sldLayoutIdLst>
  <p:hf hdr="0" ftr="0" dt="0"/>
  <p:txStyles>
    <p:title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hyperlink" Target="https://www.swissre.com/dam/jcr:d8a4c361-ff0c-4438-9471-e3c640110f44/rethinking_shaping_climate_resilent_development_en.pdf" TargetMode="External"/><Relationship Id="rId5" Type="http://schemas.openxmlformats.org/officeDocument/2006/relationships/hyperlink" Target="https://www.financeministersforclimate.org/sites/cape/files/inline-files/Climate-Related%20Risks%20for%20Ministries%20of%20Finance%20-%20An%20Overview%20%28CFMCA%29_1.pdf" TargetMode="External"/><Relationship Id="rId4" Type="http://schemas.openxmlformats.org/officeDocument/2006/relationships/hyperlink" Target="https://obr.uk/frs/fiscal-risks-and-sustainability-july-2023/"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lobal-tipping-points.org/" TargetMode="External"/><Relationship Id="rId2" Type="http://schemas.openxmlformats.org/officeDocument/2006/relationships/image" Target="../media/image6.jpe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www.reuters.com/world/climate-change-putting-4-global-gdp-risk-new-study-estimates-2022-04-27/" TargetMode="External"/><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hyperlink" Target="https://www.ilo.org/sites/default/files/wcmsp5/groups/public/@dgreports/@dcomm/@publ/documents/publication/wcms_711919.pdf" TargetMode="Externa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hyperlink" Target="https://www.elibrary.imf.org/view/journals/087/2023/004/article-A003-en.xml" TargetMode="External"/><Relationship Id="rId2" Type="http://schemas.openxmlformats.org/officeDocument/2006/relationships/image" Target="../media/image17.jpe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nber.org/system/files/working_papers/w32450/w32450.pdf?utm_campaign=PANTHEON_STRIPPED&amp;amp%3Butm_medium=PANTHEON_STRIPPED&amp;amp%3Butm_source=PANTHEON_STRIPPED" TargetMode="Externa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s://www.iea.org/reports/net-zero-roadmap-a-global-pathway-to-keep-the-15-0c-goal-in-reach"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www.iea.org/reports/net-zero-roadmap-a-global-pathway-to-keep-the-15-0c-goal-in-reach" TargetMode="External"/><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hyperlink" Target="https://obr.uk/frs/fiscal-risks-report-july-2021/" TargetMode="External"/><Relationship Id="rId2" Type="http://schemas.openxmlformats.org/officeDocument/2006/relationships/image" Target="../media/image28.jpe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hyperlink" Target="https://obr.uk/frs/fiscal-risks-report-july-2021/" TargetMode="External"/><Relationship Id="rId2" Type="http://schemas.openxmlformats.org/officeDocument/2006/relationships/image" Target="../media/image29.jpeg"/><Relationship Id="rId1" Type="http://schemas.openxmlformats.org/officeDocument/2006/relationships/slideLayout" Target="../slideLayouts/slideLayout24.xml"/><Relationship Id="rId5" Type="http://schemas.openxmlformats.org/officeDocument/2006/relationships/image" Target="../media/image31.jpeg"/><Relationship Id="rId4" Type="http://schemas.openxmlformats.org/officeDocument/2006/relationships/image" Target="../media/image3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pic>
        <p:nvPicPr>
          <p:cNvPr id="8" name="Picture 7" descr="A wind turbines in a field&#10;&#10;Description automatically generated">
            <a:extLst>
              <a:ext uri="{FF2B5EF4-FFF2-40B4-BE49-F238E27FC236}">
                <a16:creationId xmlns:a16="http://schemas.microsoft.com/office/drawing/2014/main" id="{465B7B35-3B24-9E85-BADC-5762887AFAE1}"/>
              </a:ext>
            </a:extLst>
          </p:cNvPr>
          <p:cNvPicPr>
            <a:picLocks noChangeAspect="1"/>
          </p:cNvPicPr>
          <p:nvPr/>
        </p:nvPicPr>
        <p:blipFill rotWithShape="1">
          <a:blip r:embed="rId3"/>
          <a:srcRect t="32079" b="37627"/>
          <a:stretch/>
        </p:blipFill>
        <p:spPr>
          <a:xfrm>
            <a:off x="0" y="4472848"/>
            <a:ext cx="12192000" cy="2385152"/>
          </a:xfrm>
          <a:prstGeom prst="rect">
            <a:avLst/>
          </a:prstGeom>
        </p:spPr>
      </p:pic>
      <p:sp>
        <p:nvSpPr>
          <p:cNvPr id="387" name="Google Shape;387;g2cfb641d87b_0_558"/>
          <p:cNvSpPr txBox="1">
            <a:spLocks noGrp="1"/>
          </p:cNvSpPr>
          <p:nvPr>
            <p:ph type="ctrTitle"/>
          </p:nvPr>
        </p:nvSpPr>
        <p:spPr>
          <a:xfrm>
            <a:off x="617538" y="916045"/>
            <a:ext cx="10956925" cy="2512955"/>
          </a:xfrm>
          <a:noFill/>
          <a:ln>
            <a:noFill/>
          </a:ln>
        </p:spPr>
        <p:txBody>
          <a:bodyPr spcFirstLastPara="1" wrap="square" lIns="0" tIns="0" rIns="0" bIns="0" anchor="b" anchorCtr="0">
            <a:noAutofit/>
          </a:bodyPr>
          <a:lstStyle/>
          <a:p>
            <a:pPr lvl="0"/>
            <a:r>
              <a:rPr lang="en-US">
                <a:solidFill>
                  <a:srgbClr val="D7CBBD"/>
                </a:solidFill>
                <a:sym typeface="Arial"/>
              </a:rPr>
              <a:t>A Short Course on Macro-Fiscal Climate Economics</a:t>
            </a:r>
          </a:p>
        </p:txBody>
      </p:sp>
      <p:sp>
        <p:nvSpPr>
          <p:cNvPr id="2" name="Subtitle 1">
            <a:extLst>
              <a:ext uri="{FF2B5EF4-FFF2-40B4-BE49-F238E27FC236}">
                <a16:creationId xmlns:a16="http://schemas.microsoft.com/office/drawing/2014/main" id="{63DE3001-2019-8FDD-B17F-0642D16CD439}"/>
              </a:ext>
            </a:extLst>
          </p:cNvPr>
          <p:cNvSpPr>
            <a:spLocks noGrp="1"/>
          </p:cNvSpPr>
          <p:nvPr>
            <p:ph type="subTitle" idx="1"/>
          </p:nvPr>
        </p:nvSpPr>
        <p:spPr>
          <a:xfrm>
            <a:off x="618308" y="3610452"/>
            <a:ext cx="10955383" cy="491290"/>
          </a:xfrm>
        </p:spPr>
        <p:txBody>
          <a:bodyPr vert="horz" lIns="0" tIns="0" rIns="0" bIns="0" rtlCol="0" anchor="t">
            <a:normAutofit fontScale="92500" lnSpcReduction="10000"/>
          </a:bodyPr>
          <a:lstStyle/>
          <a:p>
            <a:r>
              <a:rPr lang="en-US" i="1">
                <a:solidFill>
                  <a:srgbClr val="B2C7C8"/>
                </a:solidFill>
                <a:latin typeface="Aptos Light"/>
                <a:sym typeface="Arial"/>
              </a:rPr>
              <a:t>Module B: </a:t>
            </a:r>
            <a:r>
              <a:rPr lang="en-US" i="1" dirty="0">
                <a:solidFill>
                  <a:srgbClr val="B2C7C8"/>
                </a:solidFill>
                <a:latin typeface="Aptos Light"/>
                <a:sym typeface="Arial"/>
              </a:rPr>
              <a:t>Fiscal Risks</a:t>
            </a:r>
            <a:endParaRPr lang="en-US" dirty="0"/>
          </a:p>
          <a:p>
            <a:endParaRPr lang="en-US" dirty="0"/>
          </a:p>
        </p:txBody>
      </p:sp>
      <p:sp>
        <p:nvSpPr>
          <p:cNvPr id="6" name="Text Placeholder 5">
            <a:extLst>
              <a:ext uri="{FF2B5EF4-FFF2-40B4-BE49-F238E27FC236}">
                <a16:creationId xmlns:a16="http://schemas.microsoft.com/office/drawing/2014/main" id="{7AF2F45A-C4EC-F501-076C-F960A1BC3C3B}"/>
              </a:ext>
            </a:extLst>
          </p:cNvPr>
          <p:cNvSpPr>
            <a:spLocks noGrp="1"/>
          </p:cNvSpPr>
          <p:nvPr>
            <p:ph type="body" sz="quarter" idx="14"/>
          </p:nvPr>
        </p:nvSpPr>
        <p:spPr>
          <a:xfrm>
            <a:off x="7688062" y="5247968"/>
            <a:ext cx="3885629" cy="1093938"/>
          </a:xfrm>
        </p:spPr>
        <p:txBody>
          <a:bodyPr>
            <a:normAutofit/>
          </a:bodyPr>
          <a:lstStyle/>
          <a:p>
            <a:endParaRPr lang="en-US" dirty="0">
              <a:solidFill>
                <a:srgbClr val="012903"/>
              </a:solidFill>
              <a:latin typeface="Apto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windmills in a field&#10;&#10;Description automatically generated">
            <a:extLst>
              <a:ext uri="{FF2B5EF4-FFF2-40B4-BE49-F238E27FC236}">
                <a16:creationId xmlns:a16="http://schemas.microsoft.com/office/drawing/2014/main" id="{BDF5E48E-8255-AF8B-0941-951E23925ED0}"/>
              </a:ext>
            </a:extLst>
          </p:cNvPr>
          <p:cNvPicPr>
            <a:picLocks noChangeAspect="1"/>
          </p:cNvPicPr>
          <p:nvPr/>
        </p:nvPicPr>
        <p:blipFill rotWithShape="1">
          <a:blip r:embed="rId2"/>
          <a:srcRect l="59889" r="-65" b="46589"/>
          <a:stretch/>
        </p:blipFill>
        <p:spPr>
          <a:xfrm>
            <a:off x="4216834" y="1221"/>
            <a:ext cx="7977326" cy="6869724"/>
          </a:xfrm>
          <a:prstGeom prst="rect">
            <a:avLst/>
          </a:prstGeom>
        </p:spPr>
      </p:pic>
      <p:sp>
        <p:nvSpPr>
          <p:cNvPr id="2" name="Title 1">
            <a:extLst>
              <a:ext uri="{FF2B5EF4-FFF2-40B4-BE49-F238E27FC236}">
                <a16:creationId xmlns:a16="http://schemas.microsoft.com/office/drawing/2014/main" id="{70931553-B30E-92AC-7A7F-7569D84F844A}"/>
              </a:ext>
            </a:extLst>
          </p:cNvPr>
          <p:cNvSpPr>
            <a:spLocks noGrp="1"/>
          </p:cNvSpPr>
          <p:nvPr>
            <p:ph type="ctrTitle"/>
          </p:nvPr>
        </p:nvSpPr>
        <p:spPr/>
        <p:txBody>
          <a:bodyPr/>
          <a:lstStyle/>
          <a:p>
            <a:r>
              <a:rPr lang="en-US">
                <a:solidFill>
                  <a:srgbClr val="B2C7C8"/>
                </a:solidFill>
                <a:latin typeface="Aptos"/>
              </a:rPr>
              <a:t>Table of Contents</a:t>
            </a:r>
            <a:endParaRPr lang="en-US">
              <a:solidFill>
                <a:srgbClr val="B2C7C8"/>
              </a:solidFill>
            </a:endParaRPr>
          </a:p>
        </p:txBody>
      </p:sp>
      <p:sp>
        <p:nvSpPr>
          <p:cNvPr id="3" name="Content Placeholder 2">
            <a:extLst>
              <a:ext uri="{FF2B5EF4-FFF2-40B4-BE49-F238E27FC236}">
                <a16:creationId xmlns:a16="http://schemas.microsoft.com/office/drawing/2014/main" id="{81F037E7-082F-16AD-6D3B-8303373ED944}"/>
              </a:ext>
            </a:extLst>
          </p:cNvPr>
          <p:cNvSpPr>
            <a:spLocks noGrp="1"/>
          </p:cNvSpPr>
          <p:nvPr>
            <p:ph sz="half" idx="2"/>
          </p:nvPr>
        </p:nvSpPr>
        <p:spPr>
          <a:xfrm>
            <a:off x="4830740" y="502920"/>
            <a:ext cx="6742951" cy="6069330"/>
          </a:xfrm>
        </p:spPr>
        <p:txBody>
          <a:bodyPr vert="horz" lIns="0" tIns="0" rIns="0" bIns="0" rtlCol="0" anchor="t">
            <a:normAutofit/>
          </a:bodyPr>
          <a:lstStyle/>
          <a:p>
            <a:pPr marL="457200" indent="-457200">
              <a:buFont typeface="Aptos Display" panose="02110004020202020204"/>
              <a:buAutoNum type="arabicPeriod"/>
            </a:pPr>
            <a:r>
              <a:rPr lang="en-US" dirty="0">
                <a:latin typeface="Aptos Light"/>
                <a:cs typeface="Arial"/>
              </a:rPr>
              <a:t>Course Outcomes</a:t>
            </a:r>
          </a:p>
          <a:p>
            <a:pPr marL="457200" indent="-457200"/>
            <a:r>
              <a:rPr lang="en-US" dirty="0">
                <a:latin typeface="Aptos Light"/>
                <a:cs typeface="Arial"/>
              </a:rPr>
              <a:t>Climate and GDP</a:t>
            </a:r>
          </a:p>
          <a:p>
            <a:pPr marL="457200" indent="-457200"/>
            <a:r>
              <a:rPr lang="en-US" dirty="0">
                <a:latin typeface="Aptos Light"/>
                <a:cs typeface="Arial"/>
              </a:rPr>
              <a:t>Climate Fiscal Risks</a:t>
            </a:r>
          </a:p>
          <a:p>
            <a:pPr marL="457200" indent="-457200"/>
            <a:r>
              <a:rPr lang="en-US" dirty="0">
                <a:latin typeface="Aptos Light"/>
                <a:cs typeface="Arial"/>
              </a:rPr>
              <a:t>Climate Change Fiscal Institutions</a:t>
            </a:r>
            <a:endParaRPr lang="en-US" dirty="0">
              <a:cs typeface="Arial"/>
            </a:endParaRPr>
          </a:p>
          <a:p>
            <a:pPr>
              <a:buNone/>
            </a:pPr>
            <a:endParaRPr lang="en-US" dirty="0"/>
          </a:p>
        </p:txBody>
      </p:sp>
    </p:spTree>
    <p:extLst>
      <p:ext uri="{BB962C8B-B14F-4D97-AF65-F5344CB8AC3E}">
        <p14:creationId xmlns:p14="http://schemas.microsoft.com/office/powerpoint/2010/main" val="819423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9398E-F6A7-9A67-6FBB-C00E40C3ED08}"/>
              </a:ext>
            </a:extLst>
          </p:cNvPr>
          <p:cNvSpPr>
            <a:spLocks noGrp="1"/>
          </p:cNvSpPr>
          <p:nvPr>
            <p:ph type="title"/>
          </p:nvPr>
        </p:nvSpPr>
        <p:spPr/>
        <p:txBody>
          <a:bodyPr/>
          <a:lstStyle/>
          <a:p>
            <a:r>
              <a:rPr lang="en-US" dirty="0">
                <a:latin typeface="Aptos"/>
              </a:rPr>
              <a:t>Three Key Outcomes</a:t>
            </a:r>
          </a:p>
        </p:txBody>
      </p:sp>
      <p:sp>
        <p:nvSpPr>
          <p:cNvPr id="3" name="Content Placeholder 2">
            <a:extLst>
              <a:ext uri="{FF2B5EF4-FFF2-40B4-BE49-F238E27FC236}">
                <a16:creationId xmlns:a16="http://schemas.microsoft.com/office/drawing/2014/main" id="{FB95E175-EF46-097B-49FD-6CE07BD7D3AB}"/>
              </a:ext>
            </a:extLst>
          </p:cNvPr>
          <p:cNvSpPr>
            <a:spLocks noGrp="1"/>
          </p:cNvSpPr>
          <p:nvPr>
            <p:ph idx="1"/>
          </p:nvPr>
        </p:nvSpPr>
        <p:spPr/>
        <p:txBody>
          <a:bodyPr vert="horz" lIns="0" tIns="0" rIns="0" bIns="0" rtlCol="0" anchor="ctr">
            <a:noAutofit/>
          </a:bodyPr>
          <a:lstStyle/>
          <a:p>
            <a:r>
              <a:rPr lang="en-US" sz="1500">
                <a:ea typeface="+mj-lt"/>
                <a:cs typeface="+mj-lt"/>
              </a:rPr>
              <a:t>Introduction to Climate Economics</a:t>
            </a:r>
            <a:r>
              <a:rPr lang="en-US" sz="1500" b="0">
                <a:ea typeface="+mj-lt"/>
                <a:cs typeface="+mj-lt"/>
              </a:rPr>
              <a:t>: Explore climate economics through a fiscal lens, focusing on national and international efforts to achieve Paris Agreement targets.</a:t>
            </a:r>
            <a:endParaRPr lang="en-US" sz="1500"/>
          </a:p>
        </p:txBody>
      </p:sp>
      <p:sp>
        <p:nvSpPr>
          <p:cNvPr id="4" name="Content Placeholder 3">
            <a:extLst>
              <a:ext uri="{FF2B5EF4-FFF2-40B4-BE49-F238E27FC236}">
                <a16:creationId xmlns:a16="http://schemas.microsoft.com/office/drawing/2014/main" id="{44514E86-B16E-7AEC-0655-71F2B978ED69}"/>
              </a:ext>
            </a:extLst>
          </p:cNvPr>
          <p:cNvSpPr>
            <a:spLocks noGrp="1"/>
          </p:cNvSpPr>
          <p:nvPr>
            <p:ph idx="10"/>
          </p:nvPr>
        </p:nvSpPr>
        <p:spPr/>
        <p:txBody>
          <a:bodyPr vert="horz" lIns="0" tIns="0" rIns="0" bIns="0" rtlCol="0" anchor="ctr">
            <a:noAutofit/>
          </a:bodyPr>
          <a:lstStyle/>
          <a:p>
            <a:r>
              <a:rPr lang="en-US" sz="1500">
                <a:ea typeface="+mj-lt"/>
                <a:cs typeface="+mj-lt"/>
              </a:rPr>
              <a:t>Comprehensive Approach to Green Transition</a:t>
            </a:r>
            <a:r>
              <a:rPr lang="en-US" sz="1500" b="0">
                <a:ea typeface="+mj-lt"/>
                <a:cs typeface="+mj-lt"/>
              </a:rPr>
              <a:t>: Analyze the fiscal, financial, and energy security aspects of transitioning to a green economy, with a focus on perspectives relevant to middle-income countries like Ukraine.</a:t>
            </a:r>
            <a:endParaRPr lang="en-US" sz="1500">
              <a:ea typeface="+mj-lt"/>
              <a:cs typeface="+mj-lt"/>
            </a:endParaRPr>
          </a:p>
        </p:txBody>
      </p:sp>
      <p:sp>
        <p:nvSpPr>
          <p:cNvPr id="5" name="Content Placeholder 4">
            <a:extLst>
              <a:ext uri="{FF2B5EF4-FFF2-40B4-BE49-F238E27FC236}">
                <a16:creationId xmlns:a16="http://schemas.microsoft.com/office/drawing/2014/main" id="{CDDA736D-F36F-51DF-5DDF-C9EB0BB164B9}"/>
              </a:ext>
            </a:extLst>
          </p:cNvPr>
          <p:cNvSpPr>
            <a:spLocks noGrp="1"/>
          </p:cNvSpPr>
          <p:nvPr>
            <p:ph idx="11"/>
          </p:nvPr>
        </p:nvSpPr>
        <p:spPr/>
        <p:txBody>
          <a:bodyPr vert="horz" lIns="0" tIns="0" rIns="0" bIns="0" rtlCol="0" anchor="ctr">
            <a:noAutofit/>
          </a:bodyPr>
          <a:lstStyle/>
          <a:p>
            <a:r>
              <a:rPr lang="en-US" sz="1500">
                <a:ea typeface="+mj-lt"/>
                <a:cs typeface="+mj-lt"/>
              </a:rPr>
              <a:t>Preparation for Professional Opportunities</a:t>
            </a:r>
            <a:r>
              <a:rPr lang="en-US" sz="1500" b="0">
                <a:ea typeface="+mj-lt"/>
                <a:cs typeface="+mj-lt"/>
              </a:rPr>
              <a:t>: Prepare participants for potential roles in the World Bank by developing skills for Short Term Consultancy (STC) opportunities.</a:t>
            </a:r>
            <a:endParaRPr lang="en-US" sz="1500"/>
          </a:p>
        </p:txBody>
      </p:sp>
    </p:spTree>
    <p:extLst>
      <p:ext uri="{BB962C8B-B14F-4D97-AF65-F5344CB8AC3E}">
        <p14:creationId xmlns:p14="http://schemas.microsoft.com/office/powerpoint/2010/main" val="1340931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3BDD1F5-9D86-36FB-921B-E6EBC8CCC29D}"/>
              </a:ext>
            </a:extLst>
          </p:cNvPr>
          <p:cNvPicPr>
            <a:picLocks noChangeAspect="1"/>
          </p:cNvPicPr>
          <p:nvPr/>
        </p:nvPicPr>
        <p:blipFill rotWithShape="1">
          <a:blip r:embed="rId3"/>
          <a:srcRect b="13030"/>
          <a:stretch/>
        </p:blipFill>
        <p:spPr>
          <a:xfrm>
            <a:off x="-18620" y="1"/>
            <a:ext cx="12210619" cy="6858000"/>
          </a:xfrm>
          <a:prstGeom prst="rect">
            <a:avLst/>
          </a:prstGeom>
        </p:spPr>
      </p:pic>
      <p:sp>
        <p:nvSpPr>
          <p:cNvPr id="6" name="Freeform 5">
            <a:extLst>
              <a:ext uri="{FF2B5EF4-FFF2-40B4-BE49-F238E27FC236}">
                <a16:creationId xmlns:a16="http://schemas.microsoft.com/office/drawing/2014/main" id="{9316CE1D-5093-891E-827C-F3694CF7B947}"/>
              </a:ext>
            </a:extLst>
          </p:cNvPr>
          <p:cNvSpPr/>
          <p:nvPr/>
        </p:nvSpPr>
        <p:spPr>
          <a:xfrm>
            <a:off x="-18621" y="0"/>
            <a:ext cx="12210620" cy="6858000"/>
          </a:xfrm>
          <a:custGeom>
            <a:avLst/>
            <a:gdLst/>
            <a:ahLst/>
            <a:cxnLst/>
            <a:rect l="l" t="t" r="r" b="b"/>
            <a:pathLst>
              <a:path w="12186298" h="6858000">
                <a:moveTo>
                  <a:pt x="4186453" y="685512"/>
                </a:moveTo>
                <a:lnTo>
                  <a:pt x="4269709" y="956500"/>
                </a:lnTo>
                <a:lnTo>
                  <a:pt x="4103198" y="956500"/>
                </a:lnTo>
                <a:close/>
                <a:moveTo>
                  <a:pt x="4798797" y="658304"/>
                </a:moveTo>
                <a:lnTo>
                  <a:pt x="4892935" y="658304"/>
                </a:lnTo>
                <a:cubicBezTo>
                  <a:pt x="4936105" y="658304"/>
                  <a:pt x="4973561" y="666557"/>
                  <a:pt x="5005303" y="683063"/>
                </a:cubicBezTo>
                <a:cubicBezTo>
                  <a:pt x="5037045" y="699569"/>
                  <a:pt x="5061441" y="723966"/>
                  <a:pt x="5078491" y="756252"/>
                </a:cubicBezTo>
                <a:cubicBezTo>
                  <a:pt x="5095542" y="788538"/>
                  <a:pt x="5104067" y="828261"/>
                  <a:pt x="5104067" y="875421"/>
                </a:cubicBezTo>
                <a:cubicBezTo>
                  <a:pt x="5104067" y="925846"/>
                  <a:pt x="5096358" y="967565"/>
                  <a:pt x="5080940" y="1000577"/>
                </a:cubicBezTo>
                <a:cubicBezTo>
                  <a:pt x="5065522" y="1033589"/>
                  <a:pt x="5042124" y="1058257"/>
                  <a:pt x="5010745" y="1074581"/>
                </a:cubicBezTo>
                <a:cubicBezTo>
                  <a:pt x="4979365" y="1090906"/>
                  <a:pt x="4940096" y="1099068"/>
                  <a:pt x="4892935" y="1099068"/>
                </a:cubicBezTo>
                <a:lnTo>
                  <a:pt x="4798797" y="1099068"/>
                </a:lnTo>
                <a:close/>
                <a:moveTo>
                  <a:pt x="2731872" y="657216"/>
                </a:moveTo>
                <a:lnTo>
                  <a:pt x="2848865" y="657216"/>
                </a:lnTo>
                <a:cubicBezTo>
                  <a:pt x="2875347" y="657216"/>
                  <a:pt x="2897476" y="664109"/>
                  <a:pt x="2915252" y="677894"/>
                </a:cubicBezTo>
                <a:cubicBezTo>
                  <a:pt x="2933027" y="691679"/>
                  <a:pt x="2941915" y="713082"/>
                  <a:pt x="2941915" y="742104"/>
                </a:cubicBezTo>
                <a:cubicBezTo>
                  <a:pt x="2941915" y="761694"/>
                  <a:pt x="2937925" y="778290"/>
                  <a:pt x="2929944" y="791894"/>
                </a:cubicBezTo>
                <a:cubicBezTo>
                  <a:pt x="2921963" y="805498"/>
                  <a:pt x="2910264" y="815746"/>
                  <a:pt x="2894846" y="822639"/>
                </a:cubicBezTo>
                <a:cubicBezTo>
                  <a:pt x="2879428" y="829531"/>
                  <a:pt x="2860474" y="832977"/>
                  <a:pt x="2837982" y="832977"/>
                </a:cubicBezTo>
                <a:lnTo>
                  <a:pt x="2731872" y="832977"/>
                </a:lnTo>
                <a:close/>
                <a:moveTo>
                  <a:pt x="9150150" y="512471"/>
                </a:moveTo>
                <a:lnTo>
                  <a:pt x="9150150" y="658304"/>
                </a:lnTo>
                <a:lnTo>
                  <a:pt x="9341148" y="658304"/>
                </a:lnTo>
                <a:lnTo>
                  <a:pt x="9341148" y="1244901"/>
                </a:lnTo>
                <a:lnTo>
                  <a:pt x="9516365" y="1244901"/>
                </a:lnTo>
                <a:lnTo>
                  <a:pt x="9516365" y="658304"/>
                </a:lnTo>
                <a:lnTo>
                  <a:pt x="9705730" y="658304"/>
                </a:lnTo>
                <a:lnTo>
                  <a:pt x="9705730" y="512471"/>
                </a:lnTo>
                <a:close/>
                <a:moveTo>
                  <a:pt x="8195999" y="512471"/>
                </a:moveTo>
                <a:lnTo>
                  <a:pt x="8195999" y="1244901"/>
                </a:lnTo>
                <a:lnTo>
                  <a:pt x="8370672" y="1244901"/>
                </a:lnTo>
                <a:lnTo>
                  <a:pt x="8370672" y="512471"/>
                </a:lnTo>
                <a:close/>
                <a:moveTo>
                  <a:pt x="7624499" y="512471"/>
                </a:moveTo>
                <a:lnTo>
                  <a:pt x="7624499" y="1244901"/>
                </a:lnTo>
                <a:lnTo>
                  <a:pt x="8095191" y="1244901"/>
                </a:lnTo>
                <a:lnTo>
                  <a:pt x="8095191" y="1090362"/>
                </a:lnTo>
                <a:lnTo>
                  <a:pt x="7799172" y="1090362"/>
                </a:lnTo>
                <a:lnTo>
                  <a:pt x="7799172" y="512471"/>
                </a:lnTo>
                <a:close/>
                <a:moveTo>
                  <a:pt x="5767124" y="512471"/>
                </a:moveTo>
                <a:lnTo>
                  <a:pt x="5767124" y="1244901"/>
                </a:lnTo>
                <a:lnTo>
                  <a:pt x="5930370" y="1244901"/>
                </a:lnTo>
                <a:lnTo>
                  <a:pt x="5930370" y="783460"/>
                </a:lnTo>
                <a:lnTo>
                  <a:pt x="6242169" y="1244901"/>
                </a:lnTo>
                <a:lnTo>
                  <a:pt x="6412489" y="1244901"/>
                </a:lnTo>
                <a:lnTo>
                  <a:pt x="6412489" y="512471"/>
                </a:lnTo>
                <a:lnTo>
                  <a:pt x="6247611" y="512471"/>
                </a:lnTo>
                <a:lnTo>
                  <a:pt x="6247611" y="970104"/>
                </a:lnTo>
                <a:lnTo>
                  <a:pt x="5936899" y="512471"/>
                </a:lnTo>
                <a:close/>
                <a:moveTo>
                  <a:pt x="5424224" y="512471"/>
                </a:moveTo>
                <a:lnTo>
                  <a:pt x="5424224" y="1244901"/>
                </a:lnTo>
                <a:lnTo>
                  <a:pt x="5598897" y="1244901"/>
                </a:lnTo>
                <a:lnTo>
                  <a:pt x="5598897" y="512471"/>
                </a:lnTo>
                <a:close/>
                <a:moveTo>
                  <a:pt x="4624124" y="512471"/>
                </a:moveTo>
                <a:lnTo>
                  <a:pt x="4624124" y="1244901"/>
                </a:lnTo>
                <a:lnTo>
                  <a:pt x="4907627" y="1244901"/>
                </a:lnTo>
                <a:cubicBezTo>
                  <a:pt x="4985623" y="1244901"/>
                  <a:pt x="5052826" y="1230753"/>
                  <a:pt x="5109236" y="1202457"/>
                </a:cubicBezTo>
                <a:cubicBezTo>
                  <a:pt x="5165647" y="1174161"/>
                  <a:pt x="5208908" y="1132624"/>
                  <a:pt x="5239017" y="1077846"/>
                </a:cubicBezTo>
                <a:cubicBezTo>
                  <a:pt x="5269126" y="1023068"/>
                  <a:pt x="5284181" y="955956"/>
                  <a:pt x="5284181" y="876510"/>
                </a:cubicBezTo>
                <a:cubicBezTo>
                  <a:pt x="5284181" y="800328"/>
                  <a:pt x="5269217" y="735121"/>
                  <a:pt x="5239289" y="680887"/>
                </a:cubicBezTo>
                <a:cubicBezTo>
                  <a:pt x="5209361" y="626653"/>
                  <a:pt x="5166281" y="585025"/>
                  <a:pt x="5110053" y="556004"/>
                </a:cubicBezTo>
                <a:cubicBezTo>
                  <a:pt x="5053823" y="526982"/>
                  <a:pt x="4986349" y="512471"/>
                  <a:pt x="4907627" y="512471"/>
                </a:cubicBezTo>
                <a:close/>
                <a:moveTo>
                  <a:pt x="4094491" y="512471"/>
                </a:moveTo>
                <a:lnTo>
                  <a:pt x="3835475" y="1244901"/>
                </a:lnTo>
                <a:lnTo>
                  <a:pt x="4016678" y="1244901"/>
                </a:lnTo>
                <a:lnTo>
                  <a:pt x="4062386" y="1101789"/>
                </a:lnTo>
                <a:lnTo>
                  <a:pt x="4311064" y="1101789"/>
                </a:lnTo>
                <a:lnTo>
                  <a:pt x="4356773" y="1244901"/>
                </a:lnTo>
                <a:lnTo>
                  <a:pt x="4539608" y="1244901"/>
                </a:lnTo>
                <a:lnTo>
                  <a:pt x="4277871" y="512471"/>
                </a:lnTo>
                <a:close/>
                <a:moveTo>
                  <a:pt x="3271574" y="512471"/>
                </a:moveTo>
                <a:lnTo>
                  <a:pt x="3271574" y="1244901"/>
                </a:lnTo>
                <a:lnTo>
                  <a:pt x="3772739" y="1244901"/>
                </a:lnTo>
                <a:lnTo>
                  <a:pt x="3772739" y="1100157"/>
                </a:lnTo>
                <a:lnTo>
                  <a:pt x="3446247" y="1100157"/>
                </a:lnTo>
                <a:lnTo>
                  <a:pt x="3446247" y="941808"/>
                </a:lnTo>
                <a:lnTo>
                  <a:pt x="3740089" y="941808"/>
                </a:lnTo>
                <a:lnTo>
                  <a:pt x="3740089" y="802505"/>
                </a:lnTo>
                <a:lnTo>
                  <a:pt x="3446247" y="802505"/>
                </a:lnTo>
                <a:lnTo>
                  <a:pt x="3446247" y="657216"/>
                </a:lnTo>
                <a:lnTo>
                  <a:pt x="3772739" y="657216"/>
                </a:lnTo>
                <a:lnTo>
                  <a:pt x="3772739" y="512471"/>
                </a:lnTo>
                <a:close/>
                <a:moveTo>
                  <a:pt x="2557199" y="512471"/>
                </a:moveTo>
                <a:lnTo>
                  <a:pt x="2557199" y="1244901"/>
                </a:lnTo>
                <a:lnTo>
                  <a:pt x="2731872" y="1244901"/>
                </a:lnTo>
                <a:lnTo>
                  <a:pt x="2731872" y="976634"/>
                </a:lnTo>
                <a:lnTo>
                  <a:pt x="2830364" y="976634"/>
                </a:lnTo>
                <a:cubicBezTo>
                  <a:pt x="2858660" y="976634"/>
                  <a:pt x="2880698" y="981350"/>
                  <a:pt x="2896479" y="990782"/>
                </a:cubicBezTo>
                <a:cubicBezTo>
                  <a:pt x="2912259" y="1000214"/>
                  <a:pt x="2924774" y="1014997"/>
                  <a:pt x="2934025" y="1035130"/>
                </a:cubicBezTo>
                <a:cubicBezTo>
                  <a:pt x="2943275" y="1055264"/>
                  <a:pt x="2951709" y="1081655"/>
                  <a:pt x="2959328" y="1114305"/>
                </a:cubicBezTo>
                <a:lnTo>
                  <a:pt x="2990345" y="1244901"/>
                </a:lnTo>
                <a:lnTo>
                  <a:pt x="3173724" y="1244901"/>
                </a:lnTo>
                <a:lnTo>
                  <a:pt x="3125294" y="1077846"/>
                </a:lnTo>
                <a:cubicBezTo>
                  <a:pt x="3115863" y="1043020"/>
                  <a:pt x="3105524" y="1013727"/>
                  <a:pt x="3094278" y="989966"/>
                </a:cubicBezTo>
                <a:cubicBezTo>
                  <a:pt x="3083032" y="966204"/>
                  <a:pt x="3067977" y="947431"/>
                  <a:pt x="3049113" y="933646"/>
                </a:cubicBezTo>
                <a:cubicBezTo>
                  <a:pt x="3030249" y="919861"/>
                  <a:pt x="3004674" y="910429"/>
                  <a:pt x="2972388" y="905350"/>
                </a:cubicBezTo>
                <a:cubicBezTo>
                  <a:pt x="3023175" y="890839"/>
                  <a:pt x="3060813" y="867441"/>
                  <a:pt x="3085300" y="835154"/>
                </a:cubicBezTo>
                <a:cubicBezTo>
                  <a:pt x="3109786" y="802868"/>
                  <a:pt x="3122030" y="763689"/>
                  <a:pt x="3122030" y="717617"/>
                </a:cubicBezTo>
                <a:cubicBezTo>
                  <a:pt x="3122030" y="666830"/>
                  <a:pt x="3111056" y="626472"/>
                  <a:pt x="3089109" y="596543"/>
                </a:cubicBezTo>
                <a:cubicBezTo>
                  <a:pt x="3067161" y="566615"/>
                  <a:pt x="3037142" y="545121"/>
                  <a:pt x="2999051" y="532061"/>
                </a:cubicBezTo>
                <a:cubicBezTo>
                  <a:pt x="2960961" y="519001"/>
                  <a:pt x="2917428" y="512471"/>
                  <a:pt x="2868455" y="512471"/>
                </a:cubicBezTo>
                <a:close/>
                <a:moveTo>
                  <a:pt x="8790842" y="503765"/>
                </a:moveTo>
                <a:cubicBezTo>
                  <a:pt x="8737515" y="503765"/>
                  <a:pt x="8689811" y="510658"/>
                  <a:pt x="8647730" y="524443"/>
                </a:cubicBezTo>
                <a:cubicBezTo>
                  <a:pt x="8605648" y="538228"/>
                  <a:pt x="8572274" y="560357"/>
                  <a:pt x="8547606" y="590830"/>
                </a:cubicBezTo>
                <a:cubicBezTo>
                  <a:pt x="8522937" y="621302"/>
                  <a:pt x="8510603" y="661388"/>
                  <a:pt x="8510603" y="711087"/>
                </a:cubicBezTo>
                <a:cubicBezTo>
                  <a:pt x="8510603" y="757522"/>
                  <a:pt x="8521304" y="794887"/>
                  <a:pt x="8542708" y="823183"/>
                </a:cubicBezTo>
                <a:cubicBezTo>
                  <a:pt x="8564112" y="851479"/>
                  <a:pt x="8593496" y="874424"/>
                  <a:pt x="8630861" y="892018"/>
                </a:cubicBezTo>
                <a:cubicBezTo>
                  <a:pt x="8668226" y="909612"/>
                  <a:pt x="8711214" y="925483"/>
                  <a:pt x="8759825" y="939631"/>
                </a:cubicBezTo>
                <a:cubicBezTo>
                  <a:pt x="8801543" y="951966"/>
                  <a:pt x="8833558" y="962849"/>
                  <a:pt x="8855868" y="972281"/>
                </a:cubicBezTo>
                <a:cubicBezTo>
                  <a:pt x="8878178" y="981713"/>
                  <a:pt x="8893596" y="991870"/>
                  <a:pt x="8902121" y="1002753"/>
                </a:cubicBezTo>
                <a:cubicBezTo>
                  <a:pt x="8910646" y="1013636"/>
                  <a:pt x="8914909" y="1027603"/>
                  <a:pt x="8914909" y="1044653"/>
                </a:cubicBezTo>
                <a:cubicBezTo>
                  <a:pt x="8914909" y="1060615"/>
                  <a:pt x="8910283" y="1073856"/>
                  <a:pt x="8901033" y="1084376"/>
                </a:cubicBezTo>
                <a:cubicBezTo>
                  <a:pt x="8891782" y="1094896"/>
                  <a:pt x="8878541" y="1102696"/>
                  <a:pt x="8861310" y="1107775"/>
                </a:cubicBezTo>
                <a:cubicBezTo>
                  <a:pt x="8844078" y="1112853"/>
                  <a:pt x="8823491" y="1115393"/>
                  <a:pt x="8799548" y="1115393"/>
                </a:cubicBezTo>
                <a:cubicBezTo>
                  <a:pt x="8775606" y="1115393"/>
                  <a:pt x="8754565" y="1112400"/>
                  <a:pt x="8736427" y="1106414"/>
                </a:cubicBezTo>
                <a:cubicBezTo>
                  <a:pt x="8718288" y="1100429"/>
                  <a:pt x="8703959" y="1090452"/>
                  <a:pt x="8693439" y="1076486"/>
                </a:cubicBezTo>
                <a:cubicBezTo>
                  <a:pt x="8682918" y="1062519"/>
                  <a:pt x="8676932" y="1043746"/>
                  <a:pt x="8675482" y="1020166"/>
                </a:cubicBezTo>
                <a:lnTo>
                  <a:pt x="8495911" y="1020166"/>
                </a:lnTo>
                <a:cubicBezTo>
                  <a:pt x="8495911" y="1076032"/>
                  <a:pt x="8509243" y="1121197"/>
                  <a:pt x="8535906" y="1155660"/>
                </a:cubicBezTo>
                <a:cubicBezTo>
                  <a:pt x="8562570" y="1190123"/>
                  <a:pt x="8598574" y="1215245"/>
                  <a:pt x="8643921" y="1231025"/>
                </a:cubicBezTo>
                <a:cubicBezTo>
                  <a:pt x="8689267" y="1246806"/>
                  <a:pt x="8740417" y="1254696"/>
                  <a:pt x="8797372" y="1254696"/>
                </a:cubicBezTo>
                <a:cubicBezTo>
                  <a:pt x="8853964" y="1254696"/>
                  <a:pt x="8904751" y="1247441"/>
                  <a:pt x="8949735" y="1232930"/>
                </a:cubicBezTo>
                <a:cubicBezTo>
                  <a:pt x="8994717" y="1218419"/>
                  <a:pt x="9030269" y="1194930"/>
                  <a:pt x="9056388" y="1162462"/>
                </a:cubicBezTo>
                <a:cubicBezTo>
                  <a:pt x="9082508" y="1129994"/>
                  <a:pt x="9095567" y="1087097"/>
                  <a:pt x="9095567" y="1033770"/>
                </a:cubicBezTo>
                <a:cubicBezTo>
                  <a:pt x="9095567" y="986247"/>
                  <a:pt x="9086861" y="948066"/>
                  <a:pt x="9069448" y="919226"/>
                </a:cubicBezTo>
                <a:cubicBezTo>
                  <a:pt x="9052035" y="890386"/>
                  <a:pt x="9025462" y="866806"/>
                  <a:pt x="8989730" y="848486"/>
                </a:cubicBezTo>
                <a:cubicBezTo>
                  <a:pt x="8953997" y="830166"/>
                  <a:pt x="8908560" y="812662"/>
                  <a:pt x="8853419" y="795975"/>
                </a:cubicBezTo>
                <a:cubicBezTo>
                  <a:pt x="8808436" y="782190"/>
                  <a:pt x="8774245" y="770218"/>
                  <a:pt x="8750847" y="760061"/>
                </a:cubicBezTo>
                <a:cubicBezTo>
                  <a:pt x="8727448" y="749903"/>
                  <a:pt x="8711577" y="740018"/>
                  <a:pt x="8703233" y="730405"/>
                </a:cubicBezTo>
                <a:cubicBezTo>
                  <a:pt x="8694889" y="720791"/>
                  <a:pt x="8690718" y="709999"/>
                  <a:pt x="8690718" y="698028"/>
                </a:cubicBezTo>
                <a:cubicBezTo>
                  <a:pt x="8690718" y="676624"/>
                  <a:pt x="8700603" y="661297"/>
                  <a:pt x="8720374" y="652047"/>
                </a:cubicBezTo>
                <a:cubicBezTo>
                  <a:pt x="8740145" y="642796"/>
                  <a:pt x="8763271" y="638171"/>
                  <a:pt x="8789754" y="638171"/>
                </a:cubicBezTo>
                <a:cubicBezTo>
                  <a:pt x="8818050" y="638171"/>
                  <a:pt x="8842536" y="644610"/>
                  <a:pt x="8863214" y="657488"/>
                </a:cubicBezTo>
                <a:cubicBezTo>
                  <a:pt x="8883892" y="670367"/>
                  <a:pt x="8894231" y="690409"/>
                  <a:pt x="8894231" y="717617"/>
                </a:cubicBezTo>
                <a:lnTo>
                  <a:pt x="9073801" y="717617"/>
                </a:lnTo>
                <a:cubicBezTo>
                  <a:pt x="9073801" y="668281"/>
                  <a:pt x="9061014" y="627832"/>
                  <a:pt x="9035439" y="596271"/>
                </a:cubicBezTo>
                <a:cubicBezTo>
                  <a:pt x="9009863" y="564710"/>
                  <a:pt x="8975582" y="541402"/>
                  <a:pt x="8932594" y="526347"/>
                </a:cubicBezTo>
                <a:cubicBezTo>
                  <a:pt x="8889606" y="511292"/>
                  <a:pt x="8842354" y="503765"/>
                  <a:pt x="8790842" y="503765"/>
                </a:cubicBezTo>
                <a:close/>
                <a:moveTo>
                  <a:pt x="6908138" y="502677"/>
                </a:moveTo>
                <a:cubicBezTo>
                  <a:pt x="6833770" y="502677"/>
                  <a:pt x="6769379" y="518094"/>
                  <a:pt x="6714964" y="548930"/>
                </a:cubicBezTo>
                <a:cubicBezTo>
                  <a:pt x="6660548" y="579765"/>
                  <a:pt x="6618558" y="623388"/>
                  <a:pt x="6588992" y="679798"/>
                </a:cubicBezTo>
                <a:cubicBezTo>
                  <a:pt x="6559427" y="736209"/>
                  <a:pt x="6544644" y="802686"/>
                  <a:pt x="6544644" y="879230"/>
                </a:cubicBezTo>
                <a:cubicBezTo>
                  <a:pt x="6544644" y="955412"/>
                  <a:pt x="6559427" y="1021617"/>
                  <a:pt x="6588992" y="1077846"/>
                </a:cubicBezTo>
                <a:cubicBezTo>
                  <a:pt x="6618558" y="1134075"/>
                  <a:pt x="6660548" y="1177608"/>
                  <a:pt x="6714964" y="1208443"/>
                </a:cubicBezTo>
                <a:cubicBezTo>
                  <a:pt x="6769379" y="1239278"/>
                  <a:pt x="6833770" y="1254696"/>
                  <a:pt x="6908138" y="1254696"/>
                </a:cubicBezTo>
                <a:cubicBezTo>
                  <a:pt x="6979603" y="1254696"/>
                  <a:pt x="7040276" y="1241183"/>
                  <a:pt x="7090157" y="1214156"/>
                </a:cubicBezTo>
                <a:cubicBezTo>
                  <a:pt x="7140038" y="1187130"/>
                  <a:pt x="7178128" y="1149493"/>
                  <a:pt x="7204429" y="1101245"/>
                </a:cubicBezTo>
                <a:cubicBezTo>
                  <a:pt x="7230730" y="1052997"/>
                  <a:pt x="7243880" y="997130"/>
                  <a:pt x="7243880" y="933646"/>
                </a:cubicBezTo>
                <a:lnTo>
                  <a:pt x="7243880" y="852023"/>
                </a:lnTo>
                <a:lnTo>
                  <a:pt x="6909770" y="852023"/>
                </a:lnTo>
                <a:lnTo>
                  <a:pt x="6909770" y="990782"/>
                </a:lnTo>
                <a:lnTo>
                  <a:pt x="7067031" y="990782"/>
                </a:lnTo>
                <a:cubicBezTo>
                  <a:pt x="7064128" y="1014362"/>
                  <a:pt x="7055875" y="1035040"/>
                  <a:pt x="7042272" y="1052815"/>
                </a:cubicBezTo>
                <a:cubicBezTo>
                  <a:pt x="7028668" y="1070591"/>
                  <a:pt x="7010529" y="1084467"/>
                  <a:pt x="6987856" y="1094443"/>
                </a:cubicBezTo>
                <a:cubicBezTo>
                  <a:pt x="6965183" y="1104419"/>
                  <a:pt x="6938610" y="1109407"/>
                  <a:pt x="6908138" y="1109407"/>
                </a:cubicBezTo>
                <a:cubicBezTo>
                  <a:pt x="6863517" y="1109407"/>
                  <a:pt x="6827785" y="1098705"/>
                  <a:pt x="6800940" y="1077302"/>
                </a:cubicBezTo>
                <a:cubicBezTo>
                  <a:pt x="6774095" y="1055899"/>
                  <a:pt x="6754596" y="1027603"/>
                  <a:pt x="6742443" y="992414"/>
                </a:cubicBezTo>
                <a:cubicBezTo>
                  <a:pt x="6730291" y="957226"/>
                  <a:pt x="6724214" y="919498"/>
                  <a:pt x="6724214" y="879230"/>
                </a:cubicBezTo>
                <a:cubicBezTo>
                  <a:pt x="6724214" y="838600"/>
                  <a:pt x="6730200" y="800872"/>
                  <a:pt x="6742171" y="766047"/>
                </a:cubicBezTo>
                <a:cubicBezTo>
                  <a:pt x="6754143" y="731221"/>
                  <a:pt x="6773279" y="703016"/>
                  <a:pt x="6799579" y="681431"/>
                </a:cubicBezTo>
                <a:cubicBezTo>
                  <a:pt x="6825880" y="659846"/>
                  <a:pt x="6860797" y="649054"/>
                  <a:pt x="6904329" y="649054"/>
                </a:cubicBezTo>
                <a:cubicBezTo>
                  <a:pt x="6934801" y="649054"/>
                  <a:pt x="6960830" y="653588"/>
                  <a:pt x="6982415" y="662658"/>
                </a:cubicBezTo>
                <a:cubicBezTo>
                  <a:pt x="7003999" y="671727"/>
                  <a:pt x="7021050" y="684515"/>
                  <a:pt x="7033565" y="701020"/>
                </a:cubicBezTo>
                <a:cubicBezTo>
                  <a:pt x="7046081" y="717526"/>
                  <a:pt x="7053608" y="737025"/>
                  <a:pt x="7056147" y="759517"/>
                </a:cubicBezTo>
                <a:lnTo>
                  <a:pt x="7236262" y="759517"/>
                </a:lnTo>
                <a:cubicBezTo>
                  <a:pt x="7231908" y="714896"/>
                  <a:pt x="7219575" y="676352"/>
                  <a:pt x="7199260" y="643884"/>
                </a:cubicBezTo>
                <a:cubicBezTo>
                  <a:pt x="7178945" y="611417"/>
                  <a:pt x="7153279" y="584753"/>
                  <a:pt x="7122262" y="563894"/>
                </a:cubicBezTo>
                <a:cubicBezTo>
                  <a:pt x="7091245" y="543035"/>
                  <a:pt x="7057236" y="527617"/>
                  <a:pt x="7020233" y="517641"/>
                </a:cubicBezTo>
                <a:cubicBezTo>
                  <a:pt x="6983231" y="507665"/>
                  <a:pt x="6945866" y="502677"/>
                  <a:pt x="6908138" y="502677"/>
                </a:cubicBezTo>
                <a:close/>
                <a:moveTo>
                  <a:pt x="0" y="0"/>
                </a:moveTo>
                <a:lnTo>
                  <a:pt x="12186298" y="0"/>
                </a:lnTo>
                <a:lnTo>
                  <a:pt x="12186298" y="6858000"/>
                </a:lnTo>
                <a:lnTo>
                  <a:pt x="0" y="6858000"/>
                </a:lnTo>
                <a:close/>
              </a:path>
            </a:pathLst>
          </a:custGeom>
          <a:solidFill>
            <a:srgbClr val="FFFFFF">
              <a:alpha val="3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ndParaRPr>
          </a:p>
        </p:txBody>
      </p:sp>
      <p:sp>
        <p:nvSpPr>
          <p:cNvPr id="10" name="TextBox 9">
            <a:extLst>
              <a:ext uri="{FF2B5EF4-FFF2-40B4-BE49-F238E27FC236}">
                <a16:creationId xmlns:a16="http://schemas.microsoft.com/office/drawing/2014/main" id="{A0E7F8F9-9DEC-475F-6624-93C9CBD56246}"/>
              </a:ext>
            </a:extLst>
          </p:cNvPr>
          <p:cNvSpPr txBox="1"/>
          <p:nvPr/>
        </p:nvSpPr>
        <p:spPr>
          <a:xfrm>
            <a:off x="728420" y="1853142"/>
            <a:ext cx="8624585" cy="1689437"/>
          </a:xfrm>
          <a:prstGeom prst="rect">
            <a:avLst/>
          </a:prstGeom>
          <a:noFill/>
        </p:spPr>
        <p:txBody>
          <a:bodyPr wrap="square" lIns="91440" tIns="45720" rIns="91440" bIns="45720" anchor="t">
            <a:spAutoFit/>
          </a:bodyPr>
          <a:lstStyle/>
          <a:p>
            <a:pPr marL="457200" indent="-457200">
              <a:lnSpc>
                <a:spcPct val="150000"/>
              </a:lnSpc>
              <a:spcBef>
                <a:spcPts val="1000"/>
              </a:spcBef>
              <a:buClr>
                <a:srgbClr val="002803"/>
              </a:buClr>
              <a:buAutoNum type="arabicPeriod"/>
            </a:pPr>
            <a:r>
              <a:rPr lang="en-US" sz="2000" dirty="0">
                <a:solidFill>
                  <a:srgbClr val="012903"/>
                </a:solidFill>
                <a:latin typeface="Aptos" panose="020B0004020202020204" pitchFamily="34" charset="0"/>
                <a:hlinkClick r:id="rId4"/>
              </a:rPr>
              <a:t>UK Fiscal Risks and Sustainability Report (2023</a:t>
            </a:r>
            <a:r>
              <a:rPr lang="en-US" sz="2000">
                <a:solidFill>
                  <a:srgbClr val="012903"/>
                </a:solidFill>
                <a:latin typeface="Aptos" panose="020B0004020202020204" pitchFamily="34" charset="0"/>
                <a:hlinkClick r:id="rId4"/>
              </a:rPr>
              <a:t>) </a:t>
            </a:r>
            <a:endParaRPr lang="en-US" sz="2000" dirty="0">
              <a:solidFill>
                <a:srgbClr val="012903"/>
              </a:solidFill>
              <a:latin typeface="Aptos" panose="020B0004020202020204" pitchFamily="34" charset="0"/>
            </a:endParaRPr>
          </a:p>
          <a:p>
            <a:pPr marL="457200" indent="-457200">
              <a:lnSpc>
                <a:spcPct val="150000"/>
              </a:lnSpc>
              <a:spcBef>
                <a:spcPts val="1000"/>
              </a:spcBef>
              <a:buClr>
                <a:srgbClr val="002803"/>
              </a:buClr>
              <a:buAutoNum type="arabicPeriod"/>
            </a:pPr>
            <a:r>
              <a:rPr lang="en-US" sz="2000" dirty="0" err="1">
                <a:solidFill>
                  <a:srgbClr val="012903"/>
                </a:solidFill>
                <a:latin typeface="Aptos" panose="020B0004020202020204" pitchFamily="34" charset="0"/>
                <a:hlinkClick r:id="rId5"/>
              </a:rPr>
              <a:t>Dunz</a:t>
            </a:r>
            <a:r>
              <a:rPr lang="en-US" sz="2000" dirty="0">
                <a:solidFill>
                  <a:srgbClr val="012903"/>
                </a:solidFill>
                <a:latin typeface="Aptos" panose="020B0004020202020204" pitchFamily="34" charset="0"/>
                <a:hlinkClick r:id="rId5"/>
              </a:rPr>
              <a:t> and Power (2021), ‘Climate-Related Risks for Ministries of Finance’</a:t>
            </a:r>
            <a:endParaRPr lang="en-US" sz="2000" dirty="0">
              <a:solidFill>
                <a:srgbClr val="012903"/>
              </a:solidFill>
              <a:latin typeface="Aptos" panose="020B0004020202020204" pitchFamily="34" charset="0"/>
            </a:endParaRPr>
          </a:p>
          <a:p>
            <a:pPr marL="457200" indent="-457200">
              <a:lnSpc>
                <a:spcPct val="150000"/>
              </a:lnSpc>
              <a:spcBef>
                <a:spcPts val="1000"/>
              </a:spcBef>
              <a:buClr>
                <a:srgbClr val="002803"/>
              </a:buClr>
              <a:buAutoNum type="arabicPeriod"/>
            </a:pPr>
            <a:r>
              <a:rPr lang="en-US" sz="2000" dirty="0">
                <a:solidFill>
                  <a:srgbClr val="012903"/>
                </a:solidFill>
                <a:latin typeface="Aptos" panose="020B0004020202020204" pitchFamily="34" charset="0"/>
                <a:hlinkClick r:id="rId6"/>
              </a:rPr>
              <a:t>Swiss Re (2009), Economics of Adaptation Report </a:t>
            </a:r>
            <a:endParaRPr lang="en-US" sz="2000" dirty="0">
              <a:solidFill>
                <a:srgbClr val="012903"/>
              </a:solidFill>
              <a:latin typeface="Aptos" panose="020B0004020202020204" pitchFamily="34" charset="0"/>
            </a:endParaRPr>
          </a:p>
        </p:txBody>
      </p:sp>
    </p:spTree>
    <p:extLst>
      <p:ext uri="{BB962C8B-B14F-4D97-AF65-F5344CB8AC3E}">
        <p14:creationId xmlns:p14="http://schemas.microsoft.com/office/powerpoint/2010/main" val="2900721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3BDD1F5-9D86-36FB-921B-E6EBC8CCC29D}"/>
              </a:ext>
            </a:extLst>
          </p:cNvPr>
          <p:cNvPicPr>
            <a:picLocks noChangeAspect="1"/>
          </p:cNvPicPr>
          <p:nvPr/>
        </p:nvPicPr>
        <p:blipFill rotWithShape="1">
          <a:blip r:embed="rId2"/>
          <a:srcRect l="20568" b="32793"/>
          <a:stretch/>
        </p:blipFill>
        <p:spPr>
          <a:xfrm>
            <a:off x="0" y="0"/>
            <a:ext cx="12551280" cy="6858000"/>
          </a:xfrm>
          <a:prstGeom prst="rect">
            <a:avLst/>
          </a:prstGeom>
        </p:spPr>
      </p:pic>
      <p:sp>
        <p:nvSpPr>
          <p:cNvPr id="2" name="Rectangle 1">
            <a:extLst>
              <a:ext uri="{FF2B5EF4-FFF2-40B4-BE49-F238E27FC236}">
                <a16:creationId xmlns:a16="http://schemas.microsoft.com/office/drawing/2014/main" id="{558C90F6-31E8-A726-F5A2-4C4E502D6687}"/>
              </a:ext>
            </a:extLst>
          </p:cNvPr>
          <p:cNvSpPr/>
          <p:nvPr/>
        </p:nvSpPr>
        <p:spPr>
          <a:xfrm>
            <a:off x="3755597" y="996042"/>
            <a:ext cx="8330954" cy="4265769"/>
          </a:xfrm>
          <a:prstGeom prst="rect">
            <a:avLst/>
          </a:prstGeom>
          <a:solidFill>
            <a:srgbClr val="FFFFFF">
              <a:alpha val="6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0E7F8F9-9DEC-475F-6624-93C9CBD56246}"/>
              </a:ext>
            </a:extLst>
          </p:cNvPr>
          <p:cNvSpPr txBox="1"/>
          <p:nvPr/>
        </p:nvSpPr>
        <p:spPr>
          <a:xfrm>
            <a:off x="3887356" y="1168870"/>
            <a:ext cx="8067435" cy="3920112"/>
          </a:xfrm>
          <a:prstGeom prst="rect">
            <a:avLst/>
          </a:prstGeom>
          <a:noFill/>
        </p:spPr>
        <p:txBody>
          <a:bodyPr wrap="square" lIns="91440" tIns="45720" rIns="91440" bIns="45720" anchor="t">
            <a:spAutoFit/>
          </a:bodyPr>
          <a:lstStyle/>
          <a:p>
            <a:pPr algn="ctr">
              <a:lnSpc>
                <a:spcPct val="150000"/>
              </a:lnSpc>
              <a:spcBef>
                <a:spcPts val="1000"/>
              </a:spcBef>
              <a:buClr>
                <a:srgbClr val="002803"/>
              </a:buClr>
            </a:pPr>
            <a:r>
              <a:rPr lang="en-GB" sz="1800" b="1" dirty="0">
                <a:solidFill>
                  <a:srgbClr val="00463D"/>
                </a:solidFill>
                <a:latin typeface="Aptos" panose="020B0004020202020204" pitchFamily="34" charset="0"/>
              </a:rPr>
              <a:t>“</a:t>
            </a:r>
            <a:r>
              <a:rPr lang="en-US" sz="1800" b="1" dirty="0">
                <a:solidFill>
                  <a:srgbClr val="00463D"/>
                </a:solidFill>
                <a:latin typeface="Aptos" panose="020B0004020202020204" pitchFamily="34" charset="0"/>
              </a:rPr>
              <a:t>Climate transition risk… could emerge from sudden and uncoordinated climate policies, technology disruptions, and altered consumption preferences during the transition towards a carbon-neutral economy. This could drive entire sectors out of business and lead to abrupt financial asset revaluation and stranded high-carbon assets with negative implications for the real economy and government budgets. Both, climate physical and climate transition risk, could amplify macroeconomic risks, with finance being a potential driver of risk amplification.”</a:t>
            </a:r>
          </a:p>
          <a:p>
            <a:pPr algn="ctr">
              <a:lnSpc>
                <a:spcPct val="150000"/>
              </a:lnSpc>
              <a:spcBef>
                <a:spcPts val="1000"/>
              </a:spcBef>
              <a:buClr>
                <a:srgbClr val="002803"/>
              </a:buClr>
            </a:pPr>
            <a:r>
              <a:rPr lang="en-US" sz="1800" dirty="0">
                <a:solidFill>
                  <a:srgbClr val="00463D"/>
                </a:solidFill>
                <a:latin typeface="Aptos" panose="020B0004020202020204" pitchFamily="34" charset="0"/>
              </a:rPr>
              <a:t> (</a:t>
            </a:r>
            <a:r>
              <a:rPr lang="en-GB" sz="1800" dirty="0" err="1">
                <a:solidFill>
                  <a:srgbClr val="00463D"/>
                </a:solidFill>
                <a:latin typeface="Aptos" panose="020B0004020202020204" pitchFamily="34" charset="0"/>
              </a:rPr>
              <a:t>Dunz</a:t>
            </a:r>
            <a:r>
              <a:rPr lang="en-GB" sz="1800" dirty="0">
                <a:solidFill>
                  <a:srgbClr val="00463D"/>
                </a:solidFill>
                <a:latin typeface="Aptos" panose="020B0004020202020204" pitchFamily="34" charset="0"/>
              </a:rPr>
              <a:t> and Power, 2021) </a:t>
            </a:r>
            <a:endParaRPr lang="en-US" sz="1050" dirty="0">
              <a:solidFill>
                <a:srgbClr val="00463D"/>
              </a:solidFill>
              <a:latin typeface="Aptos" panose="020B0004020202020204" pitchFamily="34" charset="0"/>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765407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g2cfb641d87b_0_158"/>
          <p:cNvSpPr txBox="1">
            <a:spLocks noGrp="1"/>
          </p:cNvSpPr>
          <p:nvPr>
            <p:ph type="ctrTitle"/>
          </p:nvPr>
        </p:nvSpPr>
        <p:spPr>
          <a:noFill/>
          <a:ln>
            <a:noFill/>
          </a:ln>
        </p:spPr>
        <p:txBody>
          <a:bodyPr spcFirstLastPara="1" wrap="square" lIns="0" tIns="0" rIns="0" bIns="0" anchor="b" anchorCtr="0">
            <a:normAutofit/>
          </a:bodyPr>
          <a:lstStyle/>
          <a:p>
            <a:r>
              <a:rPr lang="en-US" dirty="0"/>
              <a:t>Climate (Physical) Risks</a:t>
            </a:r>
          </a:p>
        </p:txBody>
      </p:sp>
    </p:spTree>
    <p:extLst>
      <p:ext uri="{BB962C8B-B14F-4D97-AF65-F5344CB8AC3E}">
        <p14:creationId xmlns:p14="http://schemas.microsoft.com/office/powerpoint/2010/main" val="3457333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1A92-35BC-9357-A6E6-745F0CEDA23F}"/>
              </a:ext>
            </a:extLst>
          </p:cNvPr>
          <p:cNvSpPr>
            <a:spLocks noGrp="1"/>
          </p:cNvSpPr>
          <p:nvPr>
            <p:ph type="title"/>
          </p:nvPr>
        </p:nvSpPr>
        <p:spPr/>
        <p:txBody>
          <a:bodyPr/>
          <a:lstStyle/>
          <a:p>
            <a:r>
              <a:rPr lang="en-US" dirty="0"/>
              <a:t>Physical Risk</a:t>
            </a:r>
          </a:p>
        </p:txBody>
      </p:sp>
      <p:sp>
        <p:nvSpPr>
          <p:cNvPr id="9" name="Content Placeholder 2">
            <a:extLst>
              <a:ext uri="{FF2B5EF4-FFF2-40B4-BE49-F238E27FC236}">
                <a16:creationId xmlns:a16="http://schemas.microsoft.com/office/drawing/2014/main" id="{C0668C7A-C3FB-FC89-7D9B-6DC108D2A5F7}"/>
              </a:ext>
            </a:extLst>
          </p:cNvPr>
          <p:cNvSpPr txBox="1">
            <a:spLocks/>
          </p:cNvSpPr>
          <p:nvPr/>
        </p:nvSpPr>
        <p:spPr>
          <a:xfrm>
            <a:off x="381000" y="1810867"/>
            <a:ext cx="4713765" cy="2705100"/>
          </a:xfrm>
          <a:prstGeom prst="rect">
            <a:avLst/>
          </a:prstGeom>
        </p:spPr>
        <p:txBody>
          <a:bodyPr vert="horz" lIns="0" tIns="0" rIns="0" bIns="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Tx/>
              <a:buNone/>
            </a:pPr>
            <a:r>
              <a:rPr lang="en-US" sz="1800" b="1" dirty="0"/>
              <a:t>“…the potential effects on people, communities, natural and physical capital, and economic activity, and the implications for companies, governments, financial institutions, and individuals.” (</a:t>
            </a:r>
            <a:r>
              <a:rPr lang="en-US" sz="1800" b="1" dirty="0" err="1"/>
              <a:t>Woetzel</a:t>
            </a:r>
            <a:r>
              <a:rPr lang="en-US" sz="1800" b="1" dirty="0"/>
              <a:t> et al., 2020). </a:t>
            </a:r>
          </a:p>
          <a:p>
            <a:pPr marL="0" indent="0">
              <a:buClrTx/>
              <a:buNone/>
            </a:pPr>
            <a:endParaRPr lang="en-US" sz="1800" dirty="0"/>
          </a:p>
          <a:p>
            <a:pPr>
              <a:buClrTx/>
            </a:pPr>
            <a:endParaRPr lang="en-US" sz="1800" dirty="0"/>
          </a:p>
          <a:p>
            <a:pPr>
              <a:buClrTx/>
            </a:pPr>
            <a:endParaRPr lang="en-US" dirty="0"/>
          </a:p>
        </p:txBody>
      </p:sp>
      <p:pic>
        <p:nvPicPr>
          <p:cNvPr id="12" name="Picture 11" descr="A river flowing through a town&#10;&#10;Description automatically generated">
            <a:extLst>
              <a:ext uri="{FF2B5EF4-FFF2-40B4-BE49-F238E27FC236}">
                <a16:creationId xmlns:a16="http://schemas.microsoft.com/office/drawing/2014/main" id="{79A0DC57-1FC6-5D7A-D24E-EF5886E9A4A2}"/>
              </a:ext>
            </a:extLst>
          </p:cNvPr>
          <p:cNvPicPr>
            <a:picLocks noChangeAspect="1"/>
          </p:cNvPicPr>
          <p:nvPr/>
        </p:nvPicPr>
        <p:blipFill>
          <a:blip r:embed="rId2"/>
          <a:stretch>
            <a:fillRect/>
          </a:stretch>
        </p:blipFill>
        <p:spPr>
          <a:xfrm>
            <a:off x="5933252" y="528168"/>
            <a:ext cx="6055547" cy="3987799"/>
          </a:xfrm>
          <a:prstGeom prst="rect">
            <a:avLst/>
          </a:prstGeom>
        </p:spPr>
      </p:pic>
      <p:sp>
        <p:nvSpPr>
          <p:cNvPr id="15" name="Content Placeholder 2">
            <a:extLst>
              <a:ext uri="{FF2B5EF4-FFF2-40B4-BE49-F238E27FC236}">
                <a16:creationId xmlns:a16="http://schemas.microsoft.com/office/drawing/2014/main" id="{A02C52B2-6A99-F138-DB8C-55002EA0D9E6}"/>
              </a:ext>
            </a:extLst>
          </p:cNvPr>
          <p:cNvSpPr txBox="1">
            <a:spLocks/>
          </p:cNvSpPr>
          <p:nvPr/>
        </p:nvSpPr>
        <p:spPr>
          <a:xfrm>
            <a:off x="369799" y="4218457"/>
            <a:ext cx="11607799" cy="2187575"/>
          </a:xfrm>
          <a:prstGeom prst="rect">
            <a:avLst/>
          </a:prstGeom>
        </p:spPr>
        <p:txBody>
          <a:bodyPr vert="horz" lIns="0" tIns="0" rIns="0" bIns="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00" dirty="0"/>
              <a:t>Physical risks can be:​</a:t>
            </a:r>
          </a:p>
          <a:p>
            <a:pPr lvl="1">
              <a:buClrTx/>
            </a:pPr>
            <a:r>
              <a:rPr lang="en-US" sz="1800" dirty="0"/>
              <a:t>Chronic- longer term impacts from gradual climate change (e.g. rise in average temperatures/sea levels/ocean acidification, changes in precipitation, etc.). ​</a:t>
            </a:r>
          </a:p>
          <a:p>
            <a:pPr lvl="1">
              <a:buClrTx/>
            </a:pPr>
            <a:r>
              <a:rPr lang="en-US" sz="1800" dirty="0"/>
              <a:t>Acute- short term impacts from extreme climate-related weather events (e.g. storms, fires, floods, heat waves, etc.).</a:t>
            </a:r>
          </a:p>
          <a:p>
            <a:pPr>
              <a:buClrTx/>
            </a:pPr>
            <a:endParaRPr lang="en-US" sz="1800" dirty="0"/>
          </a:p>
          <a:p>
            <a:pPr>
              <a:buClrTx/>
            </a:pPr>
            <a:endParaRPr lang="en-US" sz="1800" dirty="0"/>
          </a:p>
          <a:p>
            <a:pPr>
              <a:buClrTx/>
            </a:pPr>
            <a:endParaRPr lang="en-US" dirty="0"/>
          </a:p>
        </p:txBody>
      </p:sp>
      <p:sp>
        <p:nvSpPr>
          <p:cNvPr id="16" name="TextBox 15">
            <a:extLst>
              <a:ext uri="{FF2B5EF4-FFF2-40B4-BE49-F238E27FC236}">
                <a16:creationId xmlns:a16="http://schemas.microsoft.com/office/drawing/2014/main" id="{9EF7B562-B8EA-CA81-869F-64EAEBDFB3D5}"/>
              </a:ext>
            </a:extLst>
          </p:cNvPr>
          <p:cNvSpPr txBox="1"/>
          <p:nvPr/>
        </p:nvSpPr>
        <p:spPr>
          <a:xfrm>
            <a:off x="6173699" y="6560363"/>
            <a:ext cx="6018301" cy="276999"/>
          </a:xfrm>
          <a:prstGeom prst="rect">
            <a:avLst/>
          </a:prstGeom>
          <a:noFill/>
        </p:spPr>
        <p:txBody>
          <a:bodyPr wrap="square">
            <a:spAutoFit/>
          </a:bodyPr>
          <a:lstStyle/>
          <a:p>
            <a:pPr algn="ctr"/>
            <a:r>
              <a:rPr lang="en-GB" sz="1200" b="0" i="0" dirty="0">
                <a:solidFill>
                  <a:srgbClr val="222222"/>
                </a:solidFill>
                <a:effectLst/>
                <a:latin typeface="+mn-lt"/>
              </a:rPr>
              <a:t>From: Jackson (2024).</a:t>
            </a:r>
            <a:endParaRPr lang="en-GB" sz="1200" dirty="0">
              <a:latin typeface="+mn-lt"/>
            </a:endParaRPr>
          </a:p>
        </p:txBody>
      </p:sp>
    </p:spTree>
    <p:extLst>
      <p:ext uri="{BB962C8B-B14F-4D97-AF65-F5344CB8AC3E}">
        <p14:creationId xmlns:p14="http://schemas.microsoft.com/office/powerpoint/2010/main" val="1103219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E9C9BC-58D1-AA5B-1AB8-CDF6694EAE65}"/>
              </a:ext>
            </a:extLst>
          </p:cNvPr>
          <p:cNvPicPr>
            <a:picLocks noChangeAspect="1"/>
          </p:cNvPicPr>
          <p:nvPr/>
        </p:nvPicPr>
        <p:blipFill rotWithShape="1">
          <a:blip r:embed="rId2"/>
          <a:srcRect l="28605" t="26511" r="30407" b="7907"/>
          <a:stretch/>
        </p:blipFill>
        <p:spPr>
          <a:xfrm>
            <a:off x="467832" y="1648046"/>
            <a:ext cx="5422605" cy="4880346"/>
          </a:xfrm>
          <a:prstGeom prst="rect">
            <a:avLst/>
          </a:prstGeom>
        </p:spPr>
      </p:pic>
      <p:pic>
        <p:nvPicPr>
          <p:cNvPr id="5" name="Picture 4">
            <a:extLst>
              <a:ext uri="{FF2B5EF4-FFF2-40B4-BE49-F238E27FC236}">
                <a16:creationId xmlns:a16="http://schemas.microsoft.com/office/drawing/2014/main" id="{A2BD9411-9473-5FFB-79A4-89D88FC1251D}"/>
              </a:ext>
            </a:extLst>
          </p:cNvPr>
          <p:cNvPicPr>
            <a:picLocks noChangeAspect="1"/>
          </p:cNvPicPr>
          <p:nvPr/>
        </p:nvPicPr>
        <p:blipFill rotWithShape="1">
          <a:blip r:embed="rId3"/>
          <a:srcRect l="32093" t="25170" r="34506" b="6977"/>
          <a:stretch/>
        </p:blipFill>
        <p:spPr>
          <a:xfrm>
            <a:off x="6613449" y="935665"/>
            <a:ext cx="4582634" cy="5236535"/>
          </a:xfrm>
          <a:prstGeom prst="rect">
            <a:avLst/>
          </a:prstGeom>
        </p:spPr>
      </p:pic>
      <p:sp>
        <p:nvSpPr>
          <p:cNvPr id="6" name="Title 5">
            <a:extLst>
              <a:ext uri="{FF2B5EF4-FFF2-40B4-BE49-F238E27FC236}">
                <a16:creationId xmlns:a16="http://schemas.microsoft.com/office/drawing/2014/main" id="{DF8D141C-AECC-B9D5-4840-A2C231BD79F1}"/>
              </a:ext>
            </a:extLst>
          </p:cNvPr>
          <p:cNvSpPr>
            <a:spLocks noGrp="1"/>
          </p:cNvSpPr>
          <p:nvPr>
            <p:ph type="title"/>
          </p:nvPr>
        </p:nvSpPr>
        <p:spPr/>
        <p:txBody>
          <a:bodyPr/>
          <a:lstStyle/>
          <a:p>
            <a:r>
              <a:rPr lang="en-AU" dirty="0"/>
              <a:t>IPCC AR6 Risks</a:t>
            </a:r>
          </a:p>
        </p:txBody>
      </p:sp>
    </p:spTree>
    <p:extLst>
      <p:ext uri="{BB962C8B-B14F-4D97-AF65-F5344CB8AC3E}">
        <p14:creationId xmlns:p14="http://schemas.microsoft.com/office/powerpoint/2010/main" val="846639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1E36C3-47B1-948C-4351-70D8C8346B6B}"/>
              </a:ext>
            </a:extLst>
          </p:cNvPr>
          <p:cNvPicPr>
            <a:picLocks noChangeAspect="1"/>
          </p:cNvPicPr>
          <p:nvPr/>
        </p:nvPicPr>
        <p:blipFill rotWithShape="1">
          <a:blip r:embed="rId3"/>
          <a:srcRect l="10163" t="7507" r="722"/>
          <a:stretch/>
        </p:blipFill>
        <p:spPr>
          <a:xfrm>
            <a:off x="2778312" y="197077"/>
            <a:ext cx="6635376" cy="4154826"/>
          </a:xfrm>
          <a:prstGeom prst="rect">
            <a:avLst/>
          </a:prstGeom>
        </p:spPr>
      </p:pic>
      <p:pic>
        <p:nvPicPr>
          <p:cNvPr id="2" name="Picture 1">
            <a:extLst>
              <a:ext uri="{FF2B5EF4-FFF2-40B4-BE49-F238E27FC236}">
                <a16:creationId xmlns:a16="http://schemas.microsoft.com/office/drawing/2014/main" id="{389095D1-7890-9E48-6284-D85B1CD8049D}"/>
              </a:ext>
            </a:extLst>
          </p:cNvPr>
          <p:cNvPicPr>
            <a:picLocks noChangeAspect="1"/>
          </p:cNvPicPr>
          <p:nvPr/>
        </p:nvPicPr>
        <p:blipFill rotWithShape="1">
          <a:blip r:embed="rId4"/>
          <a:srcRect t="44590" r="3781" b="35520"/>
          <a:stretch/>
        </p:blipFill>
        <p:spPr>
          <a:xfrm>
            <a:off x="1308100" y="3945297"/>
            <a:ext cx="9575800" cy="2508038"/>
          </a:xfrm>
          <a:prstGeom prst="rect">
            <a:avLst/>
          </a:prstGeom>
        </p:spPr>
      </p:pic>
      <p:sp>
        <p:nvSpPr>
          <p:cNvPr id="7" name="Title 6">
            <a:extLst>
              <a:ext uri="{FF2B5EF4-FFF2-40B4-BE49-F238E27FC236}">
                <a16:creationId xmlns:a16="http://schemas.microsoft.com/office/drawing/2014/main" id="{C43241F8-FFA8-D768-01E3-7166D7E5807D}"/>
              </a:ext>
            </a:extLst>
          </p:cNvPr>
          <p:cNvSpPr>
            <a:spLocks noGrp="1"/>
          </p:cNvSpPr>
          <p:nvPr>
            <p:ph type="title"/>
          </p:nvPr>
        </p:nvSpPr>
        <p:spPr>
          <a:xfrm>
            <a:off x="542261" y="726169"/>
            <a:ext cx="2349796" cy="2690037"/>
          </a:xfrm>
        </p:spPr>
        <p:txBody>
          <a:bodyPr>
            <a:normAutofit fontScale="90000"/>
          </a:bodyPr>
          <a:lstStyle/>
          <a:p>
            <a:r>
              <a:rPr lang="en-GB" dirty="0">
                <a:solidFill>
                  <a:srgbClr val="446EB6"/>
                </a:solidFill>
              </a:rPr>
              <a:t>Examples of Physical Risks: Living and Working</a:t>
            </a:r>
            <a:br>
              <a:rPr lang="en-GB" dirty="0">
                <a:solidFill>
                  <a:srgbClr val="446EB6"/>
                </a:solidFill>
              </a:rPr>
            </a:br>
            <a:endParaRPr lang="en-GB" dirty="0">
              <a:solidFill>
                <a:srgbClr val="446EB6"/>
              </a:solidFill>
            </a:endParaRPr>
          </a:p>
        </p:txBody>
      </p:sp>
      <p:sp>
        <p:nvSpPr>
          <p:cNvPr id="9" name="TextBox 8">
            <a:extLst>
              <a:ext uri="{FF2B5EF4-FFF2-40B4-BE49-F238E27FC236}">
                <a16:creationId xmlns:a16="http://schemas.microsoft.com/office/drawing/2014/main" id="{27124898-84AD-6BEE-97A1-697F17FC0D20}"/>
              </a:ext>
            </a:extLst>
          </p:cNvPr>
          <p:cNvSpPr txBox="1"/>
          <p:nvPr/>
        </p:nvSpPr>
        <p:spPr>
          <a:xfrm>
            <a:off x="1" y="6549498"/>
            <a:ext cx="12191999" cy="261610"/>
          </a:xfrm>
          <a:prstGeom prst="rect">
            <a:avLst/>
          </a:prstGeom>
          <a:noFill/>
        </p:spPr>
        <p:txBody>
          <a:bodyPr wrap="square" rtlCol="0">
            <a:spAutoFit/>
          </a:bodyPr>
          <a:lstStyle/>
          <a:p>
            <a:pPr algn="ctr"/>
            <a:r>
              <a:rPr lang="en-GB" sz="1100" dirty="0">
                <a:latin typeface="+mn-lt"/>
              </a:rPr>
              <a:t> From: Jackson (2024). Original Source: </a:t>
            </a:r>
            <a:r>
              <a:rPr lang="en-GB" sz="1100" dirty="0" err="1">
                <a:latin typeface="+mn-lt"/>
              </a:rPr>
              <a:t>Woetzel</a:t>
            </a:r>
            <a:r>
              <a:rPr lang="en-GB" sz="1100" dirty="0">
                <a:latin typeface="+mn-lt"/>
              </a:rPr>
              <a:t> et al. (2020). </a:t>
            </a:r>
          </a:p>
        </p:txBody>
      </p:sp>
    </p:spTree>
    <p:extLst>
      <p:ext uri="{BB962C8B-B14F-4D97-AF65-F5344CB8AC3E}">
        <p14:creationId xmlns:p14="http://schemas.microsoft.com/office/powerpoint/2010/main" val="559143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1361F2D-62C3-DE4A-E285-2D08810FD375}"/>
              </a:ext>
            </a:extLst>
          </p:cNvPr>
          <p:cNvPicPr>
            <a:picLocks noChangeAspect="1"/>
          </p:cNvPicPr>
          <p:nvPr/>
        </p:nvPicPr>
        <p:blipFill rotWithShape="1">
          <a:blip r:embed="rId2"/>
          <a:srcRect l="10163" t="7507" r="722"/>
          <a:stretch/>
        </p:blipFill>
        <p:spPr>
          <a:xfrm>
            <a:off x="2778312" y="197077"/>
            <a:ext cx="6635376" cy="4154826"/>
          </a:xfrm>
          <a:prstGeom prst="rect">
            <a:avLst/>
          </a:prstGeom>
        </p:spPr>
      </p:pic>
      <p:sp>
        <p:nvSpPr>
          <p:cNvPr id="7" name="Title 6">
            <a:extLst>
              <a:ext uri="{FF2B5EF4-FFF2-40B4-BE49-F238E27FC236}">
                <a16:creationId xmlns:a16="http://schemas.microsoft.com/office/drawing/2014/main" id="{C43241F8-FFA8-D768-01E3-7166D7E5807D}"/>
              </a:ext>
            </a:extLst>
          </p:cNvPr>
          <p:cNvSpPr>
            <a:spLocks noGrp="1"/>
          </p:cNvSpPr>
          <p:nvPr>
            <p:ph type="title"/>
          </p:nvPr>
        </p:nvSpPr>
        <p:spPr>
          <a:xfrm>
            <a:off x="662696" y="1244637"/>
            <a:ext cx="2760921" cy="1296145"/>
          </a:xfrm>
        </p:spPr>
        <p:txBody>
          <a:bodyPr>
            <a:normAutofit fontScale="90000"/>
          </a:bodyPr>
          <a:lstStyle/>
          <a:p>
            <a:r>
              <a:rPr lang="en-GB" dirty="0">
                <a:solidFill>
                  <a:srgbClr val="C00000"/>
                </a:solidFill>
              </a:rPr>
              <a:t>Examples of Physical Risks: Infrastructure and Natural Capital</a:t>
            </a:r>
          </a:p>
        </p:txBody>
      </p:sp>
      <p:pic>
        <p:nvPicPr>
          <p:cNvPr id="5" name="Picture 4">
            <a:extLst>
              <a:ext uri="{FF2B5EF4-FFF2-40B4-BE49-F238E27FC236}">
                <a16:creationId xmlns:a16="http://schemas.microsoft.com/office/drawing/2014/main" id="{EBA3AF3B-2AB7-3EF0-3F89-1759A1AB96DB}"/>
              </a:ext>
            </a:extLst>
          </p:cNvPr>
          <p:cNvPicPr>
            <a:picLocks noChangeAspect="1"/>
          </p:cNvPicPr>
          <p:nvPr/>
        </p:nvPicPr>
        <p:blipFill rotWithShape="1">
          <a:blip r:embed="rId3"/>
          <a:srcRect t="44232" b="50162"/>
          <a:stretch/>
        </p:blipFill>
        <p:spPr>
          <a:xfrm>
            <a:off x="1308000" y="3914605"/>
            <a:ext cx="9576000" cy="695754"/>
          </a:xfrm>
          <a:prstGeom prst="rect">
            <a:avLst/>
          </a:prstGeom>
        </p:spPr>
      </p:pic>
      <p:pic>
        <p:nvPicPr>
          <p:cNvPr id="4" name="Picture 3">
            <a:extLst>
              <a:ext uri="{FF2B5EF4-FFF2-40B4-BE49-F238E27FC236}">
                <a16:creationId xmlns:a16="http://schemas.microsoft.com/office/drawing/2014/main" id="{C168CFFD-F5FC-BBAE-C7A1-0AA45BF68A5B}"/>
              </a:ext>
            </a:extLst>
          </p:cNvPr>
          <p:cNvPicPr>
            <a:picLocks noChangeAspect="1"/>
          </p:cNvPicPr>
          <p:nvPr/>
        </p:nvPicPr>
        <p:blipFill rotWithShape="1">
          <a:blip r:embed="rId3"/>
          <a:srcRect t="82541" b="2291"/>
          <a:stretch/>
        </p:blipFill>
        <p:spPr>
          <a:xfrm>
            <a:off x="1308000" y="4610359"/>
            <a:ext cx="9576000" cy="1882516"/>
          </a:xfrm>
          <a:prstGeom prst="rect">
            <a:avLst/>
          </a:prstGeom>
        </p:spPr>
      </p:pic>
      <p:sp>
        <p:nvSpPr>
          <p:cNvPr id="2" name="TextBox 1">
            <a:extLst>
              <a:ext uri="{FF2B5EF4-FFF2-40B4-BE49-F238E27FC236}">
                <a16:creationId xmlns:a16="http://schemas.microsoft.com/office/drawing/2014/main" id="{9B3FDEBD-4632-A7E1-9CCD-F3E86BA77D14}"/>
              </a:ext>
            </a:extLst>
          </p:cNvPr>
          <p:cNvSpPr txBox="1"/>
          <p:nvPr/>
        </p:nvSpPr>
        <p:spPr>
          <a:xfrm>
            <a:off x="1" y="6549498"/>
            <a:ext cx="12191999" cy="261610"/>
          </a:xfrm>
          <a:prstGeom prst="rect">
            <a:avLst/>
          </a:prstGeom>
          <a:noFill/>
        </p:spPr>
        <p:txBody>
          <a:bodyPr wrap="square" rtlCol="0">
            <a:spAutoFit/>
          </a:bodyPr>
          <a:lstStyle/>
          <a:p>
            <a:pPr algn="ctr"/>
            <a:r>
              <a:rPr lang="en-GB" sz="1100" dirty="0">
                <a:latin typeface="+mn-lt"/>
              </a:rPr>
              <a:t> From: Jackson (2024). Original Source: </a:t>
            </a:r>
            <a:r>
              <a:rPr lang="en-GB" sz="1100" dirty="0" err="1">
                <a:latin typeface="+mn-lt"/>
              </a:rPr>
              <a:t>Woetzel</a:t>
            </a:r>
            <a:r>
              <a:rPr lang="en-GB" sz="1100" dirty="0">
                <a:latin typeface="+mn-lt"/>
              </a:rPr>
              <a:t> et al (2020). </a:t>
            </a:r>
          </a:p>
        </p:txBody>
      </p:sp>
    </p:spTree>
    <p:extLst>
      <p:ext uri="{BB962C8B-B14F-4D97-AF65-F5344CB8AC3E}">
        <p14:creationId xmlns:p14="http://schemas.microsoft.com/office/powerpoint/2010/main" val="3606103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B83B2-76D7-9DF3-3EF9-F3696F1DC8AA}"/>
              </a:ext>
            </a:extLst>
          </p:cNvPr>
          <p:cNvSpPr>
            <a:spLocks noGrp="1"/>
          </p:cNvSpPr>
          <p:nvPr>
            <p:ph type="title"/>
          </p:nvPr>
        </p:nvSpPr>
        <p:spPr/>
        <p:txBody>
          <a:bodyPr>
            <a:normAutofit fontScale="90000"/>
          </a:bodyPr>
          <a:lstStyle/>
          <a:p>
            <a:r>
              <a:rPr lang="en-GB" dirty="0"/>
              <a:t>Physical Risks: Weather-Related Losses Worldwide (1980-2018)</a:t>
            </a:r>
          </a:p>
        </p:txBody>
      </p:sp>
      <p:pic>
        <p:nvPicPr>
          <p:cNvPr id="3" name="Picture 2">
            <a:extLst>
              <a:ext uri="{FF2B5EF4-FFF2-40B4-BE49-F238E27FC236}">
                <a16:creationId xmlns:a16="http://schemas.microsoft.com/office/drawing/2014/main" id="{5474734F-E5F0-1E38-2B83-78CA14246BE4}"/>
              </a:ext>
            </a:extLst>
          </p:cNvPr>
          <p:cNvPicPr>
            <a:picLocks noChangeAspect="1"/>
          </p:cNvPicPr>
          <p:nvPr/>
        </p:nvPicPr>
        <p:blipFill>
          <a:blip r:embed="rId2"/>
          <a:stretch>
            <a:fillRect/>
          </a:stretch>
        </p:blipFill>
        <p:spPr>
          <a:xfrm>
            <a:off x="845265" y="1813679"/>
            <a:ext cx="10501467" cy="4265177"/>
          </a:xfrm>
          <a:prstGeom prst="rect">
            <a:avLst/>
          </a:prstGeom>
        </p:spPr>
      </p:pic>
      <p:sp>
        <p:nvSpPr>
          <p:cNvPr id="4" name="TextBox 3">
            <a:extLst>
              <a:ext uri="{FF2B5EF4-FFF2-40B4-BE49-F238E27FC236}">
                <a16:creationId xmlns:a16="http://schemas.microsoft.com/office/drawing/2014/main" id="{B4A7F9B7-C4F1-BF74-84B1-01F84E3CD79B}"/>
              </a:ext>
            </a:extLst>
          </p:cNvPr>
          <p:cNvSpPr txBox="1"/>
          <p:nvPr/>
        </p:nvSpPr>
        <p:spPr>
          <a:xfrm>
            <a:off x="0" y="6322530"/>
            <a:ext cx="12192000" cy="261610"/>
          </a:xfrm>
          <a:prstGeom prst="rect">
            <a:avLst/>
          </a:prstGeom>
          <a:noFill/>
        </p:spPr>
        <p:txBody>
          <a:bodyPr wrap="square" rtlCol="0">
            <a:spAutoFit/>
          </a:bodyPr>
          <a:lstStyle/>
          <a:p>
            <a:pPr algn="ctr"/>
            <a:r>
              <a:rPr lang="en-GB" sz="1100" dirty="0">
                <a:latin typeface="+mn-lt"/>
              </a:rPr>
              <a:t>From: Jackson (2024). Original Source: Bolton et al. (2020). </a:t>
            </a:r>
          </a:p>
        </p:txBody>
      </p:sp>
    </p:spTree>
    <p:extLst>
      <p:ext uri="{BB962C8B-B14F-4D97-AF65-F5344CB8AC3E}">
        <p14:creationId xmlns:p14="http://schemas.microsoft.com/office/powerpoint/2010/main" val="2734860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654588-DD85-04CF-92CC-E04FE4839BD5}"/>
              </a:ext>
            </a:extLst>
          </p:cNvPr>
          <p:cNvPicPr>
            <a:picLocks noChangeAspect="1"/>
          </p:cNvPicPr>
          <p:nvPr/>
        </p:nvPicPr>
        <p:blipFill rotWithShape="1">
          <a:blip r:embed="rId3"/>
          <a:srcRect l="868" t="1986" r="4079" b="1990"/>
          <a:stretch/>
        </p:blipFill>
        <p:spPr>
          <a:xfrm>
            <a:off x="490123" y="1244072"/>
            <a:ext cx="11211752" cy="5356657"/>
          </a:xfrm>
          <a:prstGeom prst="rect">
            <a:avLst/>
          </a:prstGeom>
        </p:spPr>
      </p:pic>
      <p:sp>
        <p:nvSpPr>
          <p:cNvPr id="5" name="Title 4">
            <a:extLst>
              <a:ext uri="{FF2B5EF4-FFF2-40B4-BE49-F238E27FC236}">
                <a16:creationId xmlns:a16="http://schemas.microsoft.com/office/drawing/2014/main" id="{76D9940D-8DBE-7D6B-9C3C-A085D4C92C18}"/>
              </a:ext>
            </a:extLst>
          </p:cNvPr>
          <p:cNvSpPr>
            <a:spLocks noGrp="1"/>
          </p:cNvSpPr>
          <p:nvPr>
            <p:ph type="title"/>
          </p:nvPr>
        </p:nvSpPr>
        <p:spPr/>
        <p:txBody>
          <a:bodyPr>
            <a:noAutofit/>
          </a:bodyPr>
          <a:lstStyle/>
          <a:p>
            <a:pPr algn="ctr"/>
            <a:r>
              <a:rPr lang="en-GB" sz="3600" i="0" u="none" strike="noStrike" baseline="0" dirty="0">
                <a:latin typeface="+mj-lt"/>
              </a:rPr>
              <a:t>Summary of the Major </a:t>
            </a:r>
            <a:r>
              <a:rPr lang="en-GB" sz="3600" dirty="0">
                <a:latin typeface="+mj-lt"/>
              </a:rPr>
              <a:t>S</a:t>
            </a:r>
            <a:r>
              <a:rPr lang="en-GB" sz="3600" i="0" u="none" strike="noStrike" baseline="0" dirty="0">
                <a:latin typeface="+mj-lt"/>
              </a:rPr>
              <a:t>ystemic </a:t>
            </a:r>
            <a:r>
              <a:rPr lang="en-GB" sz="3600" dirty="0">
                <a:latin typeface="+mj-lt"/>
              </a:rPr>
              <a:t>R</a:t>
            </a:r>
            <a:r>
              <a:rPr lang="en-GB" sz="3600" i="0" u="none" strike="noStrike" baseline="0" dirty="0">
                <a:latin typeface="+mj-lt"/>
              </a:rPr>
              <a:t>isk </a:t>
            </a:r>
            <a:r>
              <a:rPr lang="en-GB" sz="3600" dirty="0">
                <a:latin typeface="+mj-lt"/>
              </a:rPr>
              <a:t>D</a:t>
            </a:r>
            <a:r>
              <a:rPr lang="en-GB" sz="3600" i="0" u="none" strike="noStrike" baseline="0" dirty="0">
                <a:latin typeface="+mj-lt"/>
              </a:rPr>
              <a:t>ynamics</a:t>
            </a:r>
            <a:br>
              <a:rPr lang="en-GB" sz="3600" i="0" u="none" strike="noStrike" baseline="0" dirty="0">
                <a:latin typeface="+mj-lt"/>
              </a:rPr>
            </a:br>
            <a:endParaRPr lang="en-GB" sz="2400" dirty="0">
              <a:latin typeface="+mj-lt"/>
            </a:endParaRPr>
          </a:p>
        </p:txBody>
      </p:sp>
      <p:sp>
        <p:nvSpPr>
          <p:cNvPr id="6" name="TextBox 5">
            <a:extLst>
              <a:ext uri="{FF2B5EF4-FFF2-40B4-BE49-F238E27FC236}">
                <a16:creationId xmlns:a16="http://schemas.microsoft.com/office/drawing/2014/main" id="{DDB66A64-B97A-49EB-1A64-1520E44545E2}"/>
              </a:ext>
            </a:extLst>
          </p:cNvPr>
          <p:cNvSpPr txBox="1"/>
          <p:nvPr/>
        </p:nvSpPr>
        <p:spPr>
          <a:xfrm>
            <a:off x="0" y="6588029"/>
            <a:ext cx="12191999" cy="276999"/>
          </a:xfrm>
          <a:prstGeom prst="rect">
            <a:avLst/>
          </a:prstGeom>
          <a:noFill/>
        </p:spPr>
        <p:txBody>
          <a:bodyPr wrap="square">
            <a:spAutoFit/>
          </a:bodyPr>
          <a:lstStyle/>
          <a:p>
            <a:pPr algn="ctr"/>
            <a:r>
              <a:rPr lang="en-GB" sz="1200" b="0" i="0" dirty="0">
                <a:solidFill>
                  <a:srgbClr val="222222"/>
                </a:solidFill>
                <a:effectLst/>
                <a:latin typeface="+mn-lt"/>
              </a:rPr>
              <a:t>From: Jackson (2024). Original Source: Quiggi</a:t>
            </a:r>
            <a:r>
              <a:rPr lang="en-GB" sz="1200" dirty="0">
                <a:solidFill>
                  <a:srgbClr val="222222"/>
                </a:solidFill>
                <a:latin typeface="+mn-lt"/>
              </a:rPr>
              <a:t>n et al. </a:t>
            </a:r>
            <a:r>
              <a:rPr lang="en-GB" sz="1200" b="0" i="0" dirty="0">
                <a:solidFill>
                  <a:srgbClr val="222222"/>
                </a:solidFill>
                <a:effectLst/>
                <a:latin typeface="+mn-lt"/>
              </a:rPr>
              <a:t>(2021).</a:t>
            </a:r>
            <a:endParaRPr lang="en-GB" sz="1200" dirty="0">
              <a:latin typeface="+mn-lt"/>
            </a:endParaRPr>
          </a:p>
        </p:txBody>
      </p:sp>
    </p:spTree>
    <p:extLst>
      <p:ext uri="{BB962C8B-B14F-4D97-AF65-F5344CB8AC3E}">
        <p14:creationId xmlns:p14="http://schemas.microsoft.com/office/powerpoint/2010/main" val="1236279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5E62A9-2915-E955-BFF6-FE6E127474A3}"/>
              </a:ext>
            </a:extLst>
          </p:cNvPr>
          <p:cNvPicPr>
            <a:picLocks noChangeAspect="1"/>
          </p:cNvPicPr>
          <p:nvPr/>
        </p:nvPicPr>
        <p:blipFill>
          <a:blip r:embed="rId2"/>
          <a:srcRect l="24854" t="31872" r="19070" b="12492"/>
          <a:stretch/>
        </p:blipFill>
        <p:spPr>
          <a:xfrm>
            <a:off x="-96068" y="0"/>
            <a:ext cx="12288068" cy="6858000"/>
          </a:xfrm>
          <a:prstGeom prst="rect">
            <a:avLst/>
          </a:prstGeom>
        </p:spPr>
      </p:pic>
      <p:sp>
        <p:nvSpPr>
          <p:cNvPr id="4" name="Rectangle 3">
            <a:extLst>
              <a:ext uri="{FF2B5EF4-FFF2-40B4-BE49-F238E27FC236}">
                <a16:creationId xmlns:a16="http://schemas.microsoft.com/office/drawing/2014/main" id="{826F8C47-B944-1797-F909-D63DD4597A00}"/>
              </a:ext>
            </a:extLst>
          </p:cNvPr>
          <p:cNvSpPr/>
          <p:nvPr/>
        </p:nvSpPr>
        <p:spPr>
          <a:xfrm>
            <a:off x="1109328" y="657910"/>
            <a:ext cx="9973339" cy="5720772"/>
          </a:xfrm>
          <a:prstGeom prst="rect">
            <a:avLst/>
          </a:prstGeom>
          <a:solidFill>
            <a:srgbClr val="FFFFFF">
              <a:alpha val="7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2F4E10D0-C821-7488-B74F-A174319A7832}"/>
              </a:ext>
            </a:extLst>
          </p:cNvPr>
          <p:cNvSpPr txBox="1"/>
          <p:nvPr/>
        </p:nvSpPr>
        <p:spPr>
          <a:xfrm>
            <a:off x="1513364" y="1511375"/>
            <a:ext cx="9165265" cy="4678204"/>
          </a:xfrm>
          <a:prstGeom prst="rect">
            <a:avLst/>
          </a:prstGeom>
          <a:noFill/>
        </p:spPr>
        <p:txBody>
          <a:bodyPr wrap="square" lIns="91440" tIns="45720" rIns="91440" bIns="45720" rtlCol="0" anchor="t">
            <a:spAutoFit/>
          </a:bodyPr>
          <a:lstStyle/>
          <a:p>
            <a:pPr algn="ctr" rtl="0" fontAlgn="base"/>
            <a:r>
              <a:rPr lang="en-US" sz="1800" b="1" i="0" u="none" strike="noStrike" dirty="0">
                <a:solidFill>
                  <a:srgbClr val="F36C35"/>
                </a:solidFill>
                <a:effectLst/>
                <a:latin typeface="+mn-lt"/>
              </a:rPr>
              <a:t>Economic structure, anthropogenic impacts, and geographical features make Ukraine highly susceptible to climate impacts.</a:t>
            </a:r>
            <a:r>
              <a:rPr lang="en-US" sz="1800" b="0" i="0" dirty="0">
                <a:solidFill>
                  <a:srgbClr val="F36C35"/>
                </a:solidFill>
                <a:effectLst/>
                <a:latin typeface="+mn-lt"/>
              </a:rPr>
              <a:t>​</a:t>
            </a:r>
          </a:p>
          <a:p>
            <a:pPr algn="ctr" rtl="0" fontAlgn="base"/>
            <a:endParaRPr lang="en-US" b="0" i="0" dirty="0">
              <a:solidFill>
                <a:srgbClr val="FFFFFF"/>
              </a:solidFill>
              <a:effectLst/>
              <a:latin typeface="+mn-lt"/>
            </a:endParaRPr>
          </a:p>
          <a:p>
            <a:pPr algn="l" rtl="0" fontAlgn="base"/>
            <a:r>
              <a:rPr lang="en-US" sz="1800" b="1" i="0" u="none" strike="noStrike" dirty="0">
                <a:solidFill>
                  <a:srgbClr val="333333"/>
                </a:solidFill>
                <a:effectLst/>
                <a:latin typeface="+mn-lt"/>
              </a:rPr>
              <a:t>Disaster Impact Growth</a:t>
            </a:r>
            <a:r>
              <a:rPr lang="en-US" sz="1800" b="0" i="0" u="none" strike="noStrike" dirty="0">
                <a:solidFill>
                  <a:srgbClr val="333333"/>
                </a:solidFill>
                <a:effectLst/>
                <a:latin typeface="+mn-lt"/>
              </a:rPr>
              <a:t>:</a:t>
            </a:r>
            <a:r>
              <a:rPr lang="en-US" sz="1800" b="0" i="0" dirty="0">
                <a:solidFill>
                  <a:srgbClr val="FFFFFF"/>
                </a:solidFill>
                <a:effectLst/>
                <a:latin typeface="+mn-lt"/>
              </a:rPr>
              <a:t>​</a:t>
            </a:r>
            <a:endParaRPr lang="en-US" b="0" i="0" dirty="0">
              <a:solidFill>
                <a:srgbClr val="FFFFFF"/>
              </a:solidFill>
              <a:effectLst/>
              <a:latin typeface="+mn-lt"/>
            </a:endParaRPr>
          </a:p>
          <a:p>
            <a:pPr marL="285750" indent="-285750" fontAlgn="base">
              <a:buFont typeface="Arial" panose="020B0604020202020204" pitchFamily="34" charset="0"/>
              <a:buChar char="•"/>
            </a:pPr>
            <a:r>
              <a:rPr lang="en-US" sz="1800" b="1" i="0" u="none" strike="noStrike" dirty="0">
                <a:solidFill>
                  <a:srgbClr val="333333"/>
                </a:solidFill>
                <a:effectLst/>
                <a:latin typeface="+mn-lt"/>
              </a:rPr>
              <a:t>2020 Losses</a:t>
            </a:r>
            <a:r>
              <a:rPr lang="en-US" sz="1800" b="0" i="0" u="none" strike="noStrike" dirty="0">
                <a:solidFill>
                  <a:srgbClr val="333333"/>
                </a:solidFill>
                <a:effectLst/>
                <a:latin typeface="+mn-lt"/>
              </a:rPr>
              <a:t>: Over 6 times higher than 2019, increasing from UAH 1.6 billion to UAH 9.9 billion. Mainly due to droughts (south), wildfires (north &amp; east</a:t>
            </a:r>
            <a:r>
              <a:rPr lang="en-US" sz="1800" dirty="0">
                <a:solidFill>
                  <a:srgbClr val="333333"/>
                </a:solidFill>
                <a:latin typeface="+mn-lt"/>
              </a:rPr>
              <a:t>) and flash</a:t>
            </a:r>
            <a:r>
              <a:rPr lang="en-US" sz="1800" b="0" i="0" u="none" strike="noStrike" dirty="0">
                <a:solidFill>
                  <a:srgbClr val="333333"/>
                </a:solidFill>
                <a:effectLst/>
                <a:latin typeface="+mn-lt"/>
              </a:rPr>
              <a:t> floods (west).</a:t>
            </a:r>
            <a:r>
              <a:rPr lang="en-US" sz="1800" b="0" i="0" dirty="0">
                <a:solidFill>
                  <a:srgbClr val="FFFFFF"/>
                </a:solidFill>
                <a:effectLst/>
                <a:latin typeface="+mn-lt"/>
              </a:rPr>
              <a:t>​</a:t>
            </a:r>
            <a:endParaRPr lang="en-US" dirty="0">
              <a:solidFill>
                <a:srgbClr val="FFFFFF"/>
              </a:solidFill>
              <a:latin typeface="+mn-lt"/>
            </a:endParaRPr>
          </a:p>
          <a:p>
            <a:pPr marL="285750" indent="-285750" algn="l" rtl="0" fontAlgn="base">
              <a:buFont typeface="Arial" panose="020B0604020202020204" pitchFamily="34" charset="0"/>
              <a:buChar char="•"/>
            </a:pPr>
            <a:r>
              <a:rPr lang="en-US" sz="1800" b="1" i="0" u="none" strike="noStrike" dirty="0">
                <a:solidFill>
                  <a:srgbClr val="333333"/>
                </a:solidFill>
                <a:effectLst/>
                <a:latin typeface="+mn-lt"/>
              </a:rPr>
              <a:t>Fighting-Induced Wildfire Expansion</a:t>
            </a:r>
            <a:r>
              <a:rPr lang="en-US" sz="1800" b="0" i="0" u="none" strike="noStrike" dirty="0">
                <a:solidFill>
                  <a:srgbClr val="333333"/>
                </a:solidFill>
                <a:effectLst/>
                <a:latin typeface="+mn-lt"/>
              </a:rPr>
              <a:t>: Forest fires burned 25 times more area in 2022 than in 2021.</a:t>
            </a:r>
            <a:r>
              <a:rPr lang="en-US" sz="1800" b="0" i="0" dirty="0">
                <a:solidFill>
                  <a:srgbClr val="FFFFFF"/>
                </a:solidFill>
                <a:effectLst/>
                <a:latin typeface="+mn-lt"/>
              </a:rPr>
              <a:t>​</a:t>
            </a:r>
          </a:p>
          <a:p>
            <a:pPr algn="l" rtl="0" fontAlgn="base"/>
            <a:endParaRPr lang="en-US" b="0" i="0" dirty="0">
              <a:solidFill>
                <a:srgbClr val="FFFFFF"/>
              </a:solidFill>
              <a:effectLst/>
              <a:latin typeface="+mn-lt"/>
            </a:endParaRPr>
          </a:p>
          <a:p>
            <a:pPr algn="l" rtl="0" fontAlgn="base"/>
            <a:r>
              <a:rPr lang="en-US" sz="1800" b="1" i="0" u="none" strike="noStrike" dirty="0">
                <a:solidFill>
                  <a:srgbClr val="333333"/>
                </a:solidFill>
                <a:effectLst/>
                <a:latin typeface="+mn-lt"/>
              </a:rPr>
              <a:t>Future Risks:</a:t>
            </a:r>
            <a:r>
              <a:rPr lang="en-US" sz="1800" b="0" i="0" dirty="0">
                <a:solidFill>
                  <a:srgbClr val="FFFFFF"/>
                </a:solidFill>
                <a:effectLst/>
                <a:latin typeface="+mn-lt"/>
              </a:rPr>
              <a:t>​</a:t>
            </a:r>
            <a:endParaRPr lang="en-US" dirty="0">
              <a:solidFill>
                <a:srgbClr val="FFFFFF"/>
              </a:solidFill>
              <a:latin typeface="+mn-lt"/>
            </a:endParaRPr>
          </a:p>
          <a:p>
            <a:pPr marL="285750" indent="-285750" algn="l" rtl="0" fontAlgn="base">
              <a:buFont typeface="Arial" panose="020B0604020202020204" pitchFamily="34" charset="0"/>
              <a:buChar char="•"/>
            </a:pPr>
            <a:r>
              <a:rPr lang="en-US" sz="1800" b="1" i="0" u="none" strike="noStrike" dirty="0">
                <a:solidFill>
                  <a:srgbClr val="333333"/>
                </a:solidFill>
                <a:effectLst/>
                <a:latin typeface="+mn-lt"/>
              </a:rPr>
              <a:t>Rising Temperatures &amp; Shifting Seasons</a:t>
            </a:r>
            <a:r>
              <a:rPr lang="en-US" sz="1800" b="0" i="0" u="none" strike="noStrike" dirty="0">
                <a:solidFill>
                  <a:srgbClr val="333333"/>
                </a:solidFill>
                <a:effectLst/>
                <a:latin typeface="+mn-lt"/>
              </a:rPr>
              <a:t>: More frequent floods, shifting precipitation, and rising sea levels along the Black Sea coast.</a:t>
            </a:r>
            <a:r>
              <a:rPr lang="en-US" sz="1800" b="0" i="0" dirty="0">
                <a:solidFill>
                  <a:srgbClr val="FFFFFF"/>
                </a:solidFill>
                <a:effectLst/>
                <a:latin typeface="+mn-lt"/>
              </a:rPr>
              <a:t>​</a:t>
            </a:r>
            <a:endParaRPr lang="en-US" dirty="0">
              <a:solidFill>
                <a:srgbClr val="FFFFFF"/>
              </a:solidFill>
              <a:latin typeface="+mn-lt"/>
            </a:endParaRPr>
          </a:p>
          <a:p>
            <a:pPr marL="285750" indent="-285750" algn="l" rtl="0" fontAlgn="base">
              <a:buFont typeface="Arial" panose="020B0604020202020204" pitchFamily="34" charset="0"/>
              <a:buChar char="•"/>
            </a:pPr>
            <a:r>
              <a:rPr lang="en-US" sz="1800" b="1" i="0" u="none" strike="noStrike" dirty="0">
                <a:solidFill>
                  <a:srgbClr val="333333"/>
                </a:solidFill>
                <a:effectLst/>
                <a:latin typeface="+mn-lt"/>
              </a:rPr>
              <a:t>Water Security Threat</a:t>
            </a:r>
            <a:r>
              <a:rPr lang="en-US" sz="1800" b="0" i="0" u="none" strike="noStrike" dirty="0">
                <a:solidFill>
                  <a:srgbClr val="333333"/>
                </a:solidFill>
                <a:effectLst/>
                <a:latin typeface="+mn-lt"/>
              </a:rPr>
              <a:t>: Ukraine is one of the least water self-sufficient countries in Europe. Decreasing river flows will worsen water pollution and degrade water quality.</a:t>
            </a:r>
            <a:r>
              <a:rPr lang="en-US" sz="1800" b="0" i="0" dirty="0">
                <a:solidFill>
                  <a:srgbClr val="FFFFFF"/>
                </a:solidFill>
                <a:effectLst/>
                <a:latin typeface="+mn-lt"/>
              </a:rPr>
              <a:t>​</a:t>
            </a:r>
            <a:endParaRPr lang="en-US" dirty="0">
              <a:solidFill>
                <a:srgbClr val="FFFFFF"/>
              </a:solidFill>
              <a:latin typeface="+mn-lt"/>
            </a:endParaRPr>
          </a:p>
          <a:p>
            <a:pPr marL="285750" indent="-285750" algn="l" rtl="0" fontAlgn="base">
              <a:buFont typeface="Arial" panose="020B0604020202020204" pitchFamily="34" charset="0"/>
              <a:buChar char="•"/>
            </a:pPr>
            <a:r>
              <a:rPr lang="en-US" sz="1800" b="1" i="0" u="none" strike="noStrike" dirty="0">
                <a:solidFill>
                  <a:srgbClr val="333333"/>
                </a:solidFill>
                <a:effectLst/>
                <a:latin typeface="+mn-lt"/>
              </a:rPr>
              <a:t>Agricultural Impact</a:t>
            </a:r>
            <a:r>
              <a:rPr lang="en-US" sz="1800" b="0" i="0" u="none" strike="noStrike" dirty="0">
                <a:solidFill>
                  <a:srgbClr val="333333"/>
                </a:solidFill>
                <a:effectLst/>
                <a:latin typeface="+mn-lt"/>
              </a:rPr>
              <a:t>: Wheat yields will decrease, threatening one of Ukraine’s key exports. Scorched agricultural lands and dry wetlands lead to more frequent fires and deteriorating air quality.</a:t>
            </a:r>
            <a:endParaRPr lang="en-US" b="0" i="0" dirty="0">
              <a:solidFill>
                <a:srgbClr val="FFFFFF"/>
              </a:solidFill>
              <a:effectLst/>
              <a:latin typeface="+mn-lt"/>
            </a:endParaRPr>
          </a:p>
        </p:txBody>
      </p:sp>
      <p:sp>
        <p:nvSpPr>
          <p:cNvPr id="6" name="Title 1">
            <a:extLst>
              <a:ext uri="{FF2B5EF4-FFF2-40B4-BE49-F238E27FC236}">
                <a16:creationId xmlns:a16="http://schemas.microsoft.com/office/drawing/2014/main" id="{7C397106-A6C0-688C-CAF1-D57172F1B106}"/>
              </a:ext>
            </a:extLst>
          </p:cNvPr>
          <p:cNvSpPr txBox="1">
            <a:spLocks/>
          </p:cNvSpPr>
          <p:nvPr/>
        </p:nvSpPr>
        <p:spPr>
          <a:xfrm>
            <a:off x="1109328" y="791128"/>
            <a:ext cx="9973339" cy="782584"/>
          </a:xfrm>
          <a:prstGeom prst="rect">
            <a:avLst/>
          </a:prstGeom>
        </p:spPr>
        <p:txBody>
          <a:bodyPr>
            <a:normAutofit fontScale="97500"/>
          </a:bodyPr>
          <a:lst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buClrTx/>
              <a:buFontTx/>
            </a:pPr>
            <a:r>
              <a:rPr lang="en-GB" dirty="0"/>
              <a:t>Example: Ukraine</a:t>
            </a:r>
          </a:p>
        </p:txBody>
      </p:sp>
    </p:spTree>
    <p:extLst>
      <p:ext uri="{BB962C8B-B14F-4D97-AF65-F5344CB8AC3E}">
        <p14:creationId xmlns:p14="http://schemas.microsoft.com/office/powerpoint/2010/main" val="1498574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g2cfb641d87b_0_158"/>
          <p:cNvSpPr txBox="1">
            <a:spLocks noGrp="1"/>
          </p:cNvSpPr>
          <p:nvPr>
            <p:ph type="ctrTitle"/>
          </p:nvPr>
        </p:nvSpPr>
        <p:spPr>
          <a:prstGeom prst="rect">
            <a:avLst/>
          </a:prstGeom>
          <a:noFill/>
          <a:ln>
            <a:noFill/>
          </a:ln>
        </p:spPr>
        <p:txBody>
          <a:bodyPr spcFirstLastPara="1" wrap="square" lIns="0" tIns="0" rIns="0" bIns="0" anchor="b" anchorCtr="0">
            <a:noAutofit/>
          </a:bodyPr>
          <a:lstStyle/>
          <a:p>
            <a:pPr>
              <a:spcBef>
                <a:spcPts val="0"/>
              </a:spcBef>
            </a:pPr>
            <a:r>
              <a:rPr lang="en-US" dirty="0">
                <a:latin typeface="Arial"/>
                <a:cs typeface="Arial"/>
              </a:rPr>
              <a:t>GDP Risks</a:t>
            </a:r>
          </a:p>
        </p:txBody>
      </p:sp>
    </p:spTree>
    <p:extLst>
      <p:ext uri="{BB962C8B-B14F-4D97-AF65-F5344CB8AC3E}">
        <p14:creationId xmlns:p14="http://schemas.microsoft.com/office/powerpoint/2010/main" val="3249530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1F82E2-68A5-2AF7-644A-5DD9B397A8CE}"/>
              </a:ext>
            </a:extLst>
          </p:cNvPr>
          <p:cNvSpPr>
            <a:spLocks noGrp="1"/>
          </p:cNvSpPr>
          <p:nvPr>
            <p:ph type="ctrTitle"/>
          </p:nvPr>
        </p:nvSpPr>
        <p:spPr/>
        <p:txBody>
          <a:bodyPr>
            <a:normAutofit/>
          </a:bodyPr>
          <a:lstStyle/>
          <a:p>
            <a:r>
              <a:rPr lang="en-US" dirty="0"/>
              <a:t>Short-Term GDP Risk</a:t>
            </a:r>
          </a:p>
        </p:txBody>
      </p:sp>
      <p:sp>
        <p:nvSpPr>
          <p:cNvPr id="5" name="Content Placeholder 1">
            <a:extLst>
              <a:ext uri="{FF2B5EF4-FFF2-40B4-BE49-F238E27FC236}">
                <a16:creationId xmlns:a16="http://schemas.microsoft.com/office/drawing/2014/main" id="{2B803044-AD19-A8E7-25CF-30F439513C33}"/>
              </a:ext>
            </a:extLst>
          </p:cNvPr>
          <p:cNvSpPr>
            <a:spLocks noGrp="1"/>
          </p:cNvSpPr>
          <p:nvPr>
            <p:ph sz="half" idx="2"/>
          </p:nvPr>
        </p:nvSpPr>
        <p:spPr>
          <a:xfrm>
            <a:off x="4546605" y="502920"/>
            <a:ext cx="7027086" cy="3229108"/>
          </a:xfrm>
        </p:spPr>
        <p:txBody>
          <a:bodyPr>
            <a:normAutofit fontScale="62500" lnSpcReduction="20000"/>
          </a:bodyPr>
          <a:lstStyle/>
          <a:p>
            <a:pPr marL="0" indent="0">
              <a:buNone/>
            </a:pPr>
            <a:r>
              <a:rPr lang="en-GB" b="1" dirty="0">
                <a:solidFill>
                  <a:srgbClr val="022A03"/>
                </a:solidFill>
                <a:latin typeface="Aptos Display" panose="020B0004020202020204" pitchFamily="34" charset="0"/>
              </a:rPr>
              <a:t>Extreme Weather Events: </a:t>
            </a:r>
            <a:r>
              <a:rPr lang="en-GB" dirty="0">
                <a:solidFill>
                  <a:srgbClr val="022A03"/>
                </a:solidFill>
                <a:latin typeface="Aptos Display" panose="020B0004020202020204" pitchFamily="34" charset="0"/>
              </a:rPr>
              <a:t>Increased frequency and severity of natural disasters (e.g., hurricanes, floods, wildfires) cause direct damage to infrastructure, agriculture, and housing. Leads to significant economic losses, particularly in vulnerable regions.</a:t>
            </a:r>
          </a:p>
          <a:p>
            <a:pPr marL="0" indent="0">
              <a:buNone/>
            </a:pPr>
            <a:r>
              <a:rPr lang="en-GB" b="1" dirty="0">
                <a:solidFill>
                  <a:srgbClr val="022A03"/>
                </a:solidFill>
                <a:latin typeface="Aptos Display" panose="020B0004020202020204" pitchFamily="34" charset="0"/>
              </a:rPr>
              <a:t>Agricultural Productivity: </a:t>
            </a:r>
            <a:r>
              <a:rPr lang="en-GB" dirty="0">
                <a:solidFill>
                  <a:srgbClr val="022A03"/>
                </a:solidFill>
                <a:latin typeface="Aptos Display" panose="020B0004020202020204" pitchFamily="34" charset="0"/>
              </a:rPr>
              <a:t>Shifts in climate patterns disrupt crop yields, leading to food insecurity and higher prices. Economic output in agriculture-dependent regions is particularly affected, reducing GDP.</a:t>
            </a:r>
          </a:p>
          <a:p>
            <a:endParaRPr lang="en-US" dirty="0"/>
          </a:p>
        </p:txBody>
      </p:sp>
      <p:pic>
        <p:nvPicPr>
          <p:cNvPr id="7" name="Picture 6">
            <a:extLst>
              <a:ext uri="{FF2B5EF4-FFF2-40B4-BE49-F238E27FC236}">
                <a16:creationId xmlns:a16="http://schemas.microsoft.com/office/drawing/2014/main" id="{6D8F2BD0-5BF1-2CEE-43F6-A162544ABC53}"/>
              </a:ext>
            </a:extLst>
          </p:cNvPr>
          <p:cNvPicPr>
            <a:picLocks noChangeAspect="1"/>
          </p:cNvPicPr>
          <p:nvPr/>
        </p:nvPicPr>
        <p:blipFill>
          <a:blip r:embed="rId2"/>
          <a:stretch>
            <a:fillRect/>
          </a:stretch>
        </p:blipFill>
        <p:spPr>
          <a:xfrm>
            <a:off x="4761595" y="3670193"/>
            <a:ext cx="7209180" cy="2665268"/>
          </a:xfrm>
          <a:prstGeom prst="rect">
            <a:avLst/>
          </a:prstGeom>
        </p:spPr>
      </p:pic>
      <p:sp>
        <p:nvSpPr>
          <p:cNvPr id="9" name="TextBox 8">
            <a:extLst>
              <a:ext uri="{FF2B5EF4-FFF2-40B4-BE49-F238E27FC236}">
                <a16:creationId xmlns:a16="http://schemas.microsoft.com/office/drawing/2014/main" id="{5A0C1CE8-2719-11F8-460C-3CEEA2EDEFD4}"/>
              </a:ext>
            </a:extLst>
          </p:cNvPr>
          <p:cNvSpPr txBox="1"/>
          <p:nvPr/>
        </p:nvSpPr>
        <p:spPr>
          <a:xfrm>
            <a:off x="5357034" y="6442504"/>
            <a:ext cx="6018301" cy="276999"/>
          </a:xfrm>
          <a:prstGeom prst="rect">
            <a:avLst/>
          </a:prstGeom>
          <a:noFill/>
        </p:spPr>
        <p:txBody>
          <a:bodyPr wrap="square">
            <a:spAutoFit/>
          </a:bodyPr>
          <a:lstStyle/>
          <a:p>
            <a:pPr algn="ctr"/>
            <a:r>
              <a:rPr lang="en-GB" sz="1200" b="0" i="0" dirty="0">
                <a:solidFill>
                  <a:srgbClr val="222222"/>
                </a:solidFill>
                <a:effectLst/>
                <a:latin typeface="+mn-lt"/>
              </a:rPr>
              <a:t>Source: </a:t>
            </a:r>
            <a:r>
              <a:rPr lang="en-GB" sz="1200" b="0" i="0" dirty="0">
                <a:solidFill>
                  <a:srgbClr val="222222"/>
                </a:solidFill>
                <a:effectLst/>
                <a:latin typeface="+mn-lt"/>
                <a:hlinkClick r:id="rId3"/>
              </a:rPr>
              <a:t>Jones</a:t>
            </a:r>
            <a:r>
              <a:rPr lang="en-GB" sz="1200" b="0" i="0" dirty="0">
                <a:solidFill>
                  <a:srgbClr val="222222"/>
                </a:solidFill>
                <a:effectLst/>
                <a:latin typeface="+mn-lt"/>
              </a:rPr>
              <a:t> (2022).</a:t>
            </a:r>
            <a:endParaRPr lang="en-GB" sz="1200" dirty="0">
              <a:latin typeface="+mn-lt"/>
            </a:endParaRPr>
          </a:p>
        </p:txBody>
      </p:sp>
      <p:pic>
        <p:nvPicPr>
          <p:cNvPr id="10" name="Picture 9">
            <a:extLst>
              <a:ext uri="{FF2B5EF4-FFF2-40B4-BE49-F238E27FC236}">
                <a16:creationId xmlns:a16="http://schemas.microsoft.com/office/drawing/2014/main" id="{E58EFE38-189C-3D8D-61A9-33082B8AC3D1}"/>
              </a:ext>
            </a:extLst>
          </p:cNvPr>
          <p:cNvPicPr>
            <a:picLocks noChangeAspect="1"/>
          </p:cNvPicPr>
          <p:nvPr/>
        </p:nvPicPr>
        <p:blipFill rotWithShape="1">
          <a:blip r:embed="rId4"/>
          <a:srcRect b="10170"/>
          <a:stretch/>
        </p:blipFill>
        <p:spPr>
          <a:xfrm>
            <a:off x="-3243" y="2356691"/>
            <a:ext cx="4331830" cy="4145508"/>
          </a:xfrm>
          <a:prstGeom prst="rect">
            <a:avLst/>
          </a:prstGeom>
        </p:spPr>
      </p:pic>
      <p:sp>
        <p:nvSpPr>
          <p:cNvPr id="11" name="TextBox 10">
            <a:extLst>
              <a:ext uri="{FF2B5EF4-FFF2-40B4-BE49-F238E27FC236}">
                <a16:creationId xmlns:a16="http://schemas.microsoft.com/office/drawing/2014/main" id="{3CEC2C88-5146-4246-EDAC-74CA776F9374}"/>
              </a:ext>
            </a:extLst>
          </p:cNvPr>
          <p:cNvSpPr txBox="1"/>
          <p:nvPr/>
        </p:nvSpPr>
        <p:spPr>
          <a:xfrm>
            <a:off x="-1" y="6502199"/>
            <a:ext cx="4253023" cy="276999"/>
          </a:xfrm>
          <a:prstGeom prst="rect">
            <a:avLst/>
          </a:prstGeom>
          <a:noFill/>
        </p:spPr>
        <p:txBody>
          <a:bodyPr wrap="square">
            <a:spAutoFit/>
          </a:bodyPr>
          <a:lstStyle/>
          <a:p>
            <a:pPr algn="ctr"/>
            <a:r>
              <a:rPr lang="en-GB" sz="1200" b="0" i="0" dirty="0">
                <a:solidFill>
                  <a:srgbClr val="EFA115"/>
                </a:solidFill>
                <a:effectLst/>
                <a:latin typeface="+mn-lt"/>
              </a:rPr>
              <a:t>Source: </a:t>
            </a:r>
            <a:r>
              <a:rPr lang="en-GB" sz="1200" dirty="0">
                <a:solidFill>
                  <a:srgbClr val="EFA115"/>
                </a:solidFill>
                <a:latin typeface="+mn-lt"/>
                <a:hlinkClick r:id="rId5">
                  <a:extLst>
                    <a:ext uri="{A12FA001-AC4F-418D-AE19-62706E023703}">
                      <ahyp:hlinkClr xmlns:ahyp="http://schemas.microsoft.com/office/drawing/2018/hyperlinkcolor" val="tx"/>
                    </a:ext>
                  </a:extLst>
                </a:hlinkClick>
              </a:rPr>
              <a:t>International Labour Office </a:t>
            </a:r>
            <a:r>
              <a:rPr lang="en-GB" sz="1200" b="0" i="0" dirty="0">
                <a:solidFill>
                  <a:srgbClr val="EFA115"/>
                </a:solidFill>
                <a:effectLst/>
                <a:latin typeface="+mn-lt"/>
              </a:rPr>
              <a:t>(2019</a:t>
            </a:r>
            <a:r>
              <a:rPr lang="en-GB" sz="1200" b="0" i="0" dirty="0">
                <a:solidFill>
                  <a:srgbClr val="222222"/>
                </a:solidFill>
                <a:effectLst/>
                <a:latin typeface="+mn-lt"/>
              </a:rPr>
              <a:t>).</a:t>
            </a:r>
            <a:endParaRPr lang="en-GB" sz="1200" dirty="0">
              <a:latin typeface="+mn-lt"/>
            </a:endParaRPr>
          </a:p>
        </p:txBody>
      </p:sp>
      <p:sp>
        <p:nvSpPr>
          <p:cNvPr id="2" name="Rectangle 1">
            <a:extLst>
              <a:ext uri="{FF2B5EF4-FFF2-40B4-BE49-F238E27FC236}">
                <a16:creationId xmlns:a16="http://schemas.microsoft.com/office/drawing/2014/main" id="{663C40B4-8383-239C-B425-F246EF6B3798}"/>
              </a:ext>
            </a:extLst>
          </p:cNvPr>
          <p:cNvSpPr/>
          <p:nvPr/>
        </p:nvSpPr>
        <p:spPr>
          <a:xfrm>
            <a:off x="4790619" y="3458616"/>
            <a:ext cx="7209180" cy="369331"/>
          </a:xfrm>
          <a:prstGeom prst="rect">
            <a:avLst/>
          </a:prstGeom>
          <a:solidFill>
            <a:srgbClr val="F36C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36C35"/>
              </a:solidFill>
            </a:endParaRPr>
          </a:p>
        </p:txBody>
      </p:sp>
      <p:sp>
        <p:nvSpPr>
          <p:cNvPr id="3" name="TextBox 2">
            <a:extLst>
              <a:ext uri="{FF2B5EF4-FFF2-40B4-BE49-F238E27FC236}">
                <a16:creationId xmlns:a16="http://schemas.microsoft.com/office/drawing/2014/main" id="{0DEC4892-ED2D-0FC2-6B15-0955759AF4D5}"/>
              </a:ext>
            </a:extLst>
          </p:cNvPr>
          <p:cNvSpPr txBox="1"/>
          <p:nvPr/>
        </p:nvSpPr>
        <p:spPr>
          <a:xfrm>
            <a:off x="4880593" y="3458615"/>
            <a:ext cx="7119206" cy="369332"/>
          </a:xfrm>
          <a:prstGeom prst="rect">
            <a:avLst/>
          </a:prstGeom>
          <a:noFill/>
        </p:spPr>
        <p:txBody>
          <a:bodyPr wrap="square">
            <a:spAutoFit/>
          </a:bodyPr>
          <a:lstStyle/>
          <a:p>
            <a:pPr algn="ctr"/>
            <a:r>
              <a:rPr lang="en-GB" sz="1800" b="1" dirty="0">
                <a:solidFill>
                  <a:schemeClr val="tx1"/>
                </a:solidFill>
                <a:latin typeface="Aptos" panose="020B0004020202020204" pitchFamily="34" charset="0"/>
              </a:rPr>
              <a:t>2050 Combined GDP at Risk under RCP4.5 from Physical Risks</a:t>
            </a:r>
          </a:p>
        </p:txBody>
      </p:sp>
      <p:sp>
        <p:nvSpPr>
          <p:cNvPr id="12" name="Rectangle 11">
            <a:extLst>
              <a:ext uri="{FF2B5EF4-FFF2-40B4-BE49-F238E27FC236}">
                <a16:creationId xmlns:a16="http://schemas.microsoft.com/office/drawing/2014/main" id="{6978C56E-3362-17BB-3D9C-DA2C1A09EB6E}"/>
              </a:ext>
            </a:extLst>
          </p:cNvPr>
          <p:cNvSpPr/>
          <p:nvPr/>
        </p:nvSpPr>
        <p:spPr>
          <a:xfrm>
            <a:off x="-2" y="2090341"/>
            <a:ext cx="4253023" cy="646330"/>
          </a:xfrm>
          <a:prstGeom prst="rect">
            <a:avLst/>
          </a:prstGeom>
          <a:solidFill>
            <a:srgbClr val="F36C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36C35"/>
              </a:solidFill>
            </a:endParaRPr>
          </a:p>
        </p:txBody>
      </p:sp>
      <p:sp>
        <p:nvSpPr>
          <p:cNvPr id="6" name="TextBox 5">
            <a:extLst>
              <a:ext uri="{FF2B5EF4-FFF2-40B4-BE49-F238E27FC236}">
                <a16:creationId xmlns:a16="http://schemas.microsoft.com/office/drawing/2014/main" id="{E4C73F3C-0ABF-783C-BDC3-15009696E1FB}"/>
              </a:ext>
            </a:extLst>
          </p:cNvPr>
          <p:cNvSpPr txBox="1"/>
          <p:nvPr/>
        </p:nvSpPr>
        <p:spPr>
          <a:xfrm>
            <a:off x="0" y="2079692"/>
            <a:ext cx="3997842" cy="646331"/>
          </a:xfrm>
          <a:prstGeom prst="rect">
            <a:avLst/>
          </a:prstGeom>
          <a:noFill/>
        </p:spPr>
        <p:txBody>
          <a:bodyPr wrap="square">
            <a:spAutoFit/>
          </a:bodyPr>
          <a:lstStyle/>
          <a:p>
            <a:pPr algn="ctr"/>
            <a:r>
              <a:rPr lang="en-GB" sz="1800" b="1" dirty="0">
                <a:solidFill>
                  <a:schemeClr val="tx1"/>
                </a:solidFill>
                <a:latin typeface="Aptos" panose="020B0004020202020204" pitchFamily="34" charset="0"/>
              </a:rPr>
              <a:t>Working Hours Lost Due to Heat Stress 1995 vs 2030 (%)</a:t>
            </a:r>
          </a:p>
        </p:txBody>
      </p:sp>
    </p:spTree>
    <p:extLst>
      <p:ext uri="{BB962C8B-B14F-4D97-AF65-F5344CB8AC3E}">
        <p14:creationId xmlns:p14="http://schemas.microsoft.com/office/powerpoint/2010/main" val="4168574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1F82E2-68A5-2AF7-644A-5DD9B397A8CE}"/>
              </a:ext>
            </a:extLst>
          </p:cNvPr>
          <p:cNvSpPr>
            <a:spLocks noGrp="1"/>
          </p:cNvSpPr>
          <p:nvPr>
            <p:ph type="title"/>
          </p:nvPr>
        </p:nvSpPr>
        <p:spPr>
          <a:xfrm>
            <a:off x="609600" y="95816"/>
            <a:ext cx="5198293" cy="1200329"/>
          </a:xfrm>
        </p:spPr>
        <p:txBody>
          <a:bodyPr/>
          <a:lstStyle/>
          <a:p>
            <a:r>
              <a:rPr lang="en-US" dirty="0">
                <a:solidFill>
                  <a:srgbClr val="022A03"/>
                </a:solidFill>
              </a:rPr>
              <a:t>Long-Term GDP Impacts</a:t>
            </a:r>
          </a:p>
        </p:txBody>
      </p:sp>
      <p:sp>
        <p:nvSpPr>
          <p:cNvPr id="8" name="Content Placeholder 5">
            <a:extLst>
              <a:ext uri="{FF2B5EF4-FFF2-40B4-BE49-F238E27FC236}">
                <a16:creationId xmlns:a16="http://schemas.microsoft.com/office/drawing/2014/main" id="{50FC04B4-9A85-6B4D-D631-377C538339FE}"/>
              </a:ext>
            </a:extLst>
          </p:cNvPr>
          <p:cNvSpPr txBox="1">
            <a:spLocks/>
          </p:cNvSpPr>
          <p:nvPr/>
        </p:nvSpPr>
        <p:spPr>
          <a:xfrm>
            <a:off x="364669" y="1105233"/>
            <a:ext cx="7127205" cy="5430032"/>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Tx/>
              <a:buFont typeface="+mj-lt"/>
              <a:buAutoNum type="arabicPeriod"/>
            </a:pPr>
            <a:r>
              <a:rPr lang="en-GB" sz="1800" b="1" dirty="0">
                <a:solidFill>
                  <a:srgbClr val="446EB6"/>
                </a:solidFill>
                <a:latin typeface="Aptos Display" panose="020B0004020202020204" pitchFamily="34" charset="0"/>
              </a:rPr>
              <a:t>Health Impacts:</a:t>
            </a:r>
            <a:endParaRPr lang="en-GB" sz="1800" dirty="0">
              <a:solidFill>
                <a:srgbClr val="446EB6"/>
              </a:solidFill>
              <a:latin typeface="Aptos Display" panose="020B0004020202020204" pitchFamily="34" charset="0"/>
            </a:endParaRPr>
          </a:p>
          <a:p>
            <a:pPr lvl="1">
              <a:buClrTx/>
            </a:pPr>
            <a:r>
              <a:rPr lang="en-GB" sz="1600" dirty="0">
                <a:solidFill>
                  <a:srgbClr val="022A03"/>
                </a:solidFill>
                <a:latin typeface="Aptos Display" panose="020B0004020202020204" pitchFamily="34" charset="0"/>
              </a:rPr>
              <a:t>Increased prevalence of climate-related health issues (e.g., heatwaves, vector-borne diseases) reduces workforce productivity.</a:t>
            </a:r>
          </a:p>
          <a:p>
            <a:pPr lvl="1">
              <a:buClrTx/>
            </a:pPr>
            <a:r>
              <a:rPr lang="en-GB" sz="1600" dirty="0">
                <a:solidFill>
                  <a:srgbClr val="022A03"/>
                </a:solidFill>
                <a:latin typeface="Aptos Display" panose="020B0004020202020204" pitchFamily="34" charset="0"/>
              </a:rPr>
              <a:t>Rising healthcare costs strain public finances.</a:t>
            </a:r>
          </a:p>
          <a:p>
            <a:pPr marL="342900" indent="-342900">
              <a:buClrTx/>
              <a:buFont typeface="+mj-lt"/>
              <a:buAutoNum type="arabicPeriod"/>
            </a:pPr>
            <a:r>
              <a:rPr lang="en-GB" sz="1800" b="1" dirty="0">
                <a:solidFill>
                  <a:srgbClr val="446EB6"/>
                </a:solidFill>
                <a:latin typeface="Aptos Display" panose="020B0004020202020204" pitchFamily="34" charset="0"/>
              </a:rPr>
              <a:t>Reduced Investment and Economic Growth:</a:t>
            </a:r>
            <a:endParaRPr lang="en-GB" sz="1800" dirty="0">
              <a:solidFill>
                <a:srgbClr val="446EB6"/>
              </a:solidFill>
              <a:latin typeface="Aptos Display" panose="020B0004020202020204" pitchFamily="34" charset="0"/>
            </a:endParaRPr>
          </a:p>
          <a:p>
            <a:pPr lvl="1">
              <a:buClrTx/>
            </a:pPr>
            <a:r>
              <a:rPr lang="en-GB" sz="1600" dirty="0">
                <a:solidFill>
                  <a:srgbClr val="022A03"/>
                </a:solidFill>
                <a:latin typeface="Aptos Display" panose="020B0004020202020204" pitchFamily="34" charset="0"/>
              </a:rPr>
              <a:t>Uncertainty and risks associated with climate change may deter investment in vulnerable regions.</a:t>
            </a:r>
          </a:p>
          <a:p>
            <a:pPr lvl="1">
              <a:buClrTx/>
            </a:pPr>
            <a:r>
              <a:rPr lang="en-GB" sz="1600" dirty="0">
                <a:solidFill>
                  <a:srgbClr val="022A03"/>
                </a:solidFill>
                <a:latin typeface="Aptos Display" panose="020B0004020202020204" pitchFamily="34" charset="0"/>
              </a:rPr>
              <a:t>Long-term economic growth may be hampered by the delayed onset of costs for adaptation and mitigation, and recovery from climate impacts.</a:t>
            </a:r>
          </a:p>
          <a:p>
            <a:pPr marL="342900" indent="-342900">
              <a:buClrTx/>
              <a:buFont typeface="+mj-lt"/>
              <a:buAutoNum type="arabicPeriod"/>
            </a:pPr>
            <a:r>
              <a:rPr lang="en-GB" sz="1800" b="1" dirty="0">
                <a:solidFill>
                  <a:srgbClr val="446EB6"/>
                </a:solidFill>
                <a:latin typeface="Aptos Display" panose="020B0004020202020204" pitchFamily="34" charset="0"/>
              </a:rPr>
              <a:t>Migration and Displacement:</a:t>
            </a:r>
            <a:endParaRPr lang="en-GB" sz="1800" dirty="0">
              <a:solidFill>
                <a:srgbClr val="446EB6"/>
              </a:solidFill>
              <a:latin typeface="Aptos Display" panose="020B0004020202020204" pitchFamily="34" charset="0"/>
            </a:endParaRPr>
          </a:p>
          <a:p>
            <a:pPr lvl="1">
              <a:buClrTx/>
            </a:pPr>
            <a:r>
              <a:rPr lang="en-GB" sz="1600" dirty="0">
                <a:solidFill>
                  <a:srgbClr val="022A03"/>
                </a:solidFill>
                <a:latin typeface="Aptos Display" panose="020B0004020202020204" pitchFamily="34" charset="0"/>
              </a:rPr>
              <a:t>Climate change-induced migration leads to demographic shifts, disrupting labour markets and increasing social and economic pressures in receiving regions.</a:t>
            </a:r>
          </a:p>
          <a:p>
            <a:pPr marL="0" indent="0">
              <a:buClrTx/>
              <a:buFont typeface="Arial" panose="020B0604020202020204" pitchFamily="34" charset="0"/>
              <a:buNone/>
            </a:pPr>
            <a:endParaRPr lang="en-US" dirty="0"/>
          </a:p>
        </p:txBody>
      </p:sp>
      <p:pic>
        <p:nvPicPr>
          <p:cNvPr id="13" name="Picture 7">
            <a:extLst>
              <a:ext uri="{FF2B5EF4-FFF2-40B4-BE49-F238E27FC236}">
                <a16:creationId xmlns:a16="http://schemas.microsoft.com/office/drawing/2014/main" id="{C6B9942A-8205-B530-05E1-E301F7A715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1769" y="2033088"/>
            <a:ext cx="4384477" cy="3473648"/>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080903B6-AEA4-F6E3-76FB-8A24EA64268C}"/>
              </a:ext>
            </a:extLst>
          </p:cNvPr>
          <p:cNvSpPr/>
          <p:nvPr/>
        </p:nvSpPr>
        <p:spPr>
          <a:xfrm>
            <a:off x="7519418" y="767443"/>
            <a:ext cx="4672582" cy="1042028"/>
          </a:xfrm>
          <a:prstGeom prst="rect">
            <a:avLst/>
          </a:prstGeom>
          <a:solidFill>
            <a:srgbClr val="F36C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61F32E9-90BE-3921-7AAF-796900AB021B}"/>
              </a:ext>
            </a:extLst>
          </p:cNvPr>
          <p:cNvSpPr txBox="1"/>
          <p:nvPr/>
        </p:nvSpPr>
        <p:spPr>
          <a:xfrm>
            <a:off x="7514046" y="832759"/>
            <a:ext cx="4639924" cy="1200329"/>
          </a:xfrm>
          <a:prstGeom prst="rect">
            <a:avLst/>
          </a:prstGeom>
          <a:noFill/>
        </p:spPr>
        <p:txBody>
          <a:bodyPr wrap="square">
            <a:spAutoFit/>
          </a:bodyPr>
          <a:lstStyle/>
          <a:p>
            <a:pPr algn="ctr"/>
            <a:r>
              <a:rPr lang="en-GB" sz="1800" b="1" dirty="0">
                <a:solidFill>
                  <a:schemeClr val="tx1"/>
                </a:solidFill>
                <a:latin typeface="Aptos" panose="020B0004020202020204" pitchFamily="34" charset="0"/>
              </a:rPr>
              <a:t>Projected Output Loss in Climate Scenarios (Per capita annual GDP losses in % of baseline)</a:t>
            </a:r>
          </a:p>
          <a:p>
            <a:pPr algn="ctr"/>
            <a:endParaRPr lang="en-US" sz="1800" b="1" dirty="0">
              <a:solidFill>
                <a:schemeClr val="tx1"/>
              </a:solidFill>
              <a:latin typeface="Aptos" panose="020B0004020202020204" pitchFamily="34" charset="0"/>
            </a:endParaRPr>
          </a:p>
        </p:txBody>
      </p:sp>
      <p:sp>
        <p:nvSpPr>
          <p:cNvPr id="18" name="TextBox 17">
            <a:extLst>
              <a:ext uri="{FF2B5EF4-FFF2-40B4-BE49-F238E27FC236}">
                <a16:creationId xmlns:a16="http://schemas.microsoft.com/office/drawing/2014/main" id="{34DEB015-2613-BE4E-5F2F-325CE6469F6E}"/>
              </a:ext>
            </a:extLst>
          </p:cNvPr>
          <p:cNvSpPr txBox="1"/>
          <p:nvPr/>
        </p:nvSpPr>
        <p:spPr>
          <a:xfrm>
            <a:off x="7491874" y="5748242"/>
            <a:ext cx="4801249" cy="276999"/>
          </a:xfrm>
          <a:prstGeom prst="rect">
            <a:avLst/>
          </a:prstGeom>
          <a:noFill/>
        </p:spPr>
        <p:txBody>
          <a:bodyPr wrap="square">
            <a:spAutoFit/>
          </a:bodyPr>
          <a:lstStyle/>
          <a:p>
            <a:pPr algn="ctr"/>
            <a:r>
              <a:rPr lang="en-GB" sz="1200" b="0" i="0" dirty="0">
                <a:solidFill>
                  <a:srgbClr val="222222"/>
                </a:solidFill>
                <a:effectLst/>
                <a:latin typeface="+mn-lt"/>
              </a:rPr>
              <a:t>Source: </a:t>
            </a:r>
            <a:r>
              <a:rPr lang="en-GB" sz="1200" b="0" i="0" dirty="0">
                <a:solidFill>
                  <a:srgbClr val="222222"/>
                </a:solidFill>
                <a:effectLst/>
                <a:latin typeface="+mn-lt"/>
                <a:hlinkClick r:id="rId3"/>
              </a:rPr>
              <a:t>Gigineishvili et al. </a:t>
            </a:r>
            <a:r>
              <a:rPr lang="en-GB" sz="1200" b="0" i="0" dirty="0">
                <a:solidFill>
                  <a:srgbClr val="222222"/>
                </a:solidFill>
                <a:effectLst/>
                <a:latin typeface="+mn-lt"/>
              </a:rPr>
              <a:t>(2023).</a:t>
            </a:r>
            <a:endParaRPr lang="en-GB" sz="1200" dirty="0">
              <a:latin typeface="+mn-lt"/>
            </a:endParaRPr>
          </a:p>
        </p:txBody>
      </p:sp>
    </p:spTree>
    <p:extLst>
      <p:ext uri="{BB962C8B-B14F-4D97-AF65-F5344CB8AC3E}">
        <p14:creationId xmlns:p14="http://schemas.microsoft.com/office/powerpoint/2010/main" val="2406577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DAB60C-B363-EEA8-14AC-7390E37024B8}"/>
              </a:ext>
            </a:extLst>
          </p:cNvPr>
          <p:cNvSpPr>
            <a:spLocks noGrp="1"/>
          </p:cNvSpPr>
          <p:nvPr>
            <p:ph type="ctrTitle"/>
          </p:nvPr>
        </p:nvSpPr>
        <p:spPr>
          <a:xfrm>
            <a:off x="5795018" y="377468"/>
            <a:ext cx="5121349" cy="1228048"/>
          </a:xfrm>
        </p:spPr>
        <p:txBody>
          <a:bodyPr>
            <a:normAutofit fontScale="90000"/>
          </a:bodyPr>
          <a:lstStyle/>
          <a:p>
            <a:pPr algn="ctr"/>
            <a:r>
              <a:rPr lang="en-US" dirty="0">
                <a:solidFill>
                  <a:srgbClr val="4F9AC2"/>
                </a:solidFill>
              </a:rPr>
              <a:t>GDP Risk Uncertainty</a:t>
            </a:r>
          </a:p>
        </p:txBody>
      </p:sp>
      <p:sp>
        <p:nvSpPr>
          <p:cNvPr id="2" name="Content Placeholder 1">
            <a:extLst>
              <a:ext uri="{FF2B5EF4-FFF2-40B4-BE49-F238E27FC236}">
                <a16:creationId xmlns:a16="http://schemas.microsoft.com/office/drawing/2014/main" id="{347EAD64-60FF-E3E3-7614-40A76F00273B}"/>
              </a:ext>
            </a:extLst>
          </p:cNvPr>
          <p:cNvSpPr>
            <a:spLocks noGrp="1"/>
          </p:cNvSpPr>
          <p:nvPr>
            <p:ph sz="half" idx="2"/>
          </p:nvPr>
        </p:nvSpPr>
        <p:spPr>
          <a:xfrm>
            <a:off x="5137697" y="1828800"/>
            <a:ext cx="6435993" cy="4752752"/>
          </a:xfrm>
        </p:spPr>
        <p:txBody>
          <a:bodyPr>
            <a:normAutofit fontScale="70000" lnSpcReduction="20000"/>
          </a:bodyPr>
          <a:lstStyle/>
          <a:p>
            <a:r>
              <a:rPr lang="en-GB" b="1" dirty="0"/>
              <a:t>Traditional Estimates Understated:</a:t>
            </a:r>
            <a:r>
              <a:rPr lang="en-GB" dirty="0"/>
              <a:t> Previous estimates suggested a 1°C rise in temperature reduces global GDP by only 1-3%, considered minor.</a:t>
            </a:r>
          </a:p>
          <a:p>
            <a:r>
              <a:rPr lang="en-GB" b="1" dirty="0"/>
              <a:t>New Findings:</a:t>
            </a:r>
            <a:r>
              <a:rPr lang="en-GB" dirty="0"/>
              <a:t> Using advanced time-series analysis, updated research from </a:t>
            </a:r>
            <a:r>
              <a:rPr lang="en-GB" dirty="0">
                <a:hlinkClick r:id="rId2"/>
              </a:rPr>
              <a:t>Bilal and </a:t>
            </a:r>
            <a:r>
              <a:rPr lang="en-GB" dirty="0" err="1">
                <a:hlinkClick r:id="rId2"/>
              </a:rPr>
              <a:t>Känzing</a:t>
            </a:r>
            <a:r>
              <a:rPr lang="en-GB" dirty="0">
                <a:hlinkClick r:id="rId2"/>
              </a:rPr>
              <a:t> </a:t>
            </a:r>
            <a:r>
              <a:rPr lang="en-GB" dirty="0"/>
              <a:t>(2024) shows that a 1°C increase leads to a </a:t>
            </a:r>
            <a:r>
              <a:rPr lang="en-GB" b="1" dirty="0"/>
              <a:t>12% reduction in global GDP at its peak</a:t>
            </a:r>
            <a:r>
              <a:rPr lang="en-GB" dirty="0"/>
              <a:t>.</a:t>
            </a:r>
          </a:p>
          <a:p>
            <a:r>
              <a:rPr lang="en-GB" b="1" dirty="0"/>
              <a:t>Long-Term Impact:</a:t>
            </a:r>
            <a:r>
              <a:rPr lang="en-GB" dirty="0"/>
              <a:t> The economic decline persists for years, with significant welfare losses (29% in present value) and a much higher Social Cost of Carbon (SCC) estimated at $1,065 per ton.</a:t>
            </a:r>
          </a:p>
          <a:p>
            <a:endParaRPr lang="en-US" dirty="0"/>
          </a:p>
        </p:txBody>
      </p:sp>
      <p:pic>
        <p:nvPicPr>
          <p:cNvPr id="5" name="Picture 4">
            <a:extLst>
              <a:ext uri="{FF2B5EF4-FFF2-40B4-BE49-F238E27FC236}">
                <a16:creationId xmlns:a16="http://schemas.microsoft.com/office/drawing/2014/main" id="{C90CE418-0530-0869-2A8E-AAB6D8139CA4}"/>
              </a:ext>
            </a:extLst>
          </p:cNvPr>
          <p:cNvPicPr>
            <a:picLocks noChangeAspect="1"/>
          </p:cNvPicPr>
          <p:nvPr/>
        </p:nvPicPr>
        <p:blipFill>
          <a:blip r:embed="rId3"/>
          <a:stretch>
            <a:fillRect/>
          </a:stretch>
        </p:blipFill>
        <p:spPr>
          <a:xfrm>
            <a:off x="520995" y="239245"/>
            <a:ext cx="4519387" cy="3253180"/>
          </a:xfrm>
          <a:prstGeom prst="rect">
            <a:avLst/>
          </a:prstGeom>
        </p:spPr>
      </p:pic>
      <p:pic>
        <p:nvPicPr>
          <p:cNvPr id="6" name="Picture 5">
            <a:extLst>
              <a:ext uri="{FF2B5EF4-FFF2-40B4-BE49-F238E27FC236}">
                <a16:creationId xmlns:a16="http://schemas.microsoft.com/office/drawing/2014/main" id="{56133D0E-7BE7-30ED-01F9-AC6D4CF00F86}"/>
              </a:ext>
            </a:extLst>
          </p:cNvPr>
          <p:cNvPicPr>
            <a:picLocks noChangeAspect="1"/>
          </p:cNvPicPr>
          <p:nvPr/>
        </p:nvPicPr>
        <p:blipFill>
          <a:blip r:embed="rId4"/>
          <a:stretch>
            <a:fillRect/>
          </a:stretch>
        </p:blipFill>
        <p:spPr>
          <a:xfrm>
            <a:off x="166015" y="3694041"/>
            <a:ext cx="4750595" cy="2924714"/>
          </a:xfrm>
          <a:prstGeom prst="rect">
            <a:avLst/>
          </a:prstGeom>
        </p:spPr>
      </p:pic>
    </p:spTree>
    <p:extLst>
      <p:ext uri="{BB962C8B-B14F-4D97-AF65-F5344CB8AC3E}">
        <p14:creationId xmlns:p14="http://schemas.microsoft.com/office/powerpoint/2010/main" val="613726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g2cfb641d87b_0_158"/>
          <p:cNvSpPr txBox="1">
            <a:spLocks noGrp="1"/>
          </p:cNvSpPr>
          <p:nvPr>
            <p:ph type="ctrTitle"/>
          </p:nvPr>
        </p:nvSpPr>
        <p:spPr>
          <a:noFill/>
          <a:ln>
            <a:noFill/>
          </a:ln>
        </p:spPr>
        <p:txBody>
          <a:bodyPr spcFirstLastPara="1" wrap="square" lIns="0" tIns="0" rIns="0" bIns="0" anchor="b" anchorCtr="0">
            <a:normAutofit/>
          </a:bodyPr>
          <a:lstStyle/>
          <a:p>
            <a:r>
              <a:rPr lang="en-US" dirty="0"/>
              <a:t>Transition Risks</a:t>
            </a:r>
          </a:p>
        </p:txBody>
      </p:sp>
    </p:spTree>
    <p:extLst>
      <p:ext uri="{BB962C8B-B14F-4D97-AF65-F5344CB8AC3E}">
        <p14:creationId xmlns:p14="http://schemas.microsoft.com/office/powerpoint/2010/main" val="3333050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1A92-35BC-9357-A6E6-745F0CEDA23F}"/>
              </a:ext>
            </a:extLst>
          </p:cNvPr>
          <p:cNvSpPr>
            <a:spLocks noGrp="1"/>
          </p:cNvSpPr>
          <p:nvPr>
            <p:ph type="title"/>
          </p:nvPr>
        </p:nvSpPr>
        <p:spPr/>
        <p:txBody>
          <a:bodyPr/>
          <a:lstStyle/>
          <a:p>
            <a:r>
              <a:rPr lang="en-US" dirty="0"/>
              <a:t>Transition Risk</a:t>
            </a:r>
          </a:p>
        </p:txBody>
      </p:sp>
      <p:sp>
        <p:nvSpPr>
          <p:cNvPr id="3" name="Content Placeholder 2">
            <a:extLst>
              <a:ext uri="{FF2B5EF4-FFF2-40B4-BE49-F238E27FC236}">
                <a16:creationId xmlns:a16="http://schemas.microsoft.com/office/drawing/2014/main" id="{BBBAABCD-EFCC-BCC4-EDF3-B218DABC0A20}"/>
              </a:ext>
            </a:extLst>
          </p:cNvPr>
          <p:cNvSpPr txBox="1">
            <a:spLocks/>
          </p:cNvSpPr>
          <p:nvPr/>
        </p:nvSpPr>
        <p:spPr>
          <a:xfrm>
            <a:off x="381000" y="3035300"/>
            <a:ext cx="4870784" cy="3868685"/>
          </a:xfrm>
          <a:prstGeom prst="rect">
            <a:avLst/>
          </a:prstGeom>
        </p:spPr>
        <p:txBody>
          <a:bodyPr vert="horz" lIns="0" tIns="0" rIns="0" bIns="0" rtlCol="0">
            <a:normAutofit fontScale="5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Tx/>
            </a:pPr>
            <a:r>
              <a:rPr lang="en-US" sz="2700" dirty="0"/>
              <a:t>Policy and regulations.​</a:t>
            </a:r>
          </a:p>
          <a:p>
            <a:pPr lvl="1">
              <a:buClrTx/>
            </a:pPr>
            <a:r>
              <a:rPr lang="en-US" sz="2700" dirty="0"/>
              <a:t>Technology.​</a:t>
            </a:r>
          </a:p>
          <a:p>
            <a:pPr lvl="1">
              <a:buClrTx/>
            </a:pPr>
            <a:r>
              <a:rPr lang="en-US" sz="2700" dirty="0"/>
              <a:t>Social norms.​</a:t>
            </a:r>
          </a:p>
          <a:p>
            <a:pPr>
              <a:buClrTx/>
            </a:pPr>
            <a:r>
              <a:rPr lang="en-US" sz="3300" dirty="0"/>
              <a:t>Major transition risks: ​</a:t>
            </a:r>
          </a:p>
          <a:p>
            <a:pPr lvl="1">
              <a:buClrTx/>
            </a:pPr>
            <a:r>
              <a:rPr lang="en-US" sz="2700" dirty="0"/>
              <a:t>Stranded fossil fuel assets &amp; financial transition risks.​</a:t>
            </a:r>
          </a:p>
          <a:p>
            <a:pPr lvl="1">
              <a:buClrTx/>
            </a:pPr>
            <a:r>
              <a:rPr lang="en-US" sz="2700" dirty="0"/>
              <a:t>Energy prices.​</a:t>
            </a:r>
          </a:p>
          <a:p>
            <a:pPr lvl="1">
              <a:buClrTx/>
            </a:pPr>
            <a:r>
              <a:rPr lang="en-US" sz="2700" dirty="0"/>
              <a:t>Fiscal risks.​</a:t>
            </a:r>
          </a:p>
          <a:p>
            <a:pPr lvl="1">
              <a:buClrTx/>
            </a:pPr>
            <a:r>
              <a:rPr lang="en-US" sz="2700" dirty="0"/>
              <a:t>Critical mineral shortages &amp; supply chain concentration. </a:t>
            </a:r>
          </a:p>
          <a:p>
            <a:pPr marL="0" indent="0">
              <a:buClrTx/>
              <a:buNone/>
            </a:pPr>
            <a:endParaRPr lang="en-US" sz="1800" dirty="0"/>
          </a:p>
          <a:p>
            <a:pPr marL="0" indent="0">
              <a:buClrTx/>
              <a:buNone/>
            </a:pPr>
            <a:endParaRPr lang="en-US" sz="1800" dirty="0"/>
          </a:p>
          <a:p>
            <a:pPr>
              <a:buClrTx/>
            </a:pPr>
            <a:endParaRPr lang="en-US" sz="1800" dirty="0"/>
          </a:p>
          <a:p>
            <a:pPr>
              <a:buClrTx/>
            </a:pPr>
            <a:endParaRPr lang="en-US" dirty="0"/>
          </a:p>
        </p:txBody>
      </p:sp>
      <p:pic>
        <p:nvPicPr>
          <p:cNvPr id="5" name="Picture 4" descr="A close-up of a hydrogen tank&#10;&#10;Description automatically generated">
            <a:extLst>
              <a:ext uri="{FF2B5EF4-FFF2-40B4-BE49-F238E27FC236}">
                <a16:creationId xmlns:a16="http://schemas.microsoft.com/office/drawing/2014/main" id="{1B151D5C-6E67-5E3F-D76C-06C4243AADE9}"/>
              </a:ext>
            </a:extLst>
          </p:cNvPr>
          <p:cNvPicPr>
            <a:picLocks noChangeAspect="1"/>
          </p:cNvPicPr>
          <p:nvPr/>
        </p:nvPicPr>
        <p:blipFill>
          <a:blip r:embed="rId3"/>
          <a:stretch>
            <a:fillRect/>
          </a:stretch>
        </p:blipFill>
        <p:spPr>
          <a:xfrm>
            <a:off x="5095266" y="3337547"/>
            <a:ext cx="6715733" cy="2844135"/>
          </a:xfrm>
          <a:prstGeom prst="rect">
            <a:avLst/>
          </a:prstGeom>
        </p:spPr>
      </p:pic>
      <p:sp>
        <p:nvSpPr>
          <p:cNvPr id="6" name="Content Placeholder 2">
            <a:extLst>
              <a:ext uri="{FF2B5EF4-FFF2-40B4-BE49-F238E27FC236}">
                <a16:creationId xmlns:a16="http://schemas.microsoft.com/office/drawing/2014/main" id="{C0EC518E-6997-9C10-F6A5-226BE3AECE48}"/>
              </a:ext>
            </a:extLst>
          </p:cNvPr>
          <p:cNvSpPr txBox="1">
            <a:spLocks/>
          </p:cNvSpPr>
          <p:nvPr/>
        </p:nvSpPr>
        <p:spPr>
          <a:xfrm>
            <a:off x="381000" y="1741250"/>
            <a:ext cx="11429999" cy="1294050"/>
          </a:xfrm>
          <a:prstGeom prst="rect">
            <a:avLst/>
          </a:prstGeom>
        </p:spPr>
        <p:txBody>
          <a:bodyPr vert="horz" lIns="0" tIns="0" rIns="0" bIns="0" rtlCol="0">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00" dirty="0"/>
              <a:t>“The financial risk which can result from the process of adjustment towards a lower-carbon economy.” (Bank of England, 2017).</a:t>
            </a:r>
          </a:p>
          <a:p>
            <a:pPr>
              <a:buClrTx/>
            </a:pPr>
            <a:r>
              <a:rPr lang="en-US" sz="1800" dirty="0"/>
              <a:t>Transition risks can occur due to changes in:​</a:t>
            </a:r>
          </a:p>
          <a:p>
            <a:pPr>
              <a:buClrTx/>
            </a:pPr>
            <a:endParaRPr lang="en-US" sz="1800" dirty="0"/>
          </a:p>
        </p:txBody>
      </p:sp>
      <p:sp>
        <p:nvSpPr>
          <p:cNvPr id="9" name="TextBox 8">
            <a:extLst>
              <a:ext uri="{FF2B5EF4-FFF2-40B4-BE49-F238E27FC236}">
                <a16:creationId xmlns:a16="http://schemas.microsoft.com/office/drawing/2014/main" id="{D45B9CD3-0772-0BB6-B9E3-56529530B24A}"/>
              </a:ext>
            </a:extLst>
          </p:cNvPr>
          <p:cNvSpPr txBox="1"/>
          <p:nvPr/>
        </p:nvSpPr>
        <p:spPr>
          <a:xfrm>
            <a:off x="5655818" y="6560363"/>
            <a:ext cx="6018301" cy="276999"/>
          </a:xfrm>
          <a:prstGeom prst="rect">
            <a:avLst/>
          </a:prstGeom>
          <a:noFill/>
        </p:spPr>
        <p:txBody>
          <a:bodyPr wrap="square">
            <a:spAutoFit/>
          </a:bodyPr>
          <a:lstStyle/>
          <a:p>
            <a:pPr algn="ctr"/>
            <a:r>
              <a:rPr lang="en-GB" sz="1200" b="0" i="0" dirty="0">
                <a:solidFill>
                  <a:srgbClr val="222222"/>
                </a:solidFill>
                <a:effectLst/>
                <a:latin typeface="+mn-lt"/>
              </a:rPr>
              <a:t>From: Jackson (2024).</a:t>
            </a:r>
            <a:endParaRPr lang="en-GB" sz="1200" dirty="0">
              <a:latin typeface="+mn-lt"/>
            </a:endParaRPr>
          </a:p>
        </p:txBody>
      </p:sp>
    </p:spTree>
    <p:extLst>
      <p:ext uri="{BB962C8B-B14F-4D97-AF65-F5344CB8AC3E}">
        <p14:creationId xmlns:p14="http://schemas.microsoft.com/office/powerpoint/2010/main" val="3558359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train tracks in a mine&#10;&#10;Description automatically generated">
            <a:extLst>
              <a:ext uri="{FF2B5EF4-FFF2-40B4-BE49-F238E27FC236}">
                <a16:creationId xmlns:a16="http://schemas.microsoft.com/office/drawing/2014/main" id="{BCA21C94-9B8D-F9ED-1612-5C6974E751A9}"/>
              </a:ext>
            </a:extLst>
          </p:cNvPr>
          <p:cNvPicPr>
            <a:picLocks noChangeAspect="1"/>
          </p:cNvPicPr>
          <p:nvPr/>
        </p:nvPicPr>
        <p:blipFill rotWithShape="1">
          <a:blip r:embed="rId3"/>
          <a:srcRect t="15263"/>
          <a:stretch/>
        </p:blipFill>
        <p:spPr>
          <a:xfrm>
            <a:off x="0" y="0"/>
            <a:ext cx="12207533" cy="6858000"/>
          </a:xfrm>
          <a:prstGeom prst="rect">
            <a:avLst/>
          </a:prstGeom>
        </p:spPr>
      </p:pic>
      <p:sp>
        <p:nvSpPr>
          <p:cNvPr id="8" name="TextBox 7">
            <a:extLst>
              <a:ext uri="{FF2B5EF4-FFF2-40B4-BE49-F238E27FC236}">
                <a16:creationId xmlns:a16="http://schemas.microsoft.com/office/drawing/2014/main" id="{DC63206A-361B-F6E4-2B7B-54EE6164BF7D}"/>
              </a:ext>
            </a:extLst>
          </p:cNvPr>
          <p:cNvSpPr txBox="1"/>
          <p:nvPr/>
        </p:nvSpPr>
        <p:spPr>
          <a:xfrm>
            <a:off x="6173699" y="6560363"/>
            <a:ext cx="6018301" cy="276999"/>
          </a:xfrm>
          <a:prstGeom prst="rect">
            <a:avLst/>
          </a:prstGeom>
          <a:noFill/>
        </p:spPr>
        <p:txBody>
          <a:bodyPr wrap="square">
            <a:spAutoFit/>
          </a:bodyPr>
          <a:lstStyle/>
          <a:p>
            <a:pPr algn="ctr"/>
            <a:r>
              <a:rPr lang="en-GB" sz="1200" b="0" i="0" dirty="0">
                <a:solidFill>
                  <a:srgbClr val="222222"/>
                </a:solidFill>
                <a:effectLst/>
                <a:latin typeface="+mn-lt"/>
              </a:rPr>
              <a:t>From: Jackson (2024).</a:t>
            </a:r>
            <a:endParaRPr lang="en-GB" sz="1200" dirty="0">
              <a:latin typeface="+mn-lt"/>
            </a:endParaRPr>
          </a:p>
        </p:txBody>
      </p:sp>
      <p:sp>
        <p:nvSpPr>
          <p:cNvPr id="2" name="Rectangle 1">
            <a:extLst>
              <a:ext uri="{FF2B5EF4-FFF2-40B4-BE49-F238E27FC236}">
                <a16:creationId xmlns:a16="http://schemas.microsoft.com/office/drawing/2014/main" id="{992D5584-592A-48E9-ADD4-9295F853E128}"/>
              </a:ext>
            </a:extLst>
          </p:cNvPr>
          <p:cNvSpPr/>
          <p:nvPr/>
        </p:nvSpPr>
        <p:spPr>
          <a:xfrm>
            <a:off x="986588" y="845307"/>
            <a:ext cx="10218821" cy="5167385"/>
          </a:xfrm>
          <a:prstGeom prst="rect">
            <a:avLst/>
          </a:prstGeom>
          <a:solidFill>
            <a:srgbClr val="FFFFFF">
              <a:alpha val="7098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Content Placeholder 4">
            <a:extLst>
              <a:ext uri="{FF2B5EF4-FFF2-40B4-BE49-F238E27FC236}">
                <a16:creationId xmlns:a16="http://schemas.microsoft.com/office/drawing/2014/main" id="{78386D3A-3E87-5A60-28B2-CB7B136D7C9D}"/>
              </a:ext>
            </a:extLst>
          </p:cNvPr>
          <p:cNvSpPr txBox="1">
            <a:spLocks/>
          </p:cNvSpPr>
          <p:nvPr/>
        </p:nvSpPr>
        <p:spPr>
          <a:xfrm>
            <a:off x="527799" y="1719767"/>
            <a:ext cx="11136401" cy="782637"/>
          </a:xfrm>
          <a:prstGeom prst="rect">
            <a:avLst/>
          </a:prstGeom>
        </p:spPr>
        <p:txBody>
          <a:bodyPr vert="horz" lIns="0" tIns="0" rIns="0" bIns="0" rtlCol="0">
            <a:norm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endParaRPr lang="en-GB" dirty="0"/>
          </a:p>
        </p:txBody>
      </p:sp>
      <p:sp>
        <p:nvSpPr>
          <p:cNvPr id="4" name="Title 3"/>
          <p:cNvSpPr>
            <a:spLocks noGrp="1"/>
          </p:cNvSpPr>
          <p:nvPr>
            <p:ph type="title" idx="4294967295"/>
          </p:nvPr>
        </p:nvSpPr>
        <p:spPr>
          <a:xfrm>
            <a:off x="2030699" y="1192100"/>
            <a:ext cx="8130595" cy="782637"/>
          </a:xfrm>
        </p:spPr>
        <p:txBody>
          <a:bodyPr>
            <a:normAutofit fontScale="90000"/>
          </a:bodyPr>
          <a:lstStyle/>
          <a:p>
            <a:pPr algn="ctr"/>
            <a:r>
              <a:rPr lang="en-GB" dirty="0"/>
              <a:t>Stranded Assets &amp; Financial Transition Risk</a:t>
            </a:r>
          </a:p>
        </p:txBody>
      </p:sp>
      <p:sp>
        <p:nvSpPr>
          <p:cNvPr id="5" name="Content Placeholder 4"/>
          <p:cNvSpPr>
            <a:spLocks noGrp="1"/>
          </p:cNvSpPr>
          <p:nvPr>
            <p:ph idx="4294967295"/>
          </p:nvPr>
        </p:nvSpPr>
        <p:spPr>
          <a:xfrm>
            <a:off x="1155029" y="2229707"/>
            <a:ext cx="9881937" cy="3713366"/>
          </a:xfrm>
        </p:spPr>
        <p:txBody>
          <a:bodyPr>
            <a:normAutofit fontScale="40000" lnSpcReduction="20000"/>
          </a:bodyPr>
          <a:lstStyle/>
          <a:p>
            <a:pPr marL="0" indent="0">
              <a:buNone/>
            </a:pPr>
            <a:r>
              <a:rPr lang="en-GB" sz="4500" b="1" dirty="0">
                <a:solidFill>
                  <a:srgbClr val="022A03"/>
                </a:solidFill>
                <a:latin typeface="+mn-lt"/>
              </a:rPr>
              <a:t>“Assets that have suffered from unanticipated or premature write-downs, devaluations or conversion to liabilities.” (Caldecott, 2013).</a:t>
            </a:r>
          </a:p>
          <a:p>
            <a:pPr marL="0" indent="0">
              <a:buNone/>
            </a:pPr>
            <a:r>
              <a:rPr lang="en-GB" sz="4500" b="1" dirty="0">
                <a:solidFill>
                  <a:srgbClr val="022A03"/>
                </a:solidFill>
                <a:latin typeface="+mn-lt"/>
              </a:rPr>
              <a:t>Stranded assets can be:</a:t>
            </a:r>
          </a:p>
          <a:p>
            <a:pPr lvl="1"/>
            <a:r>
              <a:rPr lang="en-GB" sz="4500" b="1" dirty="0">
                <a:solidFill>
                  <a:srgbClr val="4B2513"/>
                </a:solidFill>
                <a:latin typeface="+mn-lt"/>
              </a:rPr>
              <a:t>Unburnable carbon: </a:t>
            </a:r>
            <a:r>
              <a:rPr lang="en-GB" sz="4500" b="1" dirty="0">
                <a:solidFill>
                  <a:srgbClr val="022A03"/>
                </a:solidFill>
                <a:latin typeface="+mn-lt"/>
              </a:rPr>
              <a:t>Oil, gas, and coal reserves and resources that will need to be ‘left in the ground’.</a:t>
            </a:r>
          </a:p>
          <a:p>
            <a:pPr lvl="1"/>
            <a:r>
              <a:rPr lang="en-GB" sz="4500" b="1" dirty="0">
                <a:solidFill>
                  <a:srgbClr val="4B2513"/>
                </a:solidFill>
                <a:latin typeface="+mn-lt"/>
              </a:rPr>
              <a:t>Stranded capital</a:t>
            </a:r>
            <a:r>
              <a:rPr lang="en-GB" sz="4500" b="1" dirty="0">
                <a:solidFill>
                  <a:srgbClr val="022A03"/>
                </a:solidFill>
                <a:latin typeface="+mn-lt"/>
              </a:rPr>
              <a:t>: Capital assets that will need to be retired before the end of their economic lives (e.g. oil rigs, processing terminals, pipelines, tankers, power plants)</a:t>
            </a:r>
          </a:p>
          <a:p>
            <a:pPr lvl="1"/>
            <a:r>
              <a:rPr lang="en-GB" sz="4500" b="1" dirty="0">
                <a:solidFill>
                  <a:srgbClr val="4B2513"/>
                </a:solidFill>
                <a:latin typeface="+mn-lt"/>
              </a:rPr>
              <a:t>Wasted capital investment</a:t>
            </a:r>
            <a:r>
              <a:rPr lang="en-GB" sz="4500" b="1" dirty="0">
                <a:solidFill>
                  <a:srgbClr val="022A03"/>
                </a:solidFill>
                <a:latin typeface="+mn-lt"/>
              </a:rPr>
              <a:t>: Capital expenditures that will no longer make a return (e.g. oil and gas exploration, R&amp;D, etc.).</a:t>
            </a:r>
          </a:p>
          <a:p>
            <a:endParaRPr lang="en-GB" dirty="0"/>
          </a:p>
        </p:txBody>
      </p:sp>
    </p:spTree>
    <p:extLst>
      <p:ext uri="{BB962C8B-B14F-4D97-AF65-F5344CB8AC3E}">
        <p14:creationId xmlns:p14="http://schemas.microsoft.com/office/powerpoint/2010/main" val="1775859929"/>
      </p:ext>
    </p:extLst>
  </p:cSld>
  <p:clrMapOvr>
    <a:masterClrMapping/>
  </p:clrMapOvr>
  <mc:AlternateContent xmlns:mc="http://schemas.openxmlformats.org/markup-compatibility/2006" xmlns:p14="http://schemas.microsoft.com/office/powerpoint/2010/main">
    <mc:Choice Requires="p14">
      <p:transition spd="slow" p14:dur="2000" advTm="94204"/>
    </mc:Choice>
    <mc:Fallback xmlns="">
      <p:transition spd="slow" advTm="9420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2A0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6B94F-BADD-CD7C-FED0-9344AC22E7FD}"/>
              </a:ext>
            </a:extLst>
          </p:cNvPr>
          <p:cNvSpPr>
            <a:spLocks noGrp="1"/>
          </p:cNvSpPr>
          <p:nvPr>
            <p:ph type="title" idx="4294967295"/>
          </p:nvPr>
        </p:nvSpPr>
        <p:spPr>
          <a:xfrm>
            <a:off x="376237" y="480267"/>
            <a:ext cx="11430000" cy="782637"/>
          </a:xfrm>
        </p:spPr>
        <p:txBody>
          <a:bodyPr>
            <a:noAutofit/>
          </a:bodyPr>
          <a:lstStyle/>
          <a:p>
            <a:pPr algn="ctr"/>
            <a:r>
              <a:rPr lang="en-GB" sz="3600" dirty="0">
                <a:solidFill>
                  <a:schemeClr val="tx1"/>
                </a:solidFill>
                <a:latin typeface="Aptos"/>
              </a:rPr>
              <a:t>Potential Economic Impacts of Stranded Assets and Financial Transition Risks</a:t>
            </a:r>
          </a:p>
        </p:txBody>
      </p:sp>
      <p:graphicFrame>
        <p:nvGraphicFramePr>
          <p:cNvPr id="4" name="Content Placeholder 3">
            <a:extLst>
              <a:ext uri="{FF2B5EF4-FFF2-40B4-BE49-F238E27FC236}">
                <a16:creationId xmlns:a16="http://schemas.microsoft.com/office/drawing/2014/main" id="{842F4795-6D4A-46FD-AEDB-2CD00E3DF00E}"/>
              </a:ext>
            </a:extLst>
          </p:cNvPr>
          <p:cNvGraphicFramePr>
            <a:graphicFrameLocks noGrp="1"/>
          </p:cNvGraphicFramePr>
          <p:nvPr>
            <p:ph idx="4294967295"/>
            <p:extLst>
              <p:ext uri="{D42A27DB-BD31-4B8C-83A1-F6EECF244321}">
                <p14:modId xmlns:p14="http://schemas.microsoft.com/office/powerpoint/2010/main" val="2473697663"/>
              </p:ext>
            </p:extLst>
          </p:nvPr>
        </p:nvGraphicFramePr>
        <p:xfrm>
          <a:off x="385762" y="1671965"/>
          <a:ext cx="11420475" cy="48180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3C764AB7-CFD3-69D0-D421-93E9D4593C04}"/>
              </a:ext>
            </a:extLst>
          </p:cNvPr>
          <p:cNvSpPr txBox="1"/>
          <p:nvPr/>
        </p:nvSpPr>
        <p:spPr>
          <a:xfrm>
            <a:off x="7112001" y="6490028"/>
            <a:ext cx="5079999" cy="261610"/>
          </a:xfrm>
          <a:prstGeom prst="rect">
            <a:avLst/>
          </a:prstGeom>
          <a:noFill/>
        </p:spPr>
        <p:txBody>
          <a:bodyPr wrap="square" rtlCol="0">
            <a:spAutoFit/>
          </a:bodyPr>
          <a:lstStyle/>
          <a:p>
            <a:pPr algn="ctr"/>
            <a:r>
              <a:rPr lang="en-GB" sz="1100" dirty="0">
                <a:solidFill>
                  <a:schemeClr val="tx1"/>
                </a:solidFill>
                <a:latin typeface="+mn-lt"/>
              </a:rPr>
              <a:t>From: Jackson (2024). </a:t>
            </a:r>
          </a:p>
        </p:txBody>
      </p:sp>
    </p:spTree>
    <p:extLst>
      <p:ext uri="{BB962C8B-B14F-4D97-AF65-F5344CB8AC3E}">
        <p14:creationId xmlns:p14="http://schemas.microsoft.com/office/powerpoint/2010/main" val="3791183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B119-7572-5C4D-DDF3-0A654BAC3AB3}"/>
              </a:ext>
            </a:extLst>
          </p:cNvPr>
          <p:cNvSpPr>
            <a:spLocks noGrp="1"/>
          </p:cNvSpPr>
          <p:nvPr>
            <p:ph type="ctrTitle"/>
          </p:nvPr>
        </p:nvSpPr>
        <p:spPr>
          <a:xfrm>
            <a:off x="220337" y="502920"/>
            <a:ext cx="3977089" cy="1676400"/>
          </a:xfrm>
        </p:spPr>
        <p:txBody>
          <a:bodyPr>
            <a:normAutofit fontScale="90000"/>
          </a:bodyPr>
          <a:lstStyle/>
          <a:p>
            <a:r>
              <a:rPr lang="en-US" dirty="0"/>
              <a:t>Key Technology Concentration</a:t>
            </a:r>
          </a:p>
        </p:txBody>
      </p:sp>
      <p:sp>
        <p:nvSpPr>
          <p:cNvPr id="5" name="TextBox 4">
            <a:extLst>
              <a:ext uri="{FF2B5EF4-FFF2-40B4-BE49-F238E27FC236}">
                <a16:creationId xmlns:a16="http://schemas.microsoft.com/office/drawing/2014/main" id="{FE139180-E88B-1F39-8732-DC1474D8C41F}"/>
              </a:ext>
            </a:extLst>
          </p:cNvPr>
          <p:cNvSpPr txBox="1"/>
          <p:nvPr/>
        </p:nvSpPr>
        <p:spPr>
          <a:xfrm>
            <a:off x="-1962229" y="6497174"/>
            <a:ext cx="6018301" cy="276999"/>
          </a:xfrm>
          <a:prstGeom prst="rect">
            <a:avLst/>
          </a:prstGeom>
          <a:noFill/>
        </p:spPr>
        <p:txBody>
          <a:bodyPr wrap="square">
            <a:spAutoFit/>
          </a:bodyPr>
          <a:lstStyle/>
          <a:p>
            <a:pPr algn="ctr"/>
            <a:r>
              <a:rPr lang="en-GB" sz="1200" b="0" i="0" dirty="0">
                <a:solidFill>
                  <a:srgbClr val="222222"/>
                </a:solidFill>
                <a:effectLst/>
                <a:latin typeface="+mn-lt"/>
              </a:rPr>
              <a:t>From: Jackson (2024).</a:t>
            </a:r>
            <a:endParaRPr lang="en-GB" sz="1200" dirty="0">
              <a:latin typeface="+mn-lt"/>
            </a:endParaRPr>
          </a:p>
        </p:txBody>
      </p:sp>
      <p:sp>
        <p:nvSpPr>
          <p:cNvPr id="6" name="TextBox 5">
            <a:extLst>
              <a:ext uri="{FF2B5EF4-FFF2-40B4-BE49-F238E27FC236}">
                <a16:creationId xmlns:a16="http://schemas.microsoft.com/office/drawing/2014/main" id="{615B3A9C-E693-0664-4B4D-B548247CC4FC}"/>
              </a:ext>
            </a:extLst>
          </p:cNvPr>
          <p:cNvSpPr txBox="1"/>
          <p:nvPr/>
        </p:nvSpPr>
        <p:spPr>
          <a:xfrm>
            <a:off x="2211780" y="5657325"/>
            <a:ext cx="2562360" cy="276999"/>
          </a:xfrm>
          <a:prstGeom prst="rect">
            <a:avLst/>
          </a:prstGeom>
          <a:noFill/>
        </p:spPr>
        <p:txBody>
          <a:bodyPr wrap="square">
            <a:spAutoFit/>
          </a:bodyPr>
          <a:lstStyle/>
          <a:p>
            <a:pPr algn="ctr"/>
            <a:r>
              <a:rPr lang="en-GB" sz="1200" b="0" i="0" dirty="0">
                <a:solidFill>
                  <a:srgbClr val="222222"/>
                </a:solidFill>
                <a:effectLst/>
                <a:latin typeface="+mn-lt"/>
              </a:rPr>
              <a:t>Source: </a:t>
            </a:r>
            <a:r>
              <a:rPr lang="en-GB" sz="1200" b="0" i="0" dirty="0">
                <a:solidFill>
                  <a:srgbClr val="222222"/>
                </a:solidFill>
                <a:effectLst/>
                <a:latin typeface="+mn-lt"/>
                <a:hlinkClick r:id="rId2"/>
              </a:rPr>
              <a:t>IEA</a:t>
            </a:r>
            <a:r>
              <a:rPr lang="en-GB" sz="1200" b="0" i="0" dirty="0">
                <a:solidFill>
                  <a:srgbClr val="222222"/>
                </a:solidFill>
                <a:effectLst/>
                <a:latin typeface="+mn-lt"/>
              </a:rPr>
              <a:t> (2023)</a:t>
            </a:r>
            <a:endParaRPr lang="en-GB" sz="1200" dirty="0">
              <a:latin typeface="+mn-lt"/>
            </a:endParaRPr>
          </a:p>
        </p:txBody>
      </p:sp>
      <p:pic>
        <p:nvPicPr>
          <p:cNvPr id="7170" name="Picture 2">
            <a:extLst>
              <a:ext uri="{FF2B5EF4-FFF2-40B4-BE49-F238E27FC236}">
                <a16:creationId xmlns:a16="http://schemas.microsoft.com/office/drawing/2014/main" id="{4E989A4B-6A20-94F4-97AD-92AE714A1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2447" y="-38517"/>
            <a:ext cx="8357401" cy="397955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902C62DD-D88B-6FB6-E849-DD624D7DC88F}"/>
              </a:ext>
            </a:extLst>
          </p:cNvPr>
          <p:cNvSpPr>
            <a:spLocks noGrp="1"/>
          </p:cNvSpPr>
          <p:nvPr>
            <p:ph sz="half" idx="2"/>
          </p:nvPr>
        </p:nvSpPr>
        <p:spPr>
          <a:xfrm>
            <a:off x="5277079" y="4124691"/>
            <a:ext cx="6252543" cy="2372483"/>
          </a:xfrm>
        </p:spPr>
        <p:txBody>
          <a:bodyPr>
            <a:normAutofit/>
          </a:bodyPr>
          <a:lstStyle/>
          <a:p>
            <a:pPr>
              <a:buClrTx/>
            </a:pPr>
            <a:r>
              <a:rPr lang="en-US" dirty="0"/>
              <a:t>Key Technology Manufacture is also fairly concentrated, with China’s share of PV notable.</a:t>
            </a:r>
          </a:p>
          <a:p>
            <a:endParaRPr lang="en-AU" dirty="0"/>
          </a:p>
        </p:txBody>
      </p:sp>
    </p:spTree>
    <p:extLst>
      <p:ext uri="{BB962C8B-B14F-4D97-AF65-F5344CB8AC3E}">
        <p14:creationId xmlns:p14="http://schemas.microsoft.com/office/powerpoint/2010/main" val="1194626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B119-7572-5C4D-DDF3-0A654BAC3AB3}"/>
              </a:ext>
            </a:extLst>
          </p:cNvPr>
          <p:cNvSpPr>
            <a:spLocks noGrp="1"/>
          </p:cNvSpPr>
          <p:nvPr>
            <p:ph type="ctrTitle"/>
          </p:nvPr>
        </p:nvSpPr>
        <p:spPr>
          <a:xfrm>
            <a:off x="301196" y="502920"/>
            <a:ext cx="3611182" cy="1676400"/>
          </a:xfrm>
        </p:spPr>
        <p:txBody>
          <a:bodyPr>
            <a:noAutofit/>
          </a:bodyPr>
          <a:lstStyle/>
          <a:p>
            <a:r>
              <a:rPr lang="en-US" sz="4000" dirty="0"/>
              <a:t>Critical Mineral Shortage and Supply Chain Concentration</a:t>
            </a:r>
          </a:p>
        </p:txBody>
      </p:sp>
      <p:sp>
        <p:nvSpPr>
          <p:cNvPr id="4" name="Content Placeholder 3">
            <a:extLst>
              <a:ext uri="{FF2B5EF4-FFF2-40B4-BE49-F238E27FC236}">
                <a16:creationId xmlns:a16="http://schemas.microsoft.com/office/drawing/2014/main" id="{912EC0DC-8B9E-8DA7-948B-F5F307BF6E71}"/>
              </a:ext>
            </a:extLst>
          </p:cNvPr>
          <p:cNvSpPr>
            <a:spLocks noGrp="1"/>
          </p:cNvSpPr>
          <p:nvPr>
            <p:ph sz="half" idx="2"/>
          </p:nvPr>
        </p:nvSpPr>
        <p:spPr>
          <a:xfrm>
            <a:off x="5321147" y="502919"/>
            <a:ext cx="6252543" cy="2372483"/>
          </a:xfrm>
        </p:spPr>
        <p:txBody>
          <a:bodyPr>
            <a:normAutofit fontScale="55000" lnSpcReduction="20000"/>
          </a:bodyPr>
          <a:lstStyle/>
          <a:p>
            <a:pPr>
              <a:buClrTx/>
            </a:pPr>
            <a:r>
              <a:rPr lang="en-US" dirty="0"/>
              <a:t>Large quantities of critical minerals are required for clean energy technologies (e.g. wind turbines, EV batteries, CO2 pipelines, power grids, etc.). ​</a:t>
            </a:r>
          </a:p>
          <a:p>
            <a:pPr>
              <a:buClrTx/>
            </a:pPr>
            <a:r>
              <a:rPr lang="en-US" dirty="0"/>
              <a:t>Since clean energy technologies already account for high shares of total demand of these minerals (15-55%), the transition hinges on rapid expansions in secure mineral supply chains.</a:t>
            </a:r>
          </a:p>
          <a:p>
            <a:endParaRPr lang="en-AU" dirty="0"/>
          </a:p>
        </p:txBody>
      </p:sp>
      <p:pic>
        <p:nvPicPr>
          <p:cNvPr id="5122" name="Picture 2">
            <a:extLst>
              <a:ext uri="{FF2B5EF4-FFF2-40B4-BE49-F238E27FC236}">
                <a16:creationId xmlns:a16="http://schemas.microsoft.com/office/drawing/2014/main" id="{B368DB22-EA44-158E-3685-89F096B7AB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12171"/>
            <a:ext cx="4881897" cy="34197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E139180-E88B-1F39-8732-DC1474D8C41F}"/>
              </a:ext>
            </a:extLst>
          </p:cNvPr>
          <p:cNvSpPr txBox="1"/>
          <p:nvPr/>
        </p:nvSpPr>
        <p:spPr>
          <a:xfrm>
            <a:off x="-1962229" y="6497174"/>
            <a:ext cx="6018301" cy="276999"/>
          </a:xfrm>
          <a:prstGeom prst="rect">
            <a:avLst/>
          </a:prstGeom>
          <a:noFill/>
        </p:spPr>
        <p:txBody>
          <a:bodyPr wrap="square">
            <a:spAutoFit/>
          </a:bodyPr>
          <a:lstStyle/>
          <a:p>
            <a:pPr algn="ctr"/>
            <a:r>
              <a:rPr lang="en-GB" sz="1200" b="0" i="0" dirty="0">
                <a:solidFill>
                  <a:srgbClr val="222222"/>
                </a:solidFill>
                <a:effectLst/>
                <a:latin typeface="+mn-lt"/>
              </a:rPr>
              <a:t>From: Jackson (2024).</a:t>
            </a:r>
            <a:endParaRPr lang="en-GB" sz="1200" dirty="0">
              <a:latin typeface="+mn-lt"/>
            </a:endParaRPr>
          </a:p>
        </p:txBody>
      </p:sp>
      <p:sp>
        <p:nvSpPr>
          <p:cNvPr id="6" name="TextBox 5">
            <a:extLst>
              <a:ext uri="{FF2B5EF4-FFF2-40B4-BE49-F238E27FC236}">
                <a16:creationId xmlns:a16="http://schemas.microsoft.com/office/drawing/2014/main" id="{615B3A9C-E693-0664-4B4D-B548247CC4FC}"/>
              </a:ext>
            </a:extLst>
          </p:cNvPr>
          <p:cNvSpPr txBox="1"/>
          <p:nvPr/>
        </p:nvSpPr>
        <p:spPr>
          <a:xfrm>
            <a:off x="132439" y="6431953"/>
            <a:ext cx="4881897" cy="280593"/>
          </a:xfrm>
          <a:prstGeom prst="rect">
            <a:avLst/>
          </a:prstGeom>
          <a:noFill/>
        </p:spPr>
        <p:txBody>
          <a:bodyPr wrap="square">
            <a:spAutoFit/>
          </a:bodyPr>
          <a:lstStyle/>
          <a:p>
            <a:pPr algn="ctr"/>
            <a:r>
              <a:rPr lang="en-GB" sz="1200" b="0" i="0" dirty="0">
                <a:solidFill>
                  <a:srgbClr val="4F9AC2"/>
                </a:solidFill>
                <a:effectLst/>
                <a:latin typeface="+mn-lt"/>
              </a:rPr>
              <a:t>Source: </a:t>
            </a:r>
            <a:r>
              <a:rPr lang="en-GB" sz="1200" b="0" i="0" dirty="0">
                <a:solidFill>
                  <a:srgbClr val="4F9AC2"/>
                </a:solidFill>
                <a:effectLst/>
                <a:latin typeface="+mn-lt"/>
                <a:hlinkClick r:id="rId3">
                  <a:extLst>
                    <a:ext uri="{A12FA001-AC4F-418D-AE19-62706E023703}">
                      <ahyp:hlinkClr xmlns:ahyp="http://schemas.microsoft.com/office/drawing/2018/hyperlinkcolor" val="tx"/>
                    </a:ext>
                  </a:extLst>
                </a:hlinkClick>
              </a:rPr>
              <a:t>IEA</a:t>
            </a:r>
            <a:r>
              <a:rPr lang="en-GB" sz="1200" b="0" i="0" dirty="0">
                <a:solidFill>
                  <a:srgbClr val="4F9AC2"/>
                </a:solidFill>
                <a:effectLst/>
                <a:latin typeface="+mn-lt"/>
              </a:rPr>
              <a:t> (2023)</a:t>
            </a:r>
            <a:endParaRPr lang="en-GB" sz="1200" dirty="0">
              <a:solidFill>
                <a:srgbClr val="4F9AC2"/>
              </a:solidFill>
              <a:latin typeface="+mn-lt"/>
            </a:endParaRPr>
          </a:p>
        </p:txBody>
      </p:sp>
      <p:sp>
        <p:nvSpPr>
          <p:cNvPr id="7" name="Content Placeholder 4">
            <a:extLst>
              <a:ext uri="{FF2B5EF4-FFF2-40B4-BE49-F238E27FC236}">
                <a16:creationId xmlns:a16="http://schemas.microsoft.com/office/drawing/2014/main" id="{C60E1E5C-CD93-4EC1-0901-C7B7543C0187}"/>
              </a:ext>
            </a:extLst>
          </p:cNvPr>
          <p:cNvSpPr txBox="1">
            <a:spLocks/>
          </p:cNvSpPr>
          <p:nvPr/>
        </p:nvSpPr>
        <p:spPr>
          <a:xfrm>
            <a:off x="5321147" y="3012172"/>
            <a:ext cx="6655508" cy="3566998"/>
          </a:xfrm>
          <a:prstGeom prst="rect">
            <a:avLst/>
          </a:prstGeom>
        </p:spPr>
        <p:txBody>
          <a:bodyPr>
            <a:normAutofit fontScale="5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dirty="0"/>
              <a:t>Three countries account for about:​</a:t>
            </a:r>
          </a:p>
          <a:p>
            <a:pPr>
              <a:buClrTx/>
            </a:pPr>
            <a:r>
              <a:rPr lang="en-US" dirty="0">
                <a:solidFill>
                  <a:srgbClr val="6283A6"/>
                </a:solidFill>
              </a:rPr>
              <a:t>90% of global lithium mining output; ​</a:t>
            </a:r>
          </a:p>
          <a:p>
            <a:pPr>
              <a:buClrTx/>
            </a:pPr>
            <a:r>
              <a:rPr lang="en-US" dirty="0">
                <a:solidFill>
                  <a:srgbClr val="6283A6"/>
                </a:solidFill>
              </a:rPr>
              <a:t>75% of global cobalt mining output ​</a:t>
            </a:r>
          </a:p>
          <a:p>
            <a:pPr>
              <a:buClrTx/>
            </a:pPr>
            <a:r>
              <a:rPr lang="en-US" dirty="0">
                <a:solidFill>
                  <a:srgbClr val="6283A6"/>
                </a:solidFill>
              </a:rPr>
              <a:t>65% of global nickel mining output​</a:t>
            </a:r>
          </a:p>
          <a:p>
            <a:pPr>
              <a:buClrTx/>
            </a:pPr>
            <a:r>
              <a:rPr lang="en-US" dirty="0">
                <a:solidFill>
                  <a:srgbClr val="6283A6"/>
                </a:solidFill>
              </a:rPr>
              <a:t>80 - 90% of global capacity in solar PV modules, wind turbine nacelles, EV batteries and electrolysis.</a:t>
            </a:r>
          </a:p>
          <a:p>
            <a:pPr marL="0" indent="0">
              <a:buClrTx/>
              <a:buNone/>
            </a:pPr>
            <a:r>
              <a:rPr lang="en-US" dirty="0"/>
              <a:t>Risk to critical minerals can be minimized by increasing investment across geographies. </a:t>
            </a:r>
          </a:p>
          <a:p>
            <a:pPr>
              <a:buClrTx/>
            </a:pPr>
            <a:endParaRPr lang="en-US" dirty="0"/>
          </a:p>
        </p:txBody>
      </p:sp>
    </p:spTree>
    <p:extLst>
      <p:ext uri="{BB962C8B-B14F-4D97-AF65-F5344CB8AC3E}">
        <p14:creationId xmlns:p14="http://schemas.microsoft.com/office/powerpoint/2010/main" val="100481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CA1C23B-C64C-943B-C632-9C89916080DD}"/>
              </a:ext>
            </a:extLst>
          </p:cNvPr>
          <p:cNvSpPr/>
          <p:nvPr/>
        </p:nvSpPr>
        <p:spPr>
          <a:xfrm>
            <a:off x="0" y="4764505"/>
            <a:ext cx="12464716" cy="209349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659E8E24-1254-6B63-876E-B417BECFF551}"/>
              </a:ext>
            </a:extLst>
          </p:cNvPr>
          <p:cNvSpPr>
            <a:spLocks noGrp="1"/>
          </p:cNvSpPr>
          <p:nvPr>
            <p:ph type="title"/>
          </p:nvPr>
        </p:nvSpPr>
        <p:spPr>
          <a:xfrm>
            <a:off x="517358" y="5564339"/>
            <a:ext cx="11430000" cy="782584"/>
          </a:xfrm>
        </p:spPr>
        <p:txBody>
          <a:bodyPr>
            <a:noAutofit/>
          </a:bodyPr>
          <a:lstStyle/>
          <a:p>
            <a:r>
              <a:rPr lang="en-AU" sz="6000" dirty="0">
                <a:solidFill>
                  <a:srgbClr val="022A03"/>
                </a:solidFill>
              </a:rPr>
              <a:t>Energy Risks</a:t>
            </a:r>
          </a:p>
        </p:txBody>
      </p:sp>
    </p:spTree>
    <p:extLst>
      <p:ext uri="{BB962C8B-B14F-4D97-AF65-F5344CB8AC3E}">
        <p14:creationId xmlns:p14="http://schemas.microsoft.com/office/powerpoint/2010/main" val="3050194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1A92-35BC-9357-A6E6-745F0CEDA23F}"/>
              </a:ext>
            </a:extLst>
          </p:cNvPr>
          <p:cNvSpPr>
            <a:spLocks noGrp="1"/>
          </p:cNvSpPr>
          <p:nvPr>
            <p:ph type="title"/>
          </p:nvPr>
        </p:nvSpPr>
        <p:spPr/>
        <p:txBody>
          <a:bodyPr/>
          <a:lstStyle/>
          <a:p>
            <a:r>
              <a:rPr lang="en-US" dirty="0"/>
              <a:t>Energy Risks</a:t>
            </a:r>
          </a:p>
        </p:txBody>
      </p:sp>
      <p:sp>
        <p:nvSpPr>
          <p:cNvPr id="3" name="Content Placeholder 2">
            <a:extLst>
              <a:ext uri="{FF2B5EF4-FFF2-40B4-BE49-F238E27FC236}">
                <a16:creationId xmlns:a16="http://schemas.microsoft.com/office/drawing/2014/main" id="{BBBAABCD-EFCC-BCC4-EDF3-B218DABC0A20}"/>
              </a:ext>
            </a:extLst>
          </p:cNvPr>
          <p:cNvSpPr txBox="1">
            <a:spLocks/>
          </p:cNvSpPr>
          <p:nvPr/>
        </p:nvSpPr>
        <p:spPr>
          <a:xfrm>
            <a:off x="342901" y="1887636"/>
            <a:ext cx="8439152" cy="1999624"/>
          </a:xfrm>
          <a:prstGeom prst="rect">
            <a:avLst/>
          </a:prstGeom>
        </p:spPr>
        <p:txBody>
          <a:bodyPr vert="horz" lIns="0" tIns="0" rIns="0" bIns="0" rtlCol="0">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US" sz="3200" dirty="0"/>
              <a:t>Energy risks—such as price volatility, supply disruptions, or over-reliance on fossil fuels—can </a:t>
            </a:r>
            <a:r>
              <a:rPr lang="en-US" sz="3200" b="1" dirty="0"/>
              <a:t>strain public finances. </a:t>
            </a:r>
            <a:r>
              <a:rPr lang="en-US" sz="3200" dirty="0"/>
              <a:t>Countries often resort to costly energy subsidies, which increase fiscal stress, diverting resources from other priorities like healthcare, education, or infrastructure.</a:t>
            </a:r>
          </a:p>
          <a:p>
            <a:pPr>
              <a:buClrTx/>
            </a:pPr>
            <a:endParaRPr lang="en-US" sz="1800" dirty="0"/>
          </a:p>
          <a:p>
            <a:pPr>
              <a:buClrTx/>
            </a:pPr>
            <a:endParaRPr lang="en-US" dirty="0"/>
          </a:p>
        </p:txBody>
      </p:sp>
      <p:pic>
        <p:nvPicPr>
          <p:cNvPr id="8" name="Picture 7" descr="A display of gas prices&#10;&#10;Description automatically generated">
            <a:extLst>
              <a:ext uri="{FF2B5EF4-FFF2-40B4-BE49-F238E27FC236}">
                <a16:creationId xmlns:a16="http://schemas.microsoft.com/office/drawing/2014/main" id="{D2F47B66-DD1A-E557-4639-14ADE0934FC2}"/>
              </a:ext>
            </a:extLst>
          </p:cNvPr>
          <p:cNvPicPr>
            <a:picLocks noChangeAspect="1"/>
          </p:cNvPicPr>
          <p:nvPr/>
        </p:nvPicPr>
        <p:blipFill>
          <a:blip r:embed="rId3"/>
          <a:stretch>
            <a:fillRect/>
          </a:stretch>
        </p:blipFill>
        <p:spPr>
          <a:xfrm>
            <a:off x="8993105" y="0"/>
            <a:ext cx="3244849" cy="3435292"/>
          </a:xfrm>
          <a:prstGeom prst="rect">
            <a:avLst/>
          </a:prstGeom>
        </p:spPr>
      </p:pic>
      <p:sp>
        <p:nvSpPr>
          <p:cNvPr id="10" name="Content Placeholder 2">
            <a:extLst>
              <a:ext uri="{FF2B5EF4-FFF2-40B4-BE49-F238E27FC236}">
                <a16:creationId xmlns:a16="http://schemas.microsoft.com/office/drawing/2014/main" id="{22B59ECF-FE86-B7B8-2214-25B322262B4B}"/>
              </a:ext>
            </a:extLst>
          </p:cNvPr>
          <p:cNvSpPr txBox="1">
            <a:spLocks/>
          </p:cNvSpPr>
          <p:nvPr/>
        </p:nvSpPr>
        <p:spPr>
          <a:xfrm>
            <a:off x="342901" y="3605282"/>
            <a:ext cx="11645902" cy="2636552"/>
          </a:xfrm>
          <a:prstGeom prst="rect">
            <a:avLst/>
          </a:prstGeom>
        </p:spPr>
        <p:txBody>
          <a:bodyPr vert="horz" lIns="0" tIns="0" rIns="0" bIns="0" rtlCol="0">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US" sz="2800" dirty="0"/>
              <a:t>Fluctuations in energy prices can cause </a:t>
            </a:r>
            <a:r>
              <a:rPr lang="en-US" sz="2800" b="1" dirty="0"/>
              <a:t>significant GDP contractions</a:t>
            </a:r>
            <a:r>
              <a:rPr lang="en-US" sz="2800" dirty="0"/>
              <a:t>, particularly in energy-importing countries. Price spikes or supply shocks impact industries and households, leading to inflation, reduced economic growth, and job losses.</a:t>
            </a:r>
          </a:p>
          <a:p>
            <a:pPr>
              <a:buClrTx/>
            </a:pPr>
            <a:r>
              <a:rPr lang="en-US" sz="2800" dirty="0"/>
              <a:t>Reducing emissions through a shift to clean energy can </a:t>
            </a:r>
            <a:r>
              <a:rPr lang="en-US" sz="2800" b="1" dirty="0"/>
              <a:t>lower these risks</a:t>
            </a:r>
            <a:r>
              <a:rPr lang="en-US" sz="2800" dirty="0"/>
              <a:t>. Renewable energy sources like solar and wind have lower operational risks and are less vulnerable to global price fluctuations, contributing to greater energy security and fiscal stability over the long term.</a:t>
            </a:r>
            <a:endParaRPr lang="en-US" sz="1800" dirty="0"/>
          </a:p>
          <a:p>
            <a:pPr>
              <a:buClrTx/>
            </a:pPr>
            <a:endParaRPr lang="en-US" sz="1800" dirty="0"/>
          </a:p>
          <a:p>
            <a:pPr>
              <a:buClrTx/>
            </a:pPr>
            <a:endParaRPr lang="en-US" dirty="0"/>
          </a:p>
        </p:txBody>
      </p:sp>
    </p:spTree>
    <p:extLst>
      <p:ext uri="{BB962C8B-B14F-4D97-AF65-F5344CB8AC3E}">
        <p14:creationId xmlns:p14="http://schemas.microsoft.com/office/powerpoint/2010/main" val="4127927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6ABC3B-FADC-AD8D-E62F-1537A28EADF2}"/>
              </a:ext>
            </a:extLst>
          </p:cNvPr>
          <p:cNvSpPr>
            <a:spLocks noGrp="1"/>
          </p:cNvSpPr>
          <p:nvPr>
            <p:ph type="ctrTitle"/>
          </p:nvPr>
        </p:nvSpPr>
        <p:spPr>
          <a:xfrm>
            <a:off x="291776" y="462067"/>
            <a:ext cx="3616806" cy="1676400"/>
          </a:xfrm>
        </p:spPr>
        <p:txBody>
          <a:bodyPr>
            <a:normAutofit fontScale="90000"/>
          </a:bodyPr>
          <a:lstStyle/>
          <a:p>
            <a:r>
              <a:rPr lang="en-US" dirty="0"/>
              <a:t>Increasing Energy Prices</a:t>
            </a:r>
          </a:p>
        </p:txBody>
      </p:sp>
      <p:sp>
        <p:nvSpPr>
          <p:cNvPr id="2" name="Content Placeholder 1">
            <a:extLst>
              <a:ext uri="{FF2B5EF4-FFF2-40B4-BE49-F238E27FC236}">
                <a16:creationId xmlns:a16="http://schemas.microsoft.com/office/drawing/2014/main" id="{45DB35B7-C058-69CA-9EB5-53AF3CB2C0FC}"/>
              </a:ext>
            </a:extLst>
          </p:cNvPr>
          <p:cNvSpPr>
            <a:spLocks noGrp="1"/>
          </p:cNvSpPr>
          <p:nvPr>
            <p:ph sz="half" idx="2"/>
          </p:nvPr>
        </p:nvSpPr>
        <p:spPr>
          <a:xfrm>
            <a:off x="4665579" y="502920"/>
            <a:ext cx="6908112" cy="6069330"/>
          </a:xfrm>
        </p:spPr>
        <p:txBody>
          <a:bodyPr>
            <a:normAutofit lnSpcReduction="10000"/>
          </a:bodyPr>
          <a:lstStyle/>
          <a:p>
            <a:pPr marL="0" indent="0">
              <a:buNone/>
            </a:pPr>
            <a:r>
              <a:rPr lang="en-US" dirty="0"/>
              <a:t>Energy technology transition may lead to an increase in energy prices due to:​</a:t>
            </a:r>
          </a:p>
          <a:p>
            <a:pPr lvl="1"/>
            <a:r>
              <a:rPr lang="en-US" dirty="0"/>
              <a:t>Huge investment required in a short space of time. ​</a:t>
            </a:r>
          </a:p>
          <a:p>
            <a:pPr lvl="1"/>
            <a:r>
              <a:rPr lang="en-US" dirty="0"/>
              <a:t>Reduction in efficiency of overall energy sector, due to need to deal with renewable intermittency by adding energy storage or backup capacity.​</a:t>
            </a:r>
          </a:p>
          <a:p>
            <a:pPr lvl="1"/>
            <a:r>
              <a:rPr lang="en-US" dirty="0"/>
              <a:t>Higher energy prices increase the prices of all goods and tend to be associated with negative economic outcomes.</a:t>
            </a:r>
          </a:p>
          <a:p>
            <a:endParaRPr lang="en-US" dirty="0"/>
          </a:p>
        </p:txBody>
      </p:sp>
      <p:sp>
        <p:nvSpPr>
          <p:cNvPr id="5" name="TextBox 4">
            <a:extLst>
              <a:ext uri="{FF2B5EF4-FFF2-40B4-BE49-F238E27FC236}">
                <a16:creationId xmlns:a16="http://schemas.microsoft.com/office/drawing/2014/main" id="{E64EC3F7-D93F-8E47-A8A9-AAD91029E04F}"/>
              </a:ext>
            </a:extLst>
          </p:cNvPr>
          <p:cNvSpPr txBox="1"/>
          <p:nvPr/>
        </p:nvSpPr>
        <p:spPr>
          <a:xfrm>
            <a:off x="-1962229" y="6497174"/>
            <a:ext cx="6018301" cy="276999"/>
          </a:xfrm>
          <a:prstGeom prst="rect">
            <a:avLst/>
          </a:prstGeom>
          <a:noFill/>
        </p:spPr>
        <p:txBody>
          <a:bodyPr wrap="square">
            <a:spAutoFit/>
          </a:bodyPr>
          <a:lstStyle/>
          <a:p>
            <a:pPr algn="ctr"/>
            <a:r>
              <a:rPr lang="en-GB" sz="1200" b="0" i="0" dirty="0">
                <a:solidFill>
                  <a:srgbClr val="222222"/>
                </a:solidFill>
                <a:effectLst/>
                <a:latin typeface="+mn-lt"/>
              </a:rPr>
              <a:t>From: Jackson (2024).</a:t>
            </a:r>
            <a:endParaRPr lang="en-GB" sz="1200" dirty="0">
              <a:latin typeface="+mn-lt"/>
            </a:endParaRPr>
          </a:p>
        </p:txBody>
      </p:sp>
      <p:pic>
        <p:nvPicPr>
          <p:cNvPr id="1026" name="Picture 2">
            <a:extLst>
              <a:ext uri="{FF2B5EF4-FFF2-40B4-BE49-F238E27FC236}">
                <a16:creationId xmlns:a16="http://schemas.microsoft.com/office/drawing/2014/main" id="{B26CBB5E-77A6-ECD8-10BE-F5CB1735C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5" y="2695253"/>
            <a:ext cx="4331486" cy="253447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D0A765A-2139-E5A4-74F3-E8C3728E9F29}"/>
              </a:ext>
            </a:extLst>
          </p:cNvPr>
          <p:cNvSpPr txBox="1"/>
          <p:nvPr/>
        </p:nvSpPr>
        <p:spPr>
          <a:xfrm>
            <a:off x="34757" y="5296845"/>
            <a:ext cx="4203032" cy="1323439"/>
          </a:xfrm>
          <a:prstGeom prst="rect">
            <a:avLst/>
          </a:prstGeom>
          <a:noFill/>
        </p:spPr>
        <p:txBody>
          <a:bodyPr wrap="square">
            <a:spAutoFit/>
          </a:bodyPr>
          <a:lstStyle/>
          <a:p>
            <a:r>
              <a:rPr lang="en-GB" b="1" u="none" strike="noStrike" dirty="0">
                <a:solidFill>
                  <a:srgbClr val="4F9AC2"/>
                </a:solidFill>
                <a:effectLst/>
                <a:latin typeface="Aptos Light" panose="020B0004020202020204" pitchFamily="34" charset="0"/>
              </a:rPr>
              <a:t>Bars: original levelized cost.​ Dots: enhanced levelized cost (original levelized cost + technology’s wider system impact + other impacts [e.g. unpriced carbon &amp; below maximum load factors]).</a:t>
            </a:r>
          </a:p>
          <a:p>
            <a:r>
              <a:rPr lang="en-GB" sz="1200" b="1" u="none" strike="noStrike" dirty="0">
                <a:solidFill>
                  <a:srgbClr val="4F9AC2"/>
                </a:solidFill>
                <a:effectLst/>
                <a:latin typeface="Aptos Light" panose="020B0004020202020204" pitchFamily="34" charset="0"/>
              </a:rPr>
              <a:t>​ </a:t>
            </a:r>
            <a:r>
              <a:rPr lang="en-GB" sz="1200" u="none" strike="noStrike" dirty="0">
                <a:solidFill>
                  <a:srgbClr val="4F9AC2"/>
                </a:solidFill>
                <a:effectLst/>
                <a:latin typeface="Aptos Light" panose="020B0004020202020204" pitchFamily="34" charset="0"/>
              </a:rPr>
              <a:t>Source: Department for Business, Energy and Industrial Strategy. (2020). Electricity Generation Costs 2020. BEIS</a:t>
            </a:r>
            <a:r>
              <a:rPr lang="en-GB" sz="1200" dirty="0">
                <a:solidFill>
                  <a:srgbClr val="4F9AC2"/>
                </a:solidFill>
                <a:effectLst/>
                <a:latin typeface="Aptos Light" panose="020B0004020202020204" pitchFamily="34" charset="0"/>
              </a:rPr>
              <a:t>​</a:t>
            </a:r>
            <a:endParaRPr lang="en-US" sz="1200" dirty="0">
              <a:solidFill>
                <a:srgbClr val="4F9AC2"/>
              </a:solidFill>
              <a:latin typeface="Aptos Light" panose="020B0004020202020204" pitchFamily="34" charset="0"/>
            </a:endParaRPr>
          </a:p>
        </p:txBody>
      </p:sp>
      <p:sp>
        <p:nvSpPr>
          <p:cNvPr id="11" name="TextBox 10">
            <a:extLst>
              <a:ext uri="{FF2B5EF4-FFF2-40B4-BE49-F238E27FC236}">
                <a16:creationId xmlns:a16="http://schemas.microsoft.com/office/drawing/2014/main" id="{D96423EA-1EB4-D3AF-82DF-419F4315F947}"/>
              </a:ext>
            </a:extLst>
          </p:cNvPr>
          <p:cNvSpPr txBox="1"/>
          <p:nvPr/>
        </p:nvSpPr>
        <p:spPr>
          <a:xfrm>
            <a:off x="-34665" y="2048922"/>
            <a:ext cx="4331486" cy="646331"/>
          </a:xfrm>
          <a:prstGeom prst="rect">
            <a:avLst/>
          </a:prstGeom>
          <a:solidFill>
            <a:srgbClr val="4F9AC2"/>
          </a:solidFill>
          <a:ln>
            <a:noFill/>
          </a:ln>
        </p:spPr>
        <p:txBody>
          <a:bodyPr wrap="square">
            <a:spAutoFit/>
          </a:bodyPr>
          <a:lstStyle/>
          <a:p>
            <a:pPr algn="ctr"/>
            <a:r>
              <a:rPr lang="en-GB" sz="1800" b="1" u="none" strike="noStrike" dirty="0">
                <a:solidFill>
                  <a:schemeClr val="tx1"/>
                </a:solidFill>
                <a:effectLst/>
                <a:latin typeface="Aptos" panose="020B0004020202020204" pitchFamily="34" charset="0"/>
              </a:rPr>
              <a:t>Enhanced Levelized Energy Prices </a:t>
            </a:r>
            <a:r>
              <a:rPr lang="en-GB" sz="1800" b="1" dirty="0">
                <a:solidFill>
                  <a:schemeClr val="tx1"/>
                </a:solidFill>
                <a:latin typeface="Aptos" panose="020B0004020202020204" pitchFamily="34" charset="0"/>
              </a:rPr>
              <a:t>with Varying Low Carbon Capacity</a:t>
            </a:r>
            <a:endParaRPr lang="en-US" sz="1800" b="1" dirty="0">
              <a:solidFill>
                <a:schemeClr val="tx1"/>
              </a:solidFill>
              <a:latin typeface="Aptos" panose="020B0004020202020204" pitchFamily="34" charset="0"/>
            </a:endParaRPr>
          </a:p>
        </p:txBody>
      </p:sp>
    </p:spTree>
    <p:extLst>
      <p:ext uri="{BB962C8B-B14F-4D97-AF65-F5344CB8AC3E}">
        <p14:creationId xmlns:p14="http://schemas.microsoft.com/office/powerpoint/2010/main" val="3155849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C22A56-6AD7-6EA1-54FE-861E9BF0AF2D}"/>
              </a:ext>
            </a:extLst>
          </p:cNvPr>
          <p:cNvSpPr>
            <a:spLocks noGrp="1"/>
          </p:cNvSpPr>
          <p:nvPr>
            <p:ph type="title"/>
          </p:nvPr>
        </p:nvSpPr>
        <p:spPr/>
        <p:txBody>
          <a:bodyPr/>
          <a:lstStyle/>
          <a:p>
            <a:r>
              <a:rPr lang="en-US" dirty="0">
                <a:latin typeface="Aptos"/>
              </a:rPr>
              <a:t>Case Study: UK Energy Transition </a:t>
            </a:r>
          </a:p>
        </p:txBody>
      </p:sp>
      <p:sp>
        <p:nvSpPr>
          <p:cNvPr id="6" name="Content Placeholder 5">
            <a:extLst>
              <a:ext uri="{FF2B5EF4-FFF2-40B4-BE49-F238E27FC236}">
                <a16:creationId xmlns:a16="http://schemas.microsoft.com/office/drawing/2014/main" id="{50DBB5F7-551B-8305-199E-439EBE6D102F}"/>
              </a:ext>
            </a:extLst>
          </p:cNvPr>
          <p:cNvSpPr>
            <a:spLocks noGrp="1"/>
          </p:cNvSpPr>
          <p:nvPr>
            <p:ph idx="4294967295"/>
          </p:nvPr>
        </p:nvSpPr>
        <p:spPr>
          <a:xfrm>
            <a:off x="5546725" y="1702022"/>
            <a:ext cx="6264275" cy="4995862"/>
          </a:xfrm>
        </p:spPr>
        <p:txBody>
          <a:bodyPr>
            <a:noAutofit/>
          </a:bodyPr>
          <a:lstStyle/>
          <a:p>
            <a:r>
              <a:rPr lang="en-US" sz="2000" dirty="0"/>
              <a:t>Gas now the most expensive fuel per megawatt hour in the UK.</a:t>
            </a:r>
          </a:p>
          <a:p>
            <a:r>
              <a:rPr lang="en-US" sz="2000" dirty="0"/>
              <a:t>UK expected to be 200% more exposed during price spikes by late 2030s.</a:t>
            </a:r>
          </a:p>
          <a:p>
            <a:r>
              <a:rPr lang="en-US" sz="2000" dirty="0"/>
              <a:t>Investment Impediments: Long, uncertain permitting system and grid connection wait times in the UK.​</a:t>
            </a:r>
          </a:p>
          <a:p>
            <a:r>
              <a:rPr lang="en-US" sz="2000" dirty="0"/>
              <a:t>To-date, the limited response from private energy investors to renewable energy price changes heightens risks to public finances</a:t>
            </a:r>
            <a:r>
              <a:rPr lang="en-US" sz="1800" dirty="0"/>
              <a:t>.</a:t>
            </a:r>
          </a:p>
        </p:txBody>
      </p:sp>
      <p:pic>
        <p:nvPicPr>
          <p:cNvPr id="1026" name="Picture 2">
            <a:extLst>
              <a:ext uri="{FF2B5EF4-FFF2-40B4-BE49-F238E27FC236}">
                <a16:creationId xmlns:a16="http://schemas.microsoft.com/office/drawing/2014/main" id="{D927D2EF-803F-D357-3659-8E3041C3CB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55621"/>
            <a:ext cx="4655737" cy="26443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999C0AD-D8B6-A5D0-974F-EDD6A84628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31318"/>
            <a:ext cx="4655737" cy="226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169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A11CC-B191-BE8B-CD11-24A83A167AE0}"/>
              </a:ext>
            </a:extLst>
          </p:cNvPr>
          <p:cNvSpPr>
            <a:spLocks noGrp="1"/>
          </p:cNvSpPr>
          <p:nvPr>
            <p:ph type="title"/>
          </p:nvPr>
        </p:nvSpPr>
        <p:spPr/>
        <p:txBody>
          <a:bodyPr/>
          <a:lstStyle/>
          <a:p>
            <a:r>
              <a:rPr lang="en-US" dirty="0">
                <a:latin typeface="Aptos"/>
              </a:rPr>
              <a:t>Case Study: UK Energy Transition </a:t>
            </a:r>
            <a:endParaRPr lang="en-US" dirty="0"/>
          </a:p>
        </p:txBody>
      </p:sp>
      <p:sp>
        <p:nvSpPr>
          <p:cNvPr id="5" name="Content Placeholder 4">
            <a:extLst>
              <a:ext uri="{FF2B5EF4-FFF2-40B4-BE49-F238E27FC236}">
                <a16:creationId xmlns:a16="http://schemas.microsoft.com/office/drawing/2014/main" id="{D8A6A8F3-2A29-4D90-33B0-FBA88D947BBE}"/>
              </a:ext>
            </a:extLst>
          </p:cNvPr>
          <p:cNvSpPr>
            <a:spLocks noGrp="1"/>
          </p:cNvSpPr>
          <p:nvPr>
            <p:ph idx="4294967295"/>
          </p:nvPr>
        </p:nvSpPr>
        <p:spPr>
          <a:xfrm>
            <a:off x="380999" y="1778311"/>
            <a:ext cx="5474357" cy="4995862"/>
          </a:xfrm>
        </p:spPr>
        <p:txBody>
          <a:bodyPr>
            <a:normAutofit fontScale="70000" lnSpcReduction="20000"/>
          </a:bodyPr>
          <a:lstStyle/>
          <a:p>
            <a:r>
              <a:rPr lang="en-US" dirty="0"/>
              <a:t>The net zero transition will lead to: ​</a:t>
            </a:r>
          </a:p>
          <a:p>
            <a:pPr lvl="1"/>
            <a:r>
              <a:rPr lang="en-US" sz="2900" dirty="0"/>
              <a:t>Increasing public sector spending.​</a:t>
            </a:r>
          </a:p>
          <a:p>
            <a:pPr lvl="1"/>
            <a:r>
              <a:rPr lang="en-US" sz="2900" dirty="0"/>
              <a:t>Reductions in public sector tax income.​</a:t>
            </a:r>
          </a:p>
          <a:p>
            <a:r>
              <a:rPr lang="en-US" dirty="0"/>
              <a:t>Hence there will be a significant impact on public debt during the transition.​</a:t>
            </a:r>
          </a:p>
          <a:p>
            <a:r>
              <a:rPr lang="en-US" dirty="0"/>
              <a:t>Debt to GDP ratios already high due to fallout from 2007-08 financial crisis and 2020-21 pandemic. ​</a:t>
            </a:r>
          </a:p>
          <a:p>
            <a:r>
              <a:rPr lang="en-US" dirty="0"/>
              <a:t>Debt sustainability issues more pressing now due to higher levels of inflation and interest rates. </a:t>
            </a:r>
          </a:p>
          <a:p>
            <a:endParaRPr lang="en-US" dirty="0"/>
          </a:p>
        </p:txBody>
      </p:sp>
      <p:sp>
        <p:nvSpPr>
          <p:cNvPr id="6" name="Rectangle 5">
            <a:extLst>
              <a:ext uri="{FF2B5EF4-FFF2-40B4-BE49-F238E27FC236}">
                <a16:creationId xmlns:a16="http://schemas.microsoft.com/office/drawing/2014/main" id="{70188496-2738-FB5C-CB08-5E4BBEE79A08}"/>
              </a:ext>
            </a:extLst>
          </p:cNvPr>
          <p:cNvSpPr/>
          <p:nvPr/>
        </p:nvSpPr>
        <p:spPr>
          <a:xfrm>
            <a:off x="6095999" y="1994078"/>
            <a:ext cx="6096001" cy="610132"/>
          </a:xfrm>
          <a:prstGeom prst="rect">
            <a:avLst/>
          </a:prstGeom>
          <a:solidFill>
            <a:srgbClr val="4F9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5BEE1BE-98E2-BFFD-2B85-8A3D177024CC}"/>
              </a:ext>
            </a:extLst>
          </p:cNvPr>
          <p:cNvSpPr txBox="1"/>
          <p:nvPr/>
        </p:nvSpPr>
        <p:spPr>
          <a:xfrm>
            <a:off x="6146800" y="2114478"/>
            <a:ext cx="5994397" cy="369332"/>
          </a:xfrm>
          <a:prstGeom prst="rect">
            <a:avLst/>
          </a:prstGeom>
          <a:noFill/>
        </p:spPr>
        <p:txBody>
          <a:bodyPr wrap="square">
            <a:spAutoFit/>
          </a:bodyPr>
          <a:lstStyle/>
          <a:p>
            <a:pPr algn="ctr"/>
            <a:r>
              <a:rPr lang="en-GB" sz="1800" b="1" u="none" strike="noStrike" dirty="0">
                <a:solidFill>
                  <a:schemeClr val="tx1"/>
                </a:solidFill>
                <a:effectLst/>
                <a:latin typeface="Aptos" panose="020B0004020202020204" pitchFamily="34" charset="0"/>
              </a:rPr>
              <a:t>Increase in Government </a:t>
            </a:r>
            <a:r>
              <a:rPr lang="en-GB" sz="1800" b="1" dirty="0">
                <a:solidFill>
                  <a:schemeClr val="tx1"/>
                </a:solidFill>
                <a:latin typeface="Aptos" panose="020B0004020202020204" pitchFamily="34" charset="0"/>
              </a:rPr>
              <a:t>S</a:t>
            </a:r>
            <a:r>
              <a:rPr lang="en-GB" sz="1800" b="1" u="none" strike="noStrike" dirty="0">
                <a:solidFill>
                  <a:schemeClr val="tx1"/>
                </a:solidFill>
                <a:effectLst/>
                <a:latin typeface="Aptos" panose="020B0004020202020204" pitchFamily="34" charset="0"/>
              </a:rPr>
              <a:t>pending </a:t>
            </a:r>
            <a:r>
              <a:rPr lang="en-GB" sz="1800" b="1" dirty="0">
                <a:solidFill>
                  <a:schemeClr val="tx1"/>
                </a:solidFill>
                <a:latin typeface="Aptos" panose="020B0004020202020204" pitchFamily="34" charset="0"/>
              </a:rPr>
              <a:t>D</a:t>
            </a:r>
            <a:r>
              <a:rPr lang="en-GB" sz="1800" b="1" u="none" strike="noStrike" dirty="0">
                <a:solidFill>
                  <a:schemeClr val="tx1"/>
                </a:solidFill>
                <a:effectLst/>
                <a:latin typeface="Aptos" panose="020B0004020202020204" pitchFamily="34" charset="0"/>
              </a:rPr>
              <a:t>uring </a:t>
            </a:r>
            <a:r>
              <a:rPr lang="en-GB" sz="1800" b="1" dirty="0">
                <a:solidFill>
                  <a:schemeClr val="tx1"/>
                </a:solidFill>
                <a:latin typeface="Aptos" panose="020B0004020202020204" pitchFamily="34" charset="0"/>
              </a:rPr>
              <a:t>T</a:t>
            </a:r>
            <a:r>
              <a:rPr lang="en-GB" sz="1800" b="1" u="none" strike="noStrike" dirty="0">
                <a:solidFill>
                  <a:schemeClr val="tx1"/>
                </a:solidFill>
                <a:effectLst/>
                <a:latin typeface="Aptos" panose="020B0004020202020204" pitchFamily="34" charset="0"/>
              </a:rPr>
              <a:t>ransition​</a:t>
            </a:r>
            <a:endParaRPr lang="en-US" sz="1800" b="1" dirty="0">
              <a:solidFill>
                <a:schemeClr val="tx1"/>
              </a:solidFill>
              <a:latin typeface="Aptos" panose="020B0004020202020204" pitchFamily="34" charset="0"/>
            </a:endParaRPr>
          </a:p>
        </p:txBody>
      </p:sp>
      <p:pic>
        <p:nvPicPr>
          <p:cNvPr id="2054" name="Picture 6">
            <a:extLst>
              <a:ext uri="{FF2B5EF4-FFF2-40B4-BE49-F238E27FC236}">
                <a16:creationId xmlns:a16="http://schemas.microsoft.com/office/drawing/2014/main" id="{C2FFE5FD-2011-DB9D-73BF-4CB8784AE3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3621" y="2604210"/>
            <a:ext cx="5994398" cy="302685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C5E7408-2C13-9C68-8B7D-119BD3ED76A9}"/>
              </a:ext>
            </a:extLst>
          </p:cNvPr>
          <p:cNvSpPr txBox="1"/>
          <p:nvPr/>
        </p:nvSpPr>
        <p:spPr>
          <a:xfrm>
            <a:off x="-1962229" y="6497174"/>
            <a:ext cx="6018301" cy="276999"/>
          </a:xfrm>
          <a:prstGeom prst="rect">
            <a:avLst/>
          </a:prstGeom>
          <a:noFill/>
        </p:spPr>
        <p:txBody>
          <a:bodyPr wrap="square">
            <a:spAutoFit/>
          </a:bodyPr>
          <a:lstStyle/>
          <a:p>
            <a:pPr algn="ctr"/>
            <a:r>
              <a:rPr lang="en-GB" sz="1200" b="0" i="0" dirty="0">
                <a:solidFill>
                  <a:srgbClr val="222222"/>
                </a:solidFill>
                <a:effectLst/>
                <a:latin typeface="+mn-lt"/>
              </a:rPr>
              <a:t>From: Jackson (2024).</a:t>
            </a:r>
            <a:endParaRPr lang="en-GB" sz="1200" dirty="0">
              <a:latin typeface="+mn-lt"/>
            </a:endParaRPr>
          </a:p>
        </p:txBody>
      </p:sp>
      <p:sp>
        <p:nvSpPr>
          <p:cNvPr id="9" name="TextBox 8">
            <a:extLst>
              <a:ext uri="{FF2B5EF4-FFF2-40B4-BE49-F238E27FC236}">
                <a16:creationId xmlns:a16="http://schemas.microsoft.com/office/drawing/2014/main" id="{067A6E29-3327-AE10-EC21-D755011BC3DC}"/>
              </a:ext>
            </a:extLst>
          </p:cNvPr>
          <p:cNvSpPr txBox="1"/>
          <p:nvPr/>
        </p:nvSpPr>
        <p:spPr>
          <a:xfrm>
            <a:off x="6197602" y="5784739"/>
            <a:ext cx="5815099" cy="276999"/>
          </a:xfrm>
          <a:prstGeom prst="rect">
            <a:avLst/>
          </a:prstGeom>
          <a:noFill/>
        </p:spPr>
        <p:txBody>
          <a:bodyPr wrap="square">
            <a:spAutoFit/>
          </a:bodyPr>
          <a:lstStyle/>
          <a:p>
            <a:pPr algn="ctr"/>
            <a:r>
              <a:rPr lang="en-GB" sz="1200" b="0" i="0" dirty="0">
                <a:solidFill>
                  <a:srgbClr val="222222"/>
                </a:solidFill>
                <a:effectLst/>
                <a:latin typeface="+mn-lt"/>
              </a:rPr>
              <a:t>Source: </a:t>
            </a:r>
            <a:r>
              <a:rPr lang="en-GB" sz="1200" b="0" i="0" dirty="0">
                <a:solidFill>
                  <a:srgbClr val="222222"/>
                </a:solidFill>
                <a:effectLst/>
                <a:latin typeface="+mn-lt"/>
                <a:hlinkClick r:id="rId3"/>
              </a:rPr>
              <a:t>UK OBR</a:t>
            </a:r>
            <a:r>
              <a:rPr lang="en-GB" sz="1200" b="0" i="0" dirty="0">
                <a:solidFill>
                  <a:srgbClr val="222222"/>
                </a:solidFill>
                <a:effectLst/>
                <a:latin typeface="+mn-lt"/>
              </a:rPr>
              <a:t> (2021)</a:t>
            </a:r>
            <a:endParaRPr lang="en-GB" sz="1200" dirty="0">
              <a:latin typeface="+mn-lt"/>
            </a:endParaRPr>
          </a:p>
        </p:txBody>
      </p:sp>
    </p:spTree>
    <p:extLst>
      <p:ext uri="{BB962C8B-B14F-4D97-AF65-F5344CB8AC3E}">
        <p14:creationId xmlns:p14="http://schemas.microsoft.com/office/powerpoint/2010/main" val="638567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ABEBECB-C984-40F8-DE7D-D7669F5C88C4}"/>
              </a:ext>
            </a:extLst>
          </p:cNvPr>
          <p:cNvSpPr/>
          <p:nvPr/>
        </p:nvSpPr>
        <p:spPr>
          <a:xfrm>
            <a:off x="338320" y="2015048"/>
            <a:ext cx="5740852" cy="635527"/>
          </a:xfrm>
          <a:prstGeom prst="rect">
            <a:avLst/>
          </a:prstGeom>
          <a:solidFill>
            <a:srgbClr val="00463D"/>
          </a:solidFill>
          <a:ln>
            <a:solidFill>
              <a:srgbClr val="0253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52A11CC-B191-BE8B-CD11-24A83A167AE0}"/>
              </a:ext>
            </a:extLst>
          </p:cNvPr>
          <p:cNvSpPr>
            <a:spLocks noGrp="1"/>
          </p:cNvSpPr>
          <p:nvPr>
            <p:ph type="title"/>
          </p:nvPr>
        </p:nvSpPr>
        <p:spPr/>
        <p:txBody>
          <a:bodyPr/>
          <a:lstStyle/>
          <a:p>
            <a:r>
              <a:rPr lang="en-US" dirty="0">
                <a:latin typeface="Aptos"/>
              </a:rPr>
              <a:t>Case Study: UK Energy Transition </a:t>
            </a:r>
            <a:endParaRPr lang="en-US" b="0" dirty="0"/>
          </a:p>
        </p:txBody>
      </p:sp>
      <p:pic>
        <p:nvPicPr>
          <p:cNvPr id="2050" name="Picture 2">
            <a:extLst>
              <a:ext uri="{FF2B5EF4-FFF2-40B4-BE49-F238E27FC236}">
                <a16:creationId xmlns:a16="http://schemas.microsoft.com/office/drawing/2014/main" id="{751A511B-1C81-02A1-96C8-6623DBAA5E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3252" y="3823202"/>
            <a:ext cx="5233462" cy="267397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0188496-2738-FB5C-CB08-5E4BBEE79A08}"/>
              </a:ext>
            </a:extLst>
          </p:cNvPr>
          <p:cNvSpPr/>
          <p:nvPr/>
        </p:nvSpPr>
        <p:spPr>
          <a:xfrm>
            <a:off x="6448421" y="203982"/>
            <a:ext cx="5513573" cy="889941"/>
          </a:xfrm>
          <a:prstGeom prst="rect">
            <a:avLst/>
          </a:prstGeom>
          <a:solidFill>
            <a:srgbClr val="00463D"/>
          </a:solidFill>
          <a:ln>
            <a:solidFill>
              <a:srgbClr val="0253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5BEE1BE-98E2-BFFD-2B85-8A3D177024CC}"/>
              </a:ext>
            </a:extLst>
          </p:cNvPr>
          <p:cNvSpPr txBox="1"/>
          <p:nvPr/>
        </p:nvSpPr>
        <p:spPr>
          <a:xfrm>
            <a:off x="6448421" y="233453"/>
            <a:ext cx="5513573" cy="830997"/>
          </a:xfrm>
          <a:prstGeom prst="rect">
            <a:avLst/>
          </a:prstGeom>
          <a:noFill/>
        </p:spPr>
        <p:txBody>
          <a:bodyPr wrap="square">
            <a:spAutoFit/>
          </a:bodyPr>
          <a:lstStyle/>
          <a:p>
            <a:pPr algn="ctr"/>
            <a:r>
              <a:rPr lang="en-GB" sz="1600" b="1" u="none" strike="noStrike" dirty="0">
                <a:solidFill>
                  <a:schemeClr val="tx1"/>
                </a:solidFill>
                <a:effectLst/>
                <a:latin typeface="Aptos" panose="020B0004020202020204" pitchFamily="34" charset="0"/>
              </a:rPr>
              <a:t>Reduction in Tax </a:t>
            </a:r>
            <a:r>
              <a:rPr lang="en-GB" sz="1600" b="1" dirty="0">
                <a:solidFill>
                  <a:schemeClr val="tx1"/>
                </a:solidFill>
                <a:latin typeface="Aptos" panose="020B0004020202020204" pitchFamily="34" charset="0"/>
              </a:rPr>
              <a:t>I</a:t>
            </a:r>
            <a:r>
              <a:rPr lang="en-GB" sz="1600" b="1" u="none" strike="noStrike" dirty="0">
                <a:solidFill>
                  <a:schemeClr val="tx1"/>
                </a:solidFill>
                <a:effectLst/>
                <a:latin typeface="Aptos" panose="020B0004020202020204" pitchFamily="34" charset="0"/>
              </a:rPr>
              <a:t>ncome from Motoring, Aviation and Waste </a:t>
            </a:r>
            <a:r>
              <a:rPr lang="en-GB" sz="1600" b="1" dirty="0">
                <a:solidFill>
                  <a:schemeClr val="tx1"/>
                </a:solidFill>
                <a:latin typeface="Aptos" panose="020B0004020202020204" pitchFamily="34" charset="0"/>
              </a:rPr>
              <a:t>R</a:t>
            </a:r>
            <a:r>
              <a:rPr lang="en-GB" sz="1600" b="1" u="none" strike="noStrike" dirty="0">
                <a:solidFill>
                  <a:schemeClr val="tx1"/>
                </a:solidFill>
                <a:effectLst/>
                <a:latin typeface="Aptos" panose="020B0004020202020204" pitchFamily="34" charset="0"/>
              </a:rPr>
              <a:t>evenues During Transition​ (top) &amp; Impact of Transition on </a:t>
            </a:r>
            <a:r>
              <a:rPr lang="en-GB" sz="1600" b="1" dirty="0">
                <a:solidFill>
                  <a:schemeClr val="tx1"/>
                </a:solidFill>
                <a:latin typeface="Aptos" panose="020B0004020202020204" pitchFamily="34" charset="0"/>
              </a:rPr>
              <a:t>P</a:t>
            </a:r>
            <a:r>
              <a:rPr lang="en-GB" sz="1600" b="1" u="none" strike="noStrike" dirty="0">
                <a:solidFill>
                  <a:schemeClr val="tx1"/>
                </a:solidFill>
                <a:effectLst/>
                <a:latin typeface="Aptos" panose="020B0004020202020204" pitchFamily="34" charset="0"/>
              </a:rPr>
              <a:t>ublic </a:t>
            </a:r>
            <a:r>
              <a:rPr lang="en-GB" sz="1600" b="1" dirty="0">
                <a:solidFill>
                  <a:schemeClr val="tx1"/>
                </a:solidFill>
                <a:latin typeface="Aptos" panose="020B0004020202020204" pitchFamily="34" charset="0"/>
              </a:rPr>
              <a:t>D</a:t>
            </a:r>
            <a:r>
              <a:rPr lang="en-GB" sz="1600" b="1" u="none" strike="noStrike" dirty="0">
                <a:solidFill>
                  <a:schemeClr val="tx1"/>
                </a:solidFill>
                <a:effectLst/>
                <a:latin typeface="Aptos" panose="020B0004020202020204" pitchFamily="34" charset="0"/>
              </a:rPr>
              <a:t>ebt-to-GDP </a:t>
            </a:r>
            <a:r>
              <a:rPr lang="en-GB" sz="1600" b="1" dirty="0">
                <a:solidFill>
                  <a:schemeClr val="tx1"/>
                </a:solidFill>
                <a:latin typeface="Aptos" panose="020B0004020202020204" pitchFamily="34" charset="0"/>
              </a:rPr>
              <a:t>R</a:t>
            </a:r>
            <a:r>
              <a:rPr lang="en-GB" sz="1600" b="1" u="none" strike="noStrike" dirty="0">
                <a:solidFill>
                  <a:schemeClr val="tx1"/>
                </a:solidFill>
                <a:effectLst/>
                <a:latin typeface="Aptos" panose="020B0004020202020204" pitchFamily="34" charset="0"/>
              </a:rPr>
              <a:t>atio (bottom)</a:t>
            </a:r>
            <a:endParaRPr lang="en-US" sz="1600" b="1" dirty="0">
              <a:solidFill>
                <a:schemeClr val="tx1"/>
              </a:solidFill>
              <a:latin typeface="Aptos" panose="020B0004020202020204" pitchFamily="34" charset="0"/>
            </a:endParaRPr>
          </a:p>
        </p:txBody>
      </p:sp>
      <p:sp>
        <p:nvSpPr>
          <p:cNvPr id="8" name="TextBox 7">
            <a:extLst>
              <a:ext uri="{FF2B5EF4-FFF2-40B4-BE49-F238E27FC236}">
                <a16:creationId xmlns:a16="http://schemas.microsoft.com/office/drawing/2014/main" id="{B07B9BD9-FEF6-71F2-2EB6-E82967A6E432}"/>
              </a:ext>
            </a:extLst>
          </p:cNvPr>
          <p:cNvSpPr txBox="1"/>
          <p:nvPr/>
        </p:nvSpPr>
        <p:spPr>
          <a:xfrm>
            <a:off x="-1962229" y="6497174"/>
            <a:ext cx="6018301" cy="276999"/>
          </a:xfrm>
          <a:prstGeom prst="rect">
            <a:avLst/>
          </a:prstGeom>
          <a:noFill/>
        </p:spPr>
        <p:txBody>
          <a:bodyPr wrap="square">
            <a:spAutoFit/>
          </a:bodyPr>
          <a:lstStyle/>
          <a:p>
            <a:pPr algn="ctr"/>
            <a:r>
              <a:rPr lang="en-GB" sz="1200" b="0" i="0" dirty="0">
                <a:solidFill>
                  <a:srgbClr val="222222"/>
                </a:solidFill>
                <a:effectLst/>
                <a:latin typeface="+mn-lt"/>
              </a:rPr>
              <a:t>From: Jackson (2024).</a:t>
            </a:r>
            <a:endParaRPr lang="en-GB" sz="1200" dirty="0">
              <a:latin typeface="+mn-lt"/>
            </a:endParaRPr>
          </a:p>
        </p:txBody>
      </p:sp>
      <p:sp>
        <p:nvSpPr>
          <p:cNvPr id="9" name="TextBox 8">
            <a:extLst>
              <a:ext uri="{FF2B5EF4-FFF2-40B4-BE49-F238E27FC236}">
                <a16:creationId xmlns:a16="http://schemas.microsoft.com/office/drawing/2014/main" id="{F2921D81-A945-702E-B4CD-1674CE276827}"/>
              </a:ext>
            </a:extLst>
          </p:cNvPr>
          <p:cNvSpPr txBox="1"/>
          <p:nvPr/>
        </p:nvSpPr>
        <p:spPr>
          <a:xfrm>
            <a:off x="6146896" y="6497174"/>
            <a:ext cx="5815099" cy="276999"/>
          </a:xfrm>
          <a:prstGeom prst="rect">
            <a:avLst/>
          </a:prstGeom>
          <a:noFill/>
        </p:spPr>
        <p:txBody>
          <a:bodyPr wrap="square">
            <a:spAutoFit/>
          </a:bodyPr>
          <a:lstStyle/>
          <a:p>
            <a:pPr algn="ctr"/>
            <a:r>
              <a:rPr lang="en-GB" sz="1200" b="0" i="0" dirty="0">
                <a:solidFill>
                  <a:srgbClr val="222222"/>
                </a:solidFill>
                <a:effectLst/>
                <a:latin typeface="+mn-lt"/>
              </a:rPr>
              <a:t>Source: </a:t>
            </a:r>
            <a:r>
              <a:rPr lang="en-GB" sz="1200" b="0" i="0" dirty="0">
                <a:solidFill>
                  <a:srgbClr val="222222"/>
                </a:solidFill>
                <a:effectLst/>
                <a:latin typeface="+mn-lt"/>
                <a:hlinkClick r:id="rId3"/>
              </a:rPr>
              <a:t>UK OBR</a:t>
            </a:r>
            <a:r>
              <a:rPr lang="en-GB" sz="1200" b="0" i="0" dirty="0">
                <a:solidFill>
                  <a:srgbClr val="222222"/>
                </a:solidFill>
                <a:effectLst/>
                <a:latin typeface="+mn-lt"/>
              </a:rPr>
              <a:t> (2021)</a:t>
            </a:r>
            <a:endParaRPr lang="en-GB" sz="1200" dirty="0">
              <a:latin typeface="+mn-lt"/>
            </a:endParaRPr>
          </a:p>
        </p:txBody>
      </p:sp>
      <p:pic>
        <p:nvPicPr>
          <p:cNvPr id="4098" name="Picture 2">
            <a:extLst>
              <a:ext uri="{FF2B5EF4-FFF2-40B4-BE49-F238E27FC236}">
                <a16:creationId xmlns:a16="http://schemas.microsoft.com/office/drawing/2014/main" id="{3B25BAF5-2C7A-0BD3-0B62-3115ECC6C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8421" y="1102681"/>
            <a:ext cx="5198293" cy="27277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32979063-3CA3-4550-9497-C580A6A827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871" y="2650575"/>
            <a:ext cx="5968129" cy="317911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768C41C-9F8D-50E3-969D-79B600E216F6}"/>
              </a:ext>
            </a:extLst>
          </p:cNvPr>
          <p:cNvSpPr txBox="1"/>
          <p:nvPr/>
        </p:nvSpPr>
        <p:spPr>
          <a:xfrm>
            <a:off x="241509" y="2065800"/>
            <a:ext cx="5740852" cy="584775"/>
          </a:xfrm>
          <a:prstGeom prst="rect">
            <a:avLst/>
          </a:prstGeom>
          <a:noFill/>
        </p:spPr>
        <p:txBody>
          <a:bodyPr wrap="square">
            <a:spAutoFit/>
          </a:bodyPr>
          <a:lstStyle/>
          <a:p>
            <a:pPr algn="ctr"/>
            <a:r>
              <a:rPr lang="en-GB" sz="1600" b="1" u="none" strike="noStrike" dirty="0">
                <a:solidFill>
                  <a:schemeClr val="tx1"/>
                </a:solidFill>
                <a:effectLst/>
                <a:latin typeface="Aptos" panose="020B0004020202020204" pitchFamily="34" charset="0"/>
              </a:rPr>
              <a:t>Contributions to Public </a:t>
            </a:r>
            <a:r>
              <a:rPr lang="en-GB" sz="1600" b="1" dirty="0">
                <a:solidFill>
                  <a:schemeClr val="tx1"/>
                </a:solidFill>
                <a:latin typeface="Aptos" panose="020B0004020202020204" pitchFamily="34" charset="0"/>
              </a:rPr>
              <a:t>S</a:t>
            </a:r>
            <a:r>
              <a:rPr lang="en-GB" sz="1600" b="1" u="none" strike="noStrike" dirty="0">
                <a:solidFill>
                  <a:schemeClr val="tx1"/>
                </a:solidFill>
                <a:effectLst/>
                <a:latin typeface="Aptos" panose="020B0004020202020204" pitchFamily="34" charset="0"/>
              </a:rPr>
              <a:t>ector </a:t>
            </a:r>
            <a:r>
              <a:rPr lang="en-GB" sz="1600" b="1" dirty="0">
                <a:solidFill>
                  <a:schemeClr val="tx1"/>
                </a:solidFill>
                <a:latin typeface="Aptos" panose="020B0004020202020204" pitchFamily="34" charset="0"/>
              </a:rPr>
              <a:t>D</a:t>
            </a:r>
            <a:r>
              <a:rPr lang="en-GB" sz="1600" b="1" u="none" strike="noStrike" dirty="0">
                <a:solidFill>
                  <a:schemeClr val="tx1"/>
                </a:solidFill>
                <a:effectLst/>
                <a:latin typeface="Aptos" panose="020B0004020202020204" pitchFamily="34" charset="0"/>
              </a:rPr>
              <a:t>ebt </a:t>
            </a:r>
            <a:r>
              <a:rPr lang="en-GB" sz="1600" b="1" dirty="0">
                <a:solidFill>
                  <a:schemeClr val="tx1"/>
                </a:solidFill>
                <a:latin typeface="Aptos" panose="020B0004020202020204" pitchFamily="34" charset="0"/>
              </a:rPr>
              <a:t>S</a:t>
            </a:r>
            <a:r>
              <a:rPr lang="en-GB" sz="1600" b="1" u="none" strike="noStrike" dirty="0">
                <a:solidFill>
                  <a:schemeClr val="tx1"/>
                </a:solidFill>
                <a:effectLst/>
                <a:latin typeface="Aptos" panose="020B0004020202020204" pitchFamily="34" charset="0"/>
              </a:rPr>
              <a:t>cenario Differences </a:t>
            </a:r>
            <a:r>
              <a:rPr lang="en-GB" sz="1600" b="1" dirty="0">
                <a:solidFill>
                  <a:schemeClr val="tx1"/>
                </a:solidFill>
                <a:latin typeface="Aptos" panose="020B0004020202020204" pitchFamily="34" charset="0"/>
              </a:rPr>
              <a:t>F</a:t>
            </a:r>
            <a:r>
              <a:rPr lang="en-GB" sz="1600" b="1" u="none" strike="noStrike" dirty="0">
                <a:solidFill>
                  <a:schemeClr val="tx1"/>
                </a:solidFill>
                <a:effectLst/>
                <a:latin typeface="Aptos" panose="020B0004020202020204" pitchFamily="34" charset="0"/>
              </a:rPr>
              <a:t>rom </a:t>
            </a:r>
            <a:r>
              <a:rPr lang="en-GB" sz="1600" b="1" dirty="0">
                <a:solidFill>
                  <a:schemeClr val="tx1"/>
                </a:solidFill>
                <a:latin typeface="Aptos" panose="020B0004020202020204" pitchFamily="34" charset="0"/>
              </a:rPr>
              <a:t>B</a:t>
            </a:r>
            <a:r>
              <a:rPr lang="en-GB" sz="1600" b="1" u="none" strike="noStrike" dirty="0">
                <a:solidFill>
                  <a:schemeClr val="tx1"/>
                </a:solidFill>
                <a:effectLst/>
                <a:latin typeface="Aptos" panose="020B0004020202020204" pitchFamily="34" charset="0"/>
              </a:rPr>
              <a:t>aseline</a:t>
            </a:r>
            <a:endParaRPr lang="en-US" sz="1600" b="1" dirty="0">
              <a:solidFill>
                <a:schemeClr val="tx1"/>
              </a:solidFill>
              <a:latin typeface="Aptos" panose="020B0004020202020204" pitchFamily="34" charset="0"/>
            </a:endParaRPr>
          </a:p>
        </p:txBody>
      </p:sp>
    </p:spTree>
    <p:extLst>
      <p:ext uri="{BB962C8B-B14F-4D97-AF65-F5344CB8AC3E}">
        <p14:creationId xmlns:p14="http://schemas.microsoft.com/office/powerpoint/2010/main" val="2633862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8A06-38DE-1651-B7A9-8DAA15722CC9}"/>
              </a:ext>
            </a:extLst>
          </p:cNvPr>
          <p:cNvSpPr>
            <a:spLocks noGrp="1"/>
          </p:cNvSpPr>
          <p:nvPr>
            <p:ph type="ctrTitle"/>
          </p:nvPr>
        </p:nvSpPr>
        <p:spPr/>
        <p:txBody>
          <a:bodyPr/>
          <a:lstStyle/>
          <a:p>
            <a:r>
              <a:rPr lang="en-AU" dirty="0"/>
              <a:t>Assessing Risk</a:t>
            </a:r>
          </a:p>
        </p:txBody>
      </p:sp>
    </p:spTree>
    <p:extLst>
      <p:ext uri="{BB962C8B-B14F-4D97-AF65-F5344CB8AC3E}">
        <p14:creationId xmlns:p14="http://schemas.microsoft.com/office/powerpoint/2010/main" val="3346236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BDBCF-9247-42B5-1C67-DE79BC081731}"/>
              </a:ext>
            </a:extLst>
          </p:cNvPr>
          <p:cNvSpPr>
            <a:spLocks noGrp="1"/>
          </p:cNvSpPr>
          <p:nvPr>
            <p:ph type="title"/>
          </p:nvPr>
        </p:nvSpPr>
        <p:spPr/>
        <p:txBody>
          <a:bodyPr>
            <a:normAutofit/>
          </a:bodyPr>
          <a:lstStyle/>
          <a:p>
            <a:r>
              <a:rPr lang="en-US" dirty="0"/>
              <a:t>Risks to MoF Assessment</a:t>
            </a:r>
          </a:p>
        </p:txBody>
      </p:sp>
      <p:pic>
        <p:nvPicPr>
          <p:cNvPr id="4" name="Picture 3">
            <a:extLst>
              <a:ext uri="{FF2B5EF4-FFF2-40B4-BE49-F238E27FC236}">
                <a16:creationId xmlns:a16="http://schemas.microsoft.com/office/drawing/2014/main" id="{7285886A-DCDF-A4B9-0709-7E5087E3CF0F}"/>
              </a:ext>
            </a:extLst>
          </p:cNvPr>
          <p:cNvPicPr>
            <a:picLocks noChangeAspect="1"/>
          </p:cNvPicPr>
          <p:nvPr/>
        </p:nvPicPr>
        <p:blipFill rotWithShape="1">
          <a:blip r:embed="rId2"/>
          <a:srcRect l="19307" t="25892" r="18924" b="6590"/>
          <a:stretch/>
        </p:blipFill>
        <p:spPr>
          <a:xfrm>
            <a:off x="2178279" y="1759593"/>
            <a:ext cx="7835441" cy="4817669"/>
          </a:xfrm>
          <a:prstGeom prst="rect">
            <a:avLst/>
          </a:prstGeom>
        </p:spPr>
      </p:pic>
    </p:spTree>
    <p:extLst>
      <p:ext uri="{BB962C8B-B14F-4D97-AF65-F5344CB8AC3E}">
        <p14:creationId xmlns:p14="http://schemas.microsoft.com/office/powerpoint/2010/main" val="3813236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g1f7fa948e71_0_154"/>
          <p:cNvSpPr txBox="1">
            <a:spLocks noGrp="1"/>
          </p:cNvSpPr>
          <p:nvPr>
            <p:ph type="title"/>
          </p:nvPr>
        </p:nvSpPr>
        <p:spPr>
          <a:xfrm>
            <a:off x="376990" y="641286"/>
            <a:ext cx="3850105" cy="2787714"/>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sz="4000" b="1" dirty="0">
                <a:solidFill>
                  <a:srgbClr val="4F9AC2"/>
                </a:solidFill>
                <a:latin typeface="Arial"/>
                <a:ea typeface="Arial"/>
                <a:cs typeface="Arial"/>
                <a:sym typeface="Arial"/>
              </a:rPr>
              <a:t>Approach to Assessing Total Climate Risk</a:t>
            </a:r>
            <a:endParaRPr sz="4000" b="1" dirty="0">
              <a:solidFill>
                <a:srgbClr val="4F9AC2"/>
              </a:solidFill>
              <a:latin typeface="Arial"/>
              <a:ea typeface="Arial"/>
              <a:cs typeface="Arial"/>
              <a:sym typeface="Arial"/>
            </a:endParaRPr>
          </a:p>
        </p:txBody>
      </p:sp>
      <p:pic>
        <p:nvPicPr>
          <p:cNvPr id="522" name="Google Shape;522;g1f7fa948e71_0_154"/>
          <p:cNvPicPr preferRelativeResize="0"/>
          <p:nvPr/>
        </p:nvPicPr>
        <p:blipFill>
          <a:blip r:embed="rId3">
            <a:alphaModFix/>
          </a:blip>
          <a:stretch>
            <a:fillRect/>
          </a:stretch>
        </p:blipFill>
        <p:spPr>
          <a:xfrm>
            <a:off x="4580021" y="880111"/>
            <a:ext cx="7234989" cy="557101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pic>
        <p:nvPicPr>
          <p:cNvPr id="527" name="Google Shape;527;g1f7fa948e71_0_229"/>
          <p:cNvPicPr preferRelativeResize="0"/>
          <p:nvPr/>
        </p:nvPicPr>
        <p:blipFill>
          <a:blip r:embed="rId3">
            <a:alphaModFix/>
          </a:blip>
          <a:stretch>
            <a:fillRect/>
          </a:stretch>
        </p:blipFill>
        <p:spPr>
          <a:xfrm>
            <a:off x="237350" y="2048688"/>
            <a:ext cx="6114701" cy="4534500"/>
          </a:xfrm>
          <a:prstGeom prst="rect">
            <a:avLst/>
          </a:prstGeom>
          <a:noFill/>
          <a:ln>
            <a:noFill/>
          </a:ln>
        </p:spPr>
      </p:pic>
      <p:sp>
        <p:nvSpPr>
          <p:cNvPr id="528" name="Google Shape;528;g1f7fa948e71_0_229"/>
          <p:cNvSpPr txBox="1">
            <a:spLocks noGrp="1"/>
          </p:cNvSpPr>
          <p:nvPr>
            <p:ph type="title" idx="4294967295"/>
          </p:nvPr>
        </p:nvSpPr>
        <p:spPr>
          <a:xfrm>
            <a:off x="237350" y="565342"/>
            <a:ext cx="5624700" cy="8382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sz="4800" b="1" dirty="0">
                <a:solidFill>
                  <a:srgbClr val="4F9AC2"/>
                </a:solidFill>
                <a:latin typeface="Arial"/>
                <a:ea typeface="Arial"/>
                <a:cs typeface="Arial"/>
                <a:sym typeface="Arial"/>
              </a:rPr>
              <a:t>Methodology</a:t>
            </a:r>
            <a:endParaRPr sz="4800" b="1" dirty="0">
              <a:solidFill>
                <a:srgbClr val="4F9AC2"/>
              </a:solidFill>
              <a:latin typeface="Arial"/>
              <a:ea typeface="Arial"/>
              <a:cs typeface="Arial"/>
              <a:sym typeface="Arial"/>
            </a:endParaRPr>
          </a:p>
        </p:txBody>
      </p:sp>
      <p:pic>
        <p:nvPicPr>
          <p:cNvPr id="529" name="Google Shape;529;g1f7fa948e71_0_229"/>
          <p:cNvPicPr preferRelativeResize="0"/>
          <p:nvPr/>
        </p:nvPicPr>
        <p:blipFill>
          <a:blip r:embed="rId4">
            <a:alphaModFix/>
          </a:blip>
          <a:stretch>
            <a:fillRect/>
          </a:stretch>
        </p:blipFill>
        <p:spPr>
          <a:xfrm>
            <a:off x="5862050" y="172675"/>
            <a:ext cx="6259551" cy="4625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g2cfb641d87b_0_158"/>
          <p:cNvSpPr txBox="1">
            <a:spLocks noGrp="1"/>
          </p:cNvSpPr>
          <p:nvPr>
            <p:ph type="ctrTitle"/>
          </p:nvPr>
        </p:nvSpPr>
        <p:spPr>
          <a:noFill/>
          <a:ln>
            <a:noFill/>
          </a:ln>
        </p:spPr>
        <p:txBody>
          <a:bodyPr spcFirstLastPara="1" wrap="square" lIns="0" tIns="0" rIns="0" bIns="0" anchor="b" anchorCtr="0">
            <a:normAutofit fontScale="90000"/>
          </a:bodyPr>
          <a:lstStyle/>
          <a:p>
            <a:r>
              <a:rPr lang="en-US" dirty="0"/>
              <a:t>Fiscal Institutions: Managing Risks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3A8D9-B625-89AF-D11F-6DCBD5308FF0}"/>
              </a:ext>
            </a:extLst>
          </p:cNvPr>
          <p:cNvSpPr>
            <a:spLocks noGrp="1"/>
          </p:cNvSpPr>
          <p:nvPr>
            <p:ph type="title"/>
          </p:nvPr>
        </p:nvSpPr>
        <p:spPr/>
        <p:txBody>
          <a:bodyPr>
            <a:normAutofit/>
          </a:bodyPr>
          <a:lstStyle/>
          <a:p>
            <a:r>
              <a:rPr lang="en-GB" b="1" dirty="0"/>
              <a:t>Key Roles</a:t>
            </a:r>
            <a:endParaRPr lang="en-US" dirty="0"/>
          </a:p>
        </p:txBody>
      </p:sp>
      <p:sp>
        <p:nvSpPr>
          <p:cNvPr id="6" name="Text Placeholder 5">
            <a:extLst>
              <a:ext uri="{FF2B5EF4-FFF2-40B4-BE49-F238E27FC236}">
                <a16:creationId xmlns:a16="http://schemas.microsoft.com/office/drawing/2014/main" id="{465CFF8D-C2A3-E976-02A2-2F9D168AC6D1}"/>
              </a:ext>
            </a:extLst>
          </p:cNvPr>
          <p:cNvSpPr>
            <a:spLocks noGrp="1"/>
          </p:cNvSpPr>
          <p:nvPr>
            <p:ph type="body" idx="1"/>
          </p:nvPr>
        </p:nvSpPr>
        <p:spPr>
          <a:xfrm>
            <a:off x="3604260" y="2028118"/>
            <a:ext cx="6256020" cy="1004641"/>
          </a:xfrm>
        </p:spPr>
        <p:txBody>
          <a:bodyPr>
            <a:normAutofit fontScale="77500" lnSpcReduction="20000"/>
          </a:bodyPr>
          <a:lstStyle/>
          <a:p>
            <a:r>
              <a:rPr lang="en-US" dirty="0"/>
              <a:t>Revenue Mobilization: Generate funds for, and channel revenues to, climate mitigation and adaptation. E.g., World Bank Sustainable Development Bonds.</a:t>
            </a:r>
          </a:p>
        </p:txBody>
      </p:sp>
      <p:sp>
        <p:nvSpPr>
          <p:cNvPr id="7" name="Text Placeholder 6">
            <a:extLst>
              <a:ext uri="{FF2B5EF4-FFF2-40B4-BE49-F238E27FC236}">
                <a16:creationId xmlns:a16="http://schemas.microsoft.com/office/drawing/2014/main" id="{16489659-97D7-39E2-91E6-CA8F8D33507E}"/>
              </a:ext>
            </a:extLst>
          </p:cNvPr>
          <p:cNvSpPr>
            <a:spLocks noGrp="1"/>
          </p:cNvSpPr>
          <p:nvPr>
            <p:ph type="body" idx="2"/>
          </p:nvPr>
        </p:nvSpPr>
        <p:spPr/>
        <p:txBody>
          <a:bodyPr>
            <a:normAutofit fontScale="77500" lnSpcReduction="20000"/>
          </a:bodyPr>
          <a:lstStyle/>
          <a:p>
            <a:r>
              <a:rPr lang="en-US" dirty="0"/>
              <a:t>Monitoring and Reporting: Track climate-related public spending and assess its effectiveness. E.g., IMF Climate Change Indicators Dashboard.</a:t>
            </a:r>
          </a:p>
        </p:txBody>
      </p:sp>
      <p:sp>
        <p:nvSpPr>
          <p:cNvPr id="8" name="Text Placeholder 7">
            <a:extLst>
              <a:ext uri="{FF2B5EF4-FFF2-40B4-BE49-F238E27FC236}">
                <a16:creationId xmlns:a16="http://schemas.microsoft.com/office/drawing/2014/main" id="{B5B20CE7-0652-214F-4203-2ADCE24D429A}"/>
              </a:ext>
            </a:extLst>
          </p:cNvPr>
          <p:cNvSpPr>
            <a:spLocks noGrp="1"/>
          </p:cNvSpPr>
          <p:nvPr>
            <p:ph type="body" idx="3"/>
          </p:nvPr>
        </p:nvSpPr>
        <p:spPr/>
        <p:txBody>
          <a:bodyPr>
            <a:normAutofit fontScale="77500" lnSpcReduction="20000"/>
          </a:bodyPr>
          <a:lstStyle/>
          <a:p>
            <a:r>
              <a:rPr lang="en-US" dirty="0"/>
              <a:t>Coordination and Integration: Align fiscal policies with international climate commitments and coordinate between national and subnational governments. E.g., UNFCCC.</a:t>
            </a:r>
          </a:p>
        </p:txBody>
      </p:sp>
    </p:spTree>
    <p:extLst>
      <p:ext uri="{BB962C8B-B14F-4D97-AF65-F5344CB8AC3E}">
        <p14:creationId xmlns:p14="http://schemas.microsoft.com/office/powerpoint/2010/main" val="22695468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3A8D9-B625-89AF-D11F-6DCBD5308FF0}"/>
              </a:ext>
            </a:extLst>
          </p:cNvPr>
          <p:cNvSpPr>
            <a:spLocks noGrp="1"/>
          </p:cNvSpPr>
          <p:nvPr>
            <p:ph type="title"/>
          </p:nvPr>
        </p:nvSpPr>
        <p:spPr/>
        <p:txBody>
          <a:bodyPr>
            <a:normAutofit fontScale="90000"/>
          </a:bodyPr>
          <a:lstStyle/>
          <a:p>
            <a:r>
              <a:rPr lang="en-GB" b="1" dirty="0"/>
              <a:t>Challenges and Opportunities</a:t>
            </a:r>
            <a:endParaRPr lang="en-US" dirty="0"/>
          </a:p>
        </p:txBody>
      </p:sp>
      <p:sp>
        <p:nvSpPr>
          <p:cNvPr id="3" name="Content Placeholder 2">
            <a:extLst>
              <a:ext uri="{FF2B5EF4-FFF2-40B4-BE49-F238E27FC236}">
                <a16:creationId xmlns:a16="http://schemas.microsoft.com/office/drawing/2014/main" id="{E4CAB97C-9C5D-BCB6-46EC-5375E6DDE6D7}"/>
              </a:ext>
            </a:extLst>
          </p:cNvPr>
          <p:cNvSpPr>
            <a:spLocks noGrp="1"/>
          </p:cNvSpPr>
          <p:nvPr>
            <p:ph sz="half" idx="2"/>
          </p:nvPr>
        </p:nvSpPr>
        <p:spPr/>
        <p:txBody>
          <a:bodyPr>
            <a:normAutofit fontScale="70000" lnSpcReduction="20000"/>
          </a:bodyPr>
          <a:lstStyle/>
          <a:p>
            <a:pPr>
              <a:buFont typeface="Arial" panose="020B0604020202020204" pitchFamily="34" charset="0"/>
              <a:buChar char="•"/>
            </a:pPr>
            <a:r>
              <a:rPr lang="en-GB" b="1" dirty="0"/>
              <a:t>Ensuring Equity:</a:t>
            </a:r>
            <a:endParaRPr lang="en-GB" dirty="0"/>
          </a:p>
          <a:p>
            <a:pPr marL="742950" lvl="1" indent="-285750">
              <a:buFont typeface="Arial" panose="020B0604020202020204" pitchFamily="34" charset="0"/>
              <a:buChar char="•"/>
            </a:pPr>
            <a:r>
              <a:rPr lang="en-GB" dirty="0"/>
              <a:t>Addressing the social and economic impacts of climate policies, particularly on vulnerable populations.</a:t>
            </a:r>
          </a:p>
          <a:p>
            <a:pPr marL="742950" lvl="1" indent="-285750">
              <a:buFont typeface="Arial" panose="020B0604020202020204" pitchFamily="34" charset="0"/>
              <a:buChar char="•"/>
            </a:pPr>
            <a:r>
              <a:rPr lang="en-GB" dirty="0"/>
              <a:t>Designing fiscal policies that are both environmentally effective and socially equitable.</a:t>
            </a:r>
          </a:p>
          <a:p>
            <a:pPr>
              <a:buFont typeface="Arial" panose="020B0604020202020204" pitchFamily="34" charset="0"/>
              <a:buChar char="•"/>
            </a:pPr>
            <a:r>
              <a:rPr lang="en-GB" b="1" dirty="0"/>
              <a:t>Innovation in Financing:</a:t>
            </a:r>
            <a:endParaRPr lang="en-GB" dirty="0"/>
          </a:p>
          <a:p>
            <a:pPr marL="742950" lvl="1" indent="-285750">
              <a:buFont typeface="Arial" panose="020B0604020202020204" pitchFamily="34" charset="0"/>
              <a:buChar char="•"/>
            </a:pPr>
            <a:r>
              <a:rPr lang="en-GB" dirty="0"/>
              <a:t>Exploring new financial instruments (e.g.,  KPI bonds, climate funds) to attract private sector investment.</a:t>
            </a:r>
          </a:p>
          <a:p>
            <a:pPr marL="742950" lvl="1" indent="-285750">
              <a:buFont typeface="Arial" panose="020B0604020202020204" pitchFamily="34" charset="0"/>
              <a:buChar char="•"/>
            </a:pPr>
            <a:r>
              <a:rPr lang="en-GB" dirty="0"/>
              <a:t>Promoting public-private partnerships for large-scale climate projects.</a:t>
            </a:r>
          </a:p>
          <a:p>
            <a:endParaRPr lang="en-US" dirty="0"/>
          </a:p>
        </p:txBody>
      </p:sp>
    </p:spTree>
    <p:extLst>
      <p:ext uri="{BB962C8B-B14F-4D97-AF65-F5344CB8AC3E}">
        <p14:creationId xmlns:p14="http://schemas.microsoft.com/office/powerpoint/2010/main" val="2531193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CC2CA-3D14-3EA8-BC7B-255C7AB80C76}"/>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10E32A86-886E-D809-6A8B-011F5B4CDCF2}"/>
              </a:ext>
            </a:extLst>
          </p:cNvPr>
          <p:cNvSpPr>
            <a:spLocks noGrp="1"/>
          </p:cNvSpPr>
          <p:nvPr>
            <p:ph type="subTitle" idx="1"/>
          </p:nvPr>
        </p:nvSpPr>
        <p:spPr/>
        <p:txBody>
          <a:bodyPr/>
          <a:lstStyle/>
          <a:p>
            <a:r>
              <a:rPr lang="en-US" dirty="0"/>
              <a:t>End of Module D</a:t>
            </a:r>
          </a:p>
        </p:txBody>
      </p:sp>
      <p:sp>
        <p:nvSpPr>
          <p:cNvPr id="4" name="Text Placeholder 3">
            <a:extLst>
              <a:ext uri="{FF2B5EF4-FFF2-40B4-BE49-F238E27FC236}">
                <a16:creationId xmlns:a16="http://schemas.microsoft.com/office/drawing/2014/main" id="{F802C345-6B21-BB90-1CC3-06B6D2B6727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13976282"/>
      </p:ext>
    </p:extLst>
  </p:cSld>
  <p:clrMapOvr>
    <a:masterClrMapping/>
  </p:clrMapOvr>
</p:sld>
</file>

<file path=ppt/theme/theme1.xml><?xml version="1.0" encoding="utf-8"?>
<a:theme xmlns:a="http://schemas.openxmlformats.org/drawingml/2006/main" name="Theme1">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D0AC83C3-44F1-354B-A406-D13BE5088D18}" vid="{0CBD1C04-D24F-2B40-A831-D8EA9EDDF6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23803</TotalTime>
  <Words>2157</Words>
  <Application>Microsoft Office PowerPoint</Application>
  <PresentationFormat>Widescreen</PresentationFormat>
  <Paragraphs>173</Paragraphs>
  <Slides>37</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Andes ExtraLight</vt:lpstr>
      <vt:lpstr>Aptos</vt:lpstr>
      <vt:lpstr>Aptos Display</vt:lpstr>
      <vt:lpstr>Aptos ExtraBold</vt:lpstr>
      <vt:lpstr>Aptos Light</vt:lpstr>
      <vt:lpstr>Arial</vt:lpstr>
      <vt:lpstr>Play</vt:lpstr>
      <vt:lpstr>Trebuchet MS</vt:lpstr>
      <vt:lpstr>Wingdings</vt:lpstr>
      <vt:lpstr>Theme1</vt:lpstr>
      <vt:lpstr>A Short Course on Macro-Fiscal Climate Economics</vt:lpstr>
      <vt:lpstr>Table of Contents</vt:lpstr>
      <vt:lpstr>Three Key Outcomes</vt:lpstr>
      <vt:lpstr>PowerPoint Presentation</vt:lpstr>
      <vt:lpstr>PowerPoint Presentation</vt:lpstr>
      <vt:lpstr>Climate (Physical) Risks</vt:lpstr>
      <vt:lpstr>Physical Risk</vt:lpstr>
      <vt:lpstr>IPCC AR6 Risks</vt:lpstr>
      <vt:lpstr>Examples of Physical Risks: Living and Working </vt:lpstr>
      <vt:lpstr>Examples of Physical Risks: Infrastructure and Natural Capital</vt:lpstr>
      <vt:lpstr>Physical Risks: Weather-Related Losses Worldwide (1980-2018)</vt:lpstr>
      <vt:lpstr>Summary of the Major Systemic Risk Dynamics </vt:lpstr>
      <vt:lpstr>PowerPoint Presentation</vt:lpstr>
      <vt:lpstr>GDP Risks</vt:lpstr>
      <vt:lpstr>Short-Term GDP Risk</vt:lpstr>
      <vt:lpstr>Long-Term GDP Impacts</vt:lpstr>
      <vt:lpstr>GDP Risk Uncertainty</vt:lpstr>
      <vt:lpstr>Transition Risks</vt:lpstr>
      <vt:lpstr>Transition Risk</vt:lpstr>
      <vt:lpstr>Stranded Assets &amp; Financial Transition Risk</vt:lpstr>
      <vt:lpstr>Potential Economic Impacts of Stranded Assets and Financial Transition Risks</vt:lpstr>
      <vt:lpstr>Key Technology Concentration</vt:lpstr>
      <vt:lpstr>Critical Mineral Shortage and Supply Chain Concentration</vt:lpstr>
      <vt:lpstr>Energy Risks</vt:lpstr>
      <vt:lpstr>Energy Risks</vt:lpstr>
      <vt:lpstr>Increasing Energy Prices</vt:lpstr>
      <vt:lpstr>Case Study: UK Energy Transition </vt:lpstr>
      <vt:lpstr>Case Study: UK Energy Transition </vt:lpstr>
      <vt:lpstr>Case Study: UK Energy Transition </vt:lpstr>
      <vt:lpstr>Assessing Risk</vt:lpstr>
      <vt:lpstr>Risks to MoF Assessment</vt:lpstr>
      <vt:lpstr>Approach to Assessing Total Climate Risk</vt:lpstr>
      <vt:lpstr>Methodology</vt:lpstr>
      <vt:lpstr>Fiscal Institutions: Managing Risks </vt:lpstr>
      <vt:lpstr>Key Roles</vt:lpstr>
      <vt:lpstr>Challenges and Opportunities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Short Course on Macro-Fiscal Climate Economics</dc:title>
  <dc:creator>Evie Davey</dc:creator>
  <cp:lastModifiedBy>Stephen Stretton</cp:lastModifiedBy>
  <cp:revision>225</cp:revision>
  <dcterms:created xsi:type="dcterms:W3CDTF">2024-01-31T10:57:03Z</dcterms:created>
  <dcterms:modified xsi:type="dcterms:W3CDTF">2024-09-27T10:49:23Z</dcterms:modified>
</cp:coreProperties>
</file>