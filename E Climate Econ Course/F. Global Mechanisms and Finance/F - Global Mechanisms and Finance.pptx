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3" r:id="rId1"/>
  </p:sldMasterIdLst>
  <p:notesMasterIdLst>
    <p:notesMasterId r:id="rId24"/>
  </p:notesMasterIdLst>
  <p:sldIdLst>
    <p:sldId id="256" r:id="rId2"/>
    <p:sldId id="291" r:id="rId3"/>
    <p:sldId id="294" r:id="rId4"/>
    <p:sldId id="350" r:id="rId5"/>
    <p:sldId id="357" r:id="rId6"/>
    <p:sldId id="260" r:id="rId7"/>
    <p:sldId id="352" r:id="rId8"/>
    <p:sldId id="353" r:id="rId9"/>
    <p:sldId id="341" r:id="rId10"/>
    <p:sldId id="351" r:id="rId11"/>
    <p:sldId id="347" r:id="rId12"/>
    <p:sldId id="354" r:id="rId13"/>
    <p:sldId id="2141411884" r:id="rId14"/>
    <p:sldId id="2141411885" r:id="rId15"/>
    <p:sldId id="355" r:id="rId16"/>
    <p:sldId id="356" r:id="rId17"/>
    <p:sldId id="2141411886" r:id="rId18"/>
    <p:sldId id="2141411887" r:id="rId19"/>
    <p:sldId id="2141411888" r:id="rId20"/>
    <p:sldId id="2141411889" r:id="rId21"/>
    <p:sldId id="329" r:id="rId22"/>
    <p:sldId id="33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5" roundtripDataSignature="AMtx7mgIoWk2XI8o1qaLFxKVZsFfmpna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8E4C"/>
    <a:srgbClr val="012903"/>
    <a:srgbClr val="FFFFFF"/>
    <a:srgbClr val="B2DCEA"/>
    <a:srgbClr val="ECF4D6"/>
    <a:srgbClr val="E7C8AD"/>
    <a:srgbClr val="AABAB8"/>
    <a:srgbClr val="2F7CA7"/>
    <a:srgbClr val="025353"/>
    <a:srgbClr val="004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6A5BE-E365-42C9-AFC6-E9A237685CF6}" v="1" dt="2024-09-13T19:07:39.504"/>
    <p1510:client id="{19E98F6B-FEDC-2F0B-CA4E-F68F597001BA}" v="208" dt="2024-09-13T00:36:05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4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e Lauren Davey" userId="S::eviedavey6_outlook.com#ext#@worldbankgroup.onmicrosoft.com::ae14ba05-11d6-4041-82d8-f2ed7e05eba3" providerId="AD" clId="Web-{19E98F6B-FEDC-2F0B-CA4E-F68F597001BA}"/>
    <pc:docChg chg="modSld">
      <pc:chgData name="Eve Lauren Davey" userId="S::eviedavey6_outlook.com#ext#@worldbankgroup.onmicrosoft.com::ae14ba05-11d6-4041-82d8-f2ed7e05eba3" providerId="AD" clId="Web-{19E98F6B-FEDC-2F0B-CA4E-F68F597001BA}" dt="2024-09-13T00:36:04.509" v="206" actId="20577"/>
      <pc:docMkLst>
        <pc:docMk/>
      </pc:docMkLst>
      <pc:sldChg chg="modSp">
        <pc:chgData name="Eve Lauren Davey" userId="S::eviedavey6_outlook.com#ext#@worldbankgroup.onmicrosoft.com::ae14ba05-11d6-4041-82d8-f2ed7e05eba3" providerId="AD" clId="Web-{19E98F6B-FEDC-2F0B-CA4E-F68F597001BA}" dt="2024-09-13T00:29:49.717" v="114" actId="20577"/>
        <pc:sldMkLst>
          <pc:docMk/>
          <pc:sldMk cId="515869595" sldId="329"/>
        </pc:sldMkLst>
        <pc:spChg chg="mod">
          <ac:chgData name="Eve Lauren Davey" userId="S::eviedavey6_outlook.com#ext#@worldbankgroup.onmicrosoft.com::ae14ba05-11d6-4041-82d8-f2ed7e05eba3" providerId="AD" clId="Web-{19E98F6B-FEDC-2F0B-CA4E-F68F597001BA}" dt="2024-09-13T00:29:49.717" v="114" actId="20577"/>
          <ac:spMkLst>
            <pc:docMk/>
            <pc:sldMk cId="515869595" sldId="329"/>
            <ac:spMk id="3" creationId="{B44E3502-00FA-3B63-E433-372EB4B4ED6D}"/>
          </ac:spMkLst>
        </pc:spChg>
      </pc:sldChg>
      <pc:sldChg chg="modSp">
        <pc:chgData name="Eve Lauren Davey" userId="S::eviedavey6_outlook.com#ext#@worldbankgroup.onmicrosoft.com::ae14ba05-11d6-4041-82d8-f2ed7e05eba3" providerId="AD" clId="Web-{19E98F6B-FEDC-2F0B-CA4E-F68F597001BA}" dt="2024-09-13T00:30:01.029" v="117" actId="20577"/>
        <pc:sldMkLst>
          <pc:docMk/>
          <pc:sldMk cId="2711999753" sldId="336"/>
        </pc:sldMkLst>
        <pc:spChg chg="mod">
          <ac:chgData name="Eve Lauren Davey" userId="S::eviedavey6_outlook.com#ext#@worldbankgroup.onmicrosoft.com::ae14ba05-11d6-4041-82d8-f2ed7e05eba3" providerId="AD" clId="Web-{19E98F6B-FEDC-2F0B-CA4E-F68F597001BA}" dt="2024-09-13T00:30:01.029" v="117" actId="20577"/>
          <ac:spMkLst>
            <pc:docMk/>
            <pc:sldMk cId="2711999753" sldId="336"/>
            <ac:spMk id="3" creationId="{F93D7468-8ABB-2D02-BF07-91AD8ED46D19}"/>
          </ac:spMkLst>
        </pc:spChg>
      </pc:sldChg>
      <pc:sldChg chg="addSp delSp modSp mod modClrScheme chgLayout">
        <pc:chgData name="Eve Lauren Davey" userId="S::eviedavey6_outlook.com#ext#@worldbankgroup.onmicrosoft.com::ae14ba05-11d6-4041-82d8-f2ed7e05eba3" providerId="AD" clId="Web-{19E98F6B-FEDC-2F0B-CA4E-F68F597001BA}" dt="2024-09-13T00:35:32.023" v="193" actId="20577"/>
        <pc:sldMkLst>
          <pc:docMk/>
          <pc:sldMk cId="2246188178" sldId="347"/>
        </pc:sldMkLst>
        <pc:spChg chg="mod ord">
          <ac:chgData name="Eve Lauren Davey" userId="S::eviedavey6_outlook.com#ext#@worldbankgroup.onmicrosoft.com::ae14ba05-11d6-4041-82d8-f2ed7e05eba3" providerId="AD" clId="Web-{19E98F6B-FEDC-2F0B-CA4E-F68F597001BA}" dt="2024-09-13T00:33:55.677" v="152" actId="1076"/>
          <ac:spMkLst>
            <pc:docMk/>
            <pc:sldMk cId="2246188178" sldId="347"/>
            <ac:spMk id="2" creationId="{19D4AB5A-C360-9255-71F9-A12F0B888118}"/>
          </ac:spMkLst>
        </pc:spChg>
        <pc:spChg chg="del">
          <ac:chgData name="Eve Lauren Davey" userId="S::eviedavey6_outlook.com#ext#@worldbankgroup.onmicrosoft.com::ae14ba05-11d6-4041-82d8-f2ed7e05eba3" providerId="AD" clId="Web-{19E98F6B-FEDC-2F0B-CA4E-F68F597001BA}" dt="2024-09-13T00:33:26.348" v="129"/>
          <ac:spMkLst>
            <pc:docMk/>
            <pc:sldMk cId="2246188178" sldId="347"/>
            <ac:spMk id="5" creationId="{D642F317-8400-DFBB-2CCB-4B6195EDD9C7}"/>
          </ac:spMkLst>
        </pc:spChg>
        <pc:spChg chg="add mod ord">
          <ac:chgData name="Eve Lauren Davey" userId="S::eviedavey6_outlook.com#ext#@worldbankgroup.onmicrosoft.com::ae14ba05-11d6-4041-82d8-f2ed7e05eba3" providerId="AD" clId="Web-{19E98F6B-FEDC-2F0B-CA4E-F68F597001BA}" dt="2024-09-13T00:35:32.023" v="193" actId="20577"/>
          <ac:spMkLst>
            <pc:docMk/>
            <pc:sldMk cId="2246188178" sldId="347"/>
            <ac:spMk id="6" creationId="{C199803E-89EF-677E-1034-8D5D34FA86BB}"/>
          </ac:spMkLst>
        </pc:spChg>
        <pc:spChg chg="del mod">
          <ac:chgData name="Eve Lauren Davey" userId="S::eviedavey6_outlook.com#ext#@worldbankgroup.onmicrosoft.com::ae14ba05-11d6-4041-82d8-f2ed7e05eba3" providerId="AD" clId="Web-{19E98F6B-FEDC-2F0B-CA4E-F68F597001BA}" dt="2024-09-13T00:33:23.176" v="126"/>
          <ac:spMkLst>
            <pc:docMk/>
            <pc:sldMk cId="2246188178" sldId="347"/>
            <ac:spMk id="7" creationId="{DDDFA88B-7933-A598-ABE8-4848962EA394}"/>
          </ac:spMkLst>
        </pc:spChg>
        <pc:spChg chg="add del mod">
          <ac:chgData name="Eve Lauren Davey" userId="S::eviedavey6_outlook.com#ext#@worldbankgroup.onmicrosoft.com::ae14ba05-11d6-4041-82d8-f2ed7e05eba3" providerId="AD" clId="Web-{19E98F6B-FEDC-2F0B-CA4E-F68F597001BA}" dt="2024-09-13T00:33:34.317" v="132"/>
          <ac:spMkLst>
            <pc:docMk/>
            <pc:sldMk cId="2246188178" sldId="347"/>
            <ac:spMk id="8" creationId="{A6B927C7-22B1-2BAD-A47D-D94CD0A5F4DB}"/>
          </ac:spMkLst>
        </pc:spChg>
        <pc:picChg chg="mod">
          <ac:chgData name="Eve Lauren Davey" userId="S::eviedavey6_outlook.com#ext#@worldbankgroup.onmicrosoft.com::ae14ba05-11d6-4041-82d8-f2ed7e05eba3" providerId="AD" clId="Web-{19E98F6B-FEDC-2F0B-CA4E-F68F597001BA}" dt="2024-09-13T00:33:42.020" v="134" actId="1076"/>
          <ac:picMkLst>
            <pc:docMk/>
            <pc:sldMk cId="2246188178" sldId="347"/>
            <ac:picMk id="3" creationId="{0853E7C1-DEA5-A60A-0093-8711F726BC7B}"/>
          </ac:picMkLst>
        </pc:picChg>
      </pc:sldChg>
      <pc:sldChg chg="modSp">
        <pc:chgData name="Eve Lauren Davey" userId="S::eviedavey6_outlook.com#ext#@worldbankgroup.onmicrosoft.com::ae14ba05-11d6-4041-82d8-f2ed7e05eba3" providerId="AD" clId="Web-{19E98F6B-FEDC-2F0B-CA4E-F68F597001BA}" dt="2024-09-13T00:31:58.705" v="122" actId="1076"/>
        <pc:sldMkLst>
          <pc:docMk/>
          <pc:sldMk cId="4001906434" sldId="352"/>
        </pc:sldMkLst>
        <pc:spChg chg="mod">
          <ac:chgData name="Eve Lauren Davey" userId="S::eviedavey6_outlook.com#ext#@worldbankgroup.onmicrosoft.com::ae14ba05-11d6-4041-82d8-f2ed7e05eba3" providerId="AD" clId="Web-{19E98F6B-FEDC-2F0B-CA4E-F68F597001BA}" dt="2024-09-13T00:31:58.705" v="122" actId="1076"/>
          <ac:spMkLst>
            <pc:docMk/>
            <pc:sldMk cId="4001906434" sldId="352"/>
            <ac:spMk id="2" creationId="{FA548F9C-4CA9-1CB3-63ED-C4FA28F94B46}"/>
          </ac:spMkLst>
        </pc:spChg>
      </pc:sldChg>
      <pc:sldChg chg="modSp">
        <pc:chgData name="Eve Lauren Davey" userId="S::eviedavey6_outlook.com#ext#@worldbankgroup.onmicrosoft.com::ae14ba05-11d6-4041-82d8-f2ed7e05eba3" providerId="AD" clId="Web-{19E98F6B-FEDC-2F0B-CA4E-F68F597001BA}" dt="2024-09-13T00:29:01.637" v="108" actId="20577"/>
        <pc:sldMkLst>
          <pc:docMk/>
          <pc:sldMk cId="4075494732" sldId="2141411887"/>
        </pc:sldMkLst>
        <pc:spChg chg="mod">
          <ac:chgData name="Eve Lauren Davey" userId="S::eviedavey6_outlook.com#ext#@worldbankgroup.onmicrosoft.com::ae14ba05-11d6-4041-82d8-f2ed7e05eba3" providerId="AD" clId="Web-{19E98F6B-FEDC-2F0B-CA4E-F68F597001BA}" dt="2024-09-13T00:29:01.637" v="108" actId="20577"/>
          <ac:spMkLst>
            <pc:docMk/>
            <pc:sldMk cId="4075494732" sldId="2141411887"/>
            <ac:spMk id="3" creationId="{8CAAFDFB-1866-927D-3414-5EAD7DE59AC4}"/>
          </ac:spMkLst>
        </pc:spChg>
      </pc:sldChg>
      <pc:sldChg chg="modSp">
        <pc:chgData name="Eve Lauren Davey" userId="S::eviedavey6_outlook.com#ext#@worldbankgroup.onmicrosoft.com::ae14ba05-11d6-4041-82d8-f2ed7e05eba3" providerId="AD" clId="Web-{19E98F6B-FEDC-2F0B-CA4E-F68F597001BA}" dt="2024-09-13T00:36:04.509" v="206" actId="20577"/>
        <pc:sldMkLst>
          <pc:docMk/>
          <pc:sldMk cId="1988825386" sldId="2141411888"/>
        </pc:sldMkLst>
        <pc:spChg chg="mod">
          <ac:chgData name="Eve Lauren Davey" userId="S::eviedavey6_outlook.com#ext#@worldbankgroup.onmicrosoft.com::ae14ba05-11d6-4041-82d8-f2ed7e05eba3" providerId="AD" clId="Web-{19E98F6B-FEDC-2F0B-CA4E-F68F597001BA}" dt="2024-09-13T00:36:04.509" v="206" actId="20577"/>
          <ac:spMkLst>
            <pc:docMk/>
            <pc:sldMk cId="1988825386" sldId="2141411888"/>
            <ac:spMk id="2" creationId="{9D6D3DE5-637F-990A-4EB2-E4E31A4679AB}"/>
          </ac:spMkLst>
        </pc:spChg>
        <pc:spChg chg="mod">
          <ac:chgData name="Eve Lauren Davey" userId="S::eviedavey6_outlook.com#ext#@worldbankgroup.onmicrosoft.com::ae14ba05-11d6-4041-82d8-f2ed7e05eba3" providerId="AD" clId="Web-{19E98F6B-FEDC-2F0B-CA4E-F68F597001BA}" dt="2024-09-13T00:35:43.492" v="195" actId="20577"/>
          <ac:spMkLst>
            <pc:docMk/>
            <pc:sldMk cId="1988825386" sldId="2141411888"/>
            <ac:spMk id="3" creationId="{F6AF8B59-1100-219C-A224-9C329E62F5A1}"/>
          </ac:spMkLst>
        </pc:spChg>
      </pc:sldChg>
    </pc:docChg>
  </pc:docChgLst>
  <pc:docChgLst>
    <pc:chgData name="Eve Lauren Davey" userId="S::eviedavey6_outlook.com#ext#@worldbankgroup.onmicrosoft.com::ae14ba05-11d6-4041-82d8-f2ed7e05eba3" providerId="AD" clId="Web-{E5FF7291-AD7D-2A01-A862-6367F6CC5E4E}"/>
    <pc:docChg chg="modSld">
      <pc:chgData name="Eve Lauren Davey" userId="S::eviedavey6_outlook.com#ext#@worldbankgroup.onmicrosoft.com::ae14ba05-11d6-4041-82d8-f2ed7e05eba3" providerId="AD" clId="Web-{E5FF7291-AD7D-2A01-A862-6367F6CC5E4E}" dt="2024-09-02T08:27:11.534" v="8" actId="20577"/>
      <pc:docMkLst>
        <pc:docMk/>
      </pc:docMkLst>
      <pc:sldChg chg="modSp">
        <pc:chgData name="Eve Lauren Davey" userId="S::eviedavey6_outlook.com#ext#@worldbankgroup.onmicrosoft.com::ae14ba05-11d6-4041-82d8-f2ed7e05eba3" providerId="AD" clId="Web-{E5FF7291-AD7D-2A01-A862-6367F6CC5E4E}" dt="2024-09-02T08:27:11.534" v="8" actId="20577"/>
        <pc:sldMkLst>
          <pc:docMk/>
          <pc:sldMk cId="0" sldId="256"/>
        </pc:sldMkLst>
        <pc:spChg chg="mod">
          <ac:chgData name="Eve Lauren Davey" userId="S::eviedavey6_outlook.com#ext#@worldbankgroup.onmicrosoft.com::ae14ba05-11d6-4041-82d8-f2ed7e05eba3" providerId="AD" clId="Web-{E5FF7291-AD7D-2A01-A862-6367F6CC5E4E}" dt="2024-09-02T08:27:11.534" v="8" actId="20577"/>
          <ac:spMkLst>
            <pc:docMk/>
            <pc:sldMk cId="0" sldId="256"/>
            <ac:spMk id="2" creationId="{63DE3001-2019-8FDD-B17F-0642D16CD439}"/>
          </ac:spMkLst>
        </pc:spChg>
      </pc:sldChg>
    </pc:docChg>
  </pc:docChgLst>
  <pc:docChgLst>
    <pc:chgData name="Stephen John Stretton" userId="da8c780b-1aa2-4e36-94fb-871dc8111504" providerId="ADAL" clId="{0156A5BE-E365-42C9-AFC6-E9A237685CF6}"/>
    <pc:docChg chg="custSel addSld modSld">
      <pc:chgData name="Stephen John Stretton" userId="da8c780b-1aa2-4e36-94fb-871dc8111504" providerId="ADAL" clId="{0156A5BE-E365-42C9-AFC6-E9A237685CF6}" dt="2024-09-13T19:07:49.535" v="87" actId="20577"/>
      <pc:docMkLst>
        <pc:docMk/>
      </pc:docMkLst>
      <pc:sldChg chg="modSp mod">
        <pc:chgData name="Stephen John Stretton" userId="da8c780b-1aa2-4e36-94fb-871dc8111504" providerId="ADAL" clId="{0156A5BE-E365-42C9-AFC6-E9A237685CF6}" dt="2024-09-13T19:07:21.738" v="48" actId="27636"/>
        <pc:sldMkLst>
          <pc:docMk/>
          <pc:sldMk cId="0" sldId="256"/>
        </pc:sldMkLst>
        <pc:spChg chg="mod">
          <ac:chgData name="Stephen John Stretton" userId="da8c780b-1aa2-4e36-94fb-871dc8111504" providerId="ADAL" clId="{0156A5BE-E365-42C9-AFC6-E9A237685CF6}" dt="2024-09-13T19:07:21.738" v="48" actId="27636"/>
          <ac:spMkLst>
            <pc:docMk/>
            <pc:sldMk cId="0" sldId="256"/>
            <ac:spMk id="2" creationId="{63DE3001-2019-8FDD-B17F-0642D16CD439}"/>
          </ac:spMkLst>
        </pc:spChg>
      </pc:sldChg>
      <pc:sldChg chg="modSp add mod">
        <pc:chgData name="Stephen John Stretton" userId="da8c780b-1aa2-4e36-94fb-871dc8111504" providerId="ADAL" clId="{0156A5BE-E365-42C9-AFC6-E9A237685CF6}" dt="2024-09-13T19:07:49.535" v="87" actId="20577"/>
        <pc:sldMkLst>
          <pc:docMk/>
          <pc:sldMk cId="796256755" sldId="2141411889"/>
        </pc:sldMkLst>
        <pc:spChg chg="mod">
          <ac:chgData name="Stephen John Stretton" userId="da8c780b-1aa2-4e36-94fb-871dc8111504" providerId="ADAL" clId="{0156A5BE-E365-42C9-AFC6-E9A237685CF6}" dt="2024-09-13T19:07:49.535" v="87" actId="20577"/>
          <ac:spMkLst>
            <pc:docMk/>
            <pc:sldMk cId="796256755" sldId="2141411889"/>
            <ac:spMk id="2" creationId="{F6F66207-EDA5-0C45-554B-1E5366578D5A}"/>
          </ac:spMkLst>
        </pc:spChg>
      </pc:sldChg>
    </pc:docChg>
  </pc:docChgLst>
  <pc:docChgLst>
    <pc:chgData clId="Web-{F07472AE-6EF4-BFD8-E3E4-DBB40AA3BF6A}"/>
    <pc:docChg chg="modSld">
      <pc:chgData name="" userId="" providerId="" clId="Web-{F07472AE-6EF4-BFD8-E3E4-DBB40AA3BF6A}" dt="2024-09-02T08:29:18.906" v="0" actId="20577"/>
      <pc:docMkLst>
        <pc:docMk/>
      </pc:docMkLst>
      <pc:sldChg chg="modSp">
        <pc:chgData name="" userId="" providerId="" clId="Web-{F07472AE-6EF4-BFD8-E3E4-DBB40AA3BF6A}" dt="2024-09-02T08:29:18.906" v="0" actId="20577"/>
        <pc:sldMkLst>
          <pc:docMk/>
          <pc:sldMk cId="0" sldId="256"/>
        </pc:sldMkLst>
        <pc:spChg chg="mod">
          <ac:chgData name="" userId="" providerId="" clId="Web-{F07472AE-6EF4-BFD8-E3E4-DBB40AA3BF6A}" dt="2024-09-02T08:29:18.906" v="0" actId="20577"/>
          <ac:spMkLst>
            <pc:docMk/>
            <pc:sldMk cId="0" sldId="256"/>
            <ac:spMk id="2" creationId="{63DE3001-2019-8FDD-B17F-0642D16CD43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805A8A-0B44-4C02-BB25-E328E332D88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7613B19-0DBE-4D74-92A2-DAAF05BABB2C}">
      <dgm:prSet/>
      <dgm:spPr/>
      <dgm:t>
        <a:bodyPr/>
        <a:lstStyle/>
        <a:p>
          <a:pPr>
            <a:defRPr cap="all"/>
          </a:pPr>
          <a:r>
            <a:rPr lang="en-GB" b="1" dirty="0">
              <a:solidFill>
                <a:srgbClr val="012903"/>
              </a:solidFill>
            </a:rPr>
            <a:t>Local and Regional Coordination</a:t>
          </a:r>
          <a:endParaRPr lang="en-US" dirty="0">
            <a:solidFill>
              <a:srgbClr val="012903"/>
            </a:solidFill>
          </a:endParaRPr>
        </a:p>
      </dgm:t>
    </dgm:pt>
    <dgm:pt modelId="{3FB5A598-1597-478F-9C50-F77CA798DBEA}" type="parTrans" cxnId="{20EAFD9D-FB44-4D11-AE3D-18E97C6EE687}">
      <dgm:prSet/>
      <dgm:spPr/>
      <dgm:t>
        <a:bodyPr/>
        <a:lstStyle/>
        <a:p>
          <a:endParaRPr lang="en-US"/>
        </a:p>
      </dgm:t>
    </dgm:pt>
    <dgm:pt modelId="{ADBBCF27-A132-4EE6-9AB9-80EA6C6B3C49}" type="sibTrans" cxnId="{20EAFD9D-FB44-4D11-AE3D-18E97C6EE687}">
      <dgm:prSet/>
      <dgm:spPr/>
      <dgm:t>
        <a:bodyPr/>
        <a:lstStyle/>
        <a:p>
          <a:endParaRPr lang="en-US"/>
        </a:p>
      </dgm:t>
    </dgm:pt>
    <dgm:pt modelId="{678D09F8-0053-45F0-9CEF-443E08076833}">
      <dgm:prSet/>
      <dgm:spPr/>
      <dgm:t>
        <a:bodyPr/>
        <a:lstStyle/>
        <a:p>
          <a:pPr>
            <a:defRPr cap="all"/>
          </a:pPr>
          <a:r>
            <a:rPr lang="en-GB" b="1" dirty="0">
              <a:solidFill>
                <a:srgbClr val="012903"/>
              </a:solidFill>
            </a:rPr>
            <a:t>Moving Beyond Traditional Carbon Pricing</a:t>
          </a:r>
          <a:endParaRPr lang="en-US" dirty="0">
            <a:solidFill>
              <a:srgbClr val="012903"/>
            </a:solidFill>
          </a:endParaRPr>
        </a:p>
      </dgm:t>
    </dgm:pt>
    <dgm:pt modelId="{1BF4859B-86B7-4AD6-92DF-3816F1148956}" type="parTrans" cxnId="{F03DFD72-C489-4EE6-B2E9-4571CDB94690}">
      <dgm:prSet/>
      <dgm:spPr/>
      <dgm:t>
        <a:bodyPr/>
        <a:lstStyle/>
        <a:p>
          <a:endParaRPr lang="en-US"/>
        </a:p>
      </dgm:t>
    </dgm:pt>
    <dgm:pt modelId="{07995E71-8073-493D-B959-75F3D79836C5}" type="sibTrans" cxnId="{F03DFD72-C489-4EE6-B2E9-4571CDB94690}">
      <dgm:prSet/>
      <dgm:spPr/>
      <dgm:t>
        <a:bodyPr/>
        <a:lstStyle/>
        <a:p>
          <a:endParaRPr lang="en-US"/>
        </a:p>
      </dgm:t>
    </dgm:pt>
    <dgm:pt modelId="{C972D72C-68DF-43C5-8979-849058A7639E}">
      <dgm:prSet/>
      <dgm:spPr/>
      <dgm:t>
        <a:bodyPr/>
        <a:lstStyle/>
        <a:p>
          <a:pPr>
            <a:defRPr cap="all"/>
          </a:pPr>
          <a:r>
            <a:rPr lang="en-GB" b="1" dirty="0">
              <a:solidFill>
                <a:srgbClr val="012903"/>
              </a:solidFill>
            </a:rPr>
            <a:t>Generalized Pricing Policy</a:t>
          </a:r>
          <a:endParaRPr lang="en-US" dirty="0">
            <a:solidFill>
              <a:srgbClr val="012903"/>
            </a:solidFill>
          </a:endParaRPr>
        </a:p>
      </dgm:t>
    </dgm:pt>
    <dgm:pt modelId="{E93ED7D1-0DBE-4628-9700-BA4FA02DC1A1}" type="parTrans" cxnId="{BB54C265-CD06-4631-A0F9-1BA8A97C8ABA}">
      <dgm:prSet/>
      <dgm:spPr/>
      <dgm:t>
        <a:bodyPr/>
        <a:lstStyle/>
        <a:p>
          <a:endParaRPr lang="en-US"/>
        </a:p>
      </dgm:t>
    </dgm:pt>
    <dgm:pt modelId="{665AAB7F-C06E-4232-AFB2-5452B25F2A0A}" type="sibTrans" cxnId="{BB54C265-CD06-4631-A0F9-1BA8A97C8ABA}">
      <dgm:prSet/>
      <dgm:spPr/>
      <dgm:t>
        <a:bodyPr/>
        <a:lstStyle/>
        <a:p>
          <a:endParaRPr lang="en-US"/>
        </a:p>
      </dgm:t>
    </dgm:pt>
    <dgm:pt modelId="{52C77CFF-20F0-4930-96A7-0C570AAFAAE1}">
      <dgm:prSet/>
      <dgm:spPr/>
      <dgm:t>
        <a:bodyPr/>
        <a:lstStyle/>
        <a:p>
          <a:pPr>
            <a:defRPr cap="all"/>
          </a:pPr>
          <a:r>
            <a:rPr lang="en-GB" b="1" dirty="0">
              <a:solidFill>
                <a:srgbClr val="012903"/>
              </a:solidFill>
            </a:rPr>
            <a:t>Investment in Supply and Demand</a:t>
          </a:r>
          <a:endParaRPr lang="en-US" dirty="0">
            <a:solidFill>
              <a:srgbClr val="012903"/>
            </a:solidFill>
          </a:endParaRPr>
        </a:p>
      </dgm:t>
    </dgm:pt>
    <dgm:pt modelId="{F5A35784-DB8C-4A9A-BAFD-ABC54A0D238C}" type="parTrans" cxnId="{06837A2B-D659-4BC4-A9B0-77724AC29704}">
      <dgm:prSet/>
      <dgm:spPr/>
      <dgm:t>
        <a:bodyPr/>
        <a:lstStyle/>
        <a:p>
          <a:endParaRPr lang="en-US"/>
        </a:p>
      </dgm:t>
    </dgm:pt>
    <dgm:pt modelId="{9932EA43-821C-46E9-ABEF-E43BB8A8F7B1}" type="sibTrans" cxnId="{06837A2B-D659-4BC4-A9B0-77724AC29704}">
      <dgm:prSet/>
      <dgm:spPr/>
      <dgm:t>
        <a:bodyPr/>
        <a:lstStyle/>
        <a:p>
          <a:endParaRPr lang="en-US"/>
        </a:p>
      </dgm:t>
    </dgm:pt>
    <dgm:pt modelId="{A3790400-9940-449C-9A31-5040DADC9E8F}">
      <dgm:prSet/>
      <dgm:spPr/>
      <dgm:t>
        <a:bodyPr/>
        <a:lstStyle/>
        <a:p>
          <a:pPr>
            <a:defRPr cap="all"/>
          </a:pPr>
          <a:r>
            <a:rPr lang="en-GB" b="1" dirty="0">
              <a:solidFill>
                <a:srgbClr val="012903"/>
              </a:solidFill>
            </a:rPr>
            <a:t>Deforestation Commitments</a:t>
          </a:r>
          <a:endParaRPr lang="en-US" dirty="0">
            <a:solidFill>
              <a:srgbClr val="012903"/>
            </a:solidFill>
          </a:endParaRPr>
        </a:p>
      </dgm:t>
    </dgm:pt>
    <dgm:pt modelId="{0CB4164F-A37B-41B7-97D8-012A446E4151}" type="parTrans" cxnId="{9CE5E407-3D2E-411F-9756-4640E884C079}">
      <dgm:prSet/>
      <dgm:spPr/>
      <dgm:t>
        <a:bodyPr/>
        <a:lstStyle/>
        <a:p>
          <a:endParaRPr lang="en-US"/>
        </a:p>
      </dgm:t>
    </dgm:pt>
    <dgm:pt modelId="{5CA7205F-1B25-4EC8-BB76-51754F86FA73}" type="sibTrans" cxnId="{9CE5E407-3D2E-411F-9756-4640E884C079}">
      <dgm:prSet/>
      <dgm:spPr/>
      <dgm:t>
        <a:bodyPr/>
        <a:lstStyle/>
        <a:p>
          <a:endParaRPr lang="en-US"/>
        </a:p>
      </dgm:t>
    </dgm:pt>
    <dgm:pt modelId="{9A65772B-A880-4B05-80E5-3CF11C54458D}">
      <dgm:prSet/>
      <dgm:spPr/>
      <dgm:t>
        <a:bodyPr/>
        <a:lstStyle/>
        <a:p>
          <a:pPr>
            <a:defRPr cap="all"/>
          </a:pPr>
          <a:r>
            <a:rPr lang="en-GB" b="1" dirty="0">
              <a:solidFill>
                <a:srgbClr val="012903"/>
              </a:solidFill>
            </a:rPr>
            <a:t>Simplified Policy Mix</a:t>
          </a:r>
          <a:endParaRPr lang="en-US" dirty="0">
            <a:solidFill>
              <a:srgbClr val="012903"/>
            </a:solidFill>
          </a:endParaRPr>
        </a:p>
      </dgm:t>
    </dgm:pt>
    <dgm:pt modelId="{C472B062-0794-47BC-A0F1-91AD6D2F9C32}" type="parTrans" cxnId="{B16186F6-F114-47FC-BF38-833CDF8D859F}">
      <dgm:prSet/>
      <dgm:spPr/>
      <dgm:t>
        <a:bodyPr/>
        <a:lstStyle/>
        <a:p>
          <a:endParaRPr lang="en-US"/>
        </a:p>
      </dgm:t>
    </dgm:pt>
    <dgm:pt modelId="{AEA44DEE-9C9E-47C5-A044-86A4ADD28D8D}" type="sibTrans" cxnId="{B16186F6-F114-47FC-BF38-833CDF8D859F}">
      <dgm:prSet/>
      <dgm:spPr/>
      <dgm:t>
        <a:bodyPr/>
        <a:lstStyle/>
        <a:p>
          <a:endParaRPr lang="en-US"/>
        </a:p>
      </dgm:t>
    </dgm:pt>
    <dgm:pt modelId="{3306D2C4-D08A-4129-B3DB-295AFC924D50}">
      <dgm:prSet/>
      <dgm:spPr/>
      <dgm:t>
        <a:bodyPr/>
        <a:lstStyle/>
        <a:p>
          <a:pPr>
            <a:defRPr cap="all"/>
          </a:pPr>
          <a:r>
            <a:rPr lang="en-GB" b="1" dirty="0">
              <a:solidFill>
                <a:srgbClr val="012903"/>
              </a:solidFill>
            </a:rPr>
            <a:t>Effectiveness Measurement</a:t>
          </a:r>
          <a:endParaRPr lang="en-US" dirty="0">
            <a:solidFill>
              <a:srgbClr val="012903"/>
            </a:solidFill>
          </a:endParaRPr>
        </a:p>
      </dgm:t>
    </dgm:pt>
    <dgm:pt modelId="{FEF322F3-AB80-4B54-9303-FF2992361BF7}" type="parTrans" cxnId="{DB4B7692-669E-48CC-90CA-328E706A9B23}">
      <dgm:prSet/>
      <dgm:spPr/>
      <dgm:t>
        <a:bodyPr/>
        <a:lstStyle/>
        <a:p>
          <a:endParaRPr lang="en-US"/>
        </a:p>
      </dgm:t>
    </dgm:pt>
    <dgm:pt modelId="{F735EE53-A3D0-476C-8A29-38B3C6D73FB8}" type="sibTrans" cxnId="{DB4B7692-669E-48CC-90CA-328E706A9B23}">
      <dgm:prSet/>
      <dgm:spPr/>
      <dgm:t>
        <a:bodyPr/>
        <a:lstStyle/>
        <a:p>
          <a:endParaRPr lang="en-US"/>
        </a:p>
      </dgm:t>
    </dgm:pt>
    <dgm:pt modelId="{65A8068D-110B-43C1-97D7-140886DABD90}" type="pres">
      <dgm:prSet presAssocID="{68805A8A-0B44-4C02-BB25-E328E332D88A}" presName="root" presStyleCnt="0">
        <dgm:presLayoutVars>
          <dgm:dir/>
          <dgm:resizeHandles val="exact"/>
        </dgm:presLayoutVars>
      </dgm:prSet>
      <dgm:spPr/>
    </dgm:pt>
    <dgm:pt modelId="{D95C037A-7961-4720-BE25-7494FD6CFCD0}" type="pres">
      <dgm:prSet presAssocID="{17613B19-0DBE-4D74-92A2-DAAF05BABB2C}" presName="compNode" presStyleCnt="0"/>
      <dgm:spPr/>
    </dgm:pt>
    <dgm:pt modelId="{244D70C0-8E1B-423B-8363-730DD4FD3C82}" type="pres">
      <dgm:prSet presAssocID="{17613B19-0DBE-4D74-92A2-DAAF05BABB2C}" presName="iconBgRect" presStyleLbl="bgShp" presStyleIdx="0" presStyleCnt="7"/>
      <dgm:spPr/>
    </dgm:pt>
    <dgm:pt modelId="{B4CAA067-5F0B-4EF7-92A2-2C242D1AA3E5}" type="pres">
      <dgm:prSet presAssocID="{17613B19-0DBE-4D74-92A2-DAAF05BABB2C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CBB74DE1-EA13-4DB1-8F4F-8EEC60627C27}" type="pres">
      <dgm:prSet presAssocID="{17613B19-0DBE-4D74-92A2-DAAF05BABB2C}" presName="spaceRect" presStyleCnt="0"/>
      <dgm:spPr/>
    </dgm:pt>
    <dgm:pt modelId="{54C40575-BB44-4932-8221-5796E3D12D65}" type="pres">
      <dgm:prSet presAssocID="{17613B19-0DBE-4D74-92A2-DAAF05BABB2C}" presName="textRect" presStyleLbl="revTx" presStyleIdx="0" presStyleCnt="7">
        <dgm:presLayoutVars>
          <dgm:chMax val="1"/>
          <dgm:chPref val="1"/>
        </dgm:presLayoutVars>
      </dgm:prSet>
      <dgm:spPr/>
    </dgm:pt>
    <dgm:pt modelId="{948E5292-7AAA-4757-B34E-4B21748DB187}" type="pres">
      <dgm:prSet presAssocID="{ADBBCF27-A132-4EE6-9AB9-80EA6C6B3C49}" presName="sibTrans" presStyleCnt="0"/>
      <dgm:spPr/>
    </dgm:pt>
    <dgm:pt modelId="{A6C97461-9459-4357-8CB0-886AB0F75C99}" type="pres">
      <dgm:prSet presAssocID="{678D09F8-0053-45F0-9CEF-443E08076833}" presName="compNode" presStyleCnt="0"/>
      <dgm:spPr/>
    </dgm:pt>
    <dgm:pt modelId="{01E8AD02-9DCA-4BE4-AEE8-709A2843C614}" type="pres">
      <dgm:prSet presAssocID="{678D09F8-0053-45F0-9CEF-443E08076833}" presName="iconBgRect" presStyleLbl="bgShp" presStyleIdx="1" presStyleCnt="7"/>
      <dgm:spPr/>
    </dgm:pt>
    <dgm:pt modelId="{7AC7A525-625D-41D4-8D67-3F1EB03F3319}" type="pres">
      <dgm:prSet presAssocID="{678D09F8-0053-45F0-9CEF-443E0807683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4DCBB1CB-9BCA-412A-B062-F8E2DD99A045}" type="pres">
      <dgm:prSet presAssocID="{678D09F8-0053-45F0-9CEF-443E08076833}" presName="spaceRect" presStyleCnt="0"/>
      <dgm:spPr/>
    </dgm:pt>
    <dgm:pt modelId="{64B1E33F-AA2D-4493-BC9A-8AC47625C7A4}" type="pres">
      <dgm:prSet presAssocID="{678D09F8-0053-45F0-9CEF-443E08076833}" presName="textRect" presStyleLbl="revTx" presStyleIdx="1" presStyleCnt="7">
        <dgm:presLayoutVars>
          <dgm:chMax val="1"/>
          <dgm:chPref val="1"/>
        </dgm:presLayoutVars>
      </dgm:prSet>
      <dgm:spPr/>
    </dgm:pt>
    <dgm:pt modelId="{EEAB824B-2AA3-4056-8A0F-4E6CD18541B8}" type="pres">
      <dgm:prSet presAssocID="{07995E71-8073-493D-B959-75F3D79836C5}" presName="sibTrans" presStyleCnt="0"/>
      <dgm:spPr/>
    </dgm:pt>
    <dgm:pt modelId="{C928B4BE-DD0C-43E6-9457-70878E983FB0}" type="pres">
      <dgm:prSet presAssocID="{C972D72C-68DF-43C5-8979-849058A7639E}" presName="compNode" presStyleCnt="0"/>
      <dgm:spPr/>
    </dgm:pt>
    <dgm:pt modelId="{EC942C65-CEE2-4F33-899E-5A4F53A21A86}" type="pres">
      <dgm:prSet presAssocID="{C972D72C-68DF-43C5-8979-849058A7639E}" presName="iconBgRect" presStyleLbl="bgShp" presStyleIdx="2" presStyleCnt="7"/>
      <dgm:spPr/>
    </dgm:pt>
    <dgm:pt modelId="{C939B4F9-5FF7-492E-BD62-47F74014F97C}" type="pres">
      <dgm:prSet presAssocID="{C972D72C-68DF-43C5-8979-849058A7639E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67E12200-8B71-4AF4-97C1-ACAEC1F52982}" type="pres">
      <dgm:prSet presAssocID="{C972D72C-68DF-43C5-8979-849058A7639E}" presName="spaceRect" presStyleCnt="0"/>
      <dgm:spPr/>
    </dgm:pt>
    <dgm:pt modelId="{D8B4FD1C-B813-44BB-9517-E0960E45BEE1}" type="pres">
      <dgm:prSet presAssocID="{C972D72C-68DF-43C5-8979-849058A7639E}" presName="textRect" presStyleLbl="revTx" presStyleIdx="2" presStyleCnt="7">
        <dgm:presLayoutVars>
          <dgm:chMax val="1"/>
          <dgm:chPref val="1"/>
        </dgm:presLayoutVars>
      </dgm:prSet>
      <dgm:spPr/>
    </dgm:pt>
    <dgm:pt modelId="{411CDD9D-FBEA-48B2-8E7D-823E07DC5F34}" type="pres">
      <dgm:prSet presAssocID="{665AAB7F-C06E-4232-AFB2-5452B25F2A0A}" presName="sibTrans" presStyleCnt="0"/>
      <dgm:spPr/>
    </dgm:pt>
    <dgm:pt modelId="{D5F93FDA-8D75-41E3-8A43-48D63170F6BE}" type="pres">
      <dgm:prSet presAssocID="{52C77CFF-20F0-4930-96A7-0C570AAFAAE1}" presName="compNode" presStyleCnt="0"/>
      <dgm:spPr/>
    </dgm:pt>
    <dgm:pt modelId="{9DFE3B8D-363E-4D43-A454-3E8C8FA4B275}" type="pres">
      <dgm:prSet presAssocID="{52C77CFF-20F0-4930-96A7-0C570AAFAAE1}" presName="iconBgRect" presStyleLbl="bgShp" presStyleIdx="3" presStyleCnt="7"/>
      <dgm:spPr/>
    </dgm:pt>
    <dgm:pt modelId="{7FD42875-88B3-4C83-B72C-5555C4E997FB}" type="pres">
      <dgm:prSet presAssocID="{52C77CFF-20F0-4930-96A7-0C570AAFAAE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733C84E-A83C-43D1-AB1E-111B2ED17CD8}" type="pres">
      <dgm:prSet presAssocID="{52C77CFF-20F0-4930-96A7-0C570AAFAAE1}" presName="spaceRect" presStyleCnt="0"/>
      <dgm:spPr/>
    </dgm:pt>
    <dgm:pt modelId="{12A29458-848F-4D9E-AD6B-33EF90993699}" type="pres">
      <dgm:prSet presAssocID="{52C77CFF-20F0-4930-96A7-0C570AAFAAE1}" presName="textRect" presStyleLbl="revTx" presStyleIdx="3" presStyleCnt="7">
        <dgm:presLayoutVars>
          <dgm:chMax val="1"/>
          <dgm:chPref val="1"/>
        </dgm:presLayoutVars>
      </dgm:prSet>
      <dgm:spPr/>
    </dgm:pt>
    <dgm:pt modelId="{DCAD1550-E296-42CB-9F23-1F83B336279B}" type="pres">
      <dgm:prSet presAssocID="{9932EA43-821C-46E9-ABEF-E43BB8A8F7B1}" presName="sibTrans" presStyleCnt="0"/>
      <dgm:spPr/>
    </dgm:pt>
    <dgm:pt modelId="{133FBC76-0C2F-49D7-B1D3-2B02070E47E3}" type="pres">
      <dgm:prSet presAssocID="{A3790400-9940-449C-9A31-5040DADC9E8F}" presName="compNode" presStyleCnt="0"/>
      <dgm:spPr/>
    </dgm:pt>
    <dgm:pt modelId="{69FA5862-7F01-4826-BE6B-01FE117B498E}" type="pres">
      <dgm:prSet presAssocID="{A3790400-9940-449C-9A31-5040DADC9E8F}" presName="iconBgRect" presStyleLbl="bgShp" presStyleIdx="4" presStyleCnt="7"/>
      <dgm:spPr/>
    </dgm:pt>
    <dgm:pt modelId="{897EA606-C166-4BC7-B91C-424442730CA7}" type="pres">
      <dgm:prSet presAssocID="{A3790400-9940-449C-9A31-5040DADC9E8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2114984-3B36-4B72-B65B-1871DA72AD53}" type="pres">
      <dgm:prSet presAssocID="{A3790400-9940-449C-9A31-5040DADC9E8F}" presName="spaceRect" presStyleCnt="0"/>
      <dgm:spPr/>
    </dgm:pt>
    <dgm:pt modelId="{0B202D51-14A6-4675-93F3-1740160CF1A3}" type="pres">
      <dgm:prSet presAssocID="{A3790400-9940-449C-9A31-5040DADC9E8F}" presName="textRect" presStyleLbl="revTx" presStyleIdx="4" presStyleCnt="7">
        <dgm:presLayoutVars>
          <dgm:chMax val="1"/>
          <dgm:chPref val="1"/>
        </dgm:presLayoutVars>
      </dgm:prSet>
      <dgm:spPr/>
    </dgm:pt>
    <dgm:pt modelId="{CD835E7E-8926-4D02-BD9A-F3E93BB600D6}" type="pres">
      <dgm:prSet presAssocID="{5CA7205F-1B25-4EC8-BB76-51754F86FA73}" presName="sibTrans" presStyleCnt="0"/>
      <dgm:spPr/>
    </dgm:pt>
    <dgm:pt modelId="{F4166919-9F85-4807-BFA3-61022A5F6C13}" type="pres">
      <dgm:prSet presAssocID="{9A65772B-A880-4B05-80E5-3CF11C54458D}" presName="compNode" presStyleCnt="0"/>
      <dgm:spPr/>
    </dgm:pt>
    <dgm:pt modelId="{6AB193ED-F5E6-4F58-908F-4155E48980BF}" type="pres">
      <dgm:prSet presAssocID="{9A65772B-A880-4B05-80E5-3CF11C54458D}" presName="iconBgRect" presStyleLbl="bgShp" presStyleIdx="5" presStyleCnt="7"/>
      <dgm:spPr/>
    </dgm:pt>
    <dgm:pt modelId="{AE9C6C5F-46A3-4045-91F3-40E84CDDDFBF}" type="pres">
      <dgm:prSet presAssocID="{9A65772B-A880-4B05-80E5-3CF11C54458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5C73401-6063-4D80-ADEF-CB15B0F2706B}" type="pres">
      <dgm:prSet presAssocID="{9A65772B-A880-4B05-80E5-3CF11C54458D}" presName="spaceRect" presStyleCnt="0"/>
      <dgm:spPr/>
    </dgm:pt>
    <dgm:pt modelId="{FBF7CF2B-3AF6-468C-8653-390CD3DF782B}" type="pres">
      <dgm:prSet presAssocID="{9A65772B-A880-4B05-80E5-3CF11C54458D}" presName="textRect" presStyleLbl="revTx" presStyleIdx="5" presStyleCnt="7">
        <dgm:presLayoutVars>
          <dgm:chMax val="1"/>
          <dgm:chPref val="1"/>
        </dgm:presLayoutVars>
      </dgm:prSet>
      <dgm:spPr/>
    </dgm:pt>
    <dgm:pt modelId="{9EBE06C7-4C41-44BD-8EB1-4AE8EA9B422C}" type="pres">
      <dgm:prSet presAssocID="{AEA44DEE-9C9E-47C5-A044-86A4ADD28D8D}" presName="sibTrans" presStyleCnt="0"/>
      <dgm:spPr/>
    </dgm:pt>
    <dgm:pt modelId="{3CD12F23-1EEE-4EAF-AFDF-B3016CE9F77B}" type="pres">
      <dgm:prSet presAssocID="{3306D2C4-D08A-4129-B3DB-295AFC924D50}" presName="compNode" presStyleCnt="0"/>
      <dgm:spPr/>
    </dgm:pt>
    <dgm:pt modelId="{4B48F567-E23E-4EBC-B29B-A406003D7331}" type="pres">
      <dgm:prSet presAssocID="{3306D2C4-D08A-4129-B3DB-295AFC924D50}" presName="iconBgRect" presStyleLbl="bgShp" presStyleIdx="6" presStyleCnt="7"/>
      <dgm:spPr/>
    </dgm:pt>
    <dgm:pt modelId="{BB24B8DA-B97B-4A3C-8694-0062574D8F12}" type="pres">
      <dgm:prSet presAssocID="{3306D2C4-D08A-4129-B3DB-295AFC924D5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5D1B16F-A39F-4DC0-875C-1327C4CA790F}" type="pres">
      <dgm:prSet presAssocID="{3306D2C4-D08A-4129-B3DB-295AFC924D50}" presName="spaceRect" presStyleCnt="0"/>
      <dgm:spPr/>
    </dgm:pt>
    <dgm:pt modelId="{ECC478BE-7A08-4282-BA6E-D2ABC7E809C0}" type="pres">
      <dgm:prSet presAssocID="{3306D2C4-D08A-4129-B3DB-295AFC924D50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9CE5E407-3D2E-411F-9756-4640E884C079}" srcId="{68805A8A-0B44-4C02-BB25-E328E332D88A}" destId="{A3790400-9940-449C-9A31-5040DADC9E8F}" srcOrd="4" destOrd="0" parTransId="{0CB4164F-A37B-41B7-97D8-012A446E4151}" sibTransId="{5CA7205F-1B25-4EC8-BB76-51754F86FA73}"/>
    <dgm:cxn modelId="{BFB86A0A-A268-491E-9B1E-836541104E05}" type="presOf" srcId="{3306D2C4-D08A-4129-B3DB-295AFC924D50}" destId="{ECC478BE-7A08-4282-BA6E-D2ABC7E809C0}" srcOrd="0" destOrd="0" presId="urn:microsoft.com/office/officeart/2018/5/layout/IconCircleLabelList"/>
    <dgm:cxn modelId="{06837A2B-D659-4BC4-A9B0-77724AC29704}" srcId="{68805A8A-0B44-4C02-BB25-E328E332D88A}" destId="{52C77CFF-20F0-4930-96A7-0C570AAFAAE1}" srcOrd="3" destOrd="0" parTransId="{F5A35784-DB8C-4A9A-BAFD-ABC54A0D238C}" sibTransId="{9932EA43-821C-46E9-ABEF-E43BB8A8F7B1}"/>
    <dgm:cxn modelId="{53AF525F-5472-4E39-BFC4-AD639C41008F}" type="presOf" srcId="{678D09F8-0053-45F0-9CEF-443E08076833}" destId="{64B1E33F-AA2D-4493-BC9A-8AC47625C7A4}" srcOrd="0" destOrd="0" presId="urn:microsoft.com/office/officeart/2018/5/layout/IconCircleLabelList"/>
    <dgm:cxn modelId="{BB54C265-CD06-4631-A0F9-1BA8A97C8ABA}" srcId="{68805A8A-0B44-4C02-BB25-E328E332D88A}" destId="{C972D72C-68DF-43C5-8979-849058A7639E}" srcOrd="2" destOrd="0" parTransId="{E93ED7D1-0DBE-4628-9700-BA4FA02DC1A1}" sibTransId="{665AAB7F-C06E-4232-AFB2-5452B25F2A0A}"/>
    <dgm:cxn modelId="{B77E8F4B-F9BE-4560-BA36-8BA9D732429B}" type="presOf" srcId="{A3790400-9940-449C-9A31-5040DADC9E8F}" destId="{0B202D51-14A6-4675-93F3-1740160CF1A3}" srcOrd="0" destOrd="0" presId="urn:microsoft.com/office/officeart/2018/5/layout/IconCircleLabelList"/>
    <dgm:cxn modelId="{F03DFD72-C489-4EE6-B2E9-4571CDB94690}" srcId="{68805A8A-0B44-4C02-BB25-E328E332D88A}" destId="{678D09F8-0053-45F0-9CEF-443E08076833}" srcOrd="1" destOrd="0" parTransId="{1BF4859B-86B7-4AD6-92DF-3816F1148956}" sibTransId="{07995E71-8073-493D-B959-75F3D79836C5}"/>
    <dgm:cxn modelId="{7627CF74-BC74-4BDE-BBDA-1A3838C9F443}" type="presOf" srcId="{9A65772B-A880-4B05-80E5-3CF11C54458D}" destId="{FBF7CF2B-3AF6-468C-8653-390CD3DF782B}" srcOrd="0" destOrd="0" presId="urn:microsoft.com/office/officeart/2018/5/layout/IconCircleLabelList"/>
    <dgm:cxn modelId="{74D1A78B-6BE9-414B-9407-934DF893C5EC}" type="presOf" srcId="{68805A8A-0B44-4C02-BB25-E328E332D88A}" destId="{65A8068D-110B-43C1-97D7-140886DABD90}" srcOrd="0" destOrd="0" presId="urn:microsoft.com/office/officeart/2018/5/layout/IconCircleLabelList"/>
    <dgm:cxn modelId="{DB4B7692-669E-48CC-90CA-328E706A9B23}" srcId="{68805A8A-0B44-4C02-BB25-E328E332D88A}" destId="{3306D2C4-D08A-4129-B3DB-295AFC924D50}" srcOrd="6" destOrd="0" parTransId="{FEF322F3-AB80-4B54-9303-FF2992361BF7}" sibTransId="{F735EE53-A3D0-476C-8A29-38B3C6D73FB8}"/>
    <dgm:cxn modelId="{899E099B-FCDA-43E4-8C4B-63A8564426F7}" type="presOf" srcId="{C972D72C-68DF-43C5-8979-849058A7639E}" destId="{D8B4FD1C-B813-44BB-9517-E0960E45BEE1}" srcOrd="0" destOrd="0" presId="urn:microsoft.com/office/officeart/2018/5/layout/IconCircleLabelList"/>
    <dgm:cxn modelId="{20EAFD9D-FB44-4D11-AE3D-18E97C6EE687}" srcId="{68805A8A-0B44-4C02-BB25-E328E332D88A}" destId="{17613B19-0DBE-4D74-92A2-DAAF05BABB2C}" srcOrd="0" destOrd="0" parTransId="{3FB5A598-1597-478F-9C50-F77CA798DBEA}" sibTransId="{ADBBCF27-A132-4EE6-9AB9-80EA6C6B3C49}"/>
    <dgm:cxn modelId="{6191FDB5-3577-427C-A991-A10C2E447774}" type="presOf" srcId="{17613B19-0DBE-4D74-92A2-DAAF05BABB2C}" destId="{54C40575-BB44-4932-8221-5796E3D12D65}" srcOrd="0" destOrd="0" presId="urn:microsoft.com/office/officeart/2018/5/layout/IconCircleLabelList"/>
    <dgm:cxn modelId="{B16186F6-F114-47FC-BF38-833CDF8D859F}" srcId="{68805A8A-0B44-4C02-BB25-E328E332D88A}" destId="{9A65772B-A880-4B05-80E5-3CF11C54458D}" srcOrd="5" destOrd="0" parTransId="{C472B062-0794-47BC-A0F1-91AD6D2F9C32}" sibTransId="{AEA44DEE-9C9E-47C5-A044-86A4ADD28D8D}"/>
    <dgm:cxn modelId="{02348AF9-91F3-44F8-ACD1-4E53827984DF}" type="presOf" srcId="{52C77CFF-20F0-4930-96A7-0C570AAFAAE1}" destId="{12A29458-848F-4D9E-AD6B-33EF90993699}" srcOrd="0" destOrd="0" presId="urn:microsoft.com/office/officeart/2018/5/layout/IconCircleLabelList"/>
    <dgm:cxn modelId="{48876DAE-78D6-4926-8692-9BA17BCE452C}" type="presParOf" srcId="{65A8068D-110B-43C1-97D7-140886DABD90}" destId="{D95C037A-7961-4720-BE25-7494FD6CFCD0}" srcOrd="0" destOrd="0" presId="urn:microsoft.com/office/officeart/2018/5/layout/IconCircleLabelList"/>
    <dgm:cxn modelId="{18296123-154A-472C-9641-717A2FF49332}" type="presParOf" srcId="{D95C037A-7961-4720-BE25-7494FD6CFCD0}" destId="{244D70C0-8E1B-423B-8363-730DD4FD3C82}" srcOrd="0" destOrd="0" presId="urn:microsoft.com/office/officeart/2018/5/layout/IconCircleLabelList"/>
    <dgm:cxn modelId="{79F83470-FEC5-4267-830A-E596DF771EF8}" type="presParOf" srcId="{D95C037A-7961-4720-BE25-7494FD6CFCD0}" destId="{B4CAA067-5F0B-4EF7-92A2-2C242D1AA3E5}" srcOrd="1" destOrd="0" presId="urn:microsoft.com/office/officeart/2018/5/layout/IconCircleLabelList"/>
    <dgm:cxn modelId="{E51B7472-232A-464A-82A1-428AA6968E27}" type="presParOf" srcId="{D95C037A-7961-4720-BE25-7494FD6CFCD0}" destId="{CBB74DE1-EA13-4DB1-8F4F-8EEC60627C27}" srcOrd="2" destOrd="0" presId="urn:microsoft.com/office/officeart/2018/5/layout/IconCircleLabelList"/>
    <dgm:cxn modelId="{0DBE023C-978F-4D93-8706-46D2ACD21A11}" type="presParOf" srcId="{D95C037A-7961-4720-BE25-7494FD6CFCD0}" destId="{54C40575-BB44-4932-8221-5796E3D12D65}" srcOrd="3" destOrd="0" presId="urn:microsoft.com/office/officeart/2018/5/layout/IconCircleLabelList"/>
    <dgm:cxn modelId="{4A4E195C-D1FC-4155-8E6D-3D3BE0381C56}" type="presParOf" srcId="{65A8068D-110B-43C1-97D7-140886DABD90}" destId="{948E5292-7AAA-4757-B34E-4B21748DB187}" srcOrd="1" destOrd="0" presId="urn:microsoft.com/office/officeart/2018/5/layout/IconCircleLabelList"/>
    <dgm:cxn modelId="{F3DD1234-D94F-4ECC-BD14-B798C2FE44D5}" type="presParOf" srcId="{65A8068D-110B-43C1-97D7-140886DABD90}" destId="{A6C97461-9459-4357-8CB0-886AB0F75C99}" srcOrd="2" destOrd="0" presId="urn:microsoft.com/office/officeart/2018/5/layout/IconCircleLabelList"/>
    <dgm:cxn modelId="{FBE458EB-49C1-492C-8745-3FA76151DDDB}" type="presParOf" srcId="{A6C97461-9459-4357-8CB0-886AB0F75C99}" destId="{01E8AD02-9DCA-4BE4-AEE8-709A2843C614}" srcOrd="0" destOrd="0" presId="urn:microsoft.com/office/officeart/2018/5/layout/IconCircleLabelList"/>
    <dgm:cxn modelId="{AD1733A2-7776-47A3-AE95-936FD63385FE}" type="presParOf" srcId="{A6C97461-9459-4357-8CB0-886AB0F75C99}" destId="{7AC7A525-625D-41D4-8D67-3F1EB03F3319}" srcOrd="1" destOrd="0" presId="urn:microsoft.com/office/officeart/2018/5/layout/IconCircleLabelList"/>
    <dgm:cxn modelId="{2AE511E8-7FC7-4229-8638-FD9058173857}" type="presParOf" srcId="{A6C97461-9459-4357-8CB0-886AB0F75C99}" destId="{4DCBB1CB-9BCA-412A-B062-F8E2DD99A045}" srcOrd="2" destOrd="0" presId="urn:microsoft.com/office/officeart/2018/5/layout/IconCircleLabelList"/>
    <dgm:cxn modelId="{05ED1916-7714-4BC6-A403-6AFD949685FD}" type="presParOf" srcId="{A6C97461-9459-4357-8CB0-886AB0F75C99}" destId="{64B1E33F-AA2D-4493-BC9A-8AC47625C7A4}" srcOrd="3" destOrd="0" presId="urn:microsoft.com/office/officeart/2018/5/layout/IconCircleLabelList"/>
    <dgm:cxn modelId="{EAF6792A-DBA4-4CB3-BB80-80BA37377709}" type="presParOf" srcId="{65A8068D-110B-43C1-97D7-140886DABD90}" destId="{EEAB824B-2AA3-4056-8A0F-4E6CD18541B8}" srcOrd="3" destOrd="0" presId="urn:microsoft.com/office/officeart/2018/5/layout/IconCircleLabelList"/>
    <dgm:cxn modelId="{B4AEEA02-81FE-4AD4-A86D-375D2D1AF63E}" type="presParOf" srcId="{65A8068D-110B-43C1-97D7-140886DABD90}" destId="{C928B4BE-DD0C-43E6-9457-70878E983FB0}" srcOrd="4" destOrd="0" presId="urn:microsoft.com/office/officeart/2018/5/layout/IconCircleLabelList"/>
    <dgm:cxn modelId="{0C1216AB-24AA-4B5E-B5DB-A668764CD736}" type="presParOf" srcId="{C928B4BE-DD0C-43E6-9457-70878E983FB0}" destId="{EC942C65-CEE2-4F33-899E-5A4F53A21A86}" srcOrd="0" destOrd="0" presId="urn:microsoft.com/office/officeart/2018/5/layout/IconCircleLabelList"/>
    <dgm:cxn modelId="{65AA84FC-8349-4B70-A74C-A3AC9410F0AF}" type="presParOf" srcId="{C928B4BE-DD0C-43E6-9457-70878E983FB0}" destId="{C939B4F9-5FF7-492E-BD62-47F74014F97C}" srcOrd="1" destOrd="0" presId="urn:microsoft.com/office/officeart/2018/5/layout/IconCircleLabelList"/>
    <dgm:cxn modelId="{487B56A0-F14F-4AD1-983C-F798F4A623A4}" type="presParOf" srcId="{C928B4BE-DD0C-43E6-9457-70878E983FB0}" destId="{67E12200-8B71-4AF4-97C1-ACAEC1F52982}" srcOrd="2" destOrd="0" presId="urn:microsoft.com/office/officeart/2018/5/layout/IconCircleLabelList"/>
    <dgm:cxn modelId="{AA44FD15-8E05-4A24-96D4-6F11976F6D23}" type="presParOf" srcId="{C928B4BE-DD0C-43E6-9457-70878E983FB0}" destId="{D8B4FD1C-B813-44BB-9517-E0960E45BEE1}" srcOrd="3" destOrd="0" presId="urn:microsoft.com/office/officeart/2018/5/layout/IconCircleLabelList"/>
    <dgm:cxn modelId="{7D274BC4-C42F-44FB-8024-45E4F9B5FADB}" type="presParOf" srcId="{65A8068D-110B-43C1-97D7-140886DABD90}" destId="{411CDD9D-FBEA-48B2-8E7D-823E07DC5F34}" srcOrd="5" destOrd="0" presId="urn:microsoft.com/office/officeart/2018/5/layout/IconCircleLabelList"/>
    <dgm:cxn modelId="{27531E09-0E52-4099-A427-5CAF772CC105}" type="presParOf" srcId="{65A8068D-110B-43C1-97D7-140886DABD90}" destId="{D5F93FDA-8D75-41E3-8A43-48D63170F6BE}" srcOrd="6" destOrd="0" presId="urn:microsoft.com/office/officeart/2018/5/layout/IconCircleLabelList"/>
    <dgm:cxn modelId="{1B727C84-38BB-4E3A-A613-E2CAA1B4FB99}" type="presParOf" srcId="{D5F93FDA-8D75-41E3-8A43-48D63170F6BE}" destId="{9DFE3B8D-363E-4D43-A454-3E8C8FA4B275}" srcOrd="0" destOrd="0" presId="urn:microsoft.com/office/officeart/2018/5/layout/IconCircleLabelList"/>
    <dgm:cxn modelId="{F357DFA7-CB9B-4B78-BC50-60CE10658265}" type="presParOf" srcId="{D5F93FDA-8D75-41E3-8A43-48D63170F6BE}" destId="{7FD42875-88B3-4C83-B72C-5555C4E997FB}" srcOrd="1" destOrd="0" presId="urn:microsoft.com/office/officeart/2018/5/layout/IconCircleLabelList"/>
    <dgm:cxn modelId="{DBC45E76-9FEB-41B7-AC77-3F525A7D3741}" type="presParOf" srcId="{D5F93FDA-8D75-41E3-8A43-48D63170F6BE}" destId="{E733C84E-A83C-43D1-AB1E-111B2ED17CD8}" srcOrd="2" destOrd="0" presId="urn:microsoft.com/office/officeart/2018/5/layout/IconCircleLabelList"/>
    <dgm:cxn modelId="{83E80514-C787-44A0-8A74-A0BCDF43B004}" type="presParOf" srcId="{D5F93FDA-8D75-41E3-8A43-48D63170F6BE}" destId="{12A29458-848F-4D9E-AD6B-33EF90993699}" srcOrd="3" destOrd="0" presId="urn:microsoft.com/office/officeart/2018/5/layout/IconCircleLabelList"/>
    <dgm:cxn modelId="{00B4D1F1-28E2-49F5-93E8-3743A524E31E}" type="presParOf" srcId="{65A8068D-110B-43C1-97D7-140886DABD90}" destId="{DCAD1550-E296-42CB-9F23-1F83B336279B}" srcOrd="7" destOrd="0" presId="urn:microsoft.com/office/officeart/2018/5/layout/IconCircleLabelList"/>
    <dgm:cxn modelId="{A6ABC763-BE3E-43DE-93A1-E3CFB807FD01}" type="presParOf" srcId="{65A8068D-110B-43C1-97D7-140886DABD90}" destId="{133FBC76-0C2F-49D7-B1D3-2B02070E47E3}" srcOrd="8" destOrd="0" presId="urn:microsoft.com/office/officeart/2018/5/layout/IconCircleLabelList"/>
    <dgm:cxn modelId="{68915B92-5BD2-4972-8D46-B6F65023BE5F}" type="presParOf" srcId="{133FBC76-0C2F-49D7-B1D3-2B02070E47E3}" destId="{69FA5862-7F01-4826-BE6B-01FE117B498E}" srcOrd="0" destOrd="0" presId="urn:microsoft.com/office/officeart/2018/5/layout/IconCircleLabelList"/>
    <dgm:cxn modelId="{26D8DDB5-F97D-4406-B560-927CFD5FB26D}" type="presParOf" srcId="{133FBC76-0C2F-49D7-B1D3-2B02070E47E3}" destId="{897EA606-C166-4BC7-B91C-424442730CA7}" srcOrd="1" destOrd="0" presId="urn:microsoft.com/office/officeart/2018/5/layout/IconCircleLabelList"/>
    <dgm:cxn modelId="{25EB371D-5098-406A-8F19-4D678895B2FF}" type="presParOf" srcId="{133FBC76-0C2F-49D7-B1D3-2B02070E47E3}" destId="{02114984-3B36-4B72-B65B-1871DA72AD53}" srcOrd="2" destOrd="0" presId="urn:microsoft.com/office/officeart/2018/5/layout/IconCircleLabelList"/>
    <dgm:cxn modelId="{19A9C1BB-495D-4732-AEDB-488BD15215F8}" type="presParOf" srcId="{133FBC76-0C2F-49D7-B1D3-2B02070E47E3}" destId="{0B202D51-14A6-4675-93F3-1740160CF1A3}" srcOrd="3" destOrd="0" presId="urn:microsoft.com/office/officeart/2018/5/layout/IconCircleLabelList"/>
    <dgm:cxn modelId="{85CD0FE5-DAE9-4849-9812-97E795C6E043}" type="presParOf" srcId="{65A8068D-110B-43C1-97D7-140886DABD90}" destId="{CD835E7E-8926-4D02-BD9A-F3E93BB600D6}" srcOrd="9" destOrd="0" presId="urn:microsoft.com/office/officeart/2018/5/layout/IconCircleLabelList"/>
    <dgm:cxn modelId="{A17B1F1B-A0C3-4A7D-A180-0C95D684A1CB}" type="presParOf" srcId="{65A8068D-110B-43C1-97D7-140886DABD90}" destId="{F4166919-9F85-4807-BFA3-61022A5F6C13}" srcOrd="10" destOrd="0" presId="urn:microsoft.com/office/officeart/2018/5/layout/IconCircleLabelList"/>
    <dgm:cxn modelId="{1B62082F-BD54-4338-A6AD-16267B152356}" type="presParOf" srcId="{F4166919-9F85-4807-BFA3-61022A5F6C13}" destId="{6AB193ED-F5E6-4F58-908F-4155E48980BF}" srcOrd="0" destOrd="0" presId="urn:microsoft.com/office/officeart/2018/5/layout/IconCircleLabelList"/>
    <dgm:cxn modelId="{A317E438-0F24-480D-AAB0-AFAA2ADE1234}" type="presParOf" srcId="{F4166919-9F85-4807-BFA3-61022A5F6C13}" destId="{AE9C6C5F-46A3-4045-91F3-40E84CDDDFBF}" srcOrd="1" destOrd="0" presId="urn:microsoft.com/office/officeart/2018/5/layout/IconCircleLabelList"/>
    <dgm:cxn modelId="{5EC8ECAB-7FC5-49C9-BE93-29012B822CB3}" type="presParOf" srcId="{F4166919-9F85-4807-BFA3-61022A5F6C13}" destId="{C5C73401-6063-4D80-ADEF-CB15B0F2706B}" srcOrd="2" destOrd="0" presId="urn:microsoft.com/office/officeart/2018/5/layout/IconCircleLabelList"/>
    <dgm:cxn modelId="{A0C96E2D-0BAF-42BE-A5CC-952FF97E9135}" type="presParOf" srcId="{F4166919-9F85-4807-BFA3-61022A5F6C13}" destId="{FBF7CF2B-3AF6-468C-8653-390CD3DF782B}" srcOrd="3" destOrd="0" presId="urn:microsoft.com/office/officeart/2018/5/layout/IconCircleLabelList"/>
    <dgm:cxn modelId="{06574D56-86C2-4184-90B9-4B029F2A6C3D}" type="presParOf" srcId="{65A8068D-110B-43C1-97D7-140886DABD90}" destId="{9EBE06C7-4C41-44BD-8EB1-4AE8EA9B422C}" srcOrd="11" destOrd="0" presId="urn:microsoft.com/office/officeart/2018/5/layout/IconCircleLabelList"/>
    <dgm:cxn modelId="{2947A292-E6CB-4AAE-B5F4-49FF19420913}" type="presParOf" srcId="{65A8068D-110B-43C1-97D7-140886DABD90}" destId="{3CD12F23-1EEE-4EAF-AFDF-B3016CE9F77B}" srcOrd="12" destOrd="0" presId="urn:microsoft.com/office/officeart/2018/5/layout/IconCircleLabelList"/>
    <dgm:cxn modelId="{09EAEEC4-A09D-4E42-8D7F-9CFA675BBE79}" type="presParOf" srcId="{3CD12F23-1EEE-4EAF-AFDF-B3016CE9F77B}" destId="{4B48F567-E23E-4EBC-B29B-A406003D7331}" srcOrd="0" destOrd="0" presId="urn:microsoft.com/office/officeart/2018/5/layout/IconCircleLabelList"/>
    <dgm:cxn modelId="{FA1BFE1F-AD13-4243-931F-309147E92639}" type="presParOf" srcId="{3CD12F23-1EEE-4EAF-AFDF-B3016CE9F77B}" destId="{BB24B8DA-B97B-4A3C-8694-0062574D8F12}" srcOrd="1" destOrd="0" presId="urn:microsoft.com/office/officeart/2018/5/layout/IconCircleLabelList"/>
    <dgm:cxn modelId="{19C5A2D9-01AF-4E17-9B70-E62329A52B0B}" type="presParOf" srcId="{3CD12F23-1EEE-4EAF-AFDF-B3016CE9F77B}" destId="{95D1B16F-A39F-4DC0-875C-1327C4CA790F}" srcOrd="2" destOrd="0" presId="urn:microsoft.com/office/officeart/2018/5/layout/IconCircleLabelList"/>
    <dgm:cxn modelId="{C7F74DB8-454A-4F34-8FFE-C3CEAF0D95D7}" type="presParOf" srcId="{3CD12F23-1EEE-4EAF-AFDF-B3016CE9F77B}" destId="{ECC478BE-7A08-4282-BA6E-D2ABC7E809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B63C3-989C-40A2-B59C-8D76244297EA}" type="doc">
      <dgm:prSet loTypeId="urn:microsoft.com/office/officeart/2005/8/layout/hierarchy1" loCatId="hierarchy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6BB401C-3751-4ADB-9028-7F7A34D8CD9D}">
      <dgm:prSet/>
      <dgm:spPr/>
      <dgm:t>
        <a:bodyPr/>
        <a:lstStyle/>
        <a:p>
          <a:r>
            <a:rPr lang="en-US" b="1" i="0">
              <a:solidFill>
                <a:srgbClr val="012903"/>
              </a:solidFill>
              <a:latin typeface="Aptos ExtraBold" panose="020B0004020202020204" pitchFamily="34" charset="0"/>
            </a:rPr>
            <a:t>Enforcement of Commitments</a:t>
          </a:r>
        </a:p>
      </dgm:t>
    </dgm:pt>
    <dgm:pt modelId="{3D151B73-060E-4E13-AA09-5445CB41A9B3}" type="parTrans" cxnId="{7F7A0EB0-DF2A-4145-82B5-B191F7AA6832}">
      <dgm:prSet/>
      <dgm:spPr/>
      <dgm:t>
        <a:bodyPr/>
        <a:lstStyle/>
        <a:p>
          <a:endParaRPr lang="en-US"/>
        </a:p>
      </dgm:t>
    </dgm:pt>
    <dgm:pt modelId="{8D45A057-127C-46D4-AAD7-37AC41C731D3}" type="sibTrans" cxnId="{7F7A0EB0-DF2A-4145-82B5-B191F7AA6832}">
      <dgm:prSet/>
      <dgm:spPr/>
      <dgm:t>
        <a:bodyPr/>
        <a:lstStyle/>
        <a:p>
          <a:endParaRPr lang="en-US"/>
        </a:p>
      </dgm:t>
    </dgm:pt>
    <dgm:pt modelId="{F8E47FCE-CB65-4DAE-97A8-6978705D7C5C}">
      <dgm:prSet/>
      <dgm:spPr/>
      <dgm:t>
        <a:bodyPr/>
        <a:lstStyle/>
        <a:p>
          <a:r>
            <a:rPr lang="en-US" b="1" i="0">
              <a:solidFill>
                <a:srgbClr val="012903"/>
              </a:solidFill>
              <a:latin typeface="Aptos ExtraBold" panose="020B0004020202020204" pitchFamily="34" charset="0"/>
            </a:rPr>
            <a:t>Dynamic Incentives to Do The Right Thing</a:t>
          </a:r>
        </a:p>
      </dgm:t>
    </dgm:pt>
    <dgm:pt modelId="{732239FF-6BB4-4CB6-9410-0C5E63226B8C}" type="parTrans" cxnId="{DFE38196-F484-474D-A64F-75ED9AB9B705}">
      <dgm:prSet/>
      <dgm:spPr/>
      <dgm:t>
        <a:bodyPr/>
        <a:lstStyle/>
        <a:p>
          <a:endParaRPr lang="en-US"/>
        </a:p>
      </dgm:t>
    </dgm:pt>
    <dgm:pt modelId="{7A1D07BE-301F-4A90-9914-9A688A943DD3}" type="sibTrans" cxnId="{DFE38196-F484-474D-A64F-75ED9AB9B705}">
      <dgm:prSet/>
      <dgm:spPr/>
      <dgm:t>
        <a:bodyPr/>
        <a:lstStyle/>
        <a:p>
          <a:endParaRPr lang="en-US"/>
        </a:p>
      </dgm:t>
    </dgm:pt>
    <dgm:pt modelId="{CCE9506F-9432-4011-849B-87C4F04EC92C}">
      <dgm:prSet/>
      <dgm:spPr/>
      <dgm:t>
        <a:bodyPr/>
        <a:lstStyle/>
        <a:p>
          <a:r>
            <a:rPr lang="en-US" b="1" i="0">
              <a:solidFill>
                <a:srgbClr val="012903"/>
              </a:solidFill>
              <a:latin typeface="Aptos ExtraBold" panose="020B0004020202020204" pitchFamily="34" charset="0"/>
            </a:rPr>
            <a:t>Trust Building Between Countries</a:t>
          </a:r>
        </a:p>
      </dgm:t>
    </dgm:pt>
    <dgm:pt modelId="{DBC77ABE-00FB-4B4B-8218-AE5C76CCE616}" type="parTrans" cxnId="{BACBA1BE-A994-463D-9584-279CD5B1BDFF}">
      <dgm:prSet/>
      <dgm:spPr/>
      <dgm:t>
        <a:bodyPr/>
        <a:lstStyle/>
        <a:p>
          <a:endParaRPr lang="en-US"/>
        </a:p>
      </dgm:t>
    </dgm:pt>
    <dgm:pt modelId="{DB716467-D789-4F83-A0E9-B63D802925C0}" type="sibTrans" cxnId="{BACBA1BE-A994-463D-9584-279CD5B1BDFF}">
      <dgm:prSet/>
      <dgm:spPr/>
      <dgm:t>
        <a:bodyPr/>
        <a:lstStyle/>
        <a:p>
          <a:endParaRPr lang="en-US"/>
        </a:p>
      </dgm:t>
    </dgm:pt>
    <dgm:pt modelId="{89C3D3CC-DB2F-5A47-B0F2-56C3432580DE}" type="pres">
      <dgm:prSet presAssocID="{035B63C3-989C-40A2-B59C-8D76244297E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8D1659-AF19-AD40-B16B-7E9F1665486A}" type="pres">
      <dgm:prSet presAssocID="{B6BB401C-3751-4ADB-9028-7F7A34D8CD9D}" presName="hierRoot1" presStyleCnt="0"/>
      <dgm:spPr/>
    </dgm:pt>
    <dgm:pt modelId="{8EBEAC74-42DD-4E4B-B1F2-C602A53723E4}" type="pres">
      <dgm:prSet presAssocID="{B6BB401C-3751-4ADB-9028-7F7A34D8CD9D}" presName="composite" presStyleCnt="0"/>
      <dgm:spPr/>
    </dgm:pt>
    <dgm:pt modelId="{5D5D1CEB-6688-6342-9DB1-8478C777BE96}" type="pres">
      <dgm:prSet presAssocID="{B6BB401C-3751-4ADB-9028-7F7A34D8CD9D}" presName="background" presStyleLbl="node0" presStyleIdx="0" presStyleCnt="3"/>
      <dgm:spPr>
        <a:solidFill>
          <a:srgbClr val="012903"/>
        </a:solidFill>
        <a:ln>
          <a:solidFill>
            <a:srgbClr val="012903"/>
          </a:solidFill>
        </a:ln>
      </dgm:spPr>
    </dgm:pt>
    <dgm:pt modelId="{0BCD48E7-E160-8646-BF22-52732A2D7A25}" type="pres">
      <dgm:prSet presAssocID="{B6BB401C-3751-4ADB-9028-7F7A34D8CD9D}" presName="text" presStyleLbl="fgAcc0" presStyleIdx="0" presStyleCnt="3">
        <dgm:presLayoutVars>
          <dgm:chPref val="3"/>
        </dgm:presLayoutVars>
      </dgm:prSet>
      <dgm:spPr/>
    </dgm:pt>
    <dgm:pt modelId="{379340AA-F22C-B648-9DA6-96E69F4C6277}" type="pres">
      <dgm:prSet presAssocID="{B6BB401C-3751-4ADB-9028-7F7A34D8CD9D}" presName="hierChild2" presStyleCnt="0"/>
      <dgm:spPr/>
    </dgm:pt>
    <dgm:pt modelId="{793E151E-1A6E-6248-89FC-27F3B1C7AC72}" type="pres">
      <dgm:prSet presAssocID="{F8E47FCE-CB65-4DAE-97A8-6978705D7C5C}" presName="hierRoot1" presStyleCnt="0"/>
      <dgm:spPr/>
    </dgm:pt>
    <dgm:pt modelId="{DC34E237-2286-0241-8FF5-D0EA3E1B49BC}" type="pres">
      <dgm:prSet presAssocID="{F8E47FCE-CB65-4DAE-97A8-6978705D7C5C}" presName="composite" presStyleCnt="0"/>
      <dgm:spPr/>
    </dgm:pt>
    <dgm:pt modelId="{FAB46B04-3961-5842-AA28-AD5D64F868BF}" type="pres">
      <dgm:prSet presAssocID="{F8E47FCE-CB65-4DAE-97A8-6978705D7C5C}" presName="background" presStyleLbl="node0" presStyleIdx="1" presStyleCnt="3"/>
      <dgm:spPr>
        <a:solidFill>
          <a:srgbClr val="00463D"/>
        </a:solidFill>
        <a:ln>
          <a:solidFill>
            <a:srgbClr val="00463D"/>
          </a:solidFill>
        </a:ln>
      </dgm:spPr>
    </dgm:pt>
    <dgm:pt modelId="{E915B48F-859E-C341-B327-8139D85FC4BE}" type="pres">
      <dgm:prSet presAssocID="{F8E47FCE-CB65-4DAE-97A8-6978705D7C5C}" presName="text" presStyleLbl="fgAcc0" presStyleIdx="1" presStyleCnt="3">
        <dgm:presLayoutVars>
          <dgm:chPref val="3"/>
        </dgm:presLayoutVars>
      </dgm:prSet>
      <dgm:spPr/>
    </dgm:pt>
    <dgm:pt modelId="{EA849E48-168F-214B-879F-F6D725FD0888}" type="pres">
      <dgm:prSet presAssocID="{F8E47FCE-CB65-4DAE-97A8-6978705D7C5C}" presName="hierChild2" presStyleCnt="0"/>
      <dgm:spPr/>
    </dgm:pt>
    <dgm:pt modelId="{C3324152-8D19-7644-AE88-5A69CA070C15}" type="pres">
      <dgm:prSet presAssocID="{CCE9506F-9432-4011-849B-87C4F04EC92C}" presName="hierRoot1" presStyleCnt="0"/>
      <dgm:spPr/>
    </dgm:pt>
    <dgm:pt modelId="{031E6BEB-7F82-0440-8900-8950E0258629}" type="pres">
      <dgm:prSet presAssocID="{CCE9506F-9432-4011-849B-87C4F04EC92C}" presName="composite" presStyleCnt="0"/>
      <dgm:spPr/>
    </dgm:pt>
    <dgm:pt modelId="{DDA5A56D-0D42-8648-A7D2-E345A4ACDAA4}" type="pres">
      <dgm:prSet presAssocID="{CCE9506F-9432-4011-849B-87C4F04EC92C}" presName="background" presStyleLbl="node0" presStyleIdx="2" presStyleCnt="3"/>
      <dgm:spPr>
        <a:solidFill>
          <a:srgbClr val="62AA7B"/>
        </a:solidFill>
        <a:ln>
          <a:solidFill>
            <a:srgbClr val="62AA7B"/>
          </a:solidFill>
        </a:ln>
      </dgm:spPr>
    </dgm:pt>
    <dgm:pt modelId="{1A297C50-1B0B-A34D-8C81-61B18B0DA2D8}" type="pres">
      <dgm:prSet presAssocID="{CCE9506F-9432-4011-849B-87C4F04EC92C}" presName="text" presStyleLbl="fgAcc0" presStyleIdx="2" presStyleCnt="3">
        <dgm:presLayoutVars>
          <dgm:chPref val="3"/>
        </dgm:presLayoutVars>
      </dgm:prSet>
      <dgm:spPr/>
    </dgm:pt>
    <dgm:pt modelId="{F2B6DC67-637D-A04A-9443-349D4F3B1D6B}" type="pres">
      <dgm:prSet presAssocID="{CCE9506F-9432-4011-849B-87C4F04EC92C}" presName="hierChild2" presStyleCnt="0"/>
      <dgm:spPr/>
    </dgm:pt>
  </dgm:ptLst>
  <dgm:cxnLst>
    <dgm:cxn modelId="{2AF86901-7664-2140-ADF0-31B536B09E88}" type="presOf" srcId="{035B63C3-989C-40A2-B59C-8D76244297EA}" destId="{89C3D3CC-DB2F-5A47-B0F2-56C3432580DE}" srcOrd="0" destOrd="0" presId="urn:microsoft.com/office/officeart/2005/8/layout/hierarchy1"/>
    <dgm:cxn modelId="{2802960E-B0A4-9148-B427-58BCD82EF25D}" type="presOf" srcId="{B6BB401C-3751-4ADB-9028-7F7A34D8CD9D}" destId="{0BCD48E7-E160-8646-BF22-52732A2D7A25}" srcOrd="0" destOrd="0" presId="urn:microsoft.com/office/officeart/2005/8/layout/hierarchy1"/>
    <dgm:cxn modelId="{36CA9D11-9864-0E42-B9D3-916106C16B0C}" type="presOf" srcId="{F8E47FCE-CB65-4DAE-97A8-6978705D7C5C}" destId="{E915B48F-859E-C341-B327-8139D85FC4BE}" srcOrd="0" destOrd="0" presId="urn:microsoft.com/office/officeart/2005/8/layout/hierarchy1"/>
    <dgm:cxn modelId="{00E0A267-0A03-804D-A49B-6D8D20091A83}" type="presOf" srcId="{CCE9506F-9432-4011-849B-87C4F04EC92C}" destId="{1A297C50-1B0B-A34D-8C81-61B18B0DA2D8}" srcOrd="0" destOrd="0" presId="urn:microsoft.com/office/officeart/2005/8/layout/hierarchy1"/>
    <dgm:cxn modelId="{DFE38196-F484-474D-A64F-75ED9AB9B705}" srcId="{035B63C3-989C-40A2-B59C-8D76244297EA}" destId="{F8E47FCE-CB65-4DAE-97A8-6978705D7C5C}" srcOrd="1" destOrd="0" parTransId="{732239FF-6BB4-4CB6-9410-0C5E63226B8C}" sibTransId="{7A1D07BE-301F-4A90-9914-9A688A943DD3}"/>
    <dgm:cxn modelId="{7F7A0EB0-DF2A-4145-82B5-B191F7AA6832}" srcId="{035B63C3-989C-40A2-B59C-8D76244297EA}" destId="{B6BB401C-3751-4ADB-9028-7F7A34D8CD9D}" srcOrd="0" destOrd="0" parTransId="{3D151B73-060E-4E13-AA09-5445CB41A9B3}" sibTransId="{8D45A057-127C-46D4-AAD7-37AC41C731D3}"/>
    <dgm:cxn modelId="{BACBA1BE-A994-463D-9584-279CD5B1BDFF}" srcId="{035B63C3-989C-40A2-B59C-8D76244297EA}" destId="{CCE9506F-9432-4011-849B-87C4F04EC92C}" srcOrd="2" destOrd="0" parTransId="{DBC77ABE-00FB-4B4B-8218-AE5C76CCE616}" sibTransId="{DB716467-D789-4F83-A0E9-B63D802925C0}"/>
    <dgm:cxn modelId="{285890D7-753E-7F46-8D98-16C9EA6392E8}" type="presParOf" srcId="{89C3D3CC-DB2F-5A47-B0F2-56C3432580DE}" destId="{188D1659-AF19-AD40-B16B-7E9F1665486A}" srcOrd="0" destOrd="0" presId="urn:microsoft.com/office/officeart/2005/8/layout/hierarchy1"/>
    <dgm:cxn modelId="{0B308FC0-CC9C-6E4C-9067-58CBF0E06D5C}" type="presParOf" srcId="{188D1659-AF19-AD40-B16B-7E9F1665486A}" destId="{8EBEAC74-42DD-4E4B-B1F2-C602A53723E4}" srcOrd="0" destOrd="0" presId="urn:microsoft.com/office/officeart/2005/8/layout/hierarchy1"/>
    <dgm:cxn modelId="{B11B2E7E-0A9A-3E40-8E4C-98B83F193B2F}" type="presParOf" srcId="{8EBEAC74-42DD-4E4B-B1F2-C602A53723E4}" destId="{5D5D1CEB-6688-6342-9DB1-8478C777BE96}" srcOrd="0" destOrd="0" presId="urn:microsoft.com/office/officeart/2005/8/layout/hierarchy1"/>
    <dgm:cxn modelId="{CCB24970-6C9F-C74E-9949-61297B5DAEA9}" type="presParOf" srcId="{8EBEAC74-42DD-4E4B-B1F2-C602A53723E4}" destId="{0BCD48E7-E160-8646-BF22-52732A2D7A25}" srcOrd="1" destOrd="0" presId="urn:microsoft.com/office/officeart/2005/8/layout/hierarchy1"/>
    <dgm:cxn modelId="{A7D303B2-6F11-5143-B1A7-90EF47FB778A}" type="presParOf" srcId="{188D1659-AF19-AD40-B16B-7E9F1665486A}" destId="{379340AA-F22C-B648-9DA6-96E69F4C6277}" srcOrd="1" destOrd="0" presId="urn:microsoft.com/office/officeart/2005/8/layout/hierarchy1"/>
    <dgm:cxn modelId="{46CD04CD-8A89-094B-8151-C6D62F3D2BE5}" type="presParOf" srcId="{89C3D3CC-DB2F-5A47-B0F2-56C3432580DE}" destId="{793E151E-1A6E-6248-89FC-27F3B1C7AC72}" srcOrd="1" destOrd="0" presId="urn:microsoft.com/office/officeart/2005/8/layout/hierarchy1"/>
    <dgm:cxn modelId="{54AAE17B-9EB4-2F45-BECB-D5E3A76E54A0}" type="presParOf" srcId="{793E151E-1A6E-6248-89FC-27F3B1C7AC72}" destId="{DC34E237-2286-0241-8FF5-D0EA3E1B49BC}" srcOrd="0" destOrd="0" presId="urn:microsoft.com/office/officeart/2005/8/layout/hierarchy1"/>
    <dgm:cxn modelId="{F49E6369-3935-8A42-809F-ECC16AA1A565}" type="presParOf" srcId="{DC34E237-2286-0241-8FF5-D0EA3E1B49BC}" destId="{FAB46B04-3961-5842-AA28-AD5D64F868BF}" srcOrd="0" destOrd="0" presId="urn:microsoft.com/office/officeart/2005/8/layout/hierarchy1"/>
    <dgm:cxn modelId="{4EAFE750-0530-5143-8D31-3D1503273B0C}" type="presParOf" srcId="{DC34E237-2286-0241-8FF5-D0EA3E1B49BC}" destId="{E915B48F-859E-C341-B327-8139D85FC4BE}" srcOrd="1" destOrd="0" presId="urn:microsoft.com/office/officeart/2005/8/layout/hierarchy1"/>
    <dgm:cxn modelId="{89FECDF8-07C0-CA42-BA05-0B834BFA0E28}" type="presParOf" srcId="{793E151E-1A6E-6248-89FC-27F3B1C7AC72}" destId="{EA849E48-168F-214B-879F-F6D725FD0888}" srcOrd="1" destOrd="0" presId="urn:microsoft.com/office/officeart/2005/8/layout/hierarchy1"/>
    <dgm:cxn modelId="{527E45AF-E6D2-B740-9586-6C934248BF45}" type="presParOf" srcId="{89C3D3CC-DB2F-5A47-B0F2-56C3432580DE}" destId="{C3324152-8D19-7644-AE88-5A69CA070C15}" srcOrd="2" destOrd="0" presId="urn:microsoft.com/office/officeart/2005/8/layout/hierarchy1"/>
    <dgm:cxn modelId="{010DD509-E457-074E-9487-7A148E5F2DE7}" type="presParOf" srcId="{C3324152-8D19-7644-AE88-5A69CA070C15}" destId="{031E6BEB-7F82-0440-8900-8950E0258629}" srcOrd="0" destOrd="0" presId="urn:microsoft.com/office/officeart/2005/8/layout/hierarchy1"/>
    <dgm:cxn modelId="{B7EE3B4F-4060-C647-A041-48876C1F459F}" type="presParOf" srcId="{031E6BEB-7F82-0440-8900-8950E0258629}" destId="{DDA5A56D-0D42-8648-A7D2-E345A4ACDAA4}" srcOrd="0" destOrd="0" presId="urn:microsoft.com/office/officeart/2005/8/layout/hierarchy1"/>
    <dgm:cxn modelId="{3CCCD615-1CA9-3A47-8017-C71E2692295B}" type="presParOf" srcId="{031E6BEB-7F82-0440-8900-8950E0258629}" destId="{1A297C50-1B0B-A34D-8C81-61B18B0DA2D8}" srcOrd="1" destOrd="0" presId="urn:microsoft.com/office/officeart/2005/8/layout/hierarchy1"/>
    <dgm:cxn modelId="{D081DD7C-20DC-ED41-B761-DAEC1C4B02E2}" type="presParOf" srcId="{C3324152-8D19-7644-AE88-5A69CA070C15}" destId="{F2B6DC67-637D-A04A-9443-349D4F3B1D6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D70C0-8E1B-423B-8363-730DD4FD3C82}">
      <dsp:nvSpPr>
        <dsp:cNvPr id="0" name=""/>
        <dsp:cNvSpPr/>
      </dsp:nvSpPr>
      <dsp:spPr>
        <a:xfrm>
          <a:off x="1023028" y="1255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CAA067-5F0B-4EF7-92A2-2C242D1AA3E5}">
      <dsp:nvSpPr>
        <dsp:cNvPr id="0" name=""/>
        <dsp:cNvSpPr/>
      </dsp:nvSpPr>
      <dsp:spPr>
        <a:xfrm>
          <a:off x="1257028" y="246556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40575-BB44-4932-8221-5796E3D12D65}">
      <dsp:nvSpPr>
        <dsp:cNvPr id="0" name=""/>
        <dsp:cNvSpPr/>
      </dsp:nvSpPr>
      <dsp:spPr>
        <a:xfrm>
          <a:off x="672028" y="145255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solidFill>
                <a:srgbClr val="012903"/>
              </a:solidFill>
            </a:rPr>
            <a:t>Local and Regional Coordination</a:t>
          </a:r>
          <a:endParaRPr lang="en-US" sz="1700" kern="1200" dirty="0">
            <a:solidFill>
              <a:srgbClr val="012903"/>
            </a:solidFill>
          </a:endParaRPr>
        </a:p>
      </dsp:txBody>
      <dsp:txXfrm>
        <a:off x="672028" y="1452556"/>
        <a:ext cx="1800000" cy="720000"/>
      </dsp:txXfrm>
    </dsp:sp>
    <dsp:sp modelId="{01E8AD02-9DCA-4BE4-AEE8-709A2843C614}">
      <dsp:nvSpPr>
        <dsp:cNvPr id="0" name=""/>
        <dsp:cNvSpPr/>
      </dsp:nvSpPr>
      <dsp:spPr>
        <a:xfrm>
          <a:off x="3138028" y="1255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7A525-625D-41D4-8D67-3F1EB03F3319}">
      <dsp:nvSpPr>
        <dsp:cNvPr id="0" name=""/>
        <dsp:cNvSpPr/>
      </dsp:nvSpPr>
      <dsp:spPr>
        <a:xfrm>
          <a:off x="3372028" y="246556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1E33F-AA2D-4493-BC9A-8AC47625C7A4}">
      <dsp:nvSpPr>
        <dsp:cNvPr id="0" name=""/>
        <dsp:cNvSpPr/>
      </dsp:nvSpPr>
      <dsp:spPr>
        <a:xfrm>
          <a:off x="2787028" y="145255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solidFill>
                <a:srgbClr val="012903"/>
              </a:solidFill>
            </a:rPr>
            <a:t>Moving Beyond Traditional Carbon Pricing</a:t>
          </a:r>
          <a:endParaRPr lang="en-US" sz="1700" kern="1200" dirty="0">
            <a:solidFill>
              <a:srgbClr val="012903"/>
            </a:solidFill>
          </a:endParaRPr>
        </a:p>
      </dsp:txBody>
      <dsp:txXfrm>
        <a:off x="2787028" y="1452556"/>
        <a:ext cx="1800000" cy="720000"/>
      </dsp:txXfrm>
    </dsp:sp>
    <dsp:sp modelId="{EC942C65-CEE2-4F33-899E-5A4F53A21A86}">
      <dsp:nvSpPr>
        <dsp:cNvPr id="0" name=""/>
        <dsp:cNvSpPr/>
      </dsp:nvSpPr>
      <dsp:spPr>
        <a:xfrm>
          <a:off x="5253028" y="1255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9B4F9-5FF7-492E-BD62-47F74014F97C}">
      <dsp:nvSpPr>
        <dsp:cNvPr id="0" name=""/>
        <dsp:cNvSpPr/>
      </dsp:nvSpPr>
      <dsp:spPr>
        <a:xfrm>
          <a:off x="5487028" y="246556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B4FD1C-B813-44BB-9517-E0960E45BEE1}">
      <dsp:nvSpPr>
        <dsp:cNvPr id="0" name=""/>
        <dsp:cNvSpPr/>
      </dsp:nvSpPr>
      <dsp:spPr>
        <a:xfrm>
          <a:off x="4902028" y="145255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solidFill>
                <a:srgbClr val="012903"/>
              </a:solidFill>
            </a:rPr>
            <a:t>Generalized Pricing Policy</a:t>
          </a:r>
          <a:endParaRPr lang="en-US" sz="1700" kern="1200" dirty="0">
            <a:solidFill>
              <a:srgbClr val="012903"/>
            </a:solidFill>
          </a:endParaRPr>
        </a:p>
      </dsp:txBody>
      <dsp:txXfrm>
        <a:off x="4902028" y="1452556"/>
        <a:ext cx="1800000" cy="720000"/>
      </dsp:txXfrm>
    </dsp:sp>
    <dsp:sp modelId="{9DFE3B8D-363E-4D43-A454-3E8C8FA4B275}">
      <dsp:nvSpPr>
        <dsp:cNvPr id="0" name=""/>
        <dsp:cNvSpPr/>
      </dsp:nvSpPr>
      <dsp:spPr>
        <a:xfrm>
          <a:off x="7368028" y="1255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42875-88B3-4C83-B72C-5555C4E997FB}">
      <dsp:nvSpPr>
        <dsp:cNvPr id="0" name=""/>
        <dsp:cNvSpPr/>
      </dsp:nvSpPr>
      <dsp:spPr>
        <a:xfrm>
          <a:off x="7602028" y="246556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29458-848F-4D9E-AD6B-33EF90993699}">
      <dsp:nvSpPr>
        <dsp:cNvPr id="0" name=""/>
        <dsp:cNvSpPr/>
      </dsp:nvSpPr>
      <dsp:spPr>
        <a:xfrm>
          <a:off x="7017028" y="145255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solidFill>
                <a:srgbClr val="012903"/>
              </a:solidFill>
            </a:rPr>
            <a:t>Investment in Supply and Demand</a:t>
          </a:r>
          <a:endParaRPr lang="en-US" sz="1700" kern="1200" dirty="0">
            <a:solidFill>
              <a:srgbClr val="012903"/>
            </a:solidFill>
          </a:endParaRPr>
        </a:p>
      </dsp:txBody>
      <dsp:txXfrm>
        <a:off x="7017028" y="1452556"/>
        <a:ext cx="1800000" cy="720000"/>
      </dsp:txXfrm>
    </dsp:sp>
    <dsp:sp modelId="{69FA5862-7F01-4826-BE6B-01FE117B498E}">
      <dsp:nvSpPr>
        <dsp:cNvPr id="0" name=""/>
        <dsp:cNvSpPr/>
      </dsp:nvSpPr>
      <dsp:spPr>
        <a:xfrm>
          <a:off x="2080528" y="262255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7EA606-C166-4BC7-B91C-424442730CA7}">
      <dsp:nvSpPr>
        <dsp:cNvPr id="0" name=""/>
        <dsp:cNvSpPr/>
      </dsp:nvSpPr>
      <dsp:spPr>
        <a:xfrm>
          <a:off x="2314528" y="2856556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202D51-14A6-4675-93F3-1740160CF1A3}">
      <dsp:nvSpPr>
        <dsp:cNvPr id="0" name=""/>
        <dsp:cNvSpPr/>
      </dsp:nvSpPr>
      <dsp:spPr>
        <a:xfrm>
          <a:off x="1729528" y="406255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solidFill>
                <a:srgbClr val="012903"/>
              </a:solidFill>
            </a:rPr>
            <a:t>Deforestation Commitments</a:t>
          </a:r>
          <a:endParaRPr lang="en-US" sz="1700" kern="1200" dirty="0">
            <a:solidFill>
              <a:srgbClr val="012903"/>
            </a:solidFill>
          </a:endParaRPr>
        </a:p>
      </dsp:txBody>
      <dsp:txXfrm>
        <a:off x="1729528" y="4062556"/>
        <a:ext cx="1800000" cy="720000"/>
      </dsp:txXfrm>
    </dsp:sp>
    <dsp:sp modelId="{6AB193ED-F5E6-4F58-908F-4155E48980BF}">
      <dsp:nvSpPr>
        <dsp:cNvPr id="0" name=""/>
        <dsp:cNvSpPr/>
      </dsp:nvSpPr>
      <dsp:spPr>
        <a:xfrm>
          <a:off x="4195528" y="262255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C6C5F-46A3-4045-91F3-40E84CDDDFBF}">
      <dsp:nvSpPr>
        <dsp:cNvPr id="0" name=""/>
        <dsp:cNvSpPr/>
      </dsp:nvSpPr>
      <dsp:spPr>
        <a:xfrm>
          <a:off x="4429528" y="2856556"/>
          <a:ext cx="630000" cy="63000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7CF2B-3AF6-468C-8653-390CD3DF782B}">
      <dsp:nvSpPr>
        <dsp:cNvPr id="0" name=""/>
        <dsp:cNvSpPr/>
      </dsp:nvSpPr>
      <dsp:spPr>
        <a:xfrm>
          <a:off x="3844528" y="406255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solidFill>
                <a:srgbClr val="012903"/>
              </a:solidFill>
            </a:rPr>
            <a:t>Simplified Policy Mix</a:t>
          </a:r>
          <a:endParaRPr lang="en-US" sz="1700" kern="1200" dirty="0">
            <a:solidFill>
              <a:srgbClr val="012903"/>
            </a:solidFill>
          </a:endParaRPr>
        </a:p>
      </dsp:txBody>
      <dsp:txXfrm>
        <a:off x="3844528" y="4062556"/>
        <a:ext cx="1800000" cy="720000"/>
      </dsp:txXfrm>
    </dsp:sp>
    <dsp:sp modelId="{4B48F567-E23E-4EBC-B29B-A406003D7331}">
      <dsp:nvSpPr>
        <dsp:cNvPr id="0" name=""/>
        <dsp:cNvSpPr/>
      </dsp:nvSpPr>
      <dsp:spPr>
        <a:xfrm>
          <a:off x="6310528" y="2622556"/>
          <a:ext cx="1098000" cy="1098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24B8DA-B97B-4A3C-8694-0062574D8F12}">
      <dsp:nvSpPr>
        <dsp:cNvPr id="0" name=""/>
        <dsp:cNvSpPr/>
      </dsp:nvSpPr>
      <dsp:spPr>
        <a:xfrm>
          <a:off x="6544528" y="2856556"/>
          <a:ext cx="630000" cy="63000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478BE-7A08-4282-BA6E-D2ABC7E809C0}">
      <dsp:nvSpPr>
        <dsp:cNvPr id="0" name=""/>
        <dsp:cNvSpPr/>
      </dsp:nvSpPr>
      <dsp:spPr>
        <a:xfrm>
          <a:off x="5959528" y="406255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solidFill>
                <a:srgbClr val="012903"/>
              </a:solidFill>
            </a:rPr>
            <a:t>Effectiveness Measurement</a:t>
          </a:r>
          <a:endParaRPr lang="en-US" sz="1700" kern="1200" dirty="0">
            <a:solidFill>
              <a:srgbClr val="012903"/>
            </a:solidFill>
          </a:endParaRPr>
        </a:p>
      </dsp:txBody>
      <dsp:txXfrm>
        <a:off x="5959528" y="4062556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5D1CEB-6688-6342-9DB1-8478C777BE96}">
      <dsp:nvSpPr>
        <dsp:cNvPr id="0" name=""/>
        <dsp:cNvSpPr/>
      </dsp:nvSpPr>
      <dsp:spPr>
        <a:xfrm>
          <a:off x="0" y="1307619"/>
          <a:ext cx="3214687" cy="2041326"/>
        </a:xfrm>
        <a:prstGeom prst="roundRect">
          <a:avLst>
            <a:gd name="adj" fmla="val 10000"/>
          </a:avLst>
        </a:prstGeom>
        <a:solidFill>
          <a:srgbClr val="012903"/>
        </a:solidFill>
        <a:ln w="19050" cap="flat" cmpd="sng" algn="ctr">
          <a:solidFill>
            <a:srgbClr val="01290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BCD48E7-E160-8646-BF22-52732A2D7A25}">
      <dsp:nvSpPr>
        <dsp:cNvPr id="0" name=""/>
        <dsp:cNvSpPr/>
      </dsp:nvSpPr>
      <dsp:spPr>
        <a:xfrm>
          <a:off x="357187" y="1646947"/>
          <a:ext cx="3214687" cy="2041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>
              <a:solidFill>
                <a:srgbClr val="012903"/>
              </a:solidFill>
              <a:latin typeface="Aptos ExtraBold" panose="020B0004020202020204" pitchFamily="34" charset="0"/>
            </a:rPr>
            <a:t>Enforcement of Commitments</a:t>
          </a:r>
        </a:p>
      </dsp:txBody>
      <dsp:txXfrm>
        <a:off x="416975" y="1706735"/>
        <a:ext cx="3095111" cy="1921750"/>
      </dsp:txXfrm>
    </dsp:sp>
    <dsp:sp modelId="{FAB46B04-3961-5842-AA28-AD5D64F868BF}">
      <dsp:nvSpPr>
        <dsp:cNvPr id="0" name=""/>
        <dsp:cNvSpPr/>
      </dsp:nvSpPr>
      <dsp:spPr>
        <a:xfrm>
          <a:off x="3929062" y="1307619"/>
          <a:ext cx="3214687" cy="2041326"/>
        </a:xfrm>
        <a:prstGeom prst="roundRect">
          <a:avLst>
            <a:gd name="adj" fmla="val 10000"/>
          </a:avLst>
        </a:prstGeom>
        <a:solidFill>
          <a:srgbClr val="00463D"/>
        </a:solidFill>
        <a:ln w="19050" cap="flat" cmpd="sng" algn="ctr">
          <a:solidFill>
            <a:srgbClr val="00463D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15B48F-859E-C341-B327-8139D85FC4BE}">
      <dsp:nvSpPr>
        <dsp:cNvPr id="0" name=""/>
        <dsp:cNvSpPr/>
      </dsp:nvSpPr>
      <dsp:spPr>
        <a:xfrm>
          <a:off x="4286250" y="1646947"/>
          <a:ext cx="3214687" cy="2041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>
              <a:solidFill>
                <a:srgbClr val="012903"/>
              </a:solidFill>
              <a:latin typeface="Aptos ExtraBold" panose="020B0004020202020204" pitchFamily="34" charset="0"/>
            </a:rPr>
            <a:t>Dynamic Incentives to Do The Right Thing</a:t>
          </a:r>
        </a:p>
      </dsp:txBody>
      <dsp:txXfrm>
        <a:off x="4346038" y="1706735"/>
        <a:ext cx="3095111" cy="1921750"/>
      </dsp:txXfrm>
    </dsp:sp>
    <dsp:sp modelId="{DDA5A56D-0D42-8648-A7D2-E345A4ACDAA4}">
      <dsp:nvSpPr>
        <dsp:cNvPr id="0" name=""/>
        <dsp:cNvSpPr/>
      </dsp:nvSpPr>
      <dsp:spPr>
        <a:xfrm>
          <a:off x="7858125" y="1307619"/>
          <a:ext cx="3214687" cy="2041326"/>
        </a:xfrm>
        <a:prstGeom prst="roundRect">
          <a:avLst>
            <a:gd name="adj" fmla="val 10000"/>
          </a:avLst>
        </a:prstGeom>
        <a:solidFill>
          <a:srgbClr val="62AA7B"/>
        </a:solidFill>
        <a:ln w="19050" cap="flat" cmpd="sng" algn="ctr">
          <a:solidFill>
            <a:srgbClr val="62AA7B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A297C50-1B0B-A34D-8C81-61B18B0DA2D8}">
      <dsp:nvSpPr>
        <dsp:cNvPr id="0" name=""/>
        <dsp:cNvSpPr/>
      </dsp:nvSpPr>
      <dsp:spPr>
        <a:xfrm>
          <a:off x="8215312" y="1646947"/>
          <a:ext cx="3214687" cy="20413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>
              <a:solidFill>
                <a:srgbClr val="012903"/>
              </a:solidFill>
              <a:latin typeface="Aptos ExtraBold" panose="020B0004020202020204" pitchFamily="34" charset="0"/>
            </a:rPr>
            <a:t>Trust Building Between Countries</a:t>
          </a:r>
        </a:p>
      </dsp:txBody>
      <dsp:txXfrm>
        <a:off x="8275100" y="1706735"/>
        <a:ext cx="3095111" cy="1921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cfb641d87b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2cfb641d87b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cfb641d87b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cfb641d87b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cfb641d87b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2cfb641d87b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3141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cfb641d87b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tabLst/>
              <a:defRPr/>
            </a:pPr>
            <a:r>
              <a:rPr lang="en-GB" sz="1600" dirty="0">
                <a:solidFill>
                  <a:srgbClr val="B2DCEA"/>
                </a:solidFill>
                <a:latin typeface="Aptos" panose="020B0004020202020204" pitchFamily="34" charset="0"/>
              </a:rPr>
              <a:t>Economic Growth vs. Decarbonization: </a:t>
            </a:r>
            <a:r>
              <a:rPr lang="en-GB" sz="1600" dirty="0">
                <a:solidFill>
                  <a:schemeClr val="tx1"/>
                </a:solidFill>
                <a:latin typeface="Aptos" panose="020B0004020202020204" pitchFamily="34" charset="0"/>
              </a:rPr>
              <a:t>Countries prioritize economic growth, historically linked to higher emissions without decarbonization policies.</a:t>
            </a:r>
          </a:p>
          <a:p>
            <a:pPr lvl="1"/>
            <a:endParaRPr lang="en-GB" sz="1500" dirty="0"/>
          </a:p>
          <a:p>
            <a:pPr lvl="1"/>
            <a:r>
              <a:rPr lang="en-GB" sz="1500" dirty="0"/>
              <a:t>Carbon Tax Pros:</a:t>
            </a:r>
          </a:p>
          <a:p>
            <a:pPr lvl="2"/>
            <a:r>
              <a:rPr lang="en-GB" sz="1500" dirty="0"/>
              <a:t>Effective in principle due to national co-benefits.</a:t>
            </a:r>
          </a:p>
          <a:p>
            <a:pPr lvl="2"/>
            <a:r>
              <a:rPr lang="en-GB" sz="1500" dirty="0"/>
              <a:t>GDP-neutral if revenue-neutral.</a:t>
            </a:r>
          </a:p>
          <a:p>
            <a:pPr lvl="1"/>
            <a:r>
              <a:rPr lang="en-GB" sz="1500" dirty="0"/>
              <a:t>Carbon Tax Cons:</a:t>
            </a:r>
          </a:p>
          <a:p>
            <a:pPr lvl="2"/>
            <a:r>
              <a:rPr lang="en-GB" sz="1500" dirty="0"/>
              <a:t>Unpopular and politically challenging.</a:t>
            </a:r>
          </a:p>
          <a:p>
            <a:pPr lvl="2"/>
            <a:r>
              <a:rPr lang="en-GB" sz="1500" dirty="0"/>
              <a:t>Ineffective at realistic tax levels.</a:t>
            </a:r>
          </a:p>
          <a:p>
            <a:pPr lvl="2"/>
            <a:r>
              <a:rPr lang="en-GB" sz="1500" dirty="0"/>
              <a:t>Not on the critical path to net zero—often not the first necessary step.</a:t>
            </a:r>
          </a:p>
          <a:p>
            <a:pPr lvl="2"/>
            <a:r>
              <a:rPr lang="en-GB" sz="1500" dirty="0"/>
              <a:t>Limited motivation for small carbon taxes</a:t>
            </a:r>
            <a:endParaRPr lang="en-US" sz="1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5" name="Google Shape;385;g2cfb641d87b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2742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cfb641d87b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g2cfb641d87b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857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100" b="1" dirty="0">
                <a:latin typeface="Aptos ExtraBold" panose="020B0004020202020204" pitchFamily="34" charset="0"/>
              </a:rPr>
              <a:t>By leveraging international contracts and trust funds, we can enhance accountability, reduce financial risk, and encourage stronger, more ambitious commitments.</a:t>
            </a:r>
          </a:p>
          <a:p>
            <a:pPr marL="15875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4033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cfb641d87b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600" b="1"/>
              <a:t>Motivation for Action</a:t>
            </a:r>
            <a:r>
              <a:rPr lang="en-GB" sz="1600"/>
              <a:t>: </a:t>
            </a:r>
            <a:r>
              <a:rPr lang="en-GB" sz="1600" b="0" i="0">
                <a:latin typeface="Aptos Light" panose="020B0004020202020204" pitchFamily="34" charset="0"/>
              </a:rPr>
              <a:t>Dynamic incentives create urgency and encourage early commitment, driving faster and more ambitious action.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GB" sz="1600" b="0" i="0">
                <a:latin typeface="Aptos Light" panose="020B0004020202020204" pitchFamily="34" charset="0"/>
              </a:rPr>
              <a:t> . In a gym, people are encouraged to join quickly through time-limited incentives, fostering a sense of urgency and commitment.</a:t>
            </a:r>
            <a:endParaRPr lang="en-GB" sz="1600"/>
          </a:p>
          <a:p>
            <a:pPr lvl="0"/>
            <a:r>
              <a:rPr lang="en-GB" sz="1600" b="1" i="0">
                <a:latin typeface="Aptos" panose="020B0004020202020204" pitchFamily="34" charset="0"/>
              </a:rPr>
              <a:t>Renewables Contracts: </a:t>
            </a:r>
            <a:r>
              <a:rPr lang="en-GB" sz="1600" b="0" i="0">
                <a:latin typeface="Aptos Light" panose="020B0004020202020204" pitchFamily="34" charset="0"/>
              </a:rPr>
              <a:t>Offering better revenue deals for signing up early, such as with offshore wind contracts, creates a competitive dynamic and accelerates adoption.</a:t>
            </a:r>
            <a:endParaRPr lang="en-US" sz="1600" b="0" i="0">
              <a:latin typeface="Aptos Light" panose="020B0004020202020204" pitchFamily="34" charset="0"/>
            </a:endParaRPr>
          </a:p>
          <a:p>
            <a:pPr lvl="0"/>
            <a:r>
              <a:rPr lang="en-GB" sz="1600" b="1" i="0">
                <a:latin typeface="Aptos" panose="020B0004020202020204" pitchFamily="34" charset="0"/>
              </a:rPr>
              <a:t>Small Countries as Norm Entrepreneurs</a:t>
            </a:r>
            <a:r>
              <a:rPr lang="en-GB" sz="1600" b="0" i="0">
                <a:latin typeface="Aptos Light" panose="020B0004020202020204" pitchFamily="34" charset="0"/>
              </a:rPr>
              <a:t>: Instead of asking countries to take small steps, incentivize small countries to take significant actions. Reward them for becoming leaders in setting global norms.</a:t>
            </a:r>
            <a:endParaRPr lang="en-US" sz="1600" b="0" i="0">
              <a:latin typeface="Aptos Light" panose="020B0004020202020204" pitchFamily="34" charset="0"/>
            </a:endParaRPr>
          </a:p>
          <a:p>
            <a:pPr lvl="0"/>
            <a:r>
              <a:rPr lang="en-GB" sz="1600" b="1" i="0">
                <a:latin typeface="Aptos" panose="020B0004020202020204" pitchFamily="34" charset="0"/>
              </a:rPr>
              <a:t>High-Return Processes: </a:t>
            </a:r>
            <a:r>
              <a:rPr lang="en-GB" sz="1600" b="0" i="0">
                <a:latin typeface="Aptos Light" panose="020B0004020202020204" pitchFamily="34" charset="0"/>
              </a:rPr>
              <a:t>In equity investment, getting in early on a process with high returns is crucial. Similarly, can we design incentives to generate these high returns and encourage early participation?</a:t>
            </a:r>
            <a:endParaRPr lang="en-US" sz="1600" b="0" i="0">
              <a:latin typeface="Aptos Light" panose="020B0004020202020204" pitchFamily="34" charset="0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sz="1600" b="0" i="0">
              <a:latin typeface="Aptos Light" panose="020B00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2cfb641d87b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9414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cfb641d87b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2cfb641d87b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92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1"/>
            <a:ext cx="12192000" cy="4479924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lIns="0" tIns="0" rIns="0" bIns="0"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2536694"/>
            <a:ext cx="10955383" cy="1066818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EEF29-1660-B535-28CA-CDB76C2A9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308" y="3610452"/>
            <a:ext cx="10955383" cy="49129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DAEFB8"/>
                </a:solidFill>
                <a:latin typeface="Aptos Light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448157"/>
            <a:ext cx="12192000" cy="8309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0" name="Text Placeholder 331">
            <a:extLst>
              <a:ext uri="{FF2B5EF4-FFF2-40B4-BE49-F238E27FC236}">
                <a16:creationId xmlns:a16="http://schemas.microsoft.com/office/drawing/2014/main" id="{07F963C1-B46B-E73C-0D6F-78ACDC434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88062" y="5247968"/>
            <a:ext cx="3885629" cy="109393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r" defTabSz="914400" rtl="0" eaLnBrk="1" fontAlgn="base" latinLnBrk="0" hangingPunct="1">
              <a:lnSpc>
                <a:spcPct val="115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Tx/>
              <a:buNone/>
              <a:tabLst/>
              <a:defRPr sz="1600" b="0" i="0" baseline="0">
                <a:solidFill>
                  <a:schemeClr val="tx1"/>
                </a:solidFill>
                <a:latin typeface="Aptos Light" panose="020B0004020202020204" pitchFamily="34" charset="0"/>
                <a:cs typeface="Arial"/>
              </a:defRPr>
            </a:lvl1pPr>
            <a:lvl2pPr marL="0" marR="0" indent="0" algn="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783C"/>
              </a:buClr>
              <a:buSzTx/>
              <a:buFont typeface="Wingdings" charset="0"/>
              <a:buNone/>
              <a:tabLst/>
              <a:defRPr sz="1600" b="0" i="0">
                <a:solidFill>
                  <a:schemeClr val="tx1"/>
                </a:solidFill>
                <a:latin typeface="Aptos Light" panose="020B0004020202020204" pitchFamily="34" charset="0"/>
                <a:cs typeface="Andes ExtraLight"/>
              </a:defRPr>
            </a:lvl2pPr>
            <a:lvl3pPr>
              <a:defRPr b="0" i="0">
                <a:latin typeface="Andes ExtraLight"/>
                <a:cs typeface="Andes ExtraLight"/>
              </a:defRPr>
            </a:lvl3pPr>
            <a:lvl4pPr>
              <a:defRPr b="0" i="0">
                <a:latin typeface="Andes ExtraLight"/>
                <a:cs typeface="Andes ExtraLight"/>
              </a:defRPr>
            </a:lvl4pPr>
            <a:lvl5pPr>
              <a:defRPr b="0" i="0">
                <a:latin typeface="Andes ExtraLight"/>
                <a:cs typeface="Andes ExtraLigh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6062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oking up at the sky through the trees&#10;&#10;Description automatically generated">
            <a:extLst>
              <a:ext uri="{FF2B5EF4-FFF2-40B4-BE49-F238E27FC236}">
                <a16:creationId xmlns:a16="http://schemas.microsoft.com/office/drawing/2014/main" id="{93E89D5A-95FC-C9B6-1B0C-99FF0E10BC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1716"/>
          <a:stretch/>
        </p:blipFill>
        <p:spPr>
          <a:xfrm>
            <a:off x="-1" y="152227"/>
            <a:ext cx="12192001" cy="6705774"/>
          </a:xfrm>
          <a:prstGeom prst="rect">
            <a:avLst/>
          </a:prstGeom>
        </p:spPr>
      </p:pic>
      <p:sp>
        <p:nvSpPr>
          <p:cNvPr id="28" name="Google Shape;10;p2">
            <a:extLst>
              <a:ext uri="{FF2B5EF4-FFF2-40B4-BE49-F238E27FC236}">
                <a16:creationId xmlns:a16="http://schemas.microsoft.com/office/drawing/2014/main" id="{5228A903-53C0-8F47-64A3-A47C5B74A222}"/>
              </a:ext>
            </a:extLst>
          </p:cNvPr>
          <p:cNvSpPr/>
          <p:nvPr userDrawn="1"/>
        </p:nvSpPr>
        <p:spPr>
          <a:xfrm>
            <a:off x="0" y="0"/>
            <a:ext cx="12192000" cy="64770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529B4-9A66-3967-93D1-B1E1D764E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070" y="641434"/>
            <a:ext cx="1043178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 b="1" i="0">
                <a:solidFill>
                  <a:srgbClr val="012903"/>
                </a:solidFill>
                <a:latin typeface="+mj-lt"/>
                <a:cs typeface="Arial Hebrew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037B6-4255-92E8-A047-EA43DE80A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070" y="3238500"/>
            <a:ext cx="6172200" cy="6414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>
                <a:solidFill>
                  <a:srgbClr val="20615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305172B-6733-BD95-91C3-40B44DC1B9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03660" y="5015753"/>
            <a:ext cx="2729566" cy="1575547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235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  <a:solidFill>
            <a:schemeClr val="tx1"/>
          </a:solidFill>
        </p:spPr>
        <p:txBody>
          <a:bodyPr lIns="0" tIns="0" rIns="0" bIns="0" anchor="b"/>
          <a:lstStyle>
            <a:lvl1pPr algn="l">
              <a:defRPr sz="6000" b="1"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4" name="Picture 3" descr="A road through a forest&#10;&#10;Description automatically generated">
            <a:extLst>
              <a:ext uri="{FF2B5EF4-FFF2-40B4-BE49-F238E27FC236}">
                <a16:creationId xmlns:a16="http://schemas.microsoft.com/office/drawing/2014/main" id="{968505F6-D10F-F3F2-069D-D9803AFF55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3" b="17096"/>
          <a:stretch/>
        </p:blipFill>
        <p:spPr>
          <a:xfrm>
            <a:off x="-1" y="-1077066"/>
            <a:ext cx="12191999" cy="57081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39B807-FF59-567E-4263-5A96FBAA9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631037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1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  <a:solidFill>
            <a:schemeClr val="tx1"/>
          </a:solidFill>
        </p:spPr>
        <p:txBody>
          <a:bodyPr lIns="0" tIns="0" rIns="0" bIns="0" anchor="b"/>
          <a:lstStyle>
            <a:lvl1pPr algn="l">
              <a:defRPr sz="6000" b="1"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9B807-FF59-567E-4263-5A96FBAA9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631037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pic>
        <p:nvPicPr>
          <p:cNvPr id="6" name="Picture 5" descr="A solar panels in a field&#10;&#10;Description automatically generated">
            <a:extLst>
              <a:ext uri="{FF2B5EF4-FFF2-40B4-BE49-F238E27FC236}">
                <a16:creationId xmlns:a16="http://schemas.microsoft.com/office/drawing/2014/main" id="{B527EF49-ED44-8886-1A6D-4891E1E99F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561" b="24593"/>
          <a:stretch/>
        </p:blipFill>
        <p:spPr>
          <a:xfrm>
            <a:off x="-1" y="0"/>
            <a:ext cx="12191999" cy="478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56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08" y="5279894"/>
            <a:ext cx="10955383" cy="1066818"/>
          </a:xfrm>
          <a:solidFill>
            <a:schemeClr val="tx1"/>
          </a:solidFill>
        </p:spPr>
        <p:txBody>
          <a:bodyPr lIns="0" tIns="0" rIns="0" bIns="0" anchor="b"/>
          <a:lstStyle>
            <a:lvl1pPr algn="l">
              <a:defRPr sz="6000" b="1"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39B807-FF59-567E-4263-5A96FBAA98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4631037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pic>
        <p:nvPicPr>
          <p:cNvPr id="6" name="Picture 5" descr="A group of flags on poles&#10;&#10;Description automatically generated">
            <a:extLst>
              <a:ext uri="{FF2B5EF4-FFF2-40B4-BE49-F238E27FC236}">
                <a16:creationId xmlns:a16="http://schemas.microsoft.com/office/drawing/2014/main" id="{64E47F4D-B06C-ABA1-D497-E17376B2B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9868" b="10277"/>
          <a:stretch/>
        </p:blipFill>
        <p:spPr>
          <a:xfrm>
            <a:off x="0" y="0"/>
            <a:ext cx="12201577" cy="478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6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4A1690-501B-E3A8-EC14-F39DD4830685}"/>
              </a:ext>
            </a:extLst>
          </p:cNvPr>
          <p:cNvSpPr>
            <a:spLocks noChangeArrowheads="1"/>
          </p:cNvSpPr>
          <p:nvPr userDrawn="1"/>
        </p:nvSpPr>
        <p:spPr bwMode="auto">
          <a:xfrm flipV="1">
            <a:off x="0" y="-3"/>
            <a:ext cx="4251962" cy="6858001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310" y="502920"/>
            <a:ext cx="3293290" cy="1676400"/>
          </a:xfrm>
        </p:spPr>
        <p:txBody>
          <a:bodyPr lIns="0" tIns="0" rIns="0" bIns="0" anchor="t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466BD-30A3-5235-DD6E-0AE34EA4C34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800103" y="3406141"/>
            <a:ext cx="6857999" cy="45719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605" y="502920"/>
            <a:ext cx="7027086" cy="6069330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latin typeface="Aptos Light" panose="020B0004020202020204" pitchFamily="34" charset="0"/>
              </a:defRPr>
            </a:lvl1pPr>
            <a:lvl2pPr marL="9144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2pPr>
            <a:lvl3pPr marL="13716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3pPr>
            <a:lvl4pPr marL="17145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4pPr>
            <a:lvl5pPr marL="21717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28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oking up view of trees in the forest&#10;&#10;Description automatically generated">
            <a:extLst>
              <a:ext uri="{FF2B5EF4-FFF2-40B4-BE49-F238E27FC236}">
                <a16:creationId xmlns:a16="http://schemas.microsoft.com/office/drawing/2014/main" id="{20B1A34C-0D90-B616-EFBB-FDB8D03F53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347" t="312" r="23757" b="1"/>
          <a:stretch/>
        </p:blipFill>
        <p:spPr>
          <a:xfrm>
            <a:off x="0" y="0"/>
            <a:ext cx="6096000" cy="685799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EED4C-3CAC-6637-0225-8789721F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0643" y="310551"/>
            <a:ext cx="5479304" cy="6261699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latin typeface="Aptos Light" panose="020B0004020202020204" pitchFamily="34" charset="0"/>
              </a:defRPr>
            </a:lvl1pPr>
            <a:lvl2pPr marL="9144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2pPr>
            <a:lvl3pPr marL="1371600" indent="-457200">
              <a:buFont typeface="+mj-lt"/>
              <a:buAutoNum type="alphaLcPeriod"/>
              <a:defRPr>
                <a:latin typeface="Aptos Light" panose="020B0004020202020204" pitchFamily="34" charset="0"/>
              </a:defRPr>
            </a:lvl3pPr>
            <a:lvl4pPr marL="17145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4pPr>
            <a:lvl5pPr marL="2171700" indent="-342900">
              <a:buFont typeface="+mj-lt"/>
              <a:buAutoNum type="alphaLcPeriod"/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EDA41B-4AD7-BD9A-0D6A-42E85823E5F0}"/>
              </a:ext>
            </a:extLst>
          </p:cNvPr>
          <p:cNvSpPr/>
          <p:nvPr userDrawn="1"/>
        </p:nvSpPr>
        <p:spPr>
          <a:xfrm>
            <a:off x="0" y="-21442"/>
            <a:ext cx="6096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F460CF-7279-C343-F39E-33739C82BF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8310" y="502920"/>
            <a:ext cx="3293290" cy="1676400"/>
          </a:xfrm>
        </p:spPr>
        <p:txBody>
          <a:bodyPr lIns="0" tIns="0" rIns="0" bIns="0" anchor="t">
            <a:normAutofit/>
          </a:bodyPr>
          <a:lstStyle>
            <a:lvl1pPr algn="l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GB"/>
              <a:t>Content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21C46E-C07A-23B4-FD4E-7D2CB47B1BB7}"/>
              </a:ext>
            </a:extLst>
          </p:cNvPr>
          <p:cNvSpPr/>
          <p:nvPr userDrawn="1"/>
        </p:nvSpPr>
        <p:spPr>
          <a:xfrm>
            <a:off x="2110740" y="2028118"/>
            <a:ext cx="7970520" cy="1004641"/>
          </a:xfrm>
          <a:prstGeom prst="rect">
            <a:avLst/>
          </a:prstGeom>
          <a:solidFill>
            <a:schemeClr val="bg2">
              <a:lumMod val="10000"/>
              <a:lumOff val="90000"/>
            </a:schemeClr>
          </a:solidFill>
          <a:ln>
            <a:solidFill>
              <a:srgbClr val="EBF1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3F7E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4ECE9-FB3A-2F1D-4F8A-B6156A14D49A}"/>
              </a:ext>
            </a:extLst>
          </p:cNvPr>
          <p:cNvSpPr/>
          <p:nvPr userDrawn="1"/>
        </p:nvSpPr>
        <p:spPr>
          <a:xfrm>
            <a:off x="2110740" y="3514283"/>
            <a:ext cx="7970520" cy="10046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DAF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735EB7-8A85-F1A7-484B-19DF5EDFBCF7}"/>
              </a:ext>
            </a:extLst>
          </p:cNvPr>
          <p:cNvSpPr/>
          <p:nvPr userDrawn="1"/>
        </p:nvSpPr>
        <p:spPr>
          <a:xfrm>
            <a:off x="2110740" y="5000448"/>
            <a:ext cx="7970520" cy="1004641"/>
          </a:xfrm>
          <a:prstGeom prst="rect">
            <a:avLst/>
          </a:prstGeom>
          <a:solidFill>
            <a:srgbClr val="EBF4D6"/>
          </a:solidFill>
          <a:ln>
            <a:solidFill>
              <a:srgbClr val="EC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DF2199-3789-DB84-6347-50303262C3CB}"/>
              </a:ext>
            </a:extLst>
          </p:cNvPr>
          <p:cNvSpPr txBox="1"/>
          <p:nvPr userDrawn="1"/>
        </p:nvSpPr>
        <p:spPr>
          <a:xfrm>
            <a:off x="2331720" y="2028118"/>
            <a:ext cx="752856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>
              <a:solidFill>
                <a:srgbClr val="022A03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21D204-B214-EC89-8A00-774DF2A83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4260" y="2028118"/>
            <a:ext cx="6256020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11B325F-AC10-1656-7E35-68E4607B646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04259" y="3514283"/>
            <a:ext cx="6256019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59C0CB4-338D-ED40-8A54-E72C02A503A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04259" y="5000447"/>
            <a:ext cx="6256019" cy="1004641"/>
          </a:xfr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FontTx/>
              <a:buNone/>
              <a:defRPr sz="2000" b="1">
                <a:solidFill>
                  <a:srgbClr val="022A03"/>
                </a:solidFill>
                <a:latin typeface="+mj-lt"/>
              </a:defRPr>
            </a:lvl1pPr>
            <a:lvl2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600" b="1">
                <a:latin typeface="Aptos Light" panose="020B0004020202020204" pitchFamily="34" charset="0"/>
              </a:defRPr>
            </a:lvl2pPr>
            <a:lvl3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200">
                <a:latin typeface="Aptos Light" panose="020B0004020202020204" pitchFamily="34" charset="0"/>
              </a:defRPr>
            </a:lvl3pPr>
            <a:lvl4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4pPr>
            <a:lvl5pPr marL="180000" indent="0">
              <a:lnSpc>
                <a:spcPct val="150000"/>
              </a:lnSpc>
              <a:spcBef>
                <a:spcPts val="0"/>
              </a:spcBef>
              <a:buFontTx/>
              <a:buNone/>
              <a:defRPr sz="11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63633D-EB5D-A98F-07DA-3BA009619755}"/>
              </a:ext>
            </a:extLst>
          </p:cNvPr>
          <p:cNvSpPr txBox="1"/>
          <p:nvPr userDrawn="1"/>
        </p:nvSpPr>
        <p:spPr>
          <a:xfrm>
            <a:off x="2110740" y="2028118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66B016-9CAC-1A98-A39F-7A2C4634380B}"/>
              </a:ext>
            </a:extLst>
          </p:cNvPr>
          <p:cNvSpPr txBox="1"/>
          <p:nvPr userDrawn="1"/>
        </p:nvSpPr>
        <p:spPr>
          <a:xfrm>
            <a:off x="2110740" y="3508771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EBA865-8E0C-574B-6D4E-A940B292CEC2}"/>
              </a:ext>
            </a:extLst>
          </p:cNvPr>
          <p:cNvSpPr txBox="1"/>
          <p:nvPr userDrawn="1"/>
        </p:nvSpPr>
        <p:spPr>
          <a:xfrm>
            <a:off x="2110740" y="4985593"/>
            <a:ext cx="12268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>
                <a:solidFill>
                  <a:srgbClr val="022A03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D10C3E-C94C-ABFF-8AD4-E5A988B72F6E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70" y="2489725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AFB70-F0DE-04D2-6E4C-9C0E7BF36D9A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9" y="3962951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9EB62E-E343-2D52-74C0-6A97CF75238C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2814368" y="5429432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22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ooden walkway in a forest&#10;&#10;Description automatically generated">
            <a:extLst>
              <a:ext uri="{FF2B5EF4-FFF2-40B4-BE49-F238E27FC236}">
                <a16:creationId xmlns:a16="http://schemas.microsoft.com/office/drawing/2014/main" id="{445ADA8B-D6F1-C84D-5945-C74A2801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348"/>
          <a:stretch/>
        </p:blipFill>
        <p:spPr>
          <a:xfrm>
            <a:off x="0" y="276351"/>
            <a:ext cx="12209253" cy="658164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3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ad through a forest&#10;&#10;Description automatically generated">
            <a:extLst>
              <a:ext uri="{FF2B5EF4-FFF2-40B4-BE49-F238E27FC236}">
                <a16:creationId xmlns:a16="http://schemas.microsoft.com/office/drawing/2014/main" id="{9832E27F-9C2A-365F-A163-4E3AAD2C87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977"/>
          <a:stretch/>
        </p:blipFill>
        <p:spPr>
          <a:xfrm>
            <a:off x="0" y="101601"/>
            <a:ext cx="12192000" cy="681853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683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through a forest&#10;&#10;Description automatically generated">
            <a:extLst>
              <a:ext uri="{FF2B5EF4-FFF2-40B4-BE49-F238E27FC236}">
                <a16:creationId xmlns:a16="http://schemas.microsoft.com/office/drawing/2014/main" id="{0AF91E05-FC38-FE38-4ECF-292EF2AA6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42" b="975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9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oking up at a bamboo forest&#10;&#10;Description automatically generated">
            <a:extLst>
              <a:ext uri="{FF2B5EF4-FFF2-40B4-BE49-F238E27FC236}">
                <a16:creationId xmlns:a16="http://schemas.microsoft.com/office/drawing/2014/main" id="{21929F2E-9082-1906-F698-F2DB66E77C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5" b="7335"/>
          <a:stretch/>
        </p:blipFill>
        <p:spPr>
          <a:xfrm>
            <a:off x="0" y="14909"/>
            <a:ext cx="12192000" cy="684309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8F486A1-5B10-30DF-7DA3-04446568B48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871FA0-D799-C1BA-C553-079B442A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426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A7922-DC05-E090-3733-47F38B64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F33BF7-518E-D456-88E0-CC757E2446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252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5A3EFE-D4C6-CD71-FF12-B7BA4700E69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4199953"/>
            <a:ext cx="11430000" cy="245101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14FACF-FB05-C1DF-5ED5-B96388F76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0D7F58-F86D-8FFC-DE9C-F1B5AAA9332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851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352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 an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7DF5A4A-C504-EC4B-9173-257B619E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129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B6DE8E-8099-E1A6-5857-888283BBFBE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406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&amp; 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10302" y="2090057"/>
            <a:ext cx="5600700" cy="3988526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7F982E-7A3C-7545-FD99-AB3C6948944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0998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63CA293-AF07-B48E-784E-090121C7D02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2" y="1659429"/>
            <a:ext cx="5600700" cy="430628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latin typeface="Aptos Ligh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E58DB2A-9A7E-122D-D4B9-6C7666CF228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81000" y="6078583"/>
            <a:ext cx="11430000" cy="58782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ptos Light" panose="020B0004020202020204" pitchFamily="34" charset="0"/>
              </a:defRPr>
            </a:lvl1pPr>
            <a:lvl2pPr>
              <a:defRPr>
                <a:latin typeface="Aptos Light" panose="020B0004020202020204" pitchFamily="34" charset="0"/>
              </a:defRPr>
            </a:lvl2pPr>
            <a:lvl3pPr>
              <a:defRPr>
                <a:latin typeface="Aptos Light" panose="020B0004020202020204" pitchFamily="34" charset="0"/>
              </a:defRPr>
            </a:lvl3pPr>
            <a:lvl4pPr>
              <a:defRPr>
                <a:latin typeface="Aptos Light" panose="020B0004020202020204" pitchFamily="34" charset="0"/>
              </a:defRPr>
            </a:lvl4pPr>
            <a:lvl5pPr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8FD8D7-CA6B-F920-3AB1-CB8A5A95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1D5AFC-0440-485B-86C8-810AC47BC78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542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C23E97-5B22-0A3A-F786-3D00A0AE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28C66A-A1B5-E52B-DD72-9B16AED5E2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86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15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FABAE81-F060-D0FD-2B68-9764A8A7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8CE43B-C898-AC6A-07F1-7A35FE4092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5323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even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756132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1DD5961-ADE9-2181-33D2-EC5BE44F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44F587-94FB-7D0A-7054-897BD1844F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2295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/>
            </a:lvl1pPr>
            <a:lvl2pPr>
              <a:lnSpc>
                <a:spcPct val="150000"/>
              </a:lnSpc>
              <a:spcBef>
                <a:spcPts val="0"/>
              </a:spcBef>
              <a:defRPr/>
            </a:lvl2pPr>
            <a:lvl3pPr>
              <a:lnSpc>
                <a:spcPct val="150000"/>
              </a:lnSpc>
              <a:spcBef>
                <a:spcPts val="0"/>
              </a:spcBef>
              <a:defRPr/>
            </a:lvl3pPr>
            <a:lvl4pPr>
              <a:lnSpc>
                <a:spcPct val="150000"/>
              </a:lnSpc>
              <a:spcBef>
                <a:spcPts val="0"/>
              </a:spcBef>
              <a:defRPr/>
            </a:lvl4pPr>
            <a:lvl5pPr>
              <a:lnSpc>
                <a:spcPct val="15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2E47B4-724D-A743-4C32-A99CFAC5C79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891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A7E6D-E8D4-E6DA-B873-7DD55BBEA6E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116062" y="165942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6857C3D-DFAF-2C05-2FA1-0AE2EE70D8A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248912" y="4240679"/>
            <a:ext cx="3694176" cy="2414644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2311C06-D0D0-F28C-7A0E-2E1DBAFCECE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16062" y="4240679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/>
            </a:lvl1pPr>
            <a:lvl2pPr>
              <a:lnSpc>
                <a:spcPct val="150000"/>
              </a:lnSpc>
              <a:spcBef>
                <a:spcPts val="0"/>
              </a:spcBef>
              <a:defRPr sz="1600"/>
            </a:lvl2pPr>
            <a:lvl3pPr>
              <a:lnSpc>
                <a:spcPct val="150000"/>
              </a:lnSpc>
              <a:spcBef>
                <a:spcPts val="0"/>
              </a:spcBef>
              <a:defRPr sz="1400"/>
            </a:lvl3pPr>
            <a:lvl4pPr>
              <a:lnSpc>
                <a:spcPct val="150000"/>
              </a:lnSpc>
              <a:spcBef>
                <a:spcPts val="0"/>
              </a:spcBef>
              <a:defRPr sz="1200"/>
            </a:lvl4pPr>
            <a:lvl5pPr>
              <a:lnSpc>
                <a:spcPct val="150000"/>
              </a:lnSpc>
              <a:spcBef>
                <a:spcPts val="0"/>
              </a:spcBef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158A48-4088-8821-E336-55D08AAF8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4887F-C1C1-1B12-7812-77CC727B0D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625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15300" y="1659430"/>
            <a:ext cx="3694176" cy="4995894"/>
          </a:xfrm>
        </p:spPr>
        <p:txBody>
          <a:bodyPr lIns="0" tIns="0" rIns="0" bIns="0"/>
          <a:lstStyle>
            <a:lvl1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6CF8AF-8E7F-C392-6B60-25F939B99E8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8150" y="165943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33F1A7-9B69-663A-6FCC-445F8A30671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8100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B16FC6-E5D0-5E3C-FD29-0F9A5CDE76E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48150" y="4240680"/>
            <a:ext cx="3694176" cy="23976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3E00A60-14E6-D079-B651-45272189B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0C8F2-C127-AF53-70B7-4952579458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8218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A38DF-7FA1-2EEE-B727-FE50B7F9F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9430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9D9041-DAB5-C930-72C5-3F3800198FC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2" y="1659429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C4B1BB-C5E2-974C-81F3-2FF06120B36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80998" y="4201485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849F3D-31FF-F086-E4A6-F57D3C5BDB6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97600" y="4201484"/>
            <a:ext cx="5613400" cy="2384973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800">
                <a:latin typeface="Aptos Light" panose="020B00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1600">
                <a:latin typeface="Aptos Light" panose="020B00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400">
                <a:latin typeface="Aptos Light" panose="020B00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200">
                <a:latin typeface="Aptos Light" panose="020B00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DDA1A4-E243-0BD0-0643-3DEA660D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</p:spPr>
        <p:txBody>
          <a:bodyPr lIns="0" tIns="0" rIns="0" bIns="0"/>
          <a:lstStyle>
            <a:lvl1pPr>
              <a:lnSpc>
                <a:spcPct val="100000"/>
              </a:lnSpc>
              <a:defRPr>
                <a:solidFill>
                  <a:srgbClr val="022A0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7B879-CC67-E7A8-1C3D-AD59065A8C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/>
          <a:lstStyle>
            <a:lvl1pPr marL="115888" indent="-115888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1pPr>
            <a:lvl2pPr marL="742950" indent="-28575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2pPr>
            <a:lvl3pPr marL="11430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3pPr>
            <a:lvl4pPr marL="16002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4pPr>
            <a:lvl5pPr marL="2057400" indent="-228600" eaLnBrk="0" hangingPunct="0"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rebuchet MS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  <a:defRPr/>
            </a:pPr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2344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064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actory with smoke coming out of it&#10;&#10;Description automatically generated">
            <a:extLst>
              <a:ext uri="{FF2B5EF4-FFF2-40B4-BE49-F238E27FC236}">
                <a16:creationId xmlns:a16="http://schemas.microsoft.com/office/drawing/2014/main" id="{A9157873-58AD-4AA2-6D8E-F03598A35D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07" t="-2" b="15321"/>
          <a:stretch/>
        </p:blipFill>
        <p:spPr>
          <a:xfrm>
            <a:off x="0" y="-1"/>
            <a:ext cx="12445594" cy="6858001"/>
          </a:xfrm>
          <a:prstGeom prst="rect">
            <a:avLst/>
          </a:prstGeom>
        </p:spPr>
      </p:pic>
      <p:sp>
        <p:nvSpPr>
          <p:cNvPr id="6" name="Google Shape;90;p19">
            <a:extLst>
              <a:ext uri="{FF2B5EF4-FFF2-40B4-BE49-F238E27FC236}">
                <a16:creationId xmlns:a16="http://schemas.microsoft.com/office/drawing/2014/main" id="{39AFFF43-5BE9-F318-34BD-0DC6CEA6A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4400"/>
              <a:buFont typeface="Arial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4975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actory with smoke coming out of it&#10;&#10;Description automatically generated">
            <a:extLst>
              <a:ext uri="{FF2B5EF4-FFF2-40B4-BE49-F238E27FC236}">
                <a16:creationId xmlns:a16="http://schemas.microsoft.com/office/drawing/2014/main" id="{A9157873-58AD-4AA2-6D8E-F03598A35D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07" t="-2" b="81342"/>
          <a:stretch/>
        </p:blipFill>
        <p:spPr>
          <a:xfrm>
            <a:off x="0" y="-1"/>
            <a:ext cx="12445594" cy="1511159"/>
          </a:xfrm>
          <a:prstGeom prst="rect">
            <a:avLst/>
          </a:prstGeom>
        </p:spPr>
      </p:pic>
      <p:sp>
        <p:nvSpPr>
          <p:cNvPr id="6" name="Google Shape;90;p19">
            <a:extLst>
              <a:ext uri="{FF2B5EF4-FFF2-40B4-BE49-F238E27FC236}">
                <a16:creationId xmlns:a16="http://schemas.microsoft.com/office/drawing/2014/main" id="{39AFFF43-5BE9-F318-34BD-0DC6CEA6A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4400"/>
              <a:buFont typeface="Arial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57664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olar panels in a field&#10;&#10;Description automatically generated">
            <a:extLst>
              <a:ext uri="{FF2B5EF4-FFF2-40B4-BE49-F238E27FC236}">
                <a16:creationId xmlns:a16="http://schemas.microsoft.com/office/drawing/2014/main" id="{532817DF-7DF3-EA26-7E2E-0CD799FCD7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7104"/>
          <a:stretch/>
        </p:blipFill>
        <p:spPr>
          <a:xfrm>
            <a:off x="0" y="0"/>
            <a:ext cx="12192000" cy="69806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1A8E33-5F87-A167-2351-B1EE03685320}"/>
              </a:ext>
            </a:extLst>
          </p:cNvPr>
          <p:cNvSpPr/>
          <p:nvPr userDrawn="1"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>
            <a:solidFill>
              <a:srgbClr val="022A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90;p19">
            <a:extLst>
              <a:ext uri="{FF2B5EF4-FFF2-40B4-BE49-F238E27FC236}">
                <a16:creationId xmlns:a16="http://schemas.microsoft.com/office/drawing/2014/main" id="{39AFFF43-5BE9-F318-34BD-0DC6CEA6A8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4400"/>
              <a:buFont typeface="Arial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923099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04665"/>
            <a:ext cx="5198293" cy="129614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13-Sep-24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D29DD13-E7CE-CD40-CC13-3D082FB68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67534" y="404660"/>
            <a:ext cx="3860799" cy="1296145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  <a:lvl2pPr marL="609494" indent="0">
              <a:buNone/>
              <a:defRPr sz="1800"/>
            </a:lvl2pPr>
            <a:lvl3pPr marL="1218986" indent="0">
              <a:buNone/>
              <a:defRPr sz="1800"/>
            </a:lvl3pPr>
            <a:lvl4pPr marL="1828480" indent="0">
              <a:buNone/>
              <a:defRPr sz="1800"/>
            </a:lvl4pPr>
            <a:lvl5pPr marL="2437973" indent="0">
              <a:buNone/>
              <a:defRPr sz="1800"/>
            </a:lvl5pPr>
          </a:lstStyle>
          <a:p>
            <a:pPr lvl="0"/>
            <a:r>
              <a:rPr lang="en-US"/>
              <a:t>Insert your desired text here. This is a sample text.</a:t>
            </a:r>
          </a:p>
        </p:txBody>
      </p:sp>
    </p:spTree>
    <p:extLst>
      <p:ext uri="{BB962C8B-B14F-4D97-AF65-F5344CB8AC3E}">
        <p14:creationId xmlns:p14="http://schemas.microsoft.com/office/powerpoint/2010/main" val="4969611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Points">
  <p:cSld name="1_Key Poin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/>
          <p:nvPr/>
        </p:nvSpPr>
        <p:spPr>
          <a:xfrm>
            <a:off x="0" y="1"/>
            <a:ext cx="12192000" cy="1351398"/>
          </a:xfrm>
          <a:prstGeom prst="rect">
            <a:avLst/>
          </a:prstGeom>
          <a:solidFill>
            <a:srgbClr val="022A03"/>
          </a:solidFill>
          <a:ln w="12700" cap="flat" cmpd="sng">
            <a:solidFill>
              <a:srgbClr val="022A0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7"/>
          <p:cNvSpPr/>
          <p:nvPr/>
        </p:nvSpPr>
        <p:spPr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2110740" y="2028118"/>
            <a:ext cx="7970520" cy="1004641"/>
          </a:xfrm>
          <a:prstGeom prst="rect">
            <a:avLst/>
          </a:prstGeom>
          <a:solidFill>
            <a:srgbClr val="E9F0EE"/>
          </a:solidFill>
          <a:ln w="12700" cap="flat" cmpd="sng">
            <a:solidFill>
              <a:srgbClr val="EBF1E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3F7E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/>
          <p:nvPr/>
        </p:nvSpPr>
        <p:spPr>
          <a:xfrm>
            <a:off x="2110740" y="3514283"/>
            <a:ext cx="7970520" cy="1004641"/>
          </a:xfrm>
          <a:prstGeom prst="rect">
            <a:avLst/>
          </a:prstGeom>
          <a:solidFill>
            <a:srgbClr val="D7F3EC"/>
          </a:solidFill>
          <a:ln w="12700" cap="flat" cmpd="sng">
            <a:solidFill>
              <a:srgbClr val="DAF4ED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"/>
          <p:cNvSpPr/>
          <p:nvPr/>
        </p:nvSpPr>
        <p:spPr>
          <a:xfrm>
            <a:off x="2110740" y="5000448"/>
            <a:ext cx="7970520" cy="1004641"/>
          </a:xfrm>
          <a:prstGeom prst="rect">
            <a:avLst/>
          </a:prstGeom>
          <a:solidFill>
            <a:srgbClr val="EBF4D6"/>
          </a:solidFill>
          <a:ln w="12700" cap="flat" cmpd="sng">
            <a:solidFill>
              <a:srgbClr val="ECF4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"/>
          <p:cNvSpPr txBox="1"/>
          <p:nvPr/>
        </p:nvSpPr>
        <p:spPr>
          <a:xfrm>
            <a:off x="2331720" y="2028118"/>
            <a:ext cx="7528560" cy="467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22A0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604260" y="2028118"/>
            <a:ext cx="6256020" cy="1004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2000"/>
              <a:buFont typeface="Play"/>
              <a:buNone/>
              <a:defRPr sz="2000" b="1">
                <a:solidFill>
                  <a:srgbClr val="022A03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2"/>
          </p:nvPr>
        </p:nvSpPr>
        <p:spPr>
          <a:xfrm>
            <a:off x="3604259" y="3514283"/>
            <a:ext cx="6256019" cy="1004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2000"/>
              <a:buFont typeface="Play"/>
              <a:buNone/>
              <a:defRPr sz="2000" b="1">
                <a:solidFill>
                  <a:srgbClr val="022A03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3"/>
          </p:nvPr>
        </p:nvSpPr>
        <p:spPr>
          <a:xfrm>
            <a:off x="3604259" y="5000447"/>
            <a:ext cx="6256019" cy="1004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2000"/>
              <a:buFont typeface="Play"/>
              <a:buNone/>
              <a:defRPr sz="2000" b="1">
                <a:solidFill>
                  <a:srgbClr val="022A03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lvl="1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600"/>
              <a:buFont typeface="Arial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100"/>
              <a:buFont typeface="Arial"/>
              <a:buNone/>
              <a:defRPr sz="11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/>
          <p:nvPr/>
        </p:nvSpPr>
        <p:spPr>
          <a:xfrm>
            <a:off x="2110740" y="2028118"/>
            <a:ext cx="12268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2A0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" name="Google Shape;30;p7"/>
          <p:cNvSpPr txBox="1"/>
          <p:nvPr/>
        </p:nvSpPr>
        <p:spPr>
          <a:xfrm>
            <a:off x="2110740" y="3508771"/>
            <a:ext cx="12268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2A0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" name="Google Shape;31;p7"/>
          <p:cNvSpPr txBox="1"/>
          <p:nvPr/>
        </p:nvSpPr>
        <p:spPr>
          <a:xfrm>
            <a:off x="2110740" y="4985593"/>
            <a:ext cx="122682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22A0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 rot="-5400000">
            <a:off x="2814370" y="2489725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" name="Google Shape;33;p7"/>
          <p:cNvSpPr/>
          <p:nvPr/>
        </p:nvSpPr>
        <p:spPr>
          <a:xfrm rot="-5400000">
            <a:off x="2814369" y="3962951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" name="Google Shape;34;p7"/>
          <p:cNvSpPr/>
          <p:nvPr/>
        </p:nvSpPr>
        <p:spPr>
          <a:xfrm rot="-5400000">
            <a:off x="2814368" y="5429432"/>
            <a:ext cx="1030518" cy="107303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605754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Rows">
  <p:cSld name="1_2 Row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381000" y="1659430"/>
            <a:ext cx="11430000" cy="245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2"/>
          </p:nvPr>
        </p:nvSpPr>
        <p:spPr>
          <a:xfrm>
            <a:off x="381000" y="4199953"/>
            <a:ext cx="11430000" cy="245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56D18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81000" y="451968"/>
            <a:ext cx="11430000" cy="78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A03"/>
              </a:buClr>
              <a:buSzPts val="4400"/>
              <a:buFont typeface="Arial"/>
              <a:buNone/>
              <a:defRPr>
                <a:solidFill>
                  <a:srgbClr val="022A0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0" y="1355231"/>
            <a:ext cx="12192000" cy="155927"/>
          </a:xfrm>
          <a:prstGeom prst="rect">
            <a:avLst/>
          </a:prstGeom>
          <a:solidFill>
            <a:srgbClr val="022A0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5888" marR="0" lvl="0" indent="-33337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rebuchet MS"/>
              <a:buNone/>
            </a:pPr>
            <a:endParaRPr sz="13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144306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ad through a forest&#10;&#10;Description automatically generated">
            <a:extLst>
              <a:ext uri="{FF2B5EF4-FFF2-40B4-BE49-F238E27FC236}">
                <a16:creationId xmlns:a16="http://schemas.microsoft.com/office/drawing/2014/main" id="{0AF91E05-FC38-FE38-4ECF-292EF2AA62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7150" b="-10177"/>
          <a:stretch/>
        </p:blipFill>
        <p:spPr>
          <a:xfrm>
            <a:off x="0" y="-1"/>
            <a:ext cx="12192000" cy="42434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D8120CB-5858-2E84-94BD-3B2A0D79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502997"/>
            <a:ext cx="11430000" cy="782584"/>
          </a:xfrm>
        </p:spPr>
        <p:txBody>
          <a:bodyPr lIns="0" tIns="0" rIns="0" bIns="0">
            <a:noAutofit/>
          </a:bodyPr>
          <a:lstStyle>
            <a:lvl1pPr algn="ctr">
              <a:lnSpc>
                <a:spcPct val="100000"/>
              </a:lnSpc>
              <a:defRPr sz="6000" b="1" i="0">
                <a:solidFill>
                  <a:schemeClr val="tx1"/>
                </a:solidFill>
                <a:latin typeface="Aptos ExtraBold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16930D3-75B6-6460-3374-82A5C33B6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624942"/>
            <a:ext cx="11430000" cy="2580821"/>
          </a:xfrm>
        </p:spPr>
        <p:txBody>
          <a:bodyPr/>
          <a:lstStyle>
            <a:lvl1pPr marL="514350" indent="-514350">
              <a:buFont typeface="+mj-lt"/>
              <a:buAutoNum type="arabicPeriod"/>
              <a:defRPr b="0" i="0">
                <a:solidFill>
                  <a:srgbClr val="022A03"/>
                </a:solidFill>
                <a:latin typeface="Aptos Light" panose="020B0004020202020204" pitchFamily="34" charset="0"/>
              </a:defRPr>
            </a:lvl1pPr>
            <a:lvl2pPr marL="914400" indent="-4572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2pPr>
            <a:lvl3pPr marL="1371600" indent="-4572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3pPr>
            <a:lvl4pPr marL="1714500" indent="-3429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4pPr>
            <a:lvl5pPr marL="2171700" indent="-342900">
              <a:buFont typeface="Arial" panose="020B0604020202020204" pitchFamily="34" charset="0"/>
              <a:buChar char="•"/>
              <a:defRPr b="0" i="0">
                <a:solidFill>
                  <a:srgbClr val="416E2A"/>
                </a:solidFill>
                <a:latin typeface="Aptos Light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02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983212-0AE2-29C1-9A4B-0250F406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685800"/>
            <a:ext cx="11439526" cy="100488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D208F-AA04-F314-4451-C85FCF1D9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4"/>
            <a:ext cx="11439525" cy="48296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14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710" r:id="rId4"/>
    <p:sldLayoutId id="2147483711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  <p:sldLayoutId id="2147483704" r:id="rId23"/>
    <p:sldLayoutId id="2147483705" r:id="rId24"/>
    <p:sldLayoutId id="2147483706" r:id="rId25"/>
    <p:sldLayoutId id="2147483712" r:id="rId26"/>
    <p:sldLayoutId id="2147483714" r:id="rId27"/>
    <p:sldLayoutId id="2147483713" r:id="rId28"/>
    <p:sldLayoutId id="2147483707" r:id="rId29"/>
    <p:sldLayoutId id="2147483708" r:id="rId30"/>
    <p:sldLayoutId id="2147483709" r:id="rId31"/>
    <p:sldLayoutId id="2147483715" r:id="rId3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12903"/>
          </a:solidFill>
          <a:latin typeface="Aptos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2903"/>
          </a:solidFill>
          <a:latin typeface="Aptos Light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56D18"/>
          </a:solidFill>
          <a:latin typeface="Aptos Light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ell.de/sites/default/files/2021-06/DRGR%20Report%202021%20Endf.pdf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onlinelibrary.wiley.com/doi/epdf/10.1111/1758-5899.13286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-tipping-points.org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959378023000651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ind turbines in a field&#10;&#10;Description automatically generated">
            <a:extLst>
              <a:ext uri="{FF2B5EF4-FFF2-40B4-BE49-F238E27FC236}">
                <a16:creationId xmlns:a16="http://schemas.microsoft.com/office/drawing/2014/main" id="{465B7B35-3B24-9E85-BADC-5762887AFA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079" b="37627"/>
          <a:stretch/>
        </p:blipFill>
        <p:spPr>
          <a:xfrm>
            <a:off x="0" y="4472848"/>
            <a:ext cx="12192000" cy="2385152"/>
          </a:xfrm>
          <a:prstGeom prst="rect">
            <a:avLst/>
          </a:prstGeom>
        </p:spPr>
      </p:pic>
      <p:sp>
        <p:nvSpPr>
          <p:cNvPr id="387" name="Google Shape;387;g2cfb641d87b_0_558"/>
          <p:cNvSpPr txBox="1">
            <a:spLocks noGrp="1"/>
          </p:cNvSpPr>
          <p:nvPr>
            <p:ph type="ctrTitle"/>
          </p:nvPr>
        </p:nvSpPr>
        <p:spPr>
          <a:xfrm>
            <a:off x="617538" y="916045"/>
            <a:ext cx="10956925" cy="2512955"/>
          </a:xfr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>
                <a:solidFill>
                  <a:srgbClr val="D7CBBD"/>
                </a:solidFill>
                <a:latin typeface="Aptos"/>
                <a:sym typeface="Arial"/>
              </a:rPr>
              <a:t>A Short Course on Robust Climate Policy</a:t>
            </a:r>
            <a:endParaRPr lang="en-US">
              <a:solidFill>
                <a:srgbClr val="D7CBBD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63DE3001-2019-8FDD-B17F-0642D16CD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308" y="3610452"/>
            <a:ext cx="10955383" cy="491290"/>
          </a:xfrm>
        </p:spPr>
        <p:txBody>
          <a:bodyPr vert="horz" lIns="0" tIns="0" rIns="0" bIns="0" rtlCol="0" anchor="t">
            <a:normAutofit fontScale="92500" lnSpcReduction="10000"/>
          </a:bodyPr>
          <a:lstStyle/>
          <a:p>
            <a:r>
              <a:rPr lang="en-US" i="1" dirty="0">
                <a:solidFill>
                  <a:srgbClr val="B2C7C8"/>
                </a:solidFill>
                <a:latin typeface="Aptos Light"/>
                <a:sym typeface="Arial"/>
              </a:rPr>
              <a:t>Module F: Global Mechanisms and Finance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F2F45A-C4EC-F501-076C-F960A1BC3C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8062" y="5247968"/>
            <a:ext cx="3885629" cy="1093938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rgbClr val="012903"/>
                </a:solidFill>
                <a:latin typeface="Aptos Light"/>
              </a:rPr>
              <a:t>Stephen Stretton</a:t>
            </a:r>
          </a:p>
          <a:p>
            <a:pPr>
              <a:lnSpc>
                <a:spcPct val="114999"/>
              </a:lnSpc>
            </a:pPr>
            <a:r>
              <a:rPr lang="en-US">
                <a:solidFill>
                  <a:srgbClr val="012903"/>
                </a:solidFill>
                <a:latin typeface="Aptos Light"/>
              </a:rPr>
              <a:t>Climate Economics</a:t>
            </a:r>
          </a:p>
          <a:p>
            <a:r>
              <a:rPr lang="en-US" i="1">
                <a:solidFill>
                  <a:srgbClr val="012903"/>
                </a:solidFill>
                <a:latin typeface="Aptos Light"/>
              </a:rPr>
              <a:t>American University, Kyiv</a:t>
            </a:r>
            <a:endParaRPr lang="en-US" i="1">
              <a:solidFill>
                <a:srgbClr val="012903"/>
              </a:solidFill>
            </a:endParaRPr>
          </a:p>
          <a:p>
            <a:r>
              <a:rPr lang="en-US">
                <a:solidFill>
                  <a:srgbClr val="012903"/>
                </a:solidFill>
                <a:latin typeface="Aptos Light"/>
              </a:rPr>
              <a:t>August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windmills in a field&#10;&#10;Description automatically generated">
            <a:extLst>
              <a:ext uri="{FF2B5EF4-FFF2-40B4-BE49-F238E27FC236}">
                <a16:creationId xmlns:a16="http://schemas.microsoft.com/office/drawing/2014/main" id="{BDF5E48E-8255-AF8B-0941-951E23925E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889" r="-65" b="46589"/>
          <a:stretch/>
        </p:blipFill>
        <p:spPr>
          <a:xfrm>
            <a:off x="4216834" y="1221"/>
            <a:ext cx="7977326" cy="68697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931553-B30E-92AC-7A7F-7569D84F8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B2C7C8"/>
                </a:solidFill>
                <a:latin typeface="Aptos"/>
              </a:rPr>
              <a:t>Table of Contents</a:t>
            </a:r>
            <a:endParaRPr lang="en-US">
              <a:solidFill>
                <a:srgbClr val="B2C7C8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37E7-082F-16AD-6D3B-8303373ED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0740" y="502920"/>
            <a:ext cx="6742951" cy="6069330"/>
          </a:xfrm>
        </p:spPr>
        <p:txBody>
          <a:bodyPr vert="horz" lIns="0" tIns="0" rIns="0" bIns="0" rtlCol="0" anchor="t">
            <a:normAutofit/>
          </a:bodyPr>
          <a:lstStyle/>
          <a:p>
            <a:pPr marL="457200" indent="-457200">
              <a:buFont typeface="Aptos Display" panose="02110004020202020204"/>
              <a:buAutoNum type="arabicPeriod"/>
            </a:pPr>
            <a:r>
              <a:rPr lang="en-US">
                <a:latin typeface="Aptos Light"/>
                <a:cs typeface="Arial"/>
              </a:rPr>
              <a:t>Course Outcomes</a:t>
            </a:r>
          </a:p>
          <a:p>
            <a:pPr marL="457200" indent="-457200"/>
            <a:r>
              <a:rPr lang="en-US">
                <a:latin typeface="Aptos Light"/>
                <a:cs typeface="Arial"/>
              </a:rPr>
              <a:t>International Mechanisms and Finance</a:t>
            </a:r>
          </a:p>
          <a:p>
            <a:pPr marL="857250" lvl="1"/>
            <a:r>
              <a:rPr lang="en-US">
                <a:latin typeface="Aptos Light"/>
                <a:cs typeface="Arial"/>
              </a:rPr>
              <a:t>Coordinating Policy</a:t>
            </a:r>
          </a:p>
          <a:p>
            <a:pPr marL="857250" lvl="1"/>
            <a:r>
              <a:rPr lang="en-US">
                <a:latin typeface="Aptos Light"/>
                <a:cs typeface="Arial"/>
              </a:rPr>
              <a:t>Measuring Policy Effectiveness</a:t>
            </a:r>
          </a:p>
          <a:p>
            <a:pPr marL="857250" lvl="1"/>
            <a:r>
              <a:rPr lang="en-US"/>
              <a:t>Enforcement of Commitments</a:t>
            </a:r>
          </a:p>
          <a:p>
            <a:pPr marL="857250" lvl="1"/>
            <a:r>
              <a:rPr lang="en-US"/>
              <a:t>Creating Dynamic Incentives</a:t>
            </a:r>
          </a:p>
          <a:p>
            <a:pPr marL="857250" lvl="1"/>
            <a:r>
              <a:rPr lang="en-US"/>
              <a:t>Trust-building </a:t>
            </a:r>
          </a:p>
        </p:txBody>
      </p:sp>
    </p:spTree>
    <p:extLst>
      <p:ext uri="{BB962C8B-B14F-4D97-AF65-F5344CB8AC3E}">
        <p14:creationId xmlns:p14="http://schemas.microsoft.com/office/powerpoint/2010/main" val="81942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9398E-F6A7-9A67-6FBB-C00E40C3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ptos"/>
              </a:rPr>
              <a:t>Three Key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5E175-EF46-097B-49FD-6CE07BD7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ctr">
            <a:noAutofit/>
          </a:bodyPr>
          <a:lstStyle/>
          <a:p>
            <a:r>
              <a:rPr lang="en-US" sz="1500">
                <a:ea typeface="+mj-lt"/>
                <a:cs typeface="+mj-lt"/>
              </a:rPr>
              <a:t>Introduction to Climate Economics</a:t>
            </a:r>
            <a:r>
              <a:rPr lang="en-US" sz="1500" b="0">
                <a:ea typeface="+mj-lt"/>
                <a:cs typeface="+mj-lt"/>
              </a:rPr>
              <a:t>: Explore climate economics through a fiscal lens, focusing on national and international efforts to achieve Paris Agreement targets.</a:t>
            </a:r>
            <a:endParaRPr lang="en-US" sz="15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14E86-B16E-7AEC-0655-71F2B978ED6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vert="horz" lIns="0" tIns="0" rIns="0" bIns="0" rtlCol="0" anchor="ctr">
            <a:noAutofit/>
          </a:bodyPr>
          <a:lstStyle/>
          <a:p>
            <a:r>
              <a:rPr lang="en-US" sz="1500">
                <a:ea typeface="+mj-lt"/>
                <a:cs typeface="+mj-lt"/>
              </a:rPr>
              <a:t>Comprehensive Approach to Green Transition</a:t>
            </a:r>
            <a:r>
              <a:rPr lang="en-US" sz="1500" b="0">
                <a:ea typeface="+mj-lt"/>
                <a:cs typeface="+mj-lt"/>
              </a:rPr>
              <a:t>: Analyze the fiscal, financial, and energy security aspects of transitioning to a green economy, with a focus on perspectives relevant to middle-income countries like Ukraine.</a:t>
            </a:r>
            <a:endParaRPr lang="en-US" sz="1500">
              <a:ea typeface="+mj-lt"/>
              <a:cs typeface="+mj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DA736D-F36F-51DF-5DDF-C9EB0BB164B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vert="horz" lIns="0" tIns="0" rIns="0" bIns="0" rtlCol="0" anchor="ctr">
            <a:noAutofit/>
          </a:bodyPr>
          <a:lstStyle/>
          <a:p>
            <a:r>
              <a:rPr lang="en-US" sz="1500">
                <a:ea typeface="+mj-lt"/>
                <a:cs typeface="+mj-lt"/>
              </a:rPr>
              <a:t>Preparation for Professional Opportunities</a:t>
            </a:r>
            <a:r>
              <a:rPr lang="en-US" sz="1500" b="0">
                <a:ea typeface="+mj-lt"/>
                <a:cs typeface="+mj-lt"/>
              </a:rPr>
              <a:t>: Prepare participants for potential roles in the World Bank by developing skills for Short Term Consultancy (STC) opportunities.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340931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3BDD1F5-9D86-36FB-921B-E6EBC8CCC2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030"/>
          <a:stretch/>
        </p:blipFill>
        <p:spPr>
          <a:xfrm>
            <a:off x="-18620" y="1"/>
            <a:ext cx="12210619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9316CE1D-5093-891E-827C-F3694CF7B947}"/>
              </a:ext>
            </a:extLst>
          </p:cNvPr>
          <p:cNvSpPr/>
          <p:nvPr/>
        </p:nvSpPr>
        <p:spPr>
          <a:xfrm>
            <a:off x="-18621" y="0"/>
            <a:ext cx="12210620" cy="6858000"/>
          </a:xfrm>
          <a:custGeom>
            <a:avLst/>
            <a:gdLst/>
            <a:ahLst/>
            <a:cxnLst/>
            <a:rect l="l" t="t" r="r" b="b"/>
            <a:pathLst>
              <a:path w="12186298" h="6858000">
                <a:moveTo>
                  <a:pt x="4186453" y="685512"/>
                </a:moveTo>
                <a:lnTo>
                  <a:pt x="4269709" y="956500"/>
                </a:lnTo>
                <a:lnTo>
                  <a:pt x="4103198" y="956500"/>
                </a:lnTo>
                <a:close/>
                <a:moveTo>
                  <a:pt x="4798797" y="658304"/>
                </a:moveTo>
                <a:lnTo>
                  <a:pt x="4892935" y="658304"/>
                </a:lnTo>
                <a:cubicBezTo>
                  <a:pt x="4936105" y="658304"/>
                  <a:pt x="4973561" y="666557"/>
                  <a:pt x="5005303" y="683063"/>
                </a:cubicBezTo>
                <a:cubicBezTo>
                  <a:pt x="5037045" y="699569"/>
                  <a:pt x="5061441" y="723966"/>
                  <a:pt x="5078491" y="756252"/>
                </a:cubicBezTo>
                <a:cubicBezTo>
                  <a:pt x="5095542" y="788538"/>
                  <a:pt x="5104067" y="828261"/>
                  <a:pt x="5104067" y="875421"/>
                </a:cubicBezTo>
                <a:cubicBezTo>
                  <a:pt x="5104067" y="925846"/>
                  <a:pt x="5096358" y="967565"/>
                  <a:pt x="5080940" y="1000577"/>
                </a:cubicBezTo>
                <a:cubicBezTo>
                  <a:pt x="5065522" y="1033589"/>
                  <a:pt x="5042124" y="1058257"/>
                  <a:pt x="5010745" y="1074581"/>
                </a:cubicBezTo>
                <a:cubicBezTo>
                  <a:pt x="4979365" y="1090906"/>
                  <a:pt x="4940096" y="1099068"/>
                  <a:pt x="4892935" y="1099068"/>
                </a:cubicBezTo>
                <a:lnTo>
                  <a:pt x="4798797" y="1099068"/>
                </a:lnTo>
                <a:close/>
                <a:moveTo>
                  <a:pt x="2731872" y="657216"/>
                </a:moveTo>
                <a:lnTo>
                  <a:pt x="2848865" y="657216"/>
                </a:lnTo>
                <a:cubicBezTo>
                  <a:pt x="2875347" y="657216"/>
                  <a:pt x="2897476" y="664109"/>
                  <a:pt x="2915252" y="677894"/>
                </a:cubicBezTo>
                <a:cubicBezTo>
                  <a:pt x="2933027" y="691679"/>
                  <a:pt x="2941915" y="713082"/>
                  <a:pt x="2941915" y="742104"/>
                </a:cubicBezTo>
                <a:cubicBezTo>
                  <a:pt x="2941915" y="761694"/>
                  <a:pt x="2937925" y="778290"/>
                  <a:pt x="2929944" y="791894"/>
                </a:cubicBezTo>
                <a:cubicBezTo>
                  <a:pt x="2921963" y="805498"/>
                  <a:pt x="2910264" y="815746"/>
                  <a:pt x="2894846" y="822639"/>
                </a:cubicBezTo>
                <a:cubicBezTo>
                  <a:pt x="2879428" y="829531"/>
                  <a:pt x="2860474" y="832977"/>
                  <a:pt x="2837982" y="832977"/>
                </a:cubicBezTo>
                <a:lnTo>
                  <a:pt x="2731872" y="832977"/>
                </a:lnTo>
                <a:close/>
                <a:moveTo>
                  <a:pt x="9150150" y="512471"/>
                </a:moveTo>
                <a:lnTo>
                  <a:pt x="9150150" y="658304"/>
                </a:lnTo>
                <a:lnTo>
                  <a:pt x="9341148" y="658304"/>
                </a:lnTo>
                <a:lnTo>
                  <a:pt x="9341148" y="1244901"/>
                </a:lnTo>
                <a:lnTo>
                  <a:pt x="9516365" y="1244901"/>
                </a:lnTo>
                <a:lnTo>
                  <a:pt x="9516365" y="658304"/>
                </a:lnTo>
                <a:lnTo>
                  <a:pt x="9705730" y="658304"/>
                </a:lnTo>
                <a:lnTo>
                  <a:pt x="9705730" y="512471"/>
                </a:lnTo>
                <a:close/>
                <a:moveTo>
                  <a:pt x="8195999" y="512471"/>
                </a:moveTo>
                <a:lnTo>
                  <a:pt x="8195999" y="1244901"/>
                </a:lnTo>
                <a:lnTo>
                  <a:pt x="8370672" y="1244901"/>
                </a:lnTo>
                <a:lnTo>
                  <a:pt x="8370672" y="512471"/>
                </a:lnTo>
                <a:close/>
                <a:moveTo>
                  <a:pt x="7624499" y="512471"/>
                </a:moveTo>
                <a:lnTo>
                  <a:pt x="7624499" y="1244901"/>
                </a:lnTo>
                <a:lnTo>
                  <a:pt x="8095191" y="1244901"/>
                </a:lnTo>
                <a:lnTo>
                  <a:pt x="8095191" y="1090362"/>
                </a:lnTo>
                <a:lnTo>
                  <a:pt x="7799172" y="1090362"/>
                </a:lnTo>
                <a:lnTo>
                  <a:pt x="7799172" y="512471"/>
                </a:lnTo>
                <a:close/>
                <a:moveTo>
                  <a:pt x="5767124" y="512471"/>
                </a:moveTo>
                <a:lnTo>
                  <a:pt x="5767124" y="1244901"/>
                </a:lnTo>
                <a:lnTo>
                  <a:pt x="5930370" y="1244901"/>
                </a:lnTo>
                <a:lnTo>
                  <a:pt x="5930370" y="783460"/>
                </a:lnTo>
                <a:lnTo>
                  <a:pt x="6242169" y="1244901"/>
                </a:lnTo>
                <a:lnTo>
                  <a:pt x="6412489" y="1244901"/>
                </a:lnTo>
                <a:lnTo>
                  <a:pt x="6412489" y="512471"/>
                </a:lnTo>
                <a:lnTo>
                  <a:pt x="6247611" y="512471"/>
                </a:lnTo>
                <a:lnTo>
                  <a:pt x="6247611" y="970104"/>
                </a:lnTo>
                <a:lnTo>
                  <a:pt x="5936899" y="512471"/>
                </a:lnTo>
                <a:close/>
                <a:moveTo>
                  <a:pt x="5424224" y="512471"/>
                </a:moveTo>
                <a:lnTo>
                  <a:pt x="5424224" y="1244901"/>
                </a:lnTo>
                <a:lnTo>
                  <a:pt x="5598897" y="1244901"/>
                </a:lnTo>
                <a:lnTo>
                  <a:pt x="5598897" y="512471"/>
                </a:lnTo>
                <a:close/>
                <a:moveTo>
                  <a:pt x="4624124" y="512471"/>
                </a:moveTo>
                <a:lnTo>
                  <a:pt x="4624124" y="1244901"/>
                </a:lnTo>
                <a:lnTo>
                  <a:pt x="4907627" y="1244901"/>
                </a:lnTo>
                <a:cubicBezTo>
                  <a:pt x="4985623" y="1244901"/>
                  <a:pt x="5052826" y="1230753"/>
                  <a:pt x="5109236" y="1202457"/>
                </a:cubicBezTo>
                <a:cubicBezTo>
                  <a:pt x="5165647" y="1174161"/>
                  <a:pt x="5208908" y="1132624"/>
                  <a:pt x="5239017" y="1077846"/>
                </a:cubicBezTo>
                <a:cubicBezTo>
                  <a:pt x="5269126" y="1023068"/>
                  <a:pt x="5284181" y="955956"/>
                  <a:pt x="5284181" y="876510"/>
                </a:cubicBezTo>
                <a:cubicBezTo>
                  <a:pt x="5284181" y="800328"/>
                  <a:pt x="5269217" y="735121"/>
                  <a:pt x="5239289" y="680887"/>
                </a:cubicBezTo>
                <a:cubicBezTo>
                  <a:pt x="5209361" y="626653"/>
                  <a:pt x="5166281" y="585025"/>
                  <a:pt x="5110053" y="556004"/>
                </a:cubicBezTo>
                <a:cubicBezTo>
                  <a:pt x="5053823" y="526982"/>
                  <a:pt x="4986349" y="512471"/>
                  <a:pt x="4907627" y="512471"/>
                </a:cubicBezTo>
                <a:close/>
                <a:moveTo>
                  <a:pt x="4094491" y="512471"/>
                </a:moveTo>
                <a:lnTo>
                  <a:pt x="3835475" y="1244901"/>
                </a:lnTo>
                <a:lnTo>
                  <a:pt x="4016678" y="1244901"/>
                </a:lnTo>
                <a:lnTo>
                  <a:pt x="4062386" y="1101789"/>
                </a:lnTo>
                <a:lnTo>
                  <a:pt x="4311064" y="1101789"/>
                </a:lnTo>
                <a:lnTo>
                  <a:pt x="4356773" y="1244901"/>
                </a:lnTo>
                <a:lnTo>
                  <a:pt x="4539608" y="1244901"/>
                </a:lnTo>
                <a:lnTo>
                  <a:pt x="4277871" y="512471"/>
                </a:lnTo>
                <a:close/>
                <a:moveTo>
                  <a:pt x="3271574" y="512471"/>
                </a:moveTo>
                <a:lnTo>
                  <a:pt x="3271574" y="1244901"/>
                </a:lnTo>
                <a:lnTo>
                  <a:pt x="3772739" y="1244901"/>
                </a:lnTo>
                <a:lnTo>
                  <a:pt x="3772739" y="1100157"/>
                </a:lnTo>
                <a:lnTo>
                  <a:pt x="3446247" y="1100157"/>
                </a:lnTo>
                <a:lnTo>
                  <a:pt x="3446247" y="941808"/>
                </a:lnTo>
                <a:lnTo>
                  <a:pt x="3740089" y="941808"/>
                </a:lnTo>
                <a:lnTo>
                  <a:pt x="3740089" y="802505"/>
                </a:lnTo>
                <a:lnTo>
                  <a:pt x="3446247" y="802505"/>
                </a:lnTo>
                <a:lnTo>
                  <a:pt x="3446247" y="657216"/>
                </a:lnTo>
                <a:lnTo>
                  <a:pt x="3772739" y="657216"/>
                </a:lnTo>
                <a:lnTo>
                  <a:pt x="3772739" y="512471"/>
                </a:lnTo>
                <a:close/>
                <a:moveTo>
                  <a:pt x="2557199" y="512471"/>
                </a:moveTo>
                <a:lnTo>
                  <a:pt x="2557199" y="1244901"/>
                </a:lnTo>
                <a:lnTo>
                  <a:pt x="2731872" y="1244901"/>
                </a:lnTo>
                <a:lnTo>
                  <a:pt x="2731872" y="976634"/>
                </a:lnTo>
                <a:lnTo>
                  <a:pt x="2830364" y="976634"/>
                </a:lnTo>
                <a:cubicBezTo>
                  <a:pt x="2858660" y="976634"/>
                  <a:pt x="2880698" y="981350"/>
                  <a:pt x="2896479" y="990782"/>
                </a:cubicBezTo>
                <a:cubicBezTo>
                  <a:pt x="2912259" y="1000214"/>
                  <a:pt x="2924774" y="1014997"/>
                  <a:pt x="2934025" y="1035130"/>
                </a:cubicBezTo>
                <a:cubicBezTo>
                  <a:pt x="2943275" y="1055264"/>
                  <a:pt x="2951709" y="1081655"/>
                  <a:pt x="2959328" y="1114305"/>
                </a:cubicBezTo>
                <a:lnTo>
                  <a:pt x="2990345" y="1244901"/>
                </a:lnTo>
                <a:lnTo>
                  <a:pt x="3173724" y="1244901"/>
                </a:lnTo>
                <a:lnTo>
                  <a:pt x="3125294" y="1077846"/>
                </a:lnTo>
                <a:cubicBezTo>
                  <a:pt x="3115863" y="1043020"/>
                  <a:pt x="3105524" y="1013727"/>
                  <a:pt x="3094278" y="989966"/>
                </a:cubicBezTo>
                <a:cubicBezTo>
                  <a:pt x="3083032" y="966204"/>
                  <a:pt x="3067977" y="947431"/>
                  <a:pt x="3049113" y="933646"/>
                </a:cubicBezTo>
                <a:cubicBezTo>
                  <a:pt x="3030249" y="919861"/>
                  <a:pt x="3004674" y="910429"/>
                  <a:pt x="2972388" y="905350"/>
                </a:cubicBezTo>
                <a:cubicBezTo>
                  <a:pt x="3023175" y="890839"/>
                  <a:pt x="3060813" y="867441"/>
                  <a:pt x="3085300" y="835154"/>
                </a:cubicBezTo>
                <a:cubicBezTo>
                  <a:pt x="3109786" y="802868"/>
                  <a:pt x="3122030" y="763689"/>
                  <a:pt x="3122030" y="717617"/>
                </a:cubicBezTo>
                <a:cubicBezTo>
                  <a:pt x="3122030" y="666830"/>
                  <a:pt x="3111056" y="626472"/>
                  <a:pt x="3089109" y="596543"/>
                </a:cubicBezTo>
                <a:cubicBezTo>
                  <a:pt x="3067161" y="566615"/>
                  <a:pt x="3037142" y="545121"/>
                  <a:pt x="2999051" y="532061"/>
                </a:cubicBezTo>
                <a:cubicBezTo>
                  <a:pt x="2960961" y="519001"/>
                  <a:pt x="2917428" y="512471"/>
                  <a:pt x="2868455" y="512471"/>
                </a:cubicBezTo>
                <a:close/>
                <a:moveTo>
                  <a:pt x="8790842" y="503765"/>
                </a:moveTo>
                <a:cubicBezTo>
                  <a:pt x="8737515" y="503765"/>
                  <a:pt x="8689811" y="510658"/>
                  <a:pt x="8647730" y="524443"/>
                </a:cubicBezTo>
                <a:cubicBezTo>
                  <a:pt x="8605648" y="538228"/>
                  <a:pt x="8572274" y="560357"/>
                  <a:pt x="8547606" y="590830"/>
                </a:cubicBezTo>
                <a:cubicBezTo>
                  <a:pt x="8522937" y="621302"/>
                  <a:pt x="8510603" y="661388"/>
                  <a:pt x="8510603" y="711087"/>
                </a:cubicBezTo>
                <a:cubicBezTo>
                  <a:pt x="8510603" y="757522"/>
                  <a:pt x="8521304" y="794887"/>
                  <a:pt x="8542708" y="823183"/>
                </a:cubicBezTo>
                <a:cubicBezTo>
                  <a:pt x="8564112" y="851479"/>
                  <a:pt x="8593496" y="874424"/>
                  <a:pt x="8630861" y="892018"/>
                </a:cubicBezTo>
                <a:cubicBezTo>
                  <a:pt x="8668226" y="909612"/>
                  <a:pt x="8711214" y="925483"/>
                  <a:pt x="8759825" y="939631"/>
                </a:cubicBezTo>
                <a:cubicBezTo>
                  <a:pt x="8801543" y="951966"/>
                  <a:pt x="8833558" y="962849"/>
                  <a:pt x="8855868" y="972281"/>
                </a:cubicBezTo>
                <a:cubicBezTo>
                  <a:pt x="8878178" y="981713"/>
                  <a:pt x="8893596" y="991870"/>
                  <a:pt x="8902121" y="1002753"/>
                </a:cubicBezTo>
                <a:cubicBezTo>
                  <a:pt x="8910646" y="1013636"/>
                  <a:pt x="8914909" y="1027603"/>
                  <a:pt x="8914909" y="1044653"/>
                </a:cubicBezTo>
                <a:cubicBezTo>
                  <a:pt x="8914909" y="1060615"/>
                  <a:pt x="8910283" y="1073856"/>
                  <a:pt x="8901033" y="1084376"/>
                </a:cubicBezTo>
                <a:cubicBezTo>
                  <a:pt x="8891782" y="1094896"/>
                  <a:pt x="8878541" y="1102696"/>
                  <a:pt x="8861310" y="1107775"/>
                </a:cubicBezTo>
                <a:cubicBezTo>
                  <a:pt x="8844078" y="1112853"/>
                  <a:pt x="8823491" y="1115393"/>
                  <a:pt x="8799548" y="1115393"/>
                </a:cubicBezTo>
                <a:cubicBezTo>
                  <a:pt x="8775606" y="1115393"/>
                  <a:pt x="8754565" y="1112400"/>
                  <a:pt x="8736427" y="1106414"/>
                </a:cubicBezTo>
                <a:cubicBezTo>
                  <a:pt x="8718288" y="1100429"/>
                  <a:pt x="8703959" y="1090452"/>
                  <a:pt x="8693439" y="1076486"/>
                </a:cubicBezTo>
                <a:cubicBezTo>
                  <a:pt x="8682918" y="1062519"/>
                  <a:pt x="8676932" y="1043746"/>
                  <a:pt x="8675482" y="1020166"/>
                </a:cubicBezTo>
                <a:lnTo>
                  <a:pt x="8495911" y="1020166"/>
                </a:lnTo>
                <a:cubicBezTo>
                  <a:pt x="8495911" y="1076032"/>
                  <a:pt x="8509243" y="1121197"/>
                  <a:pt x="8535906" y="1155660"/>
                </a:cubicBezTo>
                <a:cubicBezTo>
                  <a:pt x="8562570" y="1190123"/>
                  <a:pt x="8598574" y="1215245"/>
                  <a:pt x="8643921" y="1231025"/>
                </a:cubicBezTo>
                <a:cubicBezTo>
                  <a:pt x="8689267" y="1246806"/>
                  <a:pt x="8740417" y="1254696"/>
                  <a:pt x="8797372" y="1254696"/>
                </a:cubicBezTo>
                <a:cubicBezTo>
                  <a:pt x="8853964" y="1254696"/>
                  <a:pt x="8904751" y="1247441"/>
                  <a:pt x="8949735" y="1232930"/>
                </a:cubicBezTo>
                <a:cubicBezTo>
                  <a:pt x="8994717" y="1218419"/>
                  <a:pt x="9030269" y="1194930"/>
                  <a:pt x="9056388" y="1162462"/>
                </a:cubicBezTo>
                <a:cubicBezTo>
                  <a:pt x="9082508" y="1129994"/>
                  <a:pt x="9095567" y="1087097"/>
                  <a:pt x="9095567" y="1033770"/>
                </a:cubicBezTo>
                <a:cubicBezTo>
                  <a:pt x="9095567" y="986247"/>
                  <a:pt x="9086861" y="948066"/>
                  <a:pt x="9069448" y="919226"/>
                </a:cubicBezTo>
                <a:cubicBezTo>
                  <a:pt x="9052035" y="890386"/>
                  <a:pt x="9025462" y="866806"/>
                  <a:pt x="8989730" y="848486"/>
                </a:cubicBezTo>
                <a:cubicBezTo>
                  <a:pt x="8953997" y="830166"/>
                  <a:pt x="8908560" y="812662"/>
                  <a:pt x="8853419" y="795975"/>
                </a:cubicBezTo>
                <a:cubicBezTo>
                  <a:pt x="8808436" y="782190"/>
                  <a:pt x="8774245" y="770218"/>
                  <a:pt x="8750847" y="760061"/>
                </a:cubicBezTo>
                <a:cubicBezTo>
                  <a:pt x="8727448" y="749903"/>
                  <a:pt x="8711577" y="740018"/>
                  <a:pt x="8703233" y="730405"/>
                </a:cubicBezTo>
                <a:cubicBezTo>
                  <a:pt x="8694889" y="720791"/>
                  <a:pt x="8690718" y="709999"/>
                  <a:pt x="8690718" y="698028"/>
                </a:cubicBezTo>
                <a:cubicBezTo>
                  <a:pt x="8690718" y="676624"/>
                  <a:pt x="8700603" y="661297"/>
                  <a:pt x="8720374" y="652047"/>
                </a:cubicBezTo>
                <a:cubicBezTo>
                  <a:pt x="8740145" y="642796"/>
                  <a:pt x="8763271" y="638171"/>
                  <a:pt x="8789754" y="638171"/>
                </a:cubicBezTo>
                <a:cubicBezTo>
                  <a:pt x="8818050" y="638171"/>
                  <a:pt x="8842536" y="644610"/>
                  <a:pt x="8863214" y="657488"/>
                </a:cubicBezTo>
                <a:cubicBezTo>
                  <a:pt x="8883892" y="670367"/>
                  <a:pt x="8894231" y="690409"/>
                  <a:pt x="8894231" y="717617"/>
                </a:cubicBezTo>
                <a:lnTo>
                  <a:pt x="9073801" y="717617"/>
                </a:lnTo>
                <a:cubicBezTo>
                  <a:pt x="9073801" y="668281"/>
                  <a:pt x="9061014" y="627832"/>
                  <a:pt x="9035439" y="596271"/>
                </a:cubicBezTo>
                <a:cubicBezTo>
                  <a:pt x="9009863" y="564710"/>
                  <a:pt x="8975582" y="541402"/>
                  <a:pt x="8932594" y="526347"/>
                </a:cubicBezTo>
                <a:cubicBezTo>
                  <a:pt x="8889606" y="511292"/>
                  <a:pt x="8842354" y="503765"/>
                  <a:pt x="8790842" y="503765"/>
                </a:cubicBezTo>
                <a:close/>
                <a:moveTo>
                  <a:pt x="6908138" y="502677"/>
                </a:moveTo>
                <a:cubicBezTo>
                  <a:pt x="6833770" y="502677"/>
                  <a:pt x="6769379" y="518094"/>
                  <a:pt x="6714964" y="548930"/>
                </a:cubicBezTo>
                <a:cubicBezTo>
                  <a:pt x="6660548" y="579765"/>
                  <a:pt x="6618558" y="623388"/>
                  <a:pt x="6588992" y="679798"/>
                </a:cubicBezTo>
                <a:cubicBezTo>
                  <a:pt x="6559427" y="736209"/>
                  <a:pt x="6544644" y="802686"/>
                  <a:pt x="6544644" y="879230"/>
                </a:cubicBezTo>
                <a:cubicBezTo>
                  <a:pt x="6544644" y="955412"/>
                  <a:pt x="6559427" y="1021617"/>
                  <a:pt x="6588992" y="1077846"/>
                </a:cubicBezTo>
                <a:cubicBezTo>
                  <a:pt x="6618558" y="1134075"/>
                  <a:pt x="6660548" y="1177608"/>
                  <a:pt x="6714964" y="1208443"/>
                </a:cubicBezTo>
                <a:cubicBezTo>
                  <a:pt x="6769379" y="1239278"/>
                  <a:pt x="6833770" y="1254696"/>
                  <a:pt x="6908138" y="1254696"/>
                </a:cubicBezTo>
                <a:cubicBezTo>
                  <a:pt x="6979603" y="1254696"/>
                  <a:pt x="7040276" y="1241183"/>
                  <a:pt x="7090157" y="1214156"/>
                </a:cubicBezTo>
                <a:cubicBezTo>
                  <a:pt x="7140038" y="1187130"/>
                  <a:pt x="7178128" y="1149493"/>
                  <a:pt x="7204429" y="1101245"/>
                </a:cubicBezTo>
                <a:cubicBezTo>
                  <a:pt x="7230730" y="1052997"/>
                  <a:pt x="7243880" y="997130"/>
                  <a:pt x="7243880" y="933646"/>
                </a:cubicBezTo>
                <a:lnTo>
                  <a:pt x="7243880" y="852023"/>
                </a:lnTo>
                <a:lnTo>
                  <a:pt x="6909770" y="852023"/>
                </a:lnTo>
                <a:lnTo>
                  <a:pt x="6909770" y="990782"/>
                </a:lnTo>
                <a:lnTo>
                  <a:pt x="7067031" y="990782"/>
                </a:lnTo>
                <a:cubicBezTo>
                  <a:pt x="7064128" y="1014362"/>
                  <a:pt x="7055875" y="1035040"/>
                  <a:pt x="7042272" y="1052815"/>
                </a:cubicBezTo>
                <a:cubicBezTo>
                  <a:pt x="7028668" y="1070591"/>
                  <a:pt x="7010529" y="1084467"/>
                  <a:pt x="6987856" y="1094443"/>
                </a:cubicBezTo>
                <a:cubicBezTo>
                  <a:pt x="6965183" y="1104419"/>
                  <a:pt x="6938610" y="1109407"/>
                  <a:pt x="6908138" y="1109407"/>
                </a:cubicBezTo>
                <a:cubicBezTo>
                  <a:pt x="6863517" y="1109407"/>
                  <a:pt x="6827785" y="1098705"/>
                  <a:pt x="6800940" y="1077302"/>
                </a:cubicBezTo>
                <a:cubicBezTo>
                  <a:pt x="6774095" y="1055899"/>
                  <a:pt x="6754596" y="1027603"/>
                  <a:pt x="6742443" y="992414"/>
                </a:cubicBezTo>
                <a:cubicBezTo>
                  <a:pt x="6730291" y="957226"/>
                  <a:pt x="6724214" y="919498"/>
                  <a:pt x="6724214" y="879230"/>
                </a:cubicBezTo>
                <a:cubicBezTo>
                  <a:pt x="6724214" y="838600"/>
                  <a:pt x="6730200" y="800872"/>
                  <a:pt x="6742171" y="766047"/>
                </a:cubicBezTo>
                <a:cubicBezTo>
                  <a:pt x="6754143" y="731221"/>
                  <a:pt x="6773279" y="703016"/>
                  <a:pt x="6799579" y="681431"/>
                </a:cubicBezTo>
                <a:cubicBezTo>
                  <a:pt x="6825880" y="659846"/>
                  <a:pt x="6860797" y="649054"/>
                  <a:pt x="6904329" y="649054"/>
                </a:cubicBezTo>
                <a:cubicBezTo>
                  <a:pt x="6934801" y="649054"/>
                  <a:pt x="6960830" y="653588"/>
                  <a:pt x="6982415" y="662658"/>
                </a:cubicBezTo>
                <a:cubicBezTo>
                  <a:pt x="7003999" y="671727"/>
                  <a:pt x="7021050" y="684515"/>
                  <a:pt x="7033565" y="701020"/>
                </a:cubicBezTo>
                <a:cubicBezTo>
                  <a:pt x="7046081" y="717526"/>
                  <a:pt x="7053608" y="737025"/>
                  <a:pt x="7056147" y="759517"/>
                </a:cubicBezTo>
                <a:lnTo>
                  <a:pt x="7236262" y="759517"/>
                </a:lnTo>
                <a:cubicBezTo>
                  <a:pt x="7231908" y="714896"/>
                  <a:pt x="7219575" y="676352"/>
                  <a:pt x="7199260" y="643884"/>
                </a:cubicBezTo>
                <a:cubicBezTo>
                  <a:pt x="7178945" y="611417"/>
                  <a:pt x="7153279" y="584753"/>
                  <a:pt x="7122262" y="563894"/>
                </a:cubicBezTo>
                <a:cubicBezTo>
                  <a:pt x="7091245" y="543035"/>
                  <a:pt x="7057236" y="527617"/>
                  <a:pt x="7020233" y="517641"/>
                </a:cubicBezTo>
                <a:cubicBezTo>
                  <a:pt x="6983231" y="507665"/>
                  <a:pt x="6945866" y="502677"/>
                  <a:pt x="6908138" y="502677"/>
                </a:cubicBezTo>
                <a:close/>
                <a:moveTo>
                  <a:pt x="0" y="0"/>
                </a:moveTo>
                <a:lnTo>
                  <a:pt x="12186298" y="0"/>
                </a:lnTo>
                <a:lnTo>
                  <a:pt x="1218629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3960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7F8F9-9DEC-475F-6624-93C9CBD56246}"/>
              </a:ext>
            </a:extLst>
          </p:cNvPr>
          <p:cNvSpPr txBox="1"/>
          <p:nvPr/>
        </p:nvSpPr>
        <p:spPr>
          <a:xfrm>
            <a:off x="698441" y="1733221"/>
            <a:ext cx="10364300" cy="280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463D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Volz et al. (2021), ‘Debt Relief for a Green and Inclusive Recovery’.</a:t>
            </a:r>
            <a:endParaRPr lang="en-US" sz="2400" dirty="0">
              <a:solidFill>
                <a:srgbClr val="00463D"/>
              </a:solidFill>
              <a:latin typeface="+mn-lt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463D"/>
                </a:solidFill>
                <a:latin typeface="+mn-lt"/>
                <a:hlinkClick r:id="rId4"/>
              </a:rPr>
              <a:t>Fankhauser at al. (2023), ‘Net Zero Portfolio Targets for Development Finance Institutions: Challenges and Solutions’</a:t>
            </a:r>
            <a:endParaRPr lang="en-US" sz="2400" dirty="0">
              <a:solidFill>
                <a:srgbClr val="00463D"/>
              </a:solidFill>
              <a:latin typeface="+mn-lt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463D"/>
                </a:solidFill>
                <a:latin typeface="+mn-lt"/>
              </a:rPr>
              <a:t>KPI Bonds Paper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rgbClr val="00463D"/>
                </a:solidFill>
                <a:latin typeface="+mn-lt"/>
              </a:rPr>
              <a:t>CIT Paper</a:t>
            </a:r>
          </a:p>
        </p:txBody>
      </p:sp>
    </p:spTree>
    <p:extLst>
      <p:ext uri="{BB962C8B-B14F-4D97-AF65-F5344CB8AC3E}">
        <p14:creationId xmlns:p14="http://schemas.microsoft.com/office/powerpoint/2010/main" val="290072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3BDD1F5-9D86-36FB-921B-E6EBC8CCC2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68" b="32793"/>
          <a:stretch/>
        </p:blipFill>
        <p:spPr>
          <a:xfrm>
            <a:off x="0" y="0"/>
            <a:ext cx="1255128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8C90F6-31E8-A726-F5A2-4C4E502D6687}"/>
              </a:ext>
            </a:extLst>
          </p:cNvPr>
          <p:cNvSpPr/>
          <p:nvPr/>
        </p:nvSpPr>
        <p:spPr>
          <a:xfrm>
            <a:off x="3755597" y="942879"/>
            <a:ext cx="8330954" cy="4426563"/>
          </a:xfrm>
          <a:prstGeom prst="rect">
            <a:avLst/>
          </a:prstGeom>
          <a:solidFill>
            <a:srgbClr val="FFFFFF">
              <a:alpha val="6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7F8F9-9DEC-475F-6624-93C9CBD56246}"/>
              </a:ext>
            </a:extLst>
          </p:cNvPr>
          <p:cNvSpPr txBox="1"/>
          <p:nvPr/>
        </p:nvSpPr>
        <p:spPr>
          <a:xfrm>
            <a:off x="3967232" y="1216943"/>
            <a:ext cx="7907684" cy="38784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buClr>
                <a:srgbClr val="002803"/>
              </a:buClr>
            </a:pPr>
            <a:r>
              <a:rPr lang="en-GB" sz="1600" b="1" dirty="0">
                <a:solidFill>
                  <a:srgbClr val="00463D"/>
                </a:solidFill>
                <a:latin typeface="Aptos" panose="020B0004020202020204" pitchFamily="34" charset="0"/>
              </a:rPr>
              <a:t>“</a:t>
            </a:r>
            <a:r>
              <a:rPr lang="en-US" sz="1600" b="1" dirty="0">
                <a:solidFill>
                  <a:srgbClr val="00463D"/>
                </a:solidFill>
                <a:latin typeface="Aptos" panose="020B0004020202020204" pitchFamily="34" charset="0"/>
              </a:rPr>
              <a:t>The G20's Common Framework urgently needs to be revamped to include middle-income countries and allow for comprehensive debt relief by both public and private creditors oriented around a green, inclusive recovery… all low- and middle-income countries whose debt is considered unsustainable [should] participate in debt restructuring... Adequate incentives are needed to ensure that private creditors participate in debt restructuring where needed and bear a fair share of the burden. If… a country's sovereign debt is of significant concern, the IMF should make its </a:t>
            </a:r>
            <a:r>
              <a:rPr lang="en-US" sz="1600" b="1" dirty="0" err="1">
                <a:solidFill>
                  <a:srgbClr val="00463D"/>
                </a:solidFill>
                <a:latin typeface="Aptos" panose="020B0004020202020204" pitchFamily="34" charset="0"/>
              </a:rPr>
              <a:t>programmes</a:t>
            </a:r>
            <a:r>
              <a:rPr lang="en-US" sz="1600" b="1" dirty="0">
                <a:solidFill>
                  <a:srgbClr val="00463D"/>
                </a:solidFill>
                <a:latin typeface="Aptos" panose="020B0004020202020204" pitchFamily="34" charset="0"/>
              </a:rPr>
              <a:t> conditional on a restructuring process that includes private creditors on a comparable basis. </a:t>
            </a:r>
            <a:r>
              <a:rPr lang="en-GB" sz="1600" b="1" dirty="0">
                <a:solidFill>
                  <a:srgbClr val="00463D"/>
                </a:solidFill>
                <a:latin typeface="Aptos" panose="020B0004020202020204" pitchFamily="34" charset="0"/>
              </a:rPr>
              <a:t>” 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  <a:buClr>
                <a:srgbClr val="002803"/>
              </a:buClr>
            </a:pPr>
            <a:r>
              <a:rPr lang="en-GB" sz="1600" dirty="0">
                <a:solidFill>
                  <a:srgbClr val="00463D"/>
                </a:solidFill>
                <a:latin typeface="Aptos" panose="020B0004020202020204" pitchFamily="34" charset="0"/>
              </a:rPr>
              <a:t>(Volz et al., 2023)  </a:t>
            </a:r>
            <a:endParaRPr lang="en-US" sz="1000" dirty="0">
              <a:solidFill>
                <a:srgbClr val="00463D"/>
              </a:solidFill>
              <a:latin typeface="Aptos" panose="020B0004020202020204" pitchFamily="34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76540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cfb641d87b_0_382"/>
          <p:cNvSpPr txBox="1">
            <a:spLocks noGrp="1"/>
          </p:cNvSpPr>
          <p:nvPr>
            <p:ph type="ctrTitle"/>
          </p:nvPr>
        </p:nvSpPr>
        <p:spPr/>
        <p:txBody>
          <a:bodyPr spcFirstLastPara="1" lIns="0" tIns="0" rIns="0" bIns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>
                <a:solidFill>
                  <a:srgbClr val="2F7CA7"/>
                </a:solidFill>
                <a:latin typeface="Aptos ExtraBold" panose="020B0004020202020204" pitchFamily="34" charset="0"/>
              </a:rPr>
              <a:t>COORDINATING POLICY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ind turbines in a field&#10;&#10;Description automatically generated">
            <a:extLst>
              <a:ext uri="{FF2B5EF4-FFF2-40B4-BE49-F238E27FC236}">
                <a16:creationId xmlns:a16="http://schemas.microsoft.com/office/drawing/2014/main" id="{465B7B35-3B24-9E85-BADC-5762887AFA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079" b="37627"/>
          <a:stretch/>
        </p:blipFill>
        <p:spPr>
          <a:xfrm>
            <a:off x="0" y="4472848"/>
            <a:ext cx="12192000" cy="2385152"/>
          </a:xfrm>
          <a:prstGeom prst="rect">
            <a:avLst/>
          </a:prstGeom>
        </p:spPr>
      </p:pic>
      <p:sp>
        <p:nvSpPr>
          <p:cNvPr id="2" name="Google Shape;185;p22">
            <a:extLst>
              <a:ext uri="{FF2B5EF4-FFF2-40B4-BE49-F238E27FC236}">
                <a16:creationId xmlns:a16="http://schemas.microsoft.com/office/drawing/2014/main" id="{FA548F9C-4CA9-1CB3-63ED-C4FA28F94B46}"/>
              </a:ext>
            </a:extLst>
          </p:cNvPr>
          <p:cNvSpPr txBox="1">
            <a:spLocks/>
          </p:cNvSpPr>
          <p:nvPr/>
        </p:nvSpPr>
        <p:spPr>
          <a:xfrm>
            <a:off x="419945" y="448532"/>
            <a:ext cx="11346423" cy="374822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800" b="1" dirty="0">
                <a:solidFill>
                  <a:srgbClr val="BAC8C9"/>
                </a:solidFill>
                <a:latin typeface="Aptos ExtraBold" panose="020B0004020202020204" pitchFamily="34" charset="0"/>
              </a:rPr>
              <a:t>Institutional Roles: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BAC8C9"/>
                </a:solidFill>
                <a:latin typeface="Aptos" panose="020B0004020202020204" pitchFamily="34" charset="0"/>
              </a:rPr>
              <a:t>World Bank (WB): Covers approximately 2/3 of global emissions in principle.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BAC8C9"/>
                </a:solidFill>
                <a:latin typeface="Aptos" panose="020B0004020202020204" pitchFamily="34" charset="0"/>
              </a:rPr>
              <a:t>International Monetary Fund (IMF): Broader scope, focusing on macroeconomic stability rather than directly on climate.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BAC8C9"/>
                </a:solidFill>
                <a:latin typeface="Aptos"/>
              </a:rPr>
              <a:t>United Nations (UN): Facilitates global climate agreements, including emissions reduction pledges.</a:t>
            </a:r>
          </a:p>
          <a:p>
            <a:pPr marL="342900" indent="-342900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BAC8C9"/>
                </a:solidFill>
                <a:latin typeface="Aptos"/>
              </a:rPr>
              <a:t>Other MDBs: </a:t>
            </a:r>
            <a:r>
              <a:rPr lang="en-GB" sz="2400" dirty="0">
                <a:solidFill>
                  <a:srgbClr val="BAC8C9"/>
                </a:solidFill>
              </a:rPr>
              <a:t>Region-specific climate finance, infrastructure, and technical assistance.</a:t>
            </a:r>
          </a:p>
        </p:txBody>
      </p:sp>
    </p:spTree>
    <p:extLst>
      <p:ext uri="{BB962C8B-B14F-4D97-AF65-F5344CB8AC3E}">
        <p14:creationId xmlns:p14="http://schemas.microsoft.com/office/powerpoint/2010/main" val="400190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ind turbines in a field&#10;&#10;Description automatically generated">
            <a:extLst>
              <a:ext uri="{FF2B5EF4-FFF2-40B4-BE49-F238E27FC236}">
                <a16:creationId xmlns:a16="http://schemas.microsoft.com/office/drawing/2014/main" id="{465B7B35-3B24-9E85-BADC-5762887AFA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079" b="37627"/>
          <a:stretch/>
        </p:blipFill>
        <p:spPr>
          <a:xfrm>
            <a:off x="0" y="4472848"/>
            <a:ext cx="12192000" cy="2385152"/>
          </a:xfrm>
          <a:prstGeom prst="rect">
            <a:avLst/>
          </a:prstGeom>
        </p:spPr>
      </p:pic>
      <p:sp>
        <p:nvSpPr>
          <p:cNvPr id="2" name="Google Shape;185;p22">
            <a:extLst>
              <a:ext uri="{FF2B5EF4-FFF2-40B4-BE49-F238E27FC236}">
                <a16:creationId xmlns:a16="http://schemas.microsoft.com/office/drawing/2014/main" id="{FA548F9C-4CA9-1CB3-63ED-C4FA28F94B46}"/>
              </a:ext>
            </a:extLst>
          </p:cNvPr>
          <p:cNvSpPr txBox="1">
            <a:spLocks/>
          </p:cNvSpPr>
          <p:nvPr/>
        </p:nvSpPr>
        <p:spPr>
          <a:xfrm>
            <a:off x="4305300" y="347425"/>
            <a:ext cx="7459692" cy="374822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GB" sz="2200" dirty="0">
                <a:solidFill>
                  <a:srgbClr val="B2DCEA"/>
                </a:solidFill>
                <a:latin typeface="Aptos" panose="020B0004020202020204" pitchFamily="34" charset="0"/>
              </a:rPr>
              <a:t>Framing Problem</a:t>
            </a:r>
            <a:r>
              <a:rPr lang="en-GB" sz="2200" dirty="0">
                <a:solidFill>
                  <a:srgbClr val="FFFFFF"/>
                </a:solidFill>
                <a:latin typeface="Aptos" panose="020B0004020202020204" pitchFamily="34" charset="0"/>
              </a:rPr>
              <a:t>: Economic Growth vs. Decarbonization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GB" sz="2200" dirty="0">
                <a:solidFill>
                  <a:srgbClr val="B2DCEA"/>
                </a:solidFill>
                <a:latin typeface="Aptos" panose="020B0004020202020204" pitchFamily="34" charset="0"/>
              </a:rPr>
              <a:t>Unsustainable Debt</a:t>
            </a:r>
            <a:r>
              <a:rPr lang="en-GB" sz="2200" dirty="0">
                <a:solidFill>
                  <a:srgbClr val="FFFFFF"/>
                </a:solidFill>
                <a:latin typeface="Aptos" panose="020B0004020202020204" pitchFamily="34" charset="0"/>
              </a:rPr>
              <a:t>: </a:t>
            </a:r>
            <a:r>
              <a:rPr lang="en-US" sz="2200" dirty="0">
                <a:solidFill>
                  <a:srgbClr val="FFFFFF"/>
                </a:solidFill>
                <a:latin typeface="Aptos" panose="020B0004020202020204" pitchFamily="34" charset="0"/>
              </a:rPr>
              <a:t>UNDP estimates that close to US$1.1 trillion is due in debt service payments by developing and emerging countries in 2021 alone.</a:t>
            </a:r>
            <a:r>
              <a:rPr lang="en-GB" sz="2200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GB" sz="2200" dirty="0">
                <a:solidFill>
                  <a:srgbClr val="B2DCEA"/>
                </a:solidFill>
                <a:latin typeface="Aptos" panose="020B0004020202020204" pitchFamily="34" charset="0"/>
              </a:rPr>
              <a:t>Focus on Traditional Carbon Pricing</a:t>
            </a:r>
            <a:r>
              <a:rPr lang="en-GB" sz="2200" dirty="0">
                <a:solidFill>
                  <a:schemeClr val="tx1"/>
                </a:solidFill>
                <a:latin typeface="Aptos" panose="020B0004020202020204" pitchFamily="34" charset="0"/>
              </a:rPr>
              <a:t>: Greater focus is needed on alternative financing methods</a:t>
            </a:r>
            <a:r>
              <a:rPr lang="en-GB" sz="24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E9395-D7D5-5D47-BF6A-43B709D68E15}"/>
              </a:ext>
            </a:extLst>
          </p:cNvPr>
          <p:cNvSpPr txBox="1"/>
          <p:nvPr/>
        </p:nvSpPr>
        <p:spPr>
          <a:xfrm>
            <a:off x="427008" y="467214"/>
            <a:ext cx="33686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E7C8AD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Key Problems</a:t>
            </a:r>
            <a:endParaRPr lang="en-US" sz="1800">
              <a:solidFill>
                <a:srgbClr val="E7C8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44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FDF161-C648-9BE1-A561-D608D4D85E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81" r="9434" b="12703"/>
          <a:stretch/>
        </p:blipFill>
        <p:spPr>
          <a:xfrm>
            <a:off x="2540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9A57602-DF68-01C3-2847-427A4537AA2F}"/>
              </a:ext>
            </a:extLst>
          </p:cNvPr>
          <p:cNvSpPr/>
          <p:nvPr/>
        </p:nvSpPr>
        <p:spPr>
          <a:xfrm>
            <a:off x="1720849" y="1586394"/>
            <a:ext cx="8801100" cy="4918827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B36BD3F5-0262-1AD5-815E-F346C1DC5A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1081246"/>
              </p:ext>
            </p:extLst>
          </p:nvPr>
        </p:nvGraphicFramePr>
        <p:xfrm>
          <a:off x="1376870" y="1752600"/>
          <a:ext cx="9489057" cy="4795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B3E26BB-EC35-0872-1E2C-894244F67FCB}"/>
              </a:ext>
            </a:extLst>
          </p:cNvPr>
          <p:cNvSpPr txBox="1"/>
          <p:nvPr/>
        </p:nvSpPr>
        <p:spPr>
          <a:xfrm>
            <a:off x="59036" y="414635"/>
            <a:ext cx="120739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CF4D6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Key Considerations</a:t>
            </a:r>
            <a:endParaRPr lang="en-US" sz="1800" dirty="0">
              <a:solidFill>
                <a:srgbClr val="ECF4D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484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cfb641d87b_0_382"/>
          <p:cNvSpPr txBox="1">
            <a:spLocks noGrp="1"/>
          </p:cNvSpPr>
          <p:nvPr>
            <p:ph type="ctrTitle"/>
          </p:nvPr>
        </p:nvSpPr>
        <p:spPr/>
        <p:txBody>
          <a:bodyPr spcFirstLastPara="1" lIns="0" tIns="0" rIns="0" bIns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dirty="0">
                <a:solidFill>
                  <a:srgbClr val="2F7CA7"/>
                </a:solidFill>
                <a:latin typeface="Aptos ExtraBold" panose="020B0004020202020204" pitchFamily="34" charset="0"/>
              </a:rPr>
              <a:t>REFORMING POLICY </a:t>
            </a:r>
          </a:p>
        </p:txBody>
      </p:sp>
    </p:spTree>
    <p:extLst>
      <p:ext uri="{BB962C8B-B14F-4D97-AF65-F5344CB8AC3E}">
        <p14:creationId xmlns:p14="http://schemas.microsoft.com/office/powerpoint/2010/main" val="130023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4AB5A-C360-9255-71F9-A12F0B888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745" y="502920"/>
            <a:ext cx="3293290" cy="1676400"/>
          </a:xfrm>
        </p:spPr>
        <p:txBody>
          <a:bodyPr/>
          <a:lstStyle/>
          <a:p>
            <a:r>
              <a:rPr lang="en-US" dirty="0">
                <a:latin typeface="Aptos"/>
              </a:rPr>
              <a:t>Key Metrics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99803E-89EF-677E-1034-8D5D34FA86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GB" sz="2400" b="1" dirty="0">
                <a:latin typeface="Aptos"/>
              </a:rPr>
              <a:t>Key Metrics: </a:t>
            </a:r>
            <a:endParaRPr lang="en-US" sz="2400">
              <a:latin typeface="Aptos"/>
            </a:endParaRPr>
          </a:p>
          <a:p>
            <a:pPr marL="457200" indent="-457200"/>
            <a:r>
              <a:rPr lang="en-GB" sz="2400" b="1" dirty="0">
                <a:solidFill>
                  <a:srgbClr val="628E4C"/>
                </a:solidFill>
                <a:latin typeface="Aptos"/>
              </a:rPr>
              <a:t>Emission Reductions </a:t>
            </a:r>
            <a:endParaRPr lang="en-US" sz="2400">
              <a:solidFill>
                <a:srgbClr val="628E4C"/>
              </a:solidFill>
              <a:latin typeface="Aptos"/>
            </a:endParaRPr>
          </a:p>
          <a:p>
            <a:pPr marL="457200" indent="-457200"/>
            <a:r>
              <a:rPr lang="en-GB" sz="2400" b="1" dirty="0">
                <a:solidFill>
                  <a:srgbClr val="628E4C"/>
                </a:solidFill>
                <a:latin typeface="Aptos"/>
              </a:rPr>
              <a:t>Transformative Impact</a:t>
            </a:r>
            <a:endParaRPr lang="en-US" sz="2400">
              <a:solidFill>
                <a:srgbClr val="628E4C"/>
              </a:solidFill>
              <a:latin typeface="Aptos"/>
            </a:endParaRPr>
          </a:p>
          <a:p>
            <a:pPr marL="0" indent="0">
              <a:buNone/>
            </a:pPr>
            <a:r>
              <a:rPr lang="en-GB" sz="2400" b="1" dirty="0">
                <a:latin typeface="Aptos"/>
              </a:rPr>
              <a:t>Understanding</a:t>
            </a:r>
            <a:r>
              <a:rPr lang="en-GB" sz="2400" b="1" dirty="0">
                <a:solidFill>
                  <a:srgbClr val="012903"/>
                </a:solidFill>
                <a:latin typeface="Aptos"/>
              </a:rPr>
              <a:t> Transformative Effects:</a:t>
            </a:r>
            <a:endParaRPr lang="en-US" sz="2400">
              <a:solidFill>
                <a:srgbClr val="012903"/>
              </a:solidFill>
              <a:latin typeface="Aptos"/>
            </a:endParaRPr>
          </a:p>
          <a:p>
            <a:pPr lvl="1"/>
            <a:r>
              <a:rPr lang="en-GB" b="1" dirty="0">
                <a:solidFill>
                  <a:srgbClr val="628E4C"/>
                </a:solidFill>
                <a:latin typeface="Aptos"/>
              </a:rPr>
              <a:t>Technology (Past):</a:t>
            </a:r>
            <a:r>
              <a:rPr lang="en-GB" b="1" dirty="0">
                <a:solidFill>
                  <a:srgbClr val="012903"/>
                </a:solidFill>
                <a:latin typeface="Aptos"/>
              </a:rPr>
              <a:t> </a:t>
            </a:r>
            <a:r>
              <a:rPr lang="en-GB" dirty="0">
                <a:solidFill>
                  <a:srgbClr val="012903"/>
                </a:solidFill>
                <a:latin typeface="Aptos"/>
              </a:rPr>
              <a:t>Past investments in renewable energy have significantly lowered costs as technology improved, leading to a transformed energy system.</a:t>
            </a:r>
            <a:endParaRPr lang="en-US">
              <a:solidFill>
                <a:srgbClr val="012903"/>
              </a:solidFill>
              <a:latin typeface="Aptos"/>
            </a:endParaRPr>
          </a:p>
          <a:p>
            <a:pPr lvl="1"/>
            <a:r>
              <a:rPr lang="en-GB" b="1" dirty="0">
                <a:solidFill>
                  <a:srgbClr val="628E4C"/>
                </a:solidFill>
                <a:latin typeface="Aptos"/>
              </a:rPr>
              <a:t>Norms (Future):</a:t>
            </a:r>
            <a:r>
              <a:rPr lang="en-GB" b="1" dirty="0">
                <a:solidFill>
                  <a:srgbClr val="012903"/>
                </a:solidFill>
                <a:latin typeface="Aptos"/>
              </a:rPr>
              <a:t> </a:t>
            </a:r>
            <a:r>
              <a:rPr lang="en-GB" dirty="0">
                <a:solidFill>
                  <a:srgbClr val="012903"/>
                </a:solidFill>
                <a:latin typeface="Aptos"/>
              </a:rPr>
              <a:t>Transformative Policies</a:t>
            </a:r>
            <a:endParaRPr lang="en-US" sz="2000">
              <a:solidFill>
                <a:srgbClr val="012903"/>
              </a:solidFill>
              <a:latin typeface="Aptos"/>
            </a:endParaRPr>
          </a:p>
          <a:p>
            <a:pPr lvl="1"/>
            <a:endParaRPr lang="en-US" dirty="0">
              <a:solidFill>
                <a:srgbClr val="FFFFFF"/>
              </a:solidFill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3E7C1-DEA5-A60A-0093-8711F726B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33" y="1965874"/>
            <a:ext cx="3858272" cy="47466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3B7BBC-B231-8D16-4CE5-56A504033B3E}"/>
              </a:ext>
            </a:extLst>
          </p:cNvPr>
          <p:cNvSpPr txBox="1"/>
          <p:nvPr/>
        </p:nvSpPr>
        <p:spPr>
          <a:xfrm>
            <a:off x="8009388" y="3906870"/>
            <a:ext cx="40466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ECF4D6"/>
                </a:solidFill>
                <a:latin typeface="+mn-lt"/>
              </a:rPr>
              <a:t>Source: </a:t>
            </a:r>
            <a:r>
              <a:rPr lang="en-US" sz="1200" i="1">
                <a:solidFill>
                  <a:srgbClr val="ECF4D6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Yazar et al</a:t>
            </a:r>
            <a:r>
              <a:rPr lang="en-US" sz="1200" i="1">
                <a:solidFill>
                  <a:srgbClr val="ECF4D6"/>
                </a:solidFill>
                <a:latin typeface="+mn-lt"/>
              </a:rPr>
              <a:t>. (2023) </a:t>
            </a:r>
          </a:p>
        </p:txBody>
      </p:sp>
    </p:spTree>
    <p:extLst>
      <p:ext uri="{BB962C8B-B14F-4D97-AF65-F5344CB8AC3E}">
        <p14:creationId xmlns:p14="http://schemas.microsoft.com/office/powerpoint/2010/main" val="2246188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FDF161-C648-9BE1-A561-D608D4D85E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81" b="461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3E26BB-EC35-0872-1E2C-894244F67FCB}"/>
              </a:ext>
            </a:extLst>
          </p:cNvPr>
          <p:cNvSpPr txBox="1"/>
          <p:nvPr/>
        </p:nvSpPr>
        <p:spPr>
          <a:xfrm>
            <a:off x="2091187" y="702995"/>
            <a:ext cx="80096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kern="1200">
                <a:solidFill>
                  <a:srgbClr val="ECF4D6"/>
                </a:solidFill>
                <a:latin typeface="Aptos" panose="020B0004020202020204" pitchFamily="34" charset="0"/>
                <a:ea typeface="+mj-ea"/>
                <a:cs typeface="+mj-cs"/>
              </a:rPr>
              <a:t>Three </a:t>
            </a: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ECF4D6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Key Needs</a:t>
            </a:r>
            <a:endParaRPr lang="en-US" sz="1800">
              <a:solidFill>
                <a:srgbClr val="ECF4D6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DBB1DAFD-486D-D72D-3B19-FDF3E5D330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788091"/>
              </p:ext>
            </p:extLst>
          </p:nvPr>
        </p:nvGraphicFramePr>
        <p:xfrm>
          <a:off x="381000" y="1626325"/>
          <a:ext cx="11430000" cy="4995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6126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6751-C168-7C01-C6C9-1F7691926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Enforcement of Commitments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B9C9D-1B79-6E5D-9A25-0A21FFE4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934" y="4056742"/>
            <a:ext cx="11430000" cy="258082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D8181-3C27-F14A-82BF-A7FE87D35951}"/>
              </a:ext>
            </a:extLst>
          </p:cNvPr>
          <p:cNvSpPr/>
          <p:nvPr/>
        </p:nvSpPr>
        <p:spPr>
          <a:xfrm>
            <a:off x="407126" y="3523993"/>
            <a:ext cx="11383742" cy="326322"/>
          </a:xfrm>
          <a:prstGeom prst="rect">
            <a:avLst/>
          </a:prstGeom>
          <a:solidFill>
            <a:srgbClr val="ECF4D6"/>
          </a:solidFill>
          <a:ln>
            <a:solidFill>
              <a:srgbClr val="EC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D4B42-9EDE-1621-711D-A57C26654E8E}"/>
              </a:ext>
            </a:extLst>
          </p:cNvPr>
          <p:cNvSpPr/>
          <p:nvPr/>
        </p:nvSpPr>
        <p:spPr>
          <a:xfrm>
            <a:off x="417192" y="3893325"/>
            <a:ext cx="11383742" cy="2744238"/>
          </a:xfrm>
          <a:prstGeom prst="rect">
            <a:avLst/>
          </a:prstGeom>
          <a:solidFill>
            <a:srgbClr val="012903"/>
          </a:solidFill>
          <a:ln>
            <a:solidFill>
              <a:srgbClr val="0129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701BA-796B-FDF0-0C4E-9E0ABB2471B9}"/>
              </a:ext>
            </a:extLst>
          </p:cNvPr>
          <p:cNvSpPr txBox="1"/>
          <p:nvPr/>
        </p:nvSpPr>
        <p:spPr>
          <a:xfrm>
            <a:off x="381000" y="3516868"/>
            <a:ext cx="11383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Tx/>
              <a:buNone/>
            </a:pPr>
            <a:r>
              <a:rPr lang="en-GB" sz="2000" b="1" dirty="0">
                <a:solidFill>
                  <a:srgbClr val="012903"/>
                </a:solidFill>
                <a:latin typeface="Aptos" panose="020B0004020202020204" pitchFamily="34" charset="0"/>
              </a:rPr>
              <a:t>International Contracts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18A55F-695C-C27E-97A2-E6B960A0DEE9}"/>
              </a:ext>
            </a:extLst>
          </p:cNvPr>
          <p:cNvSpPr txBox="1">
            <a:spLocks/>
          </p:cNvSpPr>
          <p:nvPr/>
        </p:nvSpPr>
        <p:spPr>
          <a:xfrm>
            <a:off x="609953" y="4059776"/>
            <a:ext cx="10998219" cy="305056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12903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GB" sz="1800" b="1" dirty="0">
                <a:solidFill>
                  <a:schemeClr val="tx1"/>
                </a:solidFill>
              </a:rPr>
              <a:t>Increased Value: </a:t>
            </a:r>
            <a:r>
              <a:rPr lang="en-GB" sz="1800" dirty="0">
                <a:solidFill>
                  <a:schemeClr val="tx1"/>
                </a:solidFill>
              </a:rPr>
              <a:t>International contracts can enhance the value of national commitments by reducing investment risk, making projects more attractive to investors.</a:t>
            </a:r>
          </a:p>
          <a:p>
            <a:pPr>
              <a:buClr>
                <a:schemeClr val="tx1"/>
              </a:buClr>
            </a:pPr>
            <a:r>
              <a:rPr lang="en-GB" sz="1800" b="1" dirty="0">
                <a:solidFill>
                  <a:schemeClr val="tx1"/>
                </a:solidFill>
              </a:rPr>
              <a:t>Liability: </a:t>
            </a:r>
            <a:r>
              <a:rPr lang="en-GB" sz="1800" dirty="0">
                <a:solidFill>
                  <a:schemeClr val="tx1"/>
                </a:solidFill>
              </a:rPr>
              <a:t>Ensures that countries remain accountable for their commitments, promoting transparency and responsibility in meeting climate goals.</a:t>
            </a:r>
          </a:p>
          <a:p>
            <a:pPr>
              <a:buClr>
                <a:schemeClr val="tx1"/>
              </a:buClr>
            </a:pPr>
            <a:r>
              <a:rPr lang="en-GB" sz="1800" b="1" dirty="0">
                <a:solidFill>
                  <a:schemeClr val="tx1"/>
                </a:solidFill>
              </a:rPr>
              <a:t>Lower Interest Rates: </a:t>
            </a:r>
            <a:r>
              <a:rPr lang="en-GB" sz="1800" dirty="0">
                <a:solidFill>
                  <a:schemeClr val="tx1"/>
                </a:solidFill>
              </a:rPr>
              <a:t>International agreements can help countries secure lower interest rates, making it easier to finance large-scale renewable energy projects.</a:t>
            </a:r>
          </a:p>
          <a:p>
            <a:pPr marL="0" indent="0" algn="ctr">
              <a:lnSpc>
                <a:spcPct val="100000"/>
              </a:lnSpc>
              <a:buClrTx/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 marL="0" indent="0">
              <a:buClrTx/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41510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16751-C168-7C01-C6C9-1F7691926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Enforcement of Commitments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4D8181-3C27-F14A-82BF-A7FE87D35951}"/>
              </a:ext>
            </a:extLst>
          </p:cNvPr>
          <p:cNvSpPr/>
          <p:nvPr/>
        </p:nvSpPr>
        <p:spPr>
          <a:xfrm>
            <a:off x="407126" y="3587493"/>
            <a:ext cx="11383742" cy="326322"/>
          </a:xfrm>
          <a:prstGeom prst="rect">
            <a:avLst/>
          </a:prstGeom>
          <a:solidFill>
            <a:srgbClr val="ECF4D6"/>
          </a:solidFill>
          <a:ln>
            <a:solidFill>
              <a:srgbClr val="ECF4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D4B42-9EDE-1621-711D-A57C26654E8E}"/>
              </a:ext>
            </a:extLst>
          </p:cNvPr>
          <p:cNvSpPr/>
          <p:nvPr/>
        </p:nvSpPr>
        <p:spPr>
          <a:xfrm>
            <a:off x="417192" y="3956825"/>
            <a:ext cx="11383742" cy="2621775"/>
          </a:xfrm>
          <a:prstGeom prst="rect">
            <a:avLst/>
          </a:prstGeom>
          <a:solidFill>
            <a:srgbClr val="012903"/>
          </a:solidFill>
          <a:ln>
            <a:solidFill>
              <a:srgbClr val="0129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701BA-796B-FDF0-0C4E-9E0ABB2471B9}"/>
              </a:ext>
            </a:extLst>
          </p:cNvPr>
          <p:cNvSpPr txBox="1"/>
          <p:nvPr/>
        </p:nvSpPr>
        <p:spPr>
          <a:xfrm>
            <a:off x="381000" y="3554968"/>
            <a:ext cx="11383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ClrTx/>
              <a:buNone/>
            </a:pPr>
            <a:r>
              <a:rPr lang="en-GB" sz="2000" b="1" dirty="0">
                <a:solidFill>
                  <a:srgbClr val="012903"/>
                </a:solidFill>
                <a:latin typeface="Aptos" panose="020B0004020202020204" pitchFamily="34" charset="0"/>
              </a:rPr>
              <a:t>Trust Funds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18A55F-695C-C27E-97A2-E6B960A0DEE9}"/>
              </a:ext>
            </a:extLst>
          </p:cNvPr>
          <p:cNvSpPr txBox="1">
            <a:spLocks/>
          </p:cNvSpPr>
          <p:nvPr/>
        </p:nvSpPr>
        <p:spPr>
          <a:xfrm>
            <a:off x="609953" y="4059776"/>
            <a:ext cx="10998219" cy="18838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12903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GB" sz="2000" b="1" dirty="0">
                <a:solidFill>
                  <a:schemeClr val="tx1"/>
                </a:solidFill>
              </a:rPr>
              <a:t>Ensuring Fulfilment: </a:t>
            </a:r>
            <a:r>
              <a:rPr lang="en-GB" sz="2000" dirty="0">
                <a:solidFill>
                  <a:schemeClr val="tx1"/>
                </a:solidFill>
              </a:rPr>
              <a:t>Trust funds can provide a mechanism to ensure countries fulfil their obligations, offering financial security and reducing the risk of non-compliance.</a:t>
            </a:r>
          </a:p>
          <a:p>
            <a:pPr>
              <a:buClr>
                <a:schemeClr val="tx1"/>
              </a:buClr>
            </a:pPr>
            <a:r>
              <a:rPr lang="en-GB" sz="2000" b="1" dirty="0">
                <a:solidFill>
                  <a:schemeClr val="tx1"/>
                </a:solidFill>
              </a:rPr>
              <a:t>Stronger Commitments: </a:t>
            </a:r>
            <a:r>
              <a:rPr lang="en-GB" sz="2000" dirty="0">
                <a:solidFill>
                  <a:schemeClr val="tx1"/>
                </a:solidFill>
              </a:rPr>
              <a:t>The presence of trust funds encourages countries to make bolder commitments, supported by the prospect of economic growth and access to favourable financing conditions.</a:t>
            </a:r>
          </a:p>
          <a:p>
            <a:pPr marL="0" indent="0" algn="ctr">
              <a:lnSpc>
                <a:spcPct val="100000"/>
              </a:lnSpc>
              <a:buClrTx/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 marL="0" indent="0">
              <a:buClrTx/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97893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ind turbines in a field&#10;&#10;Description automatically generated">
            <a:extLst>
              <a:ext uri="{FF2B5EF4-FFF2-40B4-BE49-F238E27FC236}">
                <a16:creationId xmlns:a16="http://schemas.microsoft.com/office/drawing/2014/main" id="{465B7B35-3B24-9E85-BADC-5762887AFA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079" b="37627"/>
          <a:stretch/>
        </p:blipFill>
        <p:spPr>
          <a:xfrm>
            <a:off x="0" y="4472848"/>
            <a:ext cx="12192000" cy="2385152"/>
          </a:xfrm>
          <a:prstGeom prst="rect">
            <a:avLst/>
          </a:prstGeom>
        </p:spPr>
      </p:pic>
      <p:sp>
        <p:nvSpPr>
          <p:cNvPr id="2" name="Google Shape;185;p22">
            <a:extLst>
              <a:ext uri="{FF2B5EF4-FFF2-40B4-BE49-F238E27FC236}">
                <a16:creationId xmlns:a16="http://schemas.microsoft.com/office/drawing/2014/main" id="{FA548F9C-4CA9-1CB3-63ED-C4FA28F94B46}"/>
              </a:ext>
            </a:extLst>
          </p:cNvPr>
          <p:cNvSpPr txBox="1">
            <a:spLocks/>
          </p:cNvSpPr>
          <p:nvPr/>
        </p:nvSpPr>
        <p:spPr>
          <a:xfrm>
            <a:off x="4687259" y="467214"/>
            <a:ext cx="6653841" cy="346563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GB" sz="2200" dirty="0">
                <a:solidFill>
                  <a:srgbClr val="B2DCEA"/>
                </a:solidFill>
                <a:latin typeface="Aptos" panose="020B0004020202020204" pitchFamily="34" charset="0"/>
              </a:rPr>
              <a:t>Why?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ptos" panose="020B0004020202020204" pitchFamily="34" charset="0"/>
              </a:rPr>
              <a:t>Motivation for Action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ptos" panose="020B0004020202020204" pitchFamily="34" charset="0"/>
              </a:rPr>
              <a:t>Example: Gym Membership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GB" sz="2200" dirty="0">
                <a:solidFill>
                  <a:srgbClr val="B2DCEA"/>
                </a:solidFill>
                <a:latin typeface="Aptos" panose="020B0004020202020204" pitchFamily="34" charset="0"/>
              </a:rPr>
              <a:t>How?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ptos" panose="020B0004020202020204" pitchFamily="34" charset="0"/>
              </a:rPr>
              <a:t>Renewables Contracts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ptos" panose="020B0004020202020204" pitchFamily="34" charset="0"/>
              </a:rPr>
              <a:t>Small Countries as Norm Entrepreneurs</a:t>
            </a:r>
          </a:p>
          <a:p>
            <a:pPr marL="342900" indent="-34290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chemeClr val="tx1"/>
                </a:solidFill>
                <a:latin typeface="Aptos" panose="020B0004020202020204" pitchFamily="34" charset="0"/>
              </a:rPr>
              <a:t>High-Return Processes</a:t>
            </a: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GB" sz="22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GB" sz="2200" dirty="0">
                <a:solidFill>
                  <a:srgbClr val="B2DCEA"/>
                </a:solidFill>
                <a:latin typeface="Aptos" panose="020B0004020202020204" pitchFamily="34" charset="0"/>
              </a:rPr>
              <a:t> </a:t>
            </a:r>
            <a:endParaRPr lang="en-GB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E9395-D7D5-5D47-BF6A-43B709D68E15}"/>
              </a:ext>
            </a:extLst>
          </p:cNvPr>
          <p:cNvSpPr txBox="1"/>
          <p:nvPr/>
        </p:nvSpPr>
        <p:spPr>
          <a:xfrm>
            <a:off x="427007" y="467214"/>
            <a:ext cx="355839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E7C8AD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Creating Dynamic Incentives</a:t>
            </a:r>
          </a:p>
        </p:txBody>
      </p:sp>
    </p:spTree>
    <p:extLst>
      <p:ext uri="{BB962C8B-B14F-4D97-AF65-F5344CB8AC3E}">
        <p14:creationId xmlns:p14="http://schemas.microsoft.com/office/powerpoint/2010/main" val="1196200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ind turbines in a field&#10;&#10;Description automatically generated">
            <a:extLst>
              <a:ext uri="{FF2B5EF4-FFF2-40B4-BE49-F238E27FC236}">
                <a16:creationId xmlns:a16="http://schemas.microsoft.com/office/drawing/2014/main" id="{465B7B35-3B24-9E85-BADC-5762887AFA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079" b="37627"/>
          <a:stretch/>
        </p:blipFill>
        <p:spPr>
          <a:xfrm>
            <a:off x="0" y="4472848"/>
            <a:ext cx="12192000" cy="2385152"/>
          </a:xfrm>
          <a:prstGeom prst="rect">
            <a:avLst/>
          </a:prstGeom>
        </p:spPr>
      </p:pic>
      <p:sp>
        <p:nvSpPr>
          <p:cNvPr id="2" name="Google Shape;185;p22">
            <a:extLst>
              <a:ext uri="{FF2B5EF4-FFF2-40B4-BE49-F238E27FC236}">
                <a16:creationId xmlns:a16="http://schemas.microsoft.com/office/drawing/2014/main" id="{FA548F9C-4CA9-1CB3-63ED-C4FA28F94B46}"/>
              </a:ext>
            </a:extLst>
          </p:cNvPr>
          <p:cNvSpPr txBox="1">
            <a:spLocks/>
          </p:cNvSpPr>
          <p:nvPr/>
        </p:nvSpPr>
        <p:spPr>
          <a:xfrm>
            <a:off x="4879679" y="218285"/>
            <a:ext cx="6653841" cy="4333734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lnSpc>
                <a:spcPct val="150000"/>
              </a:lnSpc>
              <a:buClr>
                <a:srgbClr val="B2DCEA"/>
              </a:buClr>
              <a:buFont typeface="+mj-lt"/>
              <a:buAutoNum type="arabicPeriod"/>
            </a:pPr>
            <a:r>
              <a:rPr lang="en-GB" sz="2800" b="1">
                <a:solidFill>
                  <a:srgbClr val="B2DCEA"/>
                </a:solidFill>
                <a:latin typeface="Aptos" panose="020B0004020202020204" pitchFamily="34" charset="0"/>
              </a:rPr>
              <a:t>Fulfilling Commitments on Time</a:t>
            </a:r>
          </a:p>
          <a:p>
            <a:pPr marL="514350" indent="-514350">
              <a:lnSpc>
                <a:spcPct val="150000"/>
              </a:lnSpc>
              <a:buClr>
                <a:srgbClr val="B2DCEA"/>
              </a:buClr>
              <a:buFont typeface="+mj-lt"/>
              <a:buAutoNum type="arabicPeriod"/>
            </a:pPr>
            <a:r>
              <a:rPr lang="en-GB" sz="2800" b="1">
                <a:solidFill>
                  <a:srgbClr val="B2DCEA"/>
                </a:solidFill>
                <a:latin typeface="Aptos" panose="020B0004020202020204" pitchFamily="34" charset="0"/>
              </a:rPr>
              <a:t>Involvement of Development Partners</a:t>
            </a:r>
          </a:p>
          <a:p>
            <a:pPr marL="514350" indent="-514350">
              <a:lnSpc>
                <a:spcPct val="150000"/>
              </a:lnSpc>
              <a:buClr>
                <a:srgbClr val="B2DCEA"/>
              </a:buClr>
              <a:buFont typeface="+mj-lt"/>
              <a:buAutoNum type="arabicPeriod"/>
            </a:pPr>
            <a:r>
              <a:rPr lang="en-GB" sz="2800" b="1">
                <a:solidFill>
                  <a:srgbClr val="B2DCEA"/>
                </a:solidFill>
                <a:latin typeface="Aptos" panose="020B0004020202020204" pitchFamily="34" charset="0"/>
              </a:rPr>
              <a:t>Regional Trials</a:t>
            </a:r>
          </a:p>
          <a:p>
            <a:pPr marL="514350" indent="-514350">
              <a:lnSpc>
                <a:spcPct val="150000"/>
              </a:lnSpc>
              <a:buClr>
                <a:srgbClr val="B2DCEA"/>
              </a:buClr>
              <a:buFont typeface="+mj-lt"/>
              <a:buAutoNum type="arabicPeriod"/>
            </a:pPr>
            <a:r>
              <a:rPr lang="en-GB" sz="2800" b="1">
                <a:solidFill>
                  <a:srgbClr val="B2DCEA"/>
                </a:solidFill>
                <a:latin typeface="Aptos" panose="020B0004020202020204" pitchFamily="34" charset="0"/>
              </a:rPr>
              <a:t>Trade-Offs</a:t>
            </a:r>
          </a:p>
          <a:p>
            <a:pPr marL="514350" indent="-514350">
              <a:lnSpc>
                <a:spcPct val="150000"/>
              </a:lnSpc>
              <a:buClr>
                <a:srgbClr val="B2DCEA"/>
              </a:buClr>
              <a:buFont typeface="+mj-lt"/>
              <a:buAutoNum type="arabicPeriod"/>
            </a:pPr>
            <a:r>
              <a:rPr lang="en-GB" sz="2800" b="1">
                <a:solidFill>
                  <a:srgbClr val="B2DCEA"/>
                </a:solidFill>
                <a:latin typeface="Aptos" panose="020B0004020202020204" pitchFamily="34" charset="0"/>
              </a:rPr>
              <a:t>Achieving Commitments</a:t>
            </a:r>
            <a:endParaRPr lang="en-GB" sz="2800">
              <a:solidFill>
                <a:srgbClr val="B2DCEA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endParaRPr lang="en-GB" sz="22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  <a:buClr>
                <a:schemeClr val="tx1"/>
              </a:buClr>
            </a:pPr>
            <a:r>
              <a:rPr lang="en-GB" sz="2200">
                <a:solidFill>
                  <a:srgbClr val="B2DCEA"/>
                </a:solidFill>
                <a:latin typeface="Aptos" panose="020B0004020202020204" pitchFamily="34" charset="0"/>
              </a:rPr>
              <a:t> </a:t>
            </a:r>
            <a:endParaRPr lang="en-GB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E9395-D7D5-5D47-BF6A-43B709D68E15}"/>
              </a:ext>
            </a:extLst>
          </p:cNvPr>
          <p:cNvSpPr txBox="1"/>
          <p:nvPr/>
        </p:nvSpPr>
        <p:spPr>
          <a:xfrm>
            <a:off x="427007" y="467214"/>
            <a:ext cx="35583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E7C8AD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Trust-Building: A Two-Way Process</a:t>
            </a:r>
          </a:p>
        </p:txBody>
      </p:sp>
    </p:spTree>
    <p:extLst>
      <p:ext uri="{BB962C8B-B14F-4D97-AF65-F5344CB8AC3E}">
        <p14:creationId xmlns:p14="http://schemas.microsoft.com/office/powerpoint/2010/main" val="80794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6207-EDA5-0C45-554B-1E5366578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ROLE OF MDBs</a:t>
            </a:r>
          </a:p>
        </p:txBody>
      </p:sp>
    </p:spTree>
    <p:extLst>
      <p:ext uri="{BB962C8B-B14F-4D97-AF65-F5344CB8AC3E}">
        <p14:creationId xmlns:p14="http://schemas.microsoft.com/office/powerpoint/2010/main" val="1712362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5C1D2-D2D4-2EDA-8874-D7188282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/>
              <a:t>Aligning Development Finance with Net Zero Goals (Fankhauser et al.)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FDFB-1866-927D-3414-5EAD7DE59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624942"/>
            <a:ext cx="11430000" cy="3106058"/>
          </a:xfrm>
        </p:spPr>
        <p:txBody>
          <a:bodyPr vert="horz" lIns="0" tIns="0" rIns="0" bIns="0" rtlCol="0" anchor="t">
            <a:normAutofit fontScale="62500" lnSpcReduction="20000"/>
          </a:bodyPr>
          <a:lstStyle/>
          <a:p>
            <a:r>
              <a:rPr lang="en-US" b="1" dirty="0">
                <a:latin typeface="Aptos Light"/>
              </a:rPr>
              <a:t>Set context-specific emissions pathways with granular bottom-up data and </a:t>
            </a:r>
            <a:r>
              <a:rPr lang="en-US" b="1" dirty="0" err="1">
                <a:latin typeface="Aptos Light"/>
              </a:rPr>
              <a:t>emphasising</a:t>
            </a:r>
            <a:r>
              <a:rPr lang="en-US" b="1" dirty="0">
                <a:latin typeface="Aptos Light"/>
              </a:rPr>
              <a:t> climate-development win-wins</a:t>
            </a:r>
          </a:p>
          <a:p>
            <a:r>
              <a:rPr lang="en-US" b="1" dirty="0">
                <a:latin typeface="Aptos Light"/>
              </a:rPr>
              <a:t>Deal with inertia and lumpiness in the portfolio through ‘when’ flexibility (multiyear carbon budgets) and ‘where’ flexibility (sharing of carbon space)</a:t>
            </a:r>
          </a:p>
          <a:p>
            <a:r>
              <a:rPr lang="en-US" b="1" dirty="0">
                <a:latin typeface="Aptos Light"/>
              </a:rPr>
              <a:t>Encourage transition projects through future-emissions accounting and transition credits</a:t>
            </a:r>
          </a:p>
          <a:p>
            <a:r>
              <a:rPr lang="en-US" b="1" dirty="0">
                <a:latin typeface="Aptos Light"/>
              </a:rPr>
              <a:t> Manage climate-development and other trade-offs with an internal carbon price and ESG standards</a:t>
            </a:r>
          </a:p>
          <a:p>
            <a:r>
              <a:rPr lang="en-US" b="1" dirty="0">
                <a:latin typeface="Aptos Light"/>
              </a:rPr>
              <a:t>Account for emissions after project-end with monitoring and legal provisions</a:t>
            </a:r>
            <a:endParaRPr lang="en-AU" b="1" dirty="0">
              <a:latin typeface="Aptos Light"/>
            </a:endParaRPr>
          </a:p>
        </p:txBody>
      </p:sp>
    </p:spTree>
    <p:extLst>
      <p:ext uri="{BB962C8B-B14F-4D97-AF65-F5344CB8AC3E}">
        <p14:creationId xmlns:p14="http://schemas.microsoft.com/office/powerpoint/2010/main" val="4075494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D3DE5-637F-990A-4EB2-E4E31A467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Aptos ExtraBold"/>
              </a:rPr>
              <a:t>Debt Relief (Volz et al.)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F8B59-1100-219C-A224-9C329E62F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3569724"/>
            <a:ext cx="11430000" cy="3155081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AU" sz="1600" b="1" dirty="0">
                <a:solidFill>
                  <a:srgbClr val="628E4C"/>
                </a:solidFill>
                <a:latin typeface="Aptos Light"/>
              </a:rPr>
              <a:t>Current Situation</a:t>
            </a:r>
            <a:r>
              <a:rPr lang="en-AU" sz="1600" b="1" dirty="0">
                <a:latin typeface="Aptos Light"/>
              </a:rPr>
              <a:t>: Debt service is hindering crisis responses in many low- and middle-income countries. This threatens development prospects and  climate adaptation efforts.</a:t>
            </a:r>
            <a:endParaRPr lang="en-AU" sz="1600" b="1"/>
          </a:p>
          <a:p>
            <a:r>
              <a:rPr lang="en-AU" sz="1600" b="1" dirty="0">
                <a:solidFill>
                  <a:srgbClr val="628E4C"/>
                </a:solidFill>
                <a:latin typeface="Aptos Light"/>
              </a:rPr>
              <a:t>Systemic Challenge:</a:t>
            </a:r>
            <a:r>
              <a:rPr lang="en-AU" sz="1600" b="1" dirty="0">
                <a:latin typeface="Aptos Light"/>
              </a:rPr>
              <a:t> The G20 Common Framework for Debt Treatments is inadequate for addressing the depth of the debt crisis.</a:t>
            </a:r>
          </a:p>
          <a:p>
            <a:r>
              <a:rPr lang="en-AU" sz="1600" b="1" dirty="0">
                <a:solidFill>
                  <a:srgbClr val="628E4C"/>
                </a:solidFill>
                <a:latin typeface="Aptos Light"/>
              </a:rPr>
              <a:t>IMF &amp; World Bank Initiative:</a:t>
            </a:r>
            <a:r>
              <a:rPr lang="en-AU" sz="1600" b="1" dirty="0">
                <a:latin typeface="Aptos Light"/>
              </a:rPr>
              <a:t> Build a scheme linking debt relief with Green, Resilient, and Inclusive Development (GRID). Focus on: Climate resilience and SDG-aligned investments; and Private creditor participation and comprehensive debt relief.</a:t>
            </a:r>
            <a:endParaRPr lang="en-AU" sz="1600" b="1"/>
          </a:p>
          <a:p>
            <a:r>
              <a:rPr lang="en-AU" sz="1600" b="1" dirty="0">
                <a:solidFill>
                  <a:srgbClr val="628E4C"/>
                </a:solidFill>
                <a:latin typeface="Aptos Light"/>
              </a:rPr>
              <a:t>Global Collaboration</a:t>
            </a:r>
            <a:r>
              <a:rPr lang="en-AU" sz="1600" b="1" dirty="0">
                <a:latin typeface="Aptos Light"/>
              </a:rPr>
              <a:t>: The G20, MDBs, and private creditors must align to support a green and inclusive recovery, ensuring fiscal space for climate resilience.</a:t>
            </a:r>
            <a:endParaRPr lang="en-AU" sz="1600" b="1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8825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6207-EDA5-0C45-554B-1E5366578D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Two Proposals from Us!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6256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48C5-6B2A-7E99-A535-0E149BF1A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Bonds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E3502-00FA-3B63-E433-372EB4B4E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6604" y="502920"/>
            <a:ext cx="7238995" cy="6069330"/>
          </a:xfrm>
        </p:spPr>
        <p:txBody>
          <a:bodyPr vert="horz" lIns="0" tIns="0" rIns="0" bIns="0" rtlCol="0" anchor="t">
            <a:normAutofit/>
          </a:bodyPr>
          <a:lstStyle/>
          <a:p>
            <a:pPr marL="0" lvl="1" indent="0">
              <a:buClr>
                <a:schemeClr val="tx1"/>
              </a:buClr>
              <a:buNone/>
            </a:pPr>
            <a:r>
              <a:rPr lang="en-GB" sz="2000" b="1" dirty="0">
                <a:solidFill>
                  <a:srgbClr val="012903"/>
                </a:solidFill>
                <a:latin typeface="Aptos ExtraBold" panose="020B0004020202020204" pitchFamily="34" charset="0"/>
              </a:rPr>
              <a:t>What?</a:t>
            </a:r>
          </a:p>
          <a:p>
            <a:pPr marL="685800" lvl="2">
              <a:buClr>
                <a:srgbClr val="012903"/>
              </a:buClr>
              <a:buFont typeface="Arial" panose="020B0604020202020204" pitchFamily="34" charset="0"/>
              <a:buChar char="•"/>
            </a:pPr>
            <a:r>
              <a:rPr lang="en-GB" sz="1900" b="1" dirty="0">
                <a:solidFill>
                  <a:srgbClr val="628E4C"/>
                </a:solidFill>
              </a:rPr>
              <a:t>Align Private and Public Financing</a:t>
            </a:r>
          </a:p>
          <a:p>
            <a:pPr marL="685800" lvl="2">
              <a:buClr>
                <a:srgbClr val="012903"/>
              </a:buClr>
              <a:buFont typeface="Arial" panose="020B0604020202020204" pitchFamily="34" charset="0"/>
              <a:buChar char="•"/>
            </a:pPr>
            <a:r>
              <a:rPr lang="en-GB" sz="1900" b="1" dirty="0">
                <a:solidFill>
                  <a:srgbClr val="628E4C"/>
                </a:solidFill>
              </a:rPr>
              <a:t>Incentivize Success</a:t>
            </a:r>
          </a:p>
          <a:p>
            <a:pPr marL="0" lvl="1" indent="0">
              <a:buClr>
                <a:schemeClr val="tx1"/>
              </a:buClr>
              <a:buNone/>
            </a:pPr>
            <a:r>
              <a:rPr lang="en-GB" sz="2000" b="1" dirty="0">
                <a:solidFill>
                  <a:srgbClr val="012903"/>
                </a:solidFill>
                <a:latin typeface="Aptos ExtraBold" panose="020B0004020202020204" pitchFamily="34" charset="0"/>
              </a:rPr>
              <a:t>How?</a:t>
            </a:r>
          </a:p>
          <a:p>
            <a:pPr marL="685800" lvl="2">
              <a:buClr>
                <a:srgbClr val="012903"/>
              </a:buClr>
              <a:buFont typeface="Arial" panose="020B0604020202020204" pitchFamily="34" charset="0"/>
              <a:buChar char="•"/>
            </a:pPr>
            <a:r>
              <a:rPr lang="en-GB" sz="1900" b="1" dirty="0">
                <a:solidFill>
                  <a:srgbClr val="628E4C"/>
                </a:solidFill>
                <a:latin typeface="Aptos Light"/>
              </a:rPr>
              <a:t>Lower Costs for Sovereigns: </a:t>
            </a:r>
            <a:r>
              <a:rPr lang="en-GB" sz="1900" b="1" dirty="0">
                <a:solidFill>
                  <a:srgbClr val="012903"/>
                </a:solidFill>
                <a:latin typeface="Aptos Light"/>
              </a:rPr>
              <a:t>Countries pay lower interest (coupon) if they meet specific climate-related KPIs.</a:t>
            </a:r>
          </a:p>
          <a:p>
            <a:pPr marL="685800" lvl="2">
              <a:buClr>
                <a:srgbClr val="012903"/>
              </a:buClr>
              <a:buFont typeface="Arial" panose="020B0604020202020204" pitchFamily="34" charset="0"/>
              <a:buChar char="•"/>
            </a:pPr>
            <a:r>
              <a:rPr lang="en-GB" sz="1900" b="1" dirty="0">
                <a:solidFill>
                  <a:srgbClr val="628E4C"/>
                </a:solidFill>
                <a:latin typeface="Aptos Light"/>
              </a:rPr>
              <a:t>Fixed Returns for Investors: </a:t>
            </a:r>
            <a:r>
              <a:rPr lang="en-GB" sz="1900" b="1" dirty="0">
                <a:solidFill>
                  <a:srgbClr val="012903"/>
                </a:solidFill>
                <a:latin typeface="Aptos Light"/>
              </a:rPr>
              <a:t>Investors receive a fixed return regardless of performance, making it a stable investment.</a:t>
            </a:r>
          </a:p>
          <a:p>
            <a:pPr marL="685800" lvl="2">
              <a:buClr>
                <a:srgbClr val="012903"/>
              </a:buClr>
              <a:buFont typeface="Arial" panose="020B0604020202020204" pitchFamily="34" charset="0"/>
              <a:buChar char="•"/>
            </a:pPr>
            <a:r>
              <a:rPr lang="en-GB" sz="1900" b="1" dirty="0">
                <a:solidFill>
                  <a:srgbClr val="628E4C"/>
                </a:solidFill>
                <a:latin typeface="Aptos Light"/>
              </a:rPr>
              <a:t>Integration: </a:t>
            </a:r>
            <a:r>
              <a:rPr lang="en-GB" sz="1900" b="1" dirty="0">
                <a:solidFill>
                  <a:srgbClr val="012903"/>
                </a:solidFill>
                <a:latin typeface="Aptos Light"/>
              </a:rPr>
              <a:t>Merge World Bank operations and private lending into one bond to improve efficiency and reduce market risks.</a:t>
            </a:r>
          </a:p>
          <a:p>
            <a:pPr marL="685800" lvl="2">
              <a:buClr>
                <a:srgbClr val="012903"/>
              </a:buClr>
              <a:buFont typeface="Arial" panose="020B0604020202020204" pitchFamily="34" charset="0"/>
              <a:buChar char="•"/>
            </a:pPr>
            <a:r>
              <a:rPr lang="en-GB" sz="1900" b="1" dirty="0">
                <a:solidFill>
                  <a:srgbClr val="628E4C"/>
                </a:solidFill>
                <a:latin typeface="Aptos Light"/>
              </a:rPr>
              <a:t>Flexible Approach: </a:t>
            </a:r>
            <a:r>
              <a:rPr lang="en-GB" sz="1900" b="1" dirty="0">
                <a:solidFill>
                  <a:srgbClr val="012903"/>
                </a:solidFill>
                <a:latin typeface="Aptos Light"/>
              </a:rPr>
              <a:t>Options like 'Prior Action' or Results-Based Climate Financing (RBCF) offer different levels of risk and reward</a:t>
            </a:r>
            <a:r>
              <a:rPr lang="en-GB" sz="1900" dirty="0">
                <a:solidFill>
                  <a:srgbClr val="012903"/>
                </a:solidFill>
                <a:latin typeface="Aptos Light"/>
              </a:rPr>
              <a:t>.</a:t>
            </a:r>
            <a:r>
              <a:rPr lang="en-US" sz="1800" dirty="0">
                <a:solidFill>
                  <a:srgbClr val="012903"/>
                </a:solidFill>
                <a:latin typeface="+mn-lt"/>
              </a:rPr>
              <a:t> </a:t>
            </a:r>
            <a:endParaRPr lang="en-AU" dirty="0">
              <a:solidFill>
                <a:srgbClr val="0129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869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48C5-6B2A-7E99-A535-0E149BF1A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Climate Incentives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7468-8ABB-2D02-BF07-91AD8ED46D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+mn-lt"/>
              </a:rPr>
              <a:t>What?</a:t>
            </a:r>
          </a:p>
          <a:p>
            <a:pPr lvl="1"/>
            <a:r>
              <a:rPr lang="en-US" sz="2000" b="1" dirty="0">
                <a:latin typeface="+mn-lt"/>
              </a:rPr>
              <a:t>Promote Green Growth</a:t>
            </a:r>
          </a:p>
          <a:p>
            <a:pPr lvl="1"/>
            <a:r>
              <a:rPr lang="en-US" sz="2000" b="1" dirty="0">
                <a:latin typeface="+mn-lt"/>
              </a:rPr>
              <a:t>Provide Climate Insurance</a:t>
            </a:r>
          </a:p>
          <a:p>
            <a:pPr marL="0" indent="0">
              <a:buNone/>
            </a:pPr>
            <a:r>
              <a:rPr lang="en-US" sz="2000" b="1" dirty="0">
                <a:latin typeface="+mn-lt"/>
              </a:rPr>
              <a:t>How?</a:t>
            </a:r>
          </a:p>
          <a:p>
            <a:pPr lvl="1"/>
            <a:r>
              <a:rPr lang="en-US" sz="2000" b="1" dirty="0">
                <a:latin typeface="+mn-lt"/>
              </a:rPr>
              <a:t>Reduce Borrowing Costs:</a:t>
            </a:r>
            <a:r>
              <a:rPr lang="en-US" sz="2000" b="1" dirty="0">
                <a:solidFill>
                  <a:srgbClr val="012903"/>
                </a:solidFill>
                <a:latin typeface="+mn-lt"/>
              </a:rPr>
              <a:t> </a:t>
            </a:r>
            <a:r>
              <a:rPr lang="en-US" sz="2000" dirty="0">
                <a:solidFill>
                  <a:srgbClr val="012903"/>
                </a:solidFill>
                <a:latin typeface="+mn-lt"/>
              </a:rPr>
              <a:t>Improve creditworthiness and reduce borrowing costs for developing countries by absorbing risks.</a:t>
            </a:r>
          </a:p>
          <a:p>
            <a:pPr lvl="1"/>
            <a:r>
              <a:rPr lang="en-US" sz="2000" b="1" dirty="0">
                <a:latin typeface="+mn-lt"/>
              </a:rPr>
              <a:t>Early-Stage Investment: </a:t>
            </a:r>
            <a:r>
              <a:rPr lang="en-US" sz="2000" dirty="0">
                <a:solidFill>
                  <a:srgbClr val="012903"/>
                </a:solidFill>
                <a:latin typeface="+mn-lt"/>
              </a:rPr>
              <a:t>Focus on early-stage projects with blended finance to attract private investment and lower the cost of capital.</a:t>
            </a:r>
          </a:p>
          <a:p>
            <a:pPr lvl="1"/>
            <a:r>
              <a:rPr lang="en-US" sz="2000" b="1" dirty="0">
                <a:latin typeface="+mn-lt"/>
              </a:rPr>
              <a:t>Reward Climate Action: </a:t>
            </a:r>
            <a:r>
              <a:rPr lang="en-US" sz="2000" dirty="0">
                <a:solidFill>
                  <a:srgbClr val="012903"/>
                </a:solidFill>
                <a:latin typeface="+mn-lt"/>
              </a:rPr>
              <a:t>Use a dynamic incentive system to reward countries for proactive climate measures.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AE4B22-87EF-DC6A-498C-0DEFF52BBACA}"/>
              </a:ext>
            </a:extLst>
          </p:cNvPr>
          <p:cNvSpPr txBox="1">
            <a:spLocks/>
          </p:cNvSpPr>
          <p:nvPr/>
        </p:nvSpPr>
        <p:spPr>
          <a:xfrm>
            <a:off x="831423" y="2265454"/>
            <a:ext cx="10619222" cy="308272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12903"/>
                </a:solidFill>
                <a:latin typeface="Aptos Light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56D18"/>
                </a:solidFill>
                <a:latin typeface="Aptos Light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Tx/>
              <a:buNone/>
            </a:pP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1199975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D0AC83C3-44F1-354B-A406-D13BE5088D18}" vid="{0CBD1C04-D24F-2B40-A831-D8EA9EDDF6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1299</Words>
  <Application>Microsoft Office PowerPoint</Application>
  <PresentationFormat>Widescreen</PresentationFormat>
  <Paragraphs>128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Andes ExtraLight</vt:lpstr>
      <vt:lpstr>Aptos</vt:lpstr>
      <vt:lpstr>Aptos Display</vt:lpstr>
      <vt:lpstr>Aptos ExtraBold</vt:lpstr>
      <vt:lpstr>Aptos Light</vt:lpstr>
      <vt:lpstr>Arial</vt:lpstr>
      <vt:lpstr>Play</vt:lpstr>
      <vt:lpstr>Trebuchet MS</vt:lpstr>
      <vt:lpstr>Wingdings</vt:lpstr>
      <vt:lpstr>Theme1</vt:lpstr>
      <vt:lpstr>A Short Course on Robust Climate Policy</vt:lpstr>
      <vt:lpstr>Table of Contents</vt:lpstr>
      <vt:lpstr>Three Key Outcomes</vt:lpstr>
      <vt:lpstr>PowerPoint Presentation</vt:lpstr>
      <vt:lpstr>PowerPoint Presentation</vt:lpstr>
      <vt:lpstr>COORDINATING POLICY</vt:lpstr>
      <vt:lpstr>PowerPoint Presentation</vt:lpstr>
      <vt:lpstr>PowerPoint Presentation</vt:lpstr>
      <vt:lpstr>PowerPoint Presentation</vt:lpstr>
      <vt:lpstr>REFORMING POLICY </vt:lpstr>
      <vt:lpstr>Key Metrics</vt:lpstr>
      <vt:lpstr>PowerPoint Presentation</vt:lpstr>
      <vt:lpstr>Enforcement of Commitments</vt:lpstr>
      <vt:lpstr>Enforcement of Commitments</vt:lpstr>
      <vt:lpstr>PowerPoint Presentation</vt:lpstr>
      <vt:lpstr>PowerPoint Presentation</vt:lpstr>
      <vt:lpstr>ROLE OF MDBs</vt:lpstr>
      <vt:lpstr>Aligning Development Finance with Net Zero Goals (Fankhauser et al.) </vt:lpstr>
      <vt:lpstr>Debt Relief (Volz et al.)</vt:lpstr>
      <vt:lpstr>Two Proposals from Us!</vt:lpstr>
      <vt:lpstr>KPI Bonds</vt:lpstr>
      <vt:lpstr>Climate Incentives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Short Course on Macro-Fiscal Climate Economics</dc:title>
  <dc:creator>Evie Davey</dc:creator>
  <cp:lastModifiedBy>Stephen John Stretton</cp:lastModifiedBy>
  <cp:revision>73</cp:revision>
  <dcterms:created xsi:type="dcterms:W3CDTF">2024-01-31T10:57:03Z</dcterms:created>
  <dcterms:modified xsi:type="dcterms:W3CDTF">2024-09-13T19:07:50Z</dcterms:modified>
</cp:coreProperties>
</file>