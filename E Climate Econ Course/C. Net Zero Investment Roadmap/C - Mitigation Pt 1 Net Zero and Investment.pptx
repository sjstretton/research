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83" r:id="rId1"/>
  </p:sldMasterIdLst>
  <p:notesMasterIdLst>
    <p:notesMasterId r:id="rId31"/>
  </p:notesMasterIdLst>
  <p:sldIdLst>
    <p:sldId id="256" r:id="rId2"/>
    <p:sldId id="350" r:id="rId3"/>
    <p:sldId id="351" r:id="rId4"/>
    <p:sldId id="362" r:id="rId5"/>
    <p:sldId id="373" r:id="rId6"/>
    <p:sldId id="374" r:id="rId7"/>
    <p:sldId id="264" r:id="rId8"/>
    <p:sldId id="375" r:id="rId9"/>
    <p:sldId id="390" r:id="rId10"/>
    <p:sldId id="391" r:id="rId11"/>
    <p:sldId id="379" r:id="rId12"/>
    <p:sldId id="384" r:id="rId13"/>
    <p:sldId id="262" r:id="rId14"/>
    <p:sldId id="392" r:id="rId15"/>
    <p:sldId id="380" r:id="rId16"/>
    <p:sldId id="366" r:id="rId17"/>
    <p:sldId id="367" r:id="rId18"/>
    <p:sldId id="333" r:id="rId19"/>
    <p:sldId id="336" r:id="rId20"/>
    <p:sldId id="386" r:id="rId21"/>
    <p:sldId id="388" r:id="rId22"/>
    <p:sldId id="393" r:id="rId23"/>
    <p:sldId id="381" r:id="rId24"/>
    <p:sldId id="368" r:id="rId25"/>
    <p:sldId id="387" r:id="rId26"/>
    <p:sldId id="369" r:id="rId27"/>
    <p:sldId id="370" r:id="rId28"/>
    <p:sldId id="389" r:id="rId29"/>
    <p:sldId id="378"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5" roundtripDataSignature="AMtx7mgIoWk2XI8o1qaLFxKVZsFfmpna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353"/>
    <a:srgbClr val="FFFFFF"/>
    <a:srgbClr val="012903"/>
    <a:srgbClr val="6283A6"/>
    <a:srgbClr val="000000"/>
    <a:srgbClr val="B2DCEA"/>
    <a:srgbClr val="FFC6B1"/>
    <a:srgbClr val="62AA7B"/>
    <a:srgbClr val="99CB38"/>
    <a:srgbClr val="FC8E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95435E-8B18-E779-8DD1-BBDE5A179744}" v="16" dt="2024-09-13T02:30:45.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719"/>
  </p:normalViewPr>
  <p:slideViewPr>
    <p:cSldViewPr snapToGrid="0">
      <p:cViewPr varScale="1">
        <p:scale>
          <a:sx n="60" d="100"/>
          <a:sy n="60" d="100"/>
        </p:scale>
        <p:origin x="7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e Lauren Davey" userId="S::eviedavey6_outlook.com#ext#@worldbankgroup.onmicrosoft.com::ae14ba05-11d6-4041-82d8-f2ed7e05eba3" providerId="AD" clId="Web-{7395435E-8B18-E779-8DD1-BBDE5A179744}"/>
    <pc:docChg chg="modSld">
      <pc:chgData name="Eve Lauren Davey" userId="S::eviedavey6_outlook.com#ext#@worldbankgroup.onmicrosoft.com::ae14ba05-11d6-4041-82d8-f2ed7e05eba3" providerId="AD" clId="Web-{7395435E-8B18-E779-8DD1-BBDE5A179744}" dt="2024-09-13T02:30:45.306" v="13" actId="1076"/>
      <pc:docMkLst>
        <pc:docMk/>
      </pc:docMkLst>
      <pc:sldChg chg="modSp">
        <pc:chgData name="Eve Lauren Davey" userId="S::eviedavey6_outlook.com#ext#@worldbankgroup.onmicrosoft.com::ae14ba05-11d6-4041-82d8-f2ed7e05eba3" providerId="AD" clId="Web-{7395435E-8B18-E779-8DD1-BBDE5A179744}" dt="2024-09-13T02:30:45.306" v="13" actId="1076"/>
        <pc:sldMkLst>
          <pc:docMk/>
          <pc:sldMk cId="3198727060" sldId="389"/>
        </pc:sldMkLst>
        <pc:spChg chg="mod">
          <ac:chgData name="Eve Lauren Davey" userId="S::eviedavey6_outlook.com#ext#@worldbankgroup.onmicrosoft.com::ae14ba05-11d6-4041-82d8-f2ed7e05eba3" providerId="AD" clId="Web-{7395435E-8B18-E779-8DD1-BBDE5A179744}" dt="2024-09-13T02:30:45.306" v="13" actId="1076"/>
          <ac:spMkLst>
            <pc:docMk/>
            <pc:sldMk cId="3198727060" sldId="389"/>
            <ac:spMk id="2" creationId="{ACFB003A-3619-222B-8853-57D3D6E6FC58}"/>
          </ac:spMkLst>
        </pc:spChg>
        <pc:spChg chg="mod">
          <ac:chgData name="Eve Lauren Davey" userId="S::eviedavey6_outlook.com#ext#@worldbankgroup.onmicrosoft.com::ae14ba05-11d6-4041-82d8-f2ed7e05eba3" providerId="AD" clId="Web-{7395435E-8B18-E779-8DD1-BBDE5A179744}" dt="2024-09-13T02:30:28.461" v="10" actId="1076"/>
          <ac:spMkLst>
            <pc:docMk/>
            <pc:sldMk cId="3198727060" sldId="389"/>
            <ac:spMk id="22" creationId="{7DE1F479-0CD0-1927-9C35-F3B815634FF1}"/>
          </ac:spMkLst>
        </pc:spChg>
        <pc:spChg chg="mod">
          <ac:chgData name="Eve Lauren Davey" userId="S::eviedavey6_outlook.com#ext#@worldbankgroup.onmicrosoft.com::ae14ba05-11d6-4041-82d8-f2ed7e05eba3" providerId="AD" clId="Web-{7395435E-8B18-E779-8DD1-BBDE5A179744}" dt="2024-09-13T02:30:34.477" v="11" actId="1076"/>
          <ac:spMkLst>
            <pc:docMk/>
            <pc:sldMk cId="3198727060" sldId="389"/>
            <ac:spMk id="26" creationId="{7CD941BE-EDA7-0930-754C-5780B21D031D}"/>
          </ac:spMkLst>
        </pc:spChg>
        <pc:spChg chg="mod">
          <ac:chgData name="Eve Lauren Davey" userId="S::eviedavey6_outlook.com#ext#@worldbankgroup.onmicrosoft.com::ae14ba05-11d6-4041-82d8-f2ed7e05eba3" providerId="AD" clId="Web-{7395435E-8B18-E779-8DD1-BBDE5A179744}" dt="2024-09-13T02:30:42.071" v="12" actId="1076"/>
          <ac:spMkLst>
            <pc:docMk/>
            <pc:sldMk cId="3198727060" sldId="389"/>
            <ac:spMk id="30" creationId="{E83D9ECA-3567-4623-289D-FE86E3E571DF}"/>
          </ac:spMkLst>
        </pc:spChg>
      </pc:sldChg>
      <pc:sldChg chg="modSp">
        <pc:chgData name="Eve Lauren Davey" userId="S::eviedavey6_outlook.com#ext#@worldbankgroup.onmicrosoft.com::ae14ba05-11d6-4041-82d8-f2ed7e05eba3" providerId="AD" clId="Web-{7395435E-8B18-E779-8DD1-BBDE5A179744}" dt="2024-09-13T02:29:28.254" v="0" actId="20577"/>
        <pc:sldMkLst>
          <pc:docMk/>
          <pc:sldMk cId="2747059499" sldId="392"/>
        </pc:sldMkLst>
        <pc:spChg chg="mod">
          <ac:chgData name="Eve Lauren Davey" userId="S::eviedavey6_outlook.com#ext#@worldbankgroup.onmicrosoft.com::ae14ba05-11d6-4041-82d8-f2ed7e05eba3" providerId="AD" clId="Web-{7395435E-8B18-E779-8DD1-BBDE5A179744}" dt="2024-09-13T02:29:28.254" v="0" actId="20577"/>
          <ac:spMkLst>
            <pc:docMk/>
            <pc:sldMk cId="2747059499" sldId="392"/>
            <ac:spMk id="2" creationId="{AA42CB6E-F045-AE41-AA24-4E91DCE34050}"/>
          </ac:spMkLst>
        </pc:spChg>
      </pc:sldChg>
      <pc:sldChg chg="modSp">
        <pc:chgData name="Eve Lauren Davey" userId="S::eviedavey6_outlook.com#ext#@worldbankgroup.onmicrosoft.com::ae14ba05-11d6-4041-82d8-f2ed7e05eba3" providerId="AD" clId="Web-{7395435E-8B18-E779-8DD1-BBDE5A179744}" dt="2024-09-13T02:30:18.351" v="9" actId="1076"/>
        <pc:sldMkLst>
          <pc:docMk/>
          <pc:sldMk cId="2062910855" sldId="393"/>
        </pc:sldMkLst>
        <pc:spChg chg="mod">
          <ac:chgData name="Eve Lauren Davey" userId="S::eviedavey6_outlook.com#ext#@worldbankgroup.onmicrosoft.com::ae14ba05-11d6-4041-82d8-f2ed7e05eba3" providerId="AD" clId="Web-{7395435E-8B18-E779-8DD1-BBDE5A179744}" dt="2024-09-13T02:30:18.351" v="9" actId="1076"/>
          <ac:spMkLst>
            <pc:docMk/>
            <pc:sldMk cId="2062910855" sldId="393"/>
            <ac:spMk id="20" creationId="{3A833286-C51A-50D7-68F7-19DE26FB13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cfb641d87b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g2cfb641d87b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8280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2c2796f98b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2c2796f98b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2c0ccf1399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2c0ccf1399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650aad0c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2c650aad0c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c650aad0c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c650aad0c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582747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54724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49825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02560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71283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30463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94018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94300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75180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97834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26317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4A1690-501B-E3A8-EC14-F39DD4830685}"/>
              </a:ext>
            </a:extLst>
          </p:cNvPr>
          <p:cNvSpPr>
            <a:spLocks noChangeArrowheads="1"/>
          </p:cNvSpPr>
          <p:nvPr userDrawn="1"/>
        </p:nvSpPr>
        <p:spPr bwMode="auto">
          <a:xfrm flipV="1">
            <a:off x="0" y="1"/>
            <a:ext cx="12192000" cy="4479924"/>
          </a:xfrm>
          <a:prstGeom prst="rect">
            <a:avLst/>
          </a:prstGeom>
          <a:solidFill>
            <a:srgbClr val="022A03"/>
          </a:solidFill>
          <a:ln>
            <a:noFill/>
          </a:ln>
        </p:spPr>
        <p:txBody>
          <a:bodyPr lIns="0" tIns="0" rIns="0" bIns="0"/>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p>
        </p:txBody>
      </p:sp>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2536694"/>
            <a:ext cx="10955383" cy="1066818"/>
          </a:xfrm>
        </p:spPr>
        <p:txBody>
          <a:bodyPr anchor="b"/>
          <a:lstStyle>
            <a:lvl1pPr algn="l">
              <a:defRPr sz="6000" b="1">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CD8EEF29-1660-B535-28CA-CDB76C2A94FB}"/>
              </a:ext>
            </a:extLst>
          </p:cNvPr>
          <p:cNvSpPr>
            <a:spLocks noGrp="1"/>
          </p:cNvSpPr>
          <p:nvPr>
            <p:ph type="subTitle" idx="1"/>
          </p:nvPr>
        </p:nvSpPr>
        <p:spPr>
          <a:xfrm>
            <a:off x="618308" y="3610452"/>
            <a:ext cx="10955383" cy="491290"/>
          </a:xfrm>
        </p:spPr>
        <p:txBody>
          <a:bodyPr/>
          <a:lstStyle>
            <a:lvl1pPr marL="0" indent="0" algn="l">
              <a:buNone/>
              <a:defRPr sz="2400">
                <a:solidFill>
                  <a:srgbClr val="DAEFB8"/>
                </a:solidFill>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Rectangle 7">
            <a:extLst>
              <a:ext uri="{FF2B5EF4-FFF2-40B4-BE49-F238E27FC236}">
                <a16:creationId xmlns:a16="http://schemas.microsoft.com/office/drawing/2014/main" id="{61D466BD-30A3-5235-DD6E-0AE34EA4C34A}"/>
              </a:ext>
            </a:extLst>
          </p:cNvPr>
          <p:cNvSpPr>
            <a:spLocks noChangeArrowheads="1"/>
          </p:cNvSpPr>
          <p:nvPr userDrawn="1"/>
        </p:nvSpPr>
        <p:spPr bwMode="auto">
          <a:xfrm>
            <a:off x="0" y="4448157"/>
            <a:ext cx="12192000" cy="8309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0" name="Text Placeholder 331">
            <a:extLst>
              <a:ext uri="{FF2B5EF4-FFF2-40B4-BE49-F238E27FC236}">
                <a16:creationId xmlns:a16="http://schemas.microsoft.com/office/drawing/2014/main" id="{07F963C1-B46B-E73C-0D6F-78ACDC434F34}"/>
              </a:ext>
            </a:extLst>
          </p:cNvPr>
          <p:cNvSpPr>
            <a:spLocks noGrp="1"/>
          </p:cNvSpPr>
          <p:nvPr>
            <p:ph type="body" sz="quarter" idx="14" hasCustomPrompt="1"/>
          </p:nvPr>
        </p:nvSpPr>
        <p:spPr>
          <a:xfrm>
            <a:off x="7688062" y="5247968"/>
            <a:ext cx="3885629" cy="1093938"/>
          </a:xfrm>
          <a:prstGeom prst="rect">
            <a:avLst/>
          </a:prstGeom>
        </p:spPr>
        <p:txBody>
          <a:bodyPr lIns="0" tIns="0" rIns="0" bIns="0" anchor="t">
            <a:normAutofit/>
          </a:bodyPr>
          <a:lstStyle>
            <a:lvl1pPr marL="0" marR="0" indent="0" algn="r" defTabSz="914400" rtl="0" eaLnBrk="1" fontAlgn="base" latinLnBrk="0" hangingPunct="1">
              <a:lnSpc>
                <a:spcPct val="115000"/>
              </a:lnSpc>
              <a:spcBef>
                <a:spcPts val="0"/>
              </a:spcBef>
              <a:spcAft>
                <a:spcPct val="0"/>
              </a:spcAft>
              <a:buClr>
                <a:srgbClr val="00783C"/>
              </a:buClr>
              <a:buSzTx/>
              <a:buFontTx/>
              <a:buNone/>
              <a:tabLst/>
              <a:defRPr sz="1600" b="0" i="0" baseline="0">
                <a:solidFill>
                  <a:schemeClr val="tx1"/>
                </a:solidFill>
                <a:latin typeface="Aptos Light" panose="020B0004020202020204" pitchFamily="34" charset="0"/>
                <a:cs typeface="Arial"/>
              </a:defRPr>
            </a:lvl1pPr>
            <a:lvl2pPr marL="0" marR="0" indent="0" algn="r" defTabSz="914400" rtl="0" eaLnBrk="1" fontAlgn="base" latinLnBrk="0" hangingPunct="1">
              <a:lnSpc>
                <a:spcPct val="100000"/>
              </a:lnSpc>
              <a:spcBef>
                <a:spcPts val="0"/>
              </a:spcBef>
              <a:spcAft>
                <a:spcPct val="0"/>
              </a:spcAft>
              <a:buClr>
                <a:srgbClr val="00783C"/>
              </a:buClr>
              <a:buSzTx/>
              <a:buFont typeface="Wingdings" charset="0"/>
              <a:buNone/>
              <a:tabLst/>
              <a:defRPr sz="1600" b="0" i="0">
                <a:solidFill>
                  <a:schemeClr val="tx1"/>
                </a:solidFill>
                <a:latin typeface="Aptos Light" panose="020B0004020202020204" pitchFamily="34" charset="0"/>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Edit Master text styles</a:t>
            </a:r>
          </a:p>
          <a:p>
            <a:pPr lvl="1"/>
            <a:r>
              <a:rPr lang="en-US"/>
              <a:t>Second level</a:t>
            </a:r>
          </a:p>
        </p:txBody>
      </p:sp>
    </p:spTree>
    <p:extLst>
      <p:ext uri="{BB962C8B-B14F-4D97-AF65-F5344CB8AC3E}">
        <p14:creationId xmlns:p14="http://schemas.microsoft.com/office/powerpoint/2010/main" val="386062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rotWithShape="1">
          <a:blip r:embed="rId2"/>
          <a:srcRect r="1716"/>
          <a:stretch/>
        </p:blipFill>
        <p:spPr>
          <a:xfrm>
            <a:off x="-1" y="152227"/>
            <a:ext cx="12192001" cy="6705774"/>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12192000" cy="6477000"/>
          </a:xfrm>
          <a:custGeom>
            <a:avLst/>
            <a:gdLst/>
            <a:ahLst/>
            <a:cxnLst/>
            <a:rect l="l" t="t" r="r" b="b"/>
            <a:pathLst>
              <a:path w="365770" h="175924" extrusionOk="0">
                <a:moveTo>
                  <a:pt x="0" y="0"/>
                </a:moveTo>
                <a:lnTo>
                  <a:pt x="365770" y="0"/>
                </a:lnTo>
                <a:lnTo>
                  <a:pt x="365760" y="70914"/>
                </a:lnTo>
                <a:lnTo>
                  <a:pt x="0" y="175924"/>
                </a:lnTo>
                <a:close/>
              </a:path>
            </a:pathLst>
          </a:custGeom>
          <a:solidFill>
            <a:schemeClr val="tx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560070" y="641434"/>
            <a:ext cx="10431780" cy="2387600"/>
          </a:xfrm>
          <a:prstGeom prst="rect">
            <a:avLst/>
          </a:prstGeom>
        </p:spPr>
        <p:txBody>
          <a:bodyPr anchor="b">
            <a:normAutofit/>
          </a:bodyPr>
          <a:lstStyle>
            <a:lvl1pPr algn="l">
              <a:defRPr sz="5400" b="1" i="0">
                <a:solidFill>
                  <a:srgbClr val="012903"/>
                </a:solidFill>
                <a:latin typeface="+mj-lt"/>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560070" y="3238500"/>
            <a:ext cx="6172200" cy="641434"/>
          </a:xfrm>
          <a:prstGeom prst="rect">
            <a:avLst/>
          </a:prstGeom>
        </p:spPr>
        <p:txBody>
          <a:bodyPr/>
          <a:lstStyle>
            <a:lvl1pPr marL="0" indent="0" algn="l">
              <a:buNone/>
              <a:defRPr sz="2400" b="0" i="0">
                <a:solidFill>
                  <a:srgbClr val="20615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9103660" y="5015753"/>
            <a:ext cx="2729566" cy="1575547"/>
          </a:xfrm>
          <a:prstGeom prst="rect">
            <a:avLst/>
          </a:prstGeom>
        </p:spPr>
        <p:txBody>
          <a:bodyPr/>
          <a:lstStyle>
            <a:lvl1pPr marL="0" indent="0" algn="r">
              <a:lnSpc>
                <a:spcPct val="150000"/>
              </a:lnSpc>
              <a:spcBef>
                <a:spcPts val="0"/>
              </a:spcBef>
              <a:buNone/>
              <a:defRPr sz="1600">
                <a:solidFill>
                  <a:schemeClr val="tx1"/>
                </a:solidFill>
                <a:latin typeface="+mn-lt"/>
                <a:ea typeface="Roboto" panose="02000000000000000000" pitchFamily="2" charset="0"/>
                <a:cs typeface="Roboto" panose="02000000000000000000" pitchFamily="2" charset="0"/>
              </a:defRPr>
            </a:lvl1pPr>
          </a:lstStyle>
          <a:p>
            <a:pPr lvl="0"/>
            <a:r>
              <a:rPr lang="en-GB"/>
              <a:t>Click to edit Master text styles</a:t>
            </a:r>
          </a:p>
        </p:txBody>
      </p:sp>
    </p:spTree>
    <p:extLst>
      <p:ext uri="{BB962C8B-B14F-4D97-AF65-F5344CB8AC3E}">
        <p14:creationId xmlns:p14="http://schemas.microsoft.com/office/powerpoint/2010/main" val="2962355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pic>
        <p:nvPicPr>
          <p:cNvPr id="4" name="Picture 3" descr="A road through a forest&#10;&#10;Description automatically generated">
            <a:extLst>
              <a:ext uri="{FF2B5EF4-FFF2-40B4-BE49-F238E27FC236}">
                <a16:creationId xmlns:a16="http://schemas.microsoft.com/office/drawing/2014/main" id="{968505F6-D10F-F3F2-069D-D9803AFF55B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573" b="17096"/>
          <a:stretch/>
        </p:blipFill>
        <p:spPr>
          <a:xfrm>
            <a:off x="-1" y="-1077066"/>
            <a:ext cx="12191999" cy="5708103"/>
          </a:xfrm>
          <a:prstGeom prst="rect">
            <a:avLst/>
          </a:prstGeom>
        </p:spPr>
      </p:pic>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51691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pic>
        <p:nvPicPr>
          <p:cNvPr id="6" name="Picture 5" descr="A solar panels in a field&#10;&#10;Description automatically generated">
            <a:extLst>
              <a:ext uri="{FF2B5EF4-FFF2-40B4-BE49-F238E27FC236}">
                <a16:creationId xmlns:a16="http://schemas.microsoft.com/office/drawing/2014/main" id="{B527EF49-ED44-8886-1A6D-4891E1E99F97}"/>
              </a:ext>
            </a:extLst>
          </p:cNvPr>
          <p:cNvPicPr>
            <a:picLocks noChangeAspect="1"/>
          </p:cNvPicPr>
          <p:nvPr userDrawn="1"/>
        </p:nvPicPr>
        <p:blipFill rotWithShape="1">
          <a:blip r:embed="rId2"/>
          <a:srcRect t="18561" b="24593"/>
          <a:stretch/>
        </p:blipFill>
        <p:spPr>
          <a:xfrm>
            <a:off x="-1" y="0"/>
            <a:ext cx="12191999" cy="4786964"/>
          </a:xfrm>
          <a:prstGeom prst="rect">
            <a:avLst/>
          </a:prstGeom>
        </p:spPr>
      </p:pic>
    </p:spTree>
    <p:extLst>
      <p:ext uri="{BB962C8B-B14F-4D97-AF65-F5344CB8AC3E}">
        <p14:creationId xmlns:p14="http://schemas.microsoft.com/office/powerpoint/2010/main" val="859656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pic>
        <p:nvPicPr>
          <p:cNvPr id="6" name="Picture 5" descr="A group of flags on poles&#10;&#10;Description automatically generated">
            <a:extLst>
              <a:ext uri="{FF2B5EF4-FFF2-40B4-BE49-F238E27FC236}">
                <a16:creationId xmlns:a16="http://schemas.microsoft.com/office/drawing/2014/main" id="{64E47F4D-B06C-ABA1-D497-E17376B2BD90}"/>
              </a:ext>
            </a:extLst>
          </p:cNvPr>
          <p:cNvPicPr>
            <a:picLocks noChangeAspect="1"/>
          </p:cNvPicPr>
          <p:nvPr userDrawn="1"/>
        </p:nvPicPr>
        <p:blipFill rotWithShape="1">
          <a:blip r:embed="rId2"/>
          <a:srcRect t="19868" b="10277"/>
          <a:stretch/>
        </p:blipFill>
        <p:spPr>
          <a:xfrm>
            <a:off x="0" y="0"/>
            <a:ext cx="12201577" cy="4786964"/>
          </a:xfrm>
          <a:prstGeom prst="rect">
            <a:avLst/>
          </a:prstGeom>
        </p:spPr>
      </p:pic>
    </p:spTree>
    <p:extLst>
      <p:ext uri="{BB962C8B-B14F-4D97-AF65-F5344CB8AC3E}">
        <p14:creationId xmlns:p14="http://schemas.microsoft.com/office/powerpoint/2010/main" val="861463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4A1690-501B-E3A8-EC14-F39DD4830685}"/>
              </a:ext>
            </a:extLst>
          </p:cNvPr>
          <p:cNvSpPr>
            <a:spLocks noChangeArrowheads="1"/>
          </p:cNvSpPr>
          <p:nvPr userDrawn="1"/>
        </p:nvSpPr>
        <p:spPr bwMode="auto">
          <a:xfrm flipV="1">
            <a:off x="0" y="-3"/>
            <a:ext cx="4251962" cy="6858001"/>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p>
        </p:txBody>
      </p:sp>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10" y="502920"/>
            <a:ext cx="3293290" cy="1676400"/>
          </a:xfrm>
        </p:spPr>
        <p:txBody>
          <a:bodyPr lIns="0" tIns="0" rIns="0" bIns="0" anchor="t">
            <a:normAutofit/>
          </a:bodyPr>
          <a:lstStyle>
            <a:lvl1pPr algn="l">
              <a:defRPr sz="4800" b="1">
                <a:solidFill>
                  <a:schemeClr val="tx1"/>
                </a:solidFill>
              </a:defRPr>
            </a:lvl1pPr>
          </a:lstStyle>
          <a:p>
            <a:r>
              <a:rPr lang="en-GB"/>
              <a:t>Click to edit Master title style</a:t>
            </a:r>
            <a:endParaRPr lang="en-US"/>
          </a:p>
        </p:txBody>
      </p:sp>
      <p:sp>
        <p:nvSpPr>
          <p:cNvPr id="8" name="Rectangle 7">
            <a:extLst>
              <a:ext uri="{FF2B5EF4-FFF2-40B4-BE49-F238E27FC236}">
                <a16:creationId xmlns:a16="http://schemas.microsoft.com/office/drawing/2014/main" id="{61D466BD-30A3-5235-DD6E-0AE34EA4C34A}"/>
              </a:ext>
            </a:extLst>
          </p:cNvPr>
          <p:cNvSpPr>
            <a:spLocks noChangeArrowheads="1"/>
          </p:cNvSpPr>
          <p:nvPr userDrawn="1"/>
        </p:nvSpPr>
        <p:spPr bwMode="auto">
          <a:xfrm rot="16200000">
            <a:off x="800103" y="3406141"/>
            <a:ext cx="6857999" cy="45719"/>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bg1"/>
              </a:solidFill>
            </a:endParaRPr>
          </a:p>
        </p:txBody>
      </p:sp>
      <p:sp>
        <p:nvSpPr>
          <p:cNvPr id="4" name="Content Placeholder 3">
            <a:extLst>
              <a:ext uri="{FF2B5EF4-FFF2-40B4-BE49-F238E27FC236}">
                <a16:creationId xmlns:a16="http://schemas.microsoft.com/office/drawing/2014/main" id="{8A7EED4C-3CAC-6637-0225-8789721FD08D}"/>
              </a:ext>
            </a:extLst>
          </p:cNvPr>
          <p:cNvSpPr>
            <a:spLocks noGrp="1"/>
          </p:cNvSpPr>
          <p:nvPr>
            <p:ph sz="half" idx="2"/>
          </p:nvPr>
        </p:nvSpPr>
        <p:spPr>
          <a:xfrm>
            <a:off x="4546605" y="502920"/>
            <a:ext cx="7027086" cy="6069330"/>
          </a:xfrm>
        </p:spPr>
        <p:txBody>
          <a:bodyPr/>
          <a:lstStyle>
            <a:lvl1pPr marL="514350" indent="-514350">
              <a:buFont typeface="+mj-lt"/>
              <a:buAutoNum type="arabicPeriod"/>
              <a:defRPr>
                <a:latin typeface="Aptos Light" panose="020B0004020202020204" pitchFamily="34" charset="0"/>
              </a:defRPr>
            </a:lvl1pPr>
            <a:lvl2pPr marL="914400" indent="-457200">
              <a:buFont typeface="+mj-lt"/>
              <a:buAutoNum type="alphaLcPeriod"/>
              <a:defRPr>
                <a:latin typeface="Aptos Light" panose="020B0004020202020204" pitchFamily="34" charset="0"/>
              </a:defRPr>
            </a:lvl2pPr>
            <a:lvl3pPr marL="1371600" indent="-457200">
              <a:buFont typeface="+mj-lt"/>
              <a:buAutoNum type="alphaLcPeriod"/>
              <a:defRPr>
                <a:latin typeface="Aptos Light" panose="020B0004020202020204" pitchFamily="34" charset="0"/>
              </a:defRPr>
            </a:lvl3pPr>
            <a:lvl4pPr marL="1714500" indent="-342900">
              <a:buFont typeface="+mj-lt"/>
              <a:buAutoNum type="alphaLcPeriod"/>
              <a:defRPr>
                <a:latin typeface="Aptos Light" panose="020B0004020202020204" pitchFamily="34" charset="0"/>
              </a:defRPr>
            </a:lvl4pPr>
            <a:lvl5pPr marL="2171700" indent="-342900">
              <a:buFont typeface="+mj-lt"/>
              <a:buAutoNum type="alphaLcPeriod"/>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7082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3" name="Picture 2" descr="Looking up view of trees in the forest&#10;&#10;Description automatically generated">
            <a:extLst>
              <a:ext uri="{FF2B5EF4-FFF2-40B4-BE49-F238E27FC236}">
                <a16:creationId xmlns:a16="http://schemas.microsoft.com/office/drawing/2014/main" id="{20B1A34C-0D90-B616-EFBB-FDB8D03F5361}"/>
              </a:ext>
            </a:extLst>
          </p:cNvPr>
          <p:cNvPicPr>
            <a:picLocks noChangeAspect="1"/>
          </p:cNvPicPr>
          <p:nvPr userDrawn="1"/>
        </p:nvPicPr>
        <p:blipFill rotWithShape="1">
          <a:blip r:embed="rId2"/>
          <a:srcRect l="18347" t="312" r="23757" b="1"/>
          <a:stretch/>
        </p:blipFill>
        <p:spPr>
          <a:xfrm>
            <a:off x="0" y="0"/>
            <a:ext cx="6096000" cy="6857999"/>
          </a:xfrm>
          <a:prstGeom prst="rect">
            <a:avLst/>
          </a:prstGeom>
        </p:spPr>
      </p:pic>
      <p:sp>
        <p:nvSpPr>
          <p:cNvPr id="4" name="Content Placeholder 3">
            <a:extLst>
              <a:ext uri="{FF2B5EF4-FFF2-40B4-BE49-F238E27FC236}">
                <a16:creationId xmlns:a16="http://schemas.microsoft.com/office/drawing/2014/main" id="{8A7EED4C-3CAC-6637-0225-8789721FD08D}"/>
              </a:ext>
            </a:extLst>
          </p:cNvPr>
          <p:cNvSpPr>
            <a:spLocks noGrp="1"/>
          </p:cNvSpPr>
          <p:nvPr>
            <p:ph sz="half" idx="2"/>
          </p:nvPr>
        </p:nvSpPr>
        <p:spPr>
          <a:xfrm>
            <a:off x="6390643" y="310551"/>
            <a:ext cx="5479304" cy="6261699"/>
          </a:xfrm>
        </p:spPr>
        <p:txBody>
          <a:bodyPr/>
          <a:lstStyle>
            <a:lvl1pPr marL="514350" indent="-514350">
              <a:buFont typeface="+mj-lt"/>
              <a:buAutoNum type="arabicPeriod"/>
              <a:defRPr>
                <a:latin typeface="Aptos Light" panose="020B0004020202020204" pitchFamily="34" charset="0"/>
              </a:defRPr>
            </a:lvl1pPr>
            <a:lvl2pPr marL="914400" indent="-457200">
              <a:buFont typeface="+mj-lt"/>
              <a:buAutoNum type="alphaLcPeriod"/>
              <a:defRPr>
                <a:latin typeface="Aptos Light" panose="020B0004020202020204" pitchFamily="34" charset="0"/>
              </a:defRPr>
            </a:lvl2pPr>
            <a:lvl3pPr marL="1371600" indent="-457200">
              <a:buFont typeface="+mj-lt"/>
              <a:buAutoNum type="alphaLcPeriod"/>
              <a:defRPr>
                <a:latin typeface="Aptos Light" panose="020B0004020202020204" pitchFamily="34" charset="0"/>
              </a:defRPr>
            </a:lvl3pPr>
            <a:lvl4pPr marL="1714500" indent="-342900">
              <a:buFont typeface="+mj-lt"/>
              <a:buAutoNum type="alphaLcPeriod"/>
              <a:defRPr>
                <a:latin typeface="Aptos Light" panose="020B0004020202020204" pitchFamily="34" charset="0"/>
              </a:defRPr>
            </a:lvl4pPr>
            <a:lvl5pPr marL="2171700" indent="-342900">
              <a:buFont typeface="+mj-lt"/>
              <a:buAutoNum type="alphaLcPeriod"/>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0BEDA41B-4AD7-BD9A-0D6A-42E85823E5F0}"/>
              </a:ext>
            </a:extLst>
          </p:cNvPr>
          <p:cNvSpPr/>
          <p:nvPr userDrawn="1"/>
        </p:nvSpPr>
        <p:spPr>
          <a:xfrm>
            <a:off x="0" y="-21442"/>
            <a:ext cx="6096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460CF-7279-C343-F39E-33739C82BFAC}"/>
              </a:ext>
            </a:extLst>
          </p:cNvPr>
          <p:cNvSpPr>
            <a:spLocks noGrp="1"/>
          </p:cNvSpPr>
          <p:nvPr>
            <p:ph type="ctrTitle" hasCustomPrompt="1"/>
          </p:nvPr>
        </p:nvSpPr>
        <p:spPr>
          <a:xfrm>
            <a:off x="618310" y="502920"/>
            <a:ext cx="3293290" cy="1676400"/>
          </a:xfrm>
        </p:spPr>
        <p:txBody>
          <a:bodyPr lIns="0" tIns="0" rIns="0" bIns="0" anchor="t">
            <a:normAutofit/>
          </a:bodyPr>
          <a:lstStyle>
            <a:lvl1pPr algn="l">
              <a:defRPr sz="4800" b="1">
                <a:solidFill>
                  <a:schemeClr val="tx1"/>
                </a:solidFill>
              </a:defRPr>
            </a:lvl1pPr>
          </a:lstStyle>
          <a:p>
            <a:r>
              <a:rPr lang="en-GB"/>
              <a:t>Content</a:t>
            </a:r>
            <a:endParaRPr lang="en-US"/>
          </a:p>
        </p:txBody>
      </p:sp>
    </p:spTree>
    <p:extLst>
      <p:ext uri="{BB962C8B-B14F-4D97-AF65-F5344CB8AC3E}">
        <p14:creationId xmlns:p14="http://schemas.microsoft.com/office/powerpoint/2010/main" val="346403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y Point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5" name="Rectangle 4">
            <a:extLst>
              <a:ext uri="{FF2B5EF4-FFF2-40B4-BE49-F238E27FC236}">
                <a16:creationId xmlns:a16="http://schemas.microsoft.com/office/drawing/2014/main" id="{BE21C46E-C07A-23B4-FD4E-7D2CB47B1BB7}"/>
              </a:ext>
            </a:extLst>
          </p:cNvPr>
          <p:cNvSpPr/>
          <p:nvPr userDrawn="1"/>
        </p:nvSpPr>
        <p:spPr>
          <a:xfrm>
            <a:off x="2110740" y="2028118"/>
            <a:ext cx="7970520" cy="1004641"/>
          </a:xfrm>
          <a:prstGeom prst="rect">
            <a:avLst/>
          </a:prstGeom>
          <a:solidFill>
            <a:schemeClr val="bg2">
              <a:lumMod val="10000"/>
              <a:lumOff val="90000"/>
            </a:schemeClr>
          </a:solidFill>
          <a:ln>
            <a:solidFill>
              <a:srgbClr val="EB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3F7E2"/>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
        <p:nvSpPr>
          <p:cNvPr id="7" name="Rectangle 6">
            <a:extLst>
              <a:ext uri="{FF2B5EF4-FFF2-40B4-BE49-F238E27FC236}">
                <a16:creationId xmlns:a16="http://schemas.microsoft.com/office/drawing/2014/main" id="{0284ECE9-FB3A-2F1D-4F8A-B6156A14D49A}"/>
              </a:ext>
            </a:extLst>
          </p:cNvPr>
          <p:cNvSpPr/>
          <p:nvPr userDrawn="1"/>
        </p:nvSpPr>
        <p:spPr>
          <a:xfrm>
            <a:off x="2110740" y="3514283"/>
            <a:ext cx="7970520" cy="1004641"/>
          </a:xfrm>
          <a:prstGeom prst="rect">
            <a:avLst/>
          </a:prstGeom>
          <a:solidFill>
            <a:schemeClr val="accent4">
              <a:lumMod val="20000"/>
              <a:lumOff val="80000"/>
            </a:schemeClr>
          </a:solidFill>
          <a:ln>
            <a:solidFill>
              <a:srgbClr val="DA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D735EB7-8A85-F1A7-484B-19DF5EDFBCF7}"/>
              </a:ext>
            </a:extLst>
          </p:cNvPr>
          <p:cNvSpPr/>
          <p:nvPr userDrawn="1"/>
        </p:nvSpPr>
        <p:spPr>
          <a:xfrm>
            <a:off x="2110740" y="5000448"/>
            <a:ext cx="7970520" cy="1004641"/>
          </a:xfrm>
          <a:prstGeom prst="rect">
            <a:avLst/>
          </a:prstGeom>
          <a:solidFill>
            <a:srgbClr val="EBF4D6"/>
          </a:solidFill>
          <a:ln>
            <a:solidFill>
              <a:srgbClr val="ECF4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3DF2199-3789-DB84-6347-50303262C3CB}"/>
              </a:ext>
            </a:extLst>
          </p:cNvPr>
          <p:cNvSpPr txBox="1"/>
          <p:nvPr userDrawn="1"/>
        </p:nvSpPr>
        <p:spPr>
          <a:xfrm>
            <a:off x="2331720" y="2028118"/>
            <a:ext cx="7528560" cy="467885"/>
          </a:xfrm>
          <a:prstGeom prst="rect">
            <a:avLst/>
          </a:prstGeom>
          <a:noFill/>
        </p:spPr>
        <p:txBody>
          <a:bodyPr wrap="square" rtlCol="0">
            <a:spAutoFit/>
          </a:bodyPr>
          <a:lstStyle/>
          <a:p>
            <a:pPr>
              <a:lnSpc>
                <a:spcPct val="150000"/>
              </a:lnSpc>
            </a:pPr>
            <a:endParaRPr lang="en-US">
              <a:solidFill>
                <a:srgbClr val="022A03"/>
              </a:solidFill>
            </a:endParaRPr>
          </a:p>
        </p:txBody>
      </p:sp>
      <p:sp>
        <p:nvSpPr>
          <p:cNvPr id="10" name="Content Placeholder 2">
            <a:extLst>
              <a:ext uri="{FF2B5EF4-FFF2-40B4-BE49-F238E27FC236}">
                <a16:creationId xmlns:a16="http://schemas.microsoft.com/office/drawing/2014/main" id="{1121D204-B214-EC89-8A00-774DF2A83F19}"/>
              </a:ext>
            </a:extLst>
          </p:cNvPr>
          <p:cNvSpPr>
            <a:spLocks noGrp="1"/>
          </p:cNvSpPr>
          <p:nvPr>
            <p:ph idx="1"/>
          </p:nvPr>
        </p:nvSpPr>
        <p:spPr>
          <a:xfrm>
            <a:off x="3604260" y="2028118"/>
            <a:ext cx="6256020"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1" name="Content Placeholder 2">
            <a:extLst>
              <a:ext uri="{FF2B5EF4-FFF2-40B4-BE49-F238E27FC236}">
                <a16:creationId xmlns:a16="http://schemas.microsoft.com/office/drawing/2014/main" id="{B11B325F-AC10-1656-7E35-68E4607B6464}"/>
              </a:ext>
            </a:extLst>
          </p:cNvPr>
          <p:cNvSpPr>
            <a:spLocks noGrp="1"/>
          </p:cNvSpPr>
          <p:nvPr>
            <p:ph idx="10"/>
          </p:nvPr>
        </p:nvSpPr>
        <p:spPr>
          <a:xfrm>
            <a:off x="3604259" y="3514283"/>
            <a:ext cx="6256019"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2" name="Content Placeholder 2">
            <a:extLst>
              <a:ext uri="{FF2B5EF4-FFF2-40B4-BE49-F238E27FC236}">
                <a16:creationId xmlns:a16="http://schemas.microsoft.com/office/drawing/2014/main" id="{159C0CB4-338D-ED40-8A54-E72C02A503A5}"/>
              </a:ext>
            </a:extLst>
          </p:cNvPr>
          <p:cNvSpPr>
            <a:spLocks noGrp="1"/>
          </p:cNvSpPr>
          <p:nvPr>
            <p:ph idx="11"/>
          </p:nvPr>
        </p:nvSpPr>
        <p:spPr>
          <a:xfrm>
            <a:off x="3604259" y="5000447"/>
            <a:ext cx="6256019"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3" name="TextBox 12">
            <a:extLst>
              <a:ext uri="{FF2B5EF4-FFF2-40B4-BE49-F238E27FC236}">
                <a16:creationId xmlns:a16="http://schemas.microsoft.com/office/drawing/2014/main" id="{2A63633D-EB5D-A98F-07DA-3BA009619755}"/>
              </a:ext>
            </a:extLst>
          </p:cNvPr>
          <p:cNvSpPr txBox="1"/>
          <p:nvPr userDrawn="1"/>
        </p:nvSpPr>
        <p:spPr>
          <a:xfrm>
            <a:off x="2110740" y="2028118"/>
            <a:ext cx="1226820" cy="1015663"/>
          </a:xfrm>
          <a:prstGeom prst="rect">
            <a:avLst/>
          </a:prstGeom>
          <a:noFill/>
        </p:spPr>
        <p:txBody>
          <a:bodyPr wrap="square" rtlCol="0">
            <a:spAutoFit/>
          </a:bodyPr>
          <a:lstStyle/>
          <a:p>
            <a:pPr algn="ctr"/>
            <a:r>
              <a:rPr lang="en-US" sz="6000" b="1">
                <a:solidFill>
                  <a:srgbClr val="022A03"/>
                </a:solidFill>
              </a:rPr>
              <a:t>1</a:t>
            </a:r>
          </a:p>
        </p:txBody>
      </p:sp>
      <p:sp>
        <p:nvSpPr>
          <p:cNvPr id="14" name="TextBox 13">
            <a:extLst>
              <a:ext uri="{FF2B5EF4-FFF2-40B4-BE49-F238E27FC236}">
                <a16:creationId xmlns:a16="http://schemas.microsoft.com/office/drawing/2014/main" id="{5966B016-9CAC-1A98-A39F-7A2C4634380B}"/>
              </a:ext>
            </a:extLst>
          </p:cNvPr>
          <p:cNvSpPr txBox="1"/>
          <p:nvPr userDrawn="1"/>
        </p:nvSpPr>
        <p:spPr>
          <a:xfrm>
            <a:off x="2110740" y="3508771"/>
            <a:ext cx="1226820" cy="1015663"/>
          </a:xfrm>
          <a:prstGeom prst="rect">
            <a:avLst/>
          </a:prstGeom>
          <a:noFill/>
        </p:spPr>
        <p:txBody>
          <a:bodyPr wrap="square" rtlCol="0">
            <a:spAutoFit/>
          </a:bodyPr>
          <a:lstStyle/>
          <a:p>
            <a:pPr algn="ctr"/>
            <a:r>
              <a:rPr lang="en-US" sz="6000" b="1">
                <a:solidFill>
                  <a:srgbClr val="022A03"/>
                </a:solidFill>
              </a:rPr>
              <a:t>2</a:t>
            </a:r>
          </a:p>
        </p:txBody>
      </p:sp>
      <p:sp>
        <p:nvSpPr>
          <p:cNvPr id="15" name="TextBox 14">
            <a:extLst>
              <a:ext uri="{FF2B5EF4-FFF2-40B4-BE49-F238E27FC236}">
                <a16:creationId xmlns:a16="http://schemas.microsoft.com/office/drawing/2014/main" id="{9BEBA865-8E0C-574B-6D4E-A940B292CEC2}"/>
              </a:ext>
            </a:extLst>
          </p:cNvPr>
          <p:cNvSpPr txBox="1"/>
          <p:nvPr userDrawn="1"/>
        </p:nvSpPr>
        <p:spPr>
          <a:xfrm>
            <a:off x="2110740" y="4985593"/>
            <a:ext cx="1226820" cy="1015663"/>
          </a:xfrm>
          <a:prstGeom prst="rect">
            <a:avLst/>
          </a:prstGeom>
          <a:noFill/>
        </p:spPr>
        <p:txBody>
          <a:bodyPr wrap="square" rtlCol="0">
            <a:spAutoFit/>
          </a:bodyPr>
          <a:lstStyle/>
          <a:p>
            <a:pPr algn="ctr"/>
            <a:r>
              <a:rPr lang="en-US" sz="6000" b="1">
                <a:solidFill>
                  <a:srgbClr val="022A03"/>
                </a:solidFill>
              </a:rPr>
              <a:t>3</a:t>
            </a:r>
          </a:p>
        </p:txBody>
      </p:sp>
      <p:sp>
        <p:nvSpPr>
          <p:cNvPr id="17" name="Rectangle 16">
            <a:extLst>
              <a:ext uri="{FF2B5EF4-FFF2-40B4-BE49-F238E27FC236}">
                <a16:creationId xmlns:a16="http://schemas.microsoft.com/office/drawing/2014/main" id="{01D10C3E-C94C-ABFF-8AD4-E5A988B72F6E}"/>
              </a:ext>
            </a:extLst>
          </p:cNvPr>
          <p:cNvSpPr>
            <a:spLocks noChangeArrowheads="1"/>
          </p:cNvSpPr>
          <p:nvPr userDrawn="1"/>
        </p:nvSpPr>
        <p:spPr bwMode="auto">
          <a:xfrm rot="16200000">
            <a:off x="2814370" y="2489725"/>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8" name="Rectangle 17">
            <a:extLst>
              <a:ext uri="{FF2B5EF4-FFF2-40B4-BE49-F238E27FC236}">
                <a16:creationId xmlns:a16="http://schemas.microsoft.com/office/drawing/2014/main" id="{3DCAFB70-F0DE-04D2-6E4C-9C0E7BF36D9A}"/>
              </a:ext>
            </a:extLst>
          </p:cNvPr>
          <p:cNvSpPr>
            <a:spLocks noChangeArrowheads="1"/>
          </p:cNvSpPr>
          <p:nvPr userDrawn="1"/>
        </p:nvSpPr>
        <p:spPr bwMode="auto">
          <a:xfrm rot="16200000">
            <a:off x="2814369" y="3962951"/>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9" name="Rectangle 18">
            <a:extLst>
              <a:ext uri="{FF2B5EF4-FFF2-40B4-BE49-F238E27FC236}">
                <a16:creationId xmlns:a16="http://schemas.microsoft.com/office/drawing/2014/main" id="{3D9EB62E-E343-2D52-74C0-6A97CF75238C}"/>
              </a:ext>
            </a:extLst>
          </p:cNvPr>
          <p:cNvSpPr>
            <a:spLocks noChangeArrowheads="1"/>
          </p:cNvSpPr>
          <p:nvPr userDrawn="1"/>
        </p:nvSpPr>
        <p:spPr bwMode="auto">
          <a:xfrm rot="16200000">
            <a:off x="2814368" y="5429432"/>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855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lank">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41308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Background 1">
    <p:spTree>
      <p:nvGrpSpPr>
        <p:cNvPr id="1" name=""/>
        <p:cNvGrpSpPr/>
        <p:nvPr/>
      </p:nvGrpSpPr>
      <p:grpSpPr>
        <a:xfrm>
          <a:off x="0" y="0"/>
          <a:ext cx="0" cy="0"/>
          <a:chOff x="0" y="0"/>
          <a:chExt cx="0" cy="0"/>
        </a:xfrm>
      </p:grpSpPr>
      <p:pic>
        <p:nvPicPr>
          <p:cNvPr id="2" name="Picture 1" descr="A wooden walkway in a forest&#10;&#10;Description automatically generated">
            <a:extLst>
              <a:ext uri="{FF2B5EF4-FFF2-40B4-BE49-F238E27FC236}">
                <a16:creationId xmlns:a16="http://schemas.microsoft.com/office/drawing/2014/main" id="{445ADA8B-D6F1-C84D-5945-C74A28012D87}"/>
              </a:ext>
            </a:extLst>
          </p:cNvPr>
          <p:cNvPicPr>
            <a:picLocks noChangeAspect="1"/>
          </p:cNvPicPr>
          <p:nvPr userDrawn="1"/>
        </p:nvPicPr>
        <p:blipFill rotWithShape="1">
          <a:blip r:embed="rId2"/>
          <a:srcRect b="8348"/>
          <a:stretch/>
        </p:blipFill>
        <p:spPr>
          <a:xfrm>
            <a:off x="0" y="276351"/>
            <a:ext cx="12209253" cy="6581649"/>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65993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Background 2">
    <p:spTree>
      <p:nvGrpSpPr>
        <p:cNvPr id="1" name=""/>
        <p:cNvGrpSpPr/>
        <p:nvPr/>
      </p:nvGrpSpPr>
      <p:grpSpPr>
        <a:xfrm>
          <a:off x="0" y="0"/>
          <a:ext cx="0" cy="0"/>
          <a:chOff x="0" y="0"/>
          <a:chExt cx="0" cy="0"/>
        </a:xfrm>
      </p:grpSpPr>
      <p:pic>
        <p:nvPicPr>
          <p:cNvPr id="3" name="Picture 2" descr="A road through a forest&#10;&#10;Description automatically generated">
            <a:extLst>
              <a:ext uri="{FF2B5EF4-FFF2-40B4-BE49-F238E27FC236}">
                <a16:creationId xmlns:a16="http://schemas.microsoft.com/office/drawing/2014/main" id="{9832E27F-9C2A-365F-A163-4E3AAD2C8751}"/>
              </a:ext>
            </a:extLst>
          </p:cNvPr>
          <p:cNvPicPr>
            <a:picLocks noChangeAspect="1"/>
          </p:cNvPicPr>
          <p:nvPr userDrawn="1"/>
        </p:nvPicPr>
        <p:blipFill rotWithShape="1">
          <a:blip r:embed="rId2"/>
          <a:srcRect t="14977"/>
          <a:stretch/>
        </p:blipFill>
        <p:spPr>
          <a:xfrm>
            <a:off x="0" y="101601"/>
            <a:ext cx="12192000" cy="6818530"/>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532368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Background 3">
    <p:spTree>
      <p:nvGrpSpPr>
        <p:cNvPr id="1" name=""/>
        <p:cNvGrpSpPr/>
        <p:nvPr/>
      </p:nvGrpSpPr>
      <p:grpSpPr>
        <a:xfrm>
          <a:off x="0" y="0"/>
          <a:ext cx="0" cy="0"/>
          <a:chOff x="0" y="0"/>
          <a:chExt cx="0" cy="0"/>
        </a:xfrm>
      </p:grpSpPr>
      <p:pic>
        <p:nvPicPr>
          <p:cNvPr id="2" name="Picture 1" descr="A road through a forest&#10;&#10;Description automatically generated">
            <a:extLst>
              <a:ext uri="{FF2B5EF4-FFF2-40B4-BE49-F238E27FC236}">
                <a16:creationId xmlns:a16="http://schemas.microsoft.com/office/drawing/2014/main" id="{0AF91E05-FC38-FE38-4ECF-292EF2AA62ED}"/>
              </a:ext>
            </a:extLst>
          </p:cNvPr>
          <p:cNvPicPr>
            <a:picLocks noChangeAspect="1"/>
          </p:cNvPicPr>
          <p:nvPr userDrawn="1"/>
        </p:nvPicPr>
        <p:blipFill rotWithShape="1">
          <a:blip r:embed="rId2"/>
          <a:srcRect t="4542" b="9757"/>
          <a:stretch/>
        </p:blipFill>
        <p:spPr>
          <a:xfrm>
            <a:off x="0" y="-1"/>
            <a:ext cx="12192000" cy="6858001"/>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3851494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ackground 4">
    <p:spTree>
      <p:nvGrpSpPr>
        <p:cNvPr id="1" name=""/>
        <p:cNvGrpSpPr/>
        <p:nvPr/>
      </p:nvGrpSpPr>
      <p:grpSpPr>
        <a:xfrm>
          <a:off x="0" y="0"/>
          <a:ext cx="0" cy="0"/>
          <a:chOff x="0" y="0"/>
          <a:chExt cx="0" cy="0"/>
        </a:xfrm>
      </p:grpSpPr>
      <p:pic>
        <p:nvPicPr>
          <p:cNvPr id="3" name="Picture 2" descr="Looking up at a bamboo forest&#10;&#10;Description automatically generated">
            <a:extLst>
              <a:ext uri="{FF2B5EF4-FFF2-40B4-BE49-F238E27FC236}">
                <a16:creationId xmlns:a16="http://schemas.microsoft.com/office/drawing/2014/main" id="{21929F2E-9082-1906-F698-F2DB66E77C11}"/>
              </a:ext>
            </a:extLst>
          </p:cNvPr>
          <p:cNvPicPr>
            <a:picLocks noChangeAspect="1"/>
          </p:cNvPicPr>
          <p:nvPr userDrawn="1"/>
        </p:nvPicPr>
        <p:blipFill rotWithShape="1">
          <a:blip r:embed="rId2"/>
          <a:srcRect t="7335" b="7335"/>
          <a:stretch/>
        </p:blipFill>
        <p:spPr>
          <a:xfrm>
            <a:off x="0" y="14909"/>
            <a:ext cx="12192000" cy="6843091"/>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341442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7922-DC05-E090-3733-47F38B64A6B9}"/>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114300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3">
            <a:extLst>
              <a:ext uri="{FF2B5EF4-FFF2-40B4-BE49-F238E27FC236}">
                <a16:creationId xmlns:a16="http://schemas.microsoft.com/office/drawing/2014/main" id="{BDF33BF7-518E-D456-88E0-CC757E244600}"/>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4542529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Row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11430000" cy="245101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FA5A3EFE-D4C6-CD71-FF12-B7BA4700E696}"/>
              </a:ext>
            </a:extLst>
          </p:cNvPr>
          <p:cNvSpPr>
            <a:spLocks noGrp="1"/>
          </p:cNvSpPr>
          <p:nvPr>
            <p:ph idx="10"/>
          </p:nvPr>
        </p:nvSpPr>
        <p:spPr>
          <a:xfrm>
            <a:off x="381000" y="4199953"/>
            <a:ext cx="11430000" cy="245101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6A14FACF-FB05-C1DF-5ED5-B96388F76E41}"/>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90D7F58-F86D-8FFC-DE9C-F1B5AAA9332C}"/>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088851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197602"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97DF5A4A-C504-EC4B-9173-257B619ED874}"/>
              </a:ext>
            </a:extLst>
          </p:cNvPr>
          <p:cNvSpPr>
            <a:spLocks noGrp="1"/>
          </p:cNvSpPr>
          <p:nvPr>
            <p:ph type="title"/>
          </p:nvPr>
        </p:nvSpPr>
        <p:spPr>
          <a:xfrm>
            <a:off x="381000" y="451968"/>
            <a:ext cx="11430000" cy="782584"/>
          </a:xfrm>
        </p:spPr>
        <p:txBody>
          <a:bodyPr lIns="0" tIns="0" rIns="0" bIns="0"/>
          <a:lstStyle>
            <a:lvl1pPr>
              <a:lnSpc>
                <a:spcPct val="100000"/>
              </a:lnSpc>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4B6DE8E-8099-E1A6-5857-888283BBFBEF}"/>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84735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lumn and Graph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97DF5A4A-C504-EC4B-9173-257B619ED874}"/>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129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4B6DE8E-8099-E1A6-5857-888283BBFBEF}"/>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3724062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s &amp; 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2090057"/>
            <a:ext cx="5600700" cy="398852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210302" y="2090057"/>
            <a:ext cx="5600700" cy="398852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B57F982E-7A3C-7545-FD99-AB3C6948944C}"/>
              </a:ext>
            </a:extLst>
          </p:cNvPr>
          <p:cNvSpPr>
            <a:spLocks noGrp="1"/>
          </p:cNvSpPr>
          <p:nvPr>
            <p:ph idx="13"/>
          </p:nvPr>
        </p:nvSpPr>
        <p:spPr>
          <a:xfrm>
            <a:off x="380998" y="1659429"/>
            <a:ext cx="5600700" cy="430628"/>
          </a:xfrm>
        </p:spPr>
        <p:txBody>
          <a:bodyPr lIns="0" tIns="0" rIns="0" bIns="0">
            <a:normAutofit/>
          </a:bodyPr>
          <a:lstStyle>
            <a:lvl1pPr marL="0" indent="0">
              <a:lnSpc>
                <a:spcPct val="100000"/>
              </a:lnSpc>
              <a:spcBef>
                <a:spcPts val="0"/>
              </a:spcBef>
              <a:buNone/>
              <a:defRPr sz="1400" b="1">
                <a:latin typeface="Aptos Light" panose="020B0004020202020204" pitchFamily="34" charset="0"/>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GB"/>
              <a:t>Click to edit Master text styles</a:t>
            </a:r>
          </a:p>
        </p:txBody>
      </p:sp>
      <p:sp>
        <p:nvSpPr>
          <p:cNvPr id="9" name="Content Placeholder 2">
            <a:extLst>
              <a:ext uri="{FF2B5EF4-FFF2-40B4-BE49-F238E27FC236}">
                <a16:creationId xmlns:a16="http://schemas.microsoft.com/office/drawing/2014/main" id="{A63CA293-AF07-B48E-784E-090121C7D02A}"/>
              </a:ext>
            </a:extLst>
          </p:cNvPr>
          <p:cNvSpPr>
            <a:spLocks noGrp="1"/>
          </p:cNvSpPr>
          <p:nvPr>
            <p:ph idx="14"/>
          </p:nvPr>
        </p:nvSpPr>
        <p:spPr>
          <a:xfrm>
            <a:off x="6210302" y="1659429"/>
            <a:ext cx="5600700" cy="430628"/>
          </a:xfrm>
        </p:spPr>
        <p:txBody>
          <a:bodyPr lIns="0" tIns="0" rIns="0" bIns="0">
            <a:normAutofit/>
          </a:bodyPr>
          <a:lstStyle>
            <a:lvl1pPr marL="0" indent="0">
              <a:lnSpc>
                <a:spcPct val="100000"/>
              </a:lnSpc>
              <a:spcBef>
                <a:spcPts val="0"/>
              </a:spcBef>
              <a:buNone/>
              <a:defRPr sz="1400" b="1">
                <a:latin typeface="Aptos Light" panose="020B0004020202020204" pitchFamily="34" charset="0"/>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GB"/>
              <a:t>Click to edit Master text styles</a:t>
            </a:r>
          </a:p>
        </p:txBody>
      </p:sp>
      <p:sp>
        <p:nvSpPr>
          <p:cNvPr id="5" name="Content Placeholder 3">
            <a:extLst>
              <a:ext uri="{FF2B5EF4-FFF2-40B4-BE49-F238E27FC236}">
                <a16:creationId xmlns:a16="http://schemas.microsoft.com/office/drawing/2014/main" id="{5E58DB2A-9A7E-122D-D4B9-6C7666CF2281}"/>
              </a:ext>
            </a:extLst>
          </p:cNvPr>
          <p:cNvSpPr>
            <a:spLocks noGrp="1"/>
          </p:cNvSpPr>
          <p:nvPr>
            <p:ph sz="half" idx="15"/>
          </p:nvPr>
        </p:nvSpPr>
        <p:spPr>
          <a:xfrm>
            <a:off x="381000" y="6078583"/>
            <a:ext cx="11430000" cy="587828"/>
          </a:xfrm>
        </p:spPr>
        <p:txBody>
          <a:bodyPr>
            <a:normAutofit/>
          </a:bodyPr>
          <a:lstStyle>
            <a:lvl1pPr marL="0" indent="0">
              <a:buNone/>
              <a:defRPr sz="1400">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GB"/>
              <a:t>Click to edit Master text styles</a:t>
            </a:r>
          </a:p>
        </p:txBody>
      </p:sp>
      <p:sp>
        <p:nvSpPr>
          <p:cNvPr id="6" name="Title 1">
            <a:extLst>
              <a:ext uri="{FF2B5EF4-FFF2-40B4-BE49-F238E27FC236}">
                <a16:creationId xmlns:a16="http://schemas.microsoft.com/office/drawing/2014/main" id="{F28FD8D7-CA6B-F920-3AB1-CB8A5A95CA5B}"/>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051D5AFC-0440-485B-86C8-810AC47BC78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118542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3C6CF8AF-8E7F-C392-6B60-25F939B99E87}"/>
              </a:ext>
            </a:extLst>
          </p:cNvPr>
          <p:cNvSpPr>
            <a:spLocks noGrp="1"/>
          </p:cNvSpPr>
          <p:nvPr>
            <p:ph idx="11"/>
          </p:nvPr>
        </p:nvSpPr>
        <p:spPr>
          <a:xfrm>
            <a:off x="424815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itle 1">
            <a:extLst>
              <a:ext uri="{FF2B5EF4-FFF2-40B4-BE49-F238E27FC236}">
                <a16:creationId xmlns:a16="http://schemas.microsoft.com/office/drawing/2014/main" id="{14C23E97-5B22-0A3A-F786-3D00A0AE101C}"/>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6328C66A-A1B5-E52B-DD72-9B16AED5E2DC}"/>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18886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Uneven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4248150" y="1659430"/>
            <a:ext cx="756132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EFABAE81-F060-D0FD-2B68-9764A8A75E6B}"/>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B38CE43B-C898-AC6A-07F1-7A35FE409241}"/>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650532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Uneven Columns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756132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D1DD5961-ADE9-2181-33D2-EC5BE44F2EDD}"/>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2344F587-94FB-7D0A-7054-897BD1844FF5}"/>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7872295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ulti Sec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Content Placeholder 2">
            <a:extLst>
              <a:ext uri="{FF2B5EF4-FFF2-40B4-BE49-F238E27FC236}">
                <a16:creationId xmlns:a16="http://schemas.microsoft.com/office/drawing/2014/main" id="{242E47B4-724D-A743-4C32-A99CFAC5C79A}"/>
              </a:ext>
            </a:extLst>
          </p:cNvPr>
          <p:cNvSpPr>
            <a:spLocks noGrp="1"/>
          </p:cNvSpPr>
          <p:nvPr>
            <p:ph idx="10"/>
          </p:nvPr>
        </p:nvSpPr>
        <p:spPr>
          <a:xfrm>
            <a:off x="4248912" y="165942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Content Placeholder 2">
            <a:extLst>
              <a:ext uri="{FF2B5EF4-FFF2-40B4-BE49-F238E27FC236}">
                <a16:creationId xmlns:a16="http://schemas.microsoft.com/office/drawing/2014/main" id="{535A7E6D-E8D4-E6DA-B873-7DD55BBEA6E4}"/>
              </a:ext>
            </a:extLst>
          </p:cNvPr>
          <p:cNvSpPr>
            <a:spLocks noGrp="1"/>
          </p:cNvSpPr>
          <p:nvPr>
            <p:ph idx="11"/>
          </p:nvPr>
        </p:nvSpPr>
        <p:spPr>
          <a:xfrm>
            <a:off x="8116062" y="165942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86857C3D-DFAF-2C05-2FA1-0AE2EE70D8A4}"/>
              </a:ext>
            </a:extLst>
          </p:cNvPr>
          <p:cNvSpPr>
            <a:spLocks noGrp="1"/>
          </p:cNvSpPr>
          <p:nvPr>
            <p:ph idx="12"/>
          </p:nvPr>
        </p:nvSpPr>
        <p:spPr>
          <a:xfrm>
            <a:off x="4248912" y="4240679"/>
            <a:ext cx="3694176" cy="2414644"/>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C2311C06-D0D0-F28C-7A0E-2E1DBAFCECEB}"/>
              </a:ext>
            </a:extLst>
          </p:cNvPr>
          <p:cNvSpPr>
            <a:spLocks noGrp="1"/>
          </p:cNvSpPr>
          <p:nvPr>
            <p:ph idx="13"/>
          </p:nvPr>
        </p:nvSpPr>
        <p:spPr>
          <a:xfrm>
            <a:off x="8116062" y="424067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a:extLst>
              <a:ext uri="{FF2B5EF4-FFF2-40B4-BE49-F238E27FC236}">
                <a16:creationId xmlns:a16="http://schemas.microsoft.com/office/drawing/2014/main" id="{CB158A48-4088-8821-E336-55D08AAF82AC}"/>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53A4887F-C1C1-1B12-7812-77CC727B0DB1}"/>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5386251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ulti Section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3C6CF8AF-8E7F-C392-6B60-25F939B99E87}"/>
              </a:ext>
            </a:extLst>
          </p:cNvPr>
          <p:cNvSpPr>
            <a:spLocks noGrp="1"/>
          </p:cNvSpPr>
          <p:nvPr>
            <p:ph idx="11"/>
          </p:nvPr>
        </p:nvSpPr>
        <p:spPr>
          <a:xfrm>
            <a:off x="4248150" y="165943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a:extLst>
              <a:ext uri="{FF2B5EF4-FFF2-40B4-BE49-F238E27FC236}">
                <a16:creationId xmlns:a16="http://schemas.microsoft.com/office/drawing/2014/main" id="{DE33F1A7-9B69-663A-6FCC-445F8A306714}"/>
              </a:ext>
            </a:extLst>
          </p:cNvPr>
          <p:cNvSpPr>
            <a:spLocks noGrp="1"/>
          </p:cNvSpPr>
          <p:nvPr>
            <p:ph idx="12"/>
          </p:nvPr>
        </p:nvSpPr>
        <p:spPr>
          <a:xfrm>
            <a:off x="381000" y="424068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55B16FC6-E5D0-5E3C-FD29-0F9A5CDE76E6}"/>
              </a:ext>
            </a:extLst>
          </p:cNvPr>
          <p:cNvSpPr>
            <a:spLocks noGrp="1"/>
          </p:cNvSpPr>
          <p:nvPr>
            <p:ph idx="13"/>
          </p:nvPr>
        </p:nvSpPr>
        <p:spPr>
          <a:xfrm>
            <a:off x="4248150" y="424068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itle 1">
            <a:extLst>
              <a:ext uri="{FF2B5EF4-FFF2-40B4-BE49-F238E27FC236}">
                <a16:creationId xmlns:a16="http://schemas.microsoft.com/office/drawing/2014/main" id="{03E00A60-14E6-D079-B651-45272189B32D}"/>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5F70C8F2-C127-AF53-70B7-4952579458D2}"/>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459821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Sectio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197602" y="1659429"/>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B6C4B1BB-C5E2-974C-81F3-2FF06120B36C}"/>
              </a:ext>
            </a:extLst>
          </p:cNvPr>
          <p:cNvSpPr>
            <a:spLocks noGrp="1"/>
          </p:cNvSpPr>
          <p:nvPr>
            <p:ph idx="11"/>
          </p:nvPr>
        </p:nvSpPr>
        <p:spPr>
          <a:xfrm>
            <a:off x="380998" y="4201485"/>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a:extLst>
              <a:ext uri="{FF2B5EF4-FFF2-40B4-BE49-F238E27FC236}">
                <a16:creationId xmlns:a16="http://schemas.microsoft.com/office/drawing/2014/main" id="{87849F3D-31FF-F086-E4A6-F57D3C5BDB6F}"/>
              </a:ext>
            </a:extLst>
          </p:cNvPr>
          <p:cNvSpPr>
            <a:spLocks noGrp="1"/>
          </p:cNvSpPr>
          <p:nvPr>
            <p:ph idx="12"/>
          </p:nvPr>
        </p:nvSpPr>
        <p:spPr>
          <a:xfrm>
            <a:off x="6197600" y="4201484"/>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1">
            <a:extLst>
              <a:ext uri="{FF2B5EF4-FFF2-40B4-BE49-F238E27FC236}">
                <a16:creationId xmlns:a16="http://schemas.microsoft.com/office/drawing/2014/main" id="{F7DDA1A4-E243-0BD0-0643-3DEA660DC7C9}"/>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E637B879-CC67-E7A8-1C3D-AD59065A8CE5}"/>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401234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0646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descr="A factory with smoke coming out of it&#10;&#10;Description automatically generated">
            <a:extLst>
              <a:ext uri="{FF2B5EF4-FFF2-40B4-BE49-F238E27FC236}">
                <a16:creationId xmlns:a16="http://schemas.microsoft.com/office/drawing/2014/main" id="{A9157873-58AD-4AA2-6D8E-F03598A35D92}"/>
              </a:ext>
            </a:extLst>
          </p:cNvPr>
          <p:cNvPicPr>
            <a:picLocks noChangeAspect="1"/>
          </p:cNvPicPr>
          <p:nvPr userDrawn="1"/>
        </p:nvPicPr>
        <p:blipFill rotWithShape="1">
          <a:blip r:embed="rId2"/>
          <a:srcRect l="3707" t="-2" b="15321"/>
          <a:stretch/>
        </p:blipFill>
        <p:spPr>
          <a:xfrm>
            <a:off x="0" y="-1"/>
            <a:ext cx="12445594" cy="6858001"/>
          </a:xfrm>
          <a:prstGeom prst="rect">
            <a:avLst/>
          </a:prstGeom>
        </p:spPr>
      </p:pic>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8549758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4" name="Picture 3" descr="A factory with smoke coming out of it&#10;&#10;Description automatically generated">
            <a:extLst>
              <a:ext uri="{FF2B5EF4-FFF2-40B4-BE49-F238E27FC236}">
                <a16:creationId xmlns:a16="http://schemas.microsoft.com/office/drawing/2014/main" id="{A9157873-58AD-4AA2-6D8E-F03598A35D92}"/>
              </a:ext>
            </a:extLst>
          </p:cNvPr>
          <p:cNvPicPr>
            <a:picLocks noChangeAspect="1"/>
          </p:cNvPicPr>
          <p:nvPr userDrawn="1"/>
        </p:nvPicPr>
        <p:blipFill rotWithShape="1">
          <a:blip r:embed="rId2"/>
          <a:srcRect l="3707" t="-2" b="81342"/>
          <a:stretch/>
        </p:blipFill>
        <p:spPr>
          <a:xfrm>
            <a:off x="0" y="-1"/>
            <a:ext cx="12445594" cy="1511159"/>
          </a:xfrm>
          <a:prstGeom prst="rect">
            <a:avLst/>
          </a:prstGeom>
        </p:spPr>
      </p:pic>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41357664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solar panels in a field&#10;&#10;Description automatically generated">
            <a:extLst>
              <a:ext uri="{FF2B5EF4-FFF2-40B4-BE49-F238E27FC236}">
                <a16:creationId xmlns:a16="http://schemas.microsoft.com/office/drawing/2014/main" id="{532817DF-7DF3-EA26-7E2E-0CD799FCD730}"/>
              </a:ext>
            </a:extLst>
          </p:cNvPr>
          <p:cNvPicPr>
            <a:picLocks noChangeAspect="1"/>
          </p:cNvPicPr>
          <p:nvPr userDrawn="1"/>
        </p:nvPicPr>
        <p:blipFill rotWithShape="1">
          <a:blip r:embed="rId2"/>
          <a:srcRect b="17104"/>
          <a:stretch/>
        </p:blipFill>
        <p:spPr>
          <a:xfrm>
            <a:off x="0" y="0"/>
            <a:ext cx="12192000" cy="6980663"/>
          </a:xfrm>
          <a:prstGeom prst="rect">
            <a:avLst/>
          </a:prstGeom>
        </p:spPr>
      </p:pic>
      <p:sp>
        <p:nvSpPr>
          <p:cNvPr id="5" name="Rectangle 4">
            <a:extLst>
              <a:ext uri="{FF2B5EF4-FFF2-40B4-BE49-F238E27FC236}">
                <a16:creationId xmlns:a16="http://schemas.microsoft.com/office/drawing/2014/main" id="{D31A8E33-5F87-A167-2351-B1EE0368532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7923099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04665"/>
            <a:ext cx="5198293" cy="1296145"/>
          </a:xfrm>
        </p:spPr>
        <p:txBody>
          <a:bodyPr>
            <a:noAutofit/>
          </a:bodyPr>
          <a:lstStyle>
            <a:lvl1pPr>
              <a:lnSpc>
                <a:spcPct val="90000"/>
              </a:lnSpc>
              <a:defRPr sz="3600">
                <a:solidFill>
                  <a:schemeClr val="accent3">
                    <a:lumMod val="50000"/>
                  </a:schemeClr>
                </a:solidFill>
              </a:defRPr>
            </a:lvl1pPr>
          </a:lstStyle>
          <a:p>
            <a:r>
              <a:rPr lang="en-GB"/>
              <a:t>Click to edit Master title style</a:t>
            </a:r>
            <a:endParaRPr lang="en-US"/>
          </a:p>
        </p:txBody>
      </p:sp>
      <p:sp>
        <p:nvSpPr>
          <p:cNvPr id="3" name="Date Placeholder 2"/>
          <p:cNvSpPr>
            <a:spLocks noGrp="1"/>
          </p:cNvSpPr>
          <p:nvPr>
            <p:ph type="dt" sz="half" idx="10"/>
          </p:nvPr>
        </p:nvSpPr>
        <p:spPr/>
        <p:txBody>
          <a:bodyPr/>
          <a:lstStyle/>
          <a:p>
            <a:fld id="{425404F2-BE9A-4460-8815-8F645183555F}" type="datetimeFigureOut">
              <a:rPr lang="en-US" smtClean="0"/>
              <a:pPr/>
              <a:t>9/12/2024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17" name="Text Placeholder 16">
            <a:extLst>
              <a:ext uri="{FF2B5EF4-FFF2-40B4-BE49-F238E27FC236}">
                <a16:creationId xmlns:a16="http://schemas.microsoft.com/office/drawing/2014/main" id="{AD29DD13-E7CE-CD40-CC13-3D082FB689DB}"/>
              </a:ext>
            </a:extLst>
          </p:cNvPr>
          <p:cNvSpPr>
            <a:spLocks noGrp="1"/>
          </p:cNvSpPr>
          <p:nvPr>
            <p:ph type="body" sz="quarter" idx="13" hasCustomPrompt="1"/>
          </p:nvPr>
        </p:nvSpPr>
        <p:spPr>
          <a:xfrm>
            <a:off x="5967534" y="404660"/>
            <a:ext cx="3860799" cy="1296145"/>
          </a:xfrm>
        </p:spPr>
        <p:txBody>
          <a:bodyPr anchor="ctr">
            <a:noAutofit/>
          </a:bodyPr>
          <a:lstStyle>
            <a:lvl1pPr marL="0" indent="0">
              <a:buNone/>
              <a:defRPr sz="1800"/>
            </a:lvl1pPr>
            <a:lvl2pPr marL="609494" indent="0">
              <a:buNone/>
              <a:defRPr sz="1800"/>
            </a:lvl2pPr>
            <a:lvl3pPr marL="1218986" indent="0">
              <a:buNone/>
              <a:defRPr sz="1800"/>
            </a:lvl3pPr>
            <a:lvl4pPr marL="1828480" indent="0">
              <a:buNone/>
              <a:defRPr sz="1800"/>
            </a:lvl4pPr>
            <a:lvl5pPr marL="2437973" indent="0">
              <a:buNone/>
              <a:defRPr sz="1800"/>
            </a:lvl5pPr>
          </a:lstStyle>
          <a:p>
            <a:pPr lvl="0"/>
            <a:r>
              <a:rPr lang="en-US"/>
              <a:t>Insert your desired text here. This is a sample text.</a:t>
            </a:r>
          </a:p>
        </p:txBody>
      </p:sp>
    </p:spTree>
    <p:extLst>
      <p:ext uri="{BB962C8B-B14F-4D97-AF65-F5344CB8AC3E}">
        <p14:creationId xmlns:p14="http://schemas.microsoft.com/office/powerpoint/2010/main" val="496961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Key Points">
  <p:cSld name="1_Key Points">
    <p:spTree>
      <p:nvGrpSpPr>
        <p:cNvPr id="1" name="Shape 18"/>
        <p:cNvGrpSpPr/>
        <p:nvPr/>
      </p:nvGrpSpPr>
      <p:grpSpPr>
        <a:xfrm>
          <a:off x="0" y="0"/>
          <a:ext cx="0" cy="0"/>
          <a:chOff x="0" y="0"/>
          <a:chExt cx="0" cy="0"/>
        </a:xfrm>
      </p:grpSpPr>
      <p:sp>
        <p:nvSpPr>
          <p:cNvPr id="19" name="Google Shape;19;p7"/>
          <p:cNvSpPr/>
          <p:nvPr/>
        </p:nvSpPr>
        <p:spPr>
          <a:xfrm>
            <a:off x="0" y="1"/>
            <a:ext cx="12192000" cy="1351398"/>
          </a:xfrm>
          <a:prstGeom prst="rect">
            <a:avLst/>
          </a:prstGeom>
          <a:solidFill>
            <a:srgbClr val="022A03"/>
          </a:solidFill>
          <a:ln w="12700" cap="flat" cmpd="sng">
            <a:solidFill>
              <a:srgbClr val="022A0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7"/>
          <p:cNvSpPr/>
          <p:nvPr/>
        </p:nvSpPr>
        <p:spPr>
          <a:xfrm>
            <a:off x="0" y="1355231"/>
            <a:ext cx="12192000" cy="155927"/>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21" name="Google Shape;21;p7"/>
          <p:cNvSpPr/>
          <p:nvPr/>
        </p:nvSpPr>
        <p:spPr>
          <a:xfrm>
            <a:off x="2110740" y="2028118"/>
            <a:ext cx="7970520" cy="1004641"/>
          </a:xfrm>
          <a:prstGeom prst="rect">
            <a:avLst/>
          </a:prstGeom>
          <a:solidFill>
            <a:srgbClr val="E9F0EE"/>
          </a:solidFill>
          <a:ln w="12700" cap="flat" cmpd="sng">
            <a:solidFill>
              <a:srgbClr val="EBF1E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3F7E2"/>
              </a:solidFill>
              <a:latin typeface="Arial"/>
              <a:ea typeface="Arial"/>
              <a:cs typeface="Arial"/>
              <a:sym typeface="Arial"/>
            </a:endParaRPr>
          </a:p>
        </p:txBody>
      </p:sp>
      <p:sp>
        <p:nvSpPr>
          <p:cNvPr id="22" name="Google Shape;22;p7"/>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lt1"/>
              </a:buClr>
              <a:buSzPts val="4400"/>
              <a:buFont typeface="Arial"/>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7"/>
          <p:cNvSpPr/>
          <p:nvPr/>
        </p:nvSpPr>
        <p:spPr>
          <a:xfrm>
            <a:off x="2110740" y="3514283"/>
            <a:ext cx="7970520" cy="1004641"/>
          </a:xfrm>
          <a:prstGeom prst="rect">
            <a:avLst/>
          </a:prstGeom>
          <a:solidFill>
            <a:srgbClr val="D7F3EC"/>
          </a:solidFill>
          <a:ln w="12700" cap="flat" cmpd="sng">
            <a:solidFill>
              <a:srgbClr val="DAF4E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7"/>
          <p:cNvSpPr/>
          <p:nvPr/>
        </p:nvSpPr>
        <p:spPr>
          <a:xfrm>
            <a:off x="2110740" y="5000448"/>
            <a:ext cx="7970520" cy="1004641"/>
          </a:xfrm>
          <a:prstGeom prst="rect">
            <a:avLst/>
          </a:prstGeom>
          <a:solidFill>
            <a:srgbClr val="EBF4D6"/>
          </a:solidFill>
          <a:ln w="12700" cap="flat" cmpd="sng">
            <a:solidFill>
              <a:srgbClr val="ECF4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 name="Google Shape;25;p7"/>
          <p:cNvSpPr txBox="1"/>
          <p:nvPr/>
        </p:nvSpPr>
        <p:spPr>
          <a:xfrm>
            <a:off x="2331720" y="2028118"/>
            <a:ext cx="7528560" cy="46788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800" b="0" i="0" u="none" strike="noStrike" cap="none">
              <a:solidFill>
                <a:srgbClr val="022A03"/>
              </a:solidFill>
              <a:latin typeface="Arial"/>
              <a:ea typeface="Arial"/>
              <a:cs typeface="Arial"/>
              <a:sym typeface="Arial"/>
            </a:endParaRPr>
          </a:p>
        </p:txBody>
      </p:sp>
      <p:sp>
        <p:nvSpPr>
          <p:cNvPr id="26" name="Google Shape;26;p7"/>
          <p:cNvSpPr txBox="1">
            <a:spLocks noGrp="1"/>
          </p:cNvSpPr>
          <p:nvPr>
            <p:ph type="body" idx="1"/>
          </p:nvPr>
        </p:nvSpPr>
        <p:spPr>
          <a:xfrm>
            <a:off x="3604260" y="2028118"/>
            <a:ext cx="6256020"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 name="Google Shape;27;p7"/>
          <p:cNvSpPr txBox="1">
            <a:spLocks noGrp="1"/>
          </p:cNvSpPr>
          <p:nvPr>
            <p:ph type="body" idx="2"/>
          </p:nvPr>
        </p:nvSpPr>
        <p:spPr>
          <a:xfrm>
            <a:off x="3604259" y="3514283"/>
            <a:ext cx="6256019"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 name="Google Shape;28;p7"/>
          <p:cNvSpPr txBox="1">
            <a:spLocks noGrp="1"/>
          </p:cNvSpPr>
          <p:nvPr>
            <p:ph type="body" idx="3"/>
          </p:nvPr>
        </p:nvSpPr>
        <p:spPr>
          <a:xfrm>
            <a:off x="3604259" y="5000447"/>
            <a:ext cx="6256019"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7"/>
          <p:cNvSpPr txBox="1"/>
          <p:nvPr/>
        </p:nvSpPr>
        <p:spPr>
          <a:xfrm>
            <a:off x="2110740" y="2028118"/>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1</a:t>
            </a:r>
            <a:endParaRPr/>
          </a:p>
        </p:txBody>
      </p:sp>
      <p:sp>
        <p:nvSpPr>
          <p:cNvPr id="30" name="Google Shape;30;p7"/>
          <p:cNvSpPr txBox="1"/>
          <p:nvPr/>
        </p:nvSpPr>
        <p:spPr>
          <a:xfrm>
            <a:off x="2110740" y="3508771"/>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2</a:t>
            </a:r>
            <a:endParaRPr/>
          </a:p>
        </p:txBody>
      </p:sp>
      <p:sp>
        <p:nvSpPr>
          <p:cNvPr id="31" name="Google Shape;31;p7"/>
          <p:cNvSpPr txBox="1"/>
          <p:nvPr/>
        </p:nvSpPr>
        <p:spPr>
          <a:xfrm>
            <a:off x="2110740" y="4985593"/>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3</a:t>
            </a:r>
            <a:endParaRPr/>
          </a:p>
        </p:txBody>
      </p:sp>
      <p:sp>
        <p:nvSpPr>
          <p:cNvPr id="32" name="Google Shape;32;p7"/>
          <p:cNvSpPr/>
          <p:nvPr/>
        </p:nvSpPr>
        <p:spPr>
          <a:xfrm rot="-5400000">
            <a:off x="2814370" y="2489725"/>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3" name="Google Shape;33;p7"/>
          <p:cNvSpPr/>
          <p:nvPr/>
        </p:nvSpPr>
        <p:spPr>
          <a:xfrm rot="-5400000">
            <a:off x="2814369" y="3962951"/>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4" name="Google Shape;34;p7"/>
          <p:cNvSpPr/>
          <p:nvPr/>
        </p:nvSpPr>
        <p:spPr>
          <a:xfrm rot="-5400000">
            <a:off x="2814368" y="5429432"/>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11605754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 Rows">
  <p:cSld name="1_2 Rows">
    <p:spTree>
      <p:nvGrpSpPr>
        <p:cNvPr id="1" name="Shape 87"/>
        <p:cNvGrpSpPr/>
        <p:nvPr/>
      </p:nvGrpSpPr>
      <p:grpSpPr>
        <a:xfrm>
          <a:off x="0" y="0"/>
          <a:ext cx="0" cy="0"/>
          <a:chOff x="0" y="0"/>
          <a:chExt cx="0" cy="0"/>
        </a:xfrm>
      </p:grpSpPr>
      <p:sp>
        <p:nvSpPr>
          <p:cNvPr id="88" name="Google Shape;88;p19"/>
          <p:cNvSpPr txBox="1">
            <a:spLocks noGrp="1"/>
          </p:cNvSpPr>
          <p:nvPr>
            <p:ph type="body" idx="1"/>
          </p:nvPr>
        </p:nvSpPr>
        <p:spPr>
          <a:xfrm>
            <a:off x="381000" y="1659430"/>
            <a:ext cx="11430000" cy="2451016"/>
          </a:xfrm>
          <a:prstGeom prst="rect">
            <a:avLst/>
          </a:prstGeom>
          <a:noFill/>
          <a:ln>
            <a:noFill/>
          </a:ln>
        </p:spPr>
        <p:txBody>
          <a:bodyPr spcFirstLastPara="1" wrap="square" lIns="0" tIns="0" rIns="0" bIns="0" anchor="t" anchorCtr="0">
            <a:normAutofit/>
          </a:bodyPr>
          <a:lstStyle>
            <a:lvl1pPr marL="457200" lvl="0" indent="-406400" algn="l">
              <a:lnSpc>
                <a:spcPct val="150000"/>
              </a:lnSpc>
              <a:spcBef>
                <a:spcPts val="0"/>
              </a:spcBef>
              <a:spcAft>
                <a:spcPts val="0"/>
              </a:spcAft>
              <a:buClr>
                <a:schemeClr val="dk1"/>
              </a:buClr>
              <a:buSzPts val="2800"/>
              <a:buChar char="•"/>
              <a:defRPr>
                <a:latin typeface="Arial"/>
                <a:ea typeface="Arial"/>
                <a:cs typeface="Arial"/>
                <a:sym typeface="Arial"/>
              </a:defRPr>
            </a:lvl1pPr>
            <a:lvl2pPr marL="914400" lvl="1" indent="-381000" algn="l">
              <a:lnSpc>
                <a:spcPct val="150000"/>
              </a:lnSpc>
              <a:spcBef>
                <a:spcPts val="0"/>
              </a:spcBef>
              <a:spcAft>
                <a:spcPts val="0"/>
              </a:spcAft>
              <a:buClr>
                <a:srgbClr val="356D18"/>
              </a:buClr>
              <a:buSzPts val="2400"/>
              <a:buChar char="•"/>
              <a:defRPr>
                <a:latin typeface="Arial"/>
                <a:ea typeface="Arial"/>
                <a:cs typeface="Arial"/>
                <a:sym typeface="Arial"/>
              </a:defRPr>
            </a:lvl2pPr>
            <a:lvl3pPr marL="1371600" lvl="2" indent="-355600" algn="l">
              <a:lnSpc>
                <a:spcPct val="150000"/>
              </a:lnSpc>
              <a:spcBef>
                <a:spcPts val="0"/>
              </a:spcBef>
              <a:spcAft>
                <a:spcPts val="0"/>
              </a:spcAft>
              <a:buClr>
                <a:srgbClr val="356D18"/>
              </a:buClr>
              <a:buSzPts val="2000"/>
              <a:buChar char="•"/>
              <a:defRPr>
                <a:latin typeface="Arial"/>
                <a:ea typeface="Arial"/>
                <a:cs typeface="Arial"/>
                <a:sym typeface="Arial"/>
              </a:defRPr>
            </a:lvl3pPr>
            <a:lvl4pPr marL="1828800" lvl="3" indent="-342900" algn="l">
              <a:lnSpc>
                <a:spcPct val="150000"/>
              </a:lnSpc>
              <a:spcBef>
                <a:spcPts val="0"/>
              </a:spcBef>
              <a:spcAft>
                <a:spcPts val="0"/>
              </a:spcAft>
              <a:buClr>
                <a:srgbClr val="356D18"/>
              </a:buClr>
              <a:buSzPts val="1800"/>
              <a:buChar char="•"/>
              <a:defRPr>
                <a:latin typeface="Arial"/>
                <a:ea typeface="Arial"/>
                <a:cs typeface="Arial"/>
                <a:sym typeface="Arial"/>
              </a:defRPr>
            </a:lvl4pPr>
            <a:lvl5pPr marL="2286000" lvl="4" indent="-342900" algn="l">
              <a:lnSpc>
                <a:spcPct val="150000"/>
              </a:lnSpc>
              <a:spcBef>
                <a:spcPts val="0"/>
              </a:spcBef>
              <a:spcAft>
                <a:spcPts val="0"/>
              </a:spcAft>
              <a:buClr>
                <a:srgbClr val="356D18"/>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9" name="Google Shape;89;p19"/>
          <p:cNvSpPr txBox="1">
            <a:spLocks noGrp="1"/>
          </p:cNvSpPr>
          <p:nvPr>
            <p:ph type="body" idx="2"/>
          </p:nvPr>
        </p:nvSpPr>
        <p:spPr>
          <a:xfrm>
            <a:off x="381000" y="4199953"/>
            <a:ext cx="11430000" cy="2451016"/>
          </a:xfrm>
          <a:prstGeom prst="rect">
            <a:avLst/>
          </a:prstGeom>
          <a:noFill/>
          <a:ln>
            <a:noFill/>
          </a:ln>
        </p:spPr>
        <p:txBody>
          <a:bodyPr spcFirstLastPara="1" wrap="square" lIns="0" tIns="0" rIns="0" bIns="0" anchor="t" anchorCtr="0">
            <a:normAutofit/>
          </a:bodyPr>
          <a:lstStyle>
            <a:lvl1pPr marL="457200" lvl="0" indent="-406400" algn="l">
              <a:lnSpc>
                <a:spcPct val="150000"/>
              </a:lnSpc>
              <a:spcBef>
                <a:spcPts val="0"/>
              </a:spcBef>
              <a:spcAft>
                <a:spcPts val="0"/>
              </a:spcAft>
              <a:buClr>
                <a:schemeClr val="dk1"/>
              </a:buClr>
              <a:buSzPts val="2800"/>
              <a:buChar char="•"/>
              <a:defRPr>
                <a:latin typeface="Arial"/>
                <a:ea typeface="Arial"/>
                <a:cs typeface="Arial"/>
                <a:sym typeface="Arial"/>
              </a:defRPr>
            </a:lvl1pPr>
            <a:lvl2pPr marL="914400" lvl="1" indent="-381000" algn="l">
              <a:lnSpc>
                <a:spcPct val="150000"/>
              </a:lnSpc>
              <a:spcBef>
                <a:spcPts val="0"/>
              </a:spcBef>
              <a:spcAft>
                <a:spcPts val="0"/>
              </a:spcAft>
              <a:buClr>
                <a:srgbClr val="356D18"/>
              </a:buClr>
              <a:buSzPts val="2400"/>
              <a:buChar char="•"/>
              <a:defRPr>
                <a:latin typeface="Arial"/>
                <a:ea typeface="Arial"/>
                <a:cs typeface="Arial"/>
                <a:sym typeface="Arial"/>
              </a:defRPr>
            </a:lvl2pPr>
            <a:lvl3pPr marL="1371600" lvl="2" indent="-355600" algn="l">
              <a:lnSpc>
                <a:spcPct val="150000"/>
              </a:lnSpc>
              <a:spcBef>
                <a:spcPts val="0"/>
              </a:spcBef>
              <a:spcAft>
                <a:spcPts val="0"/>
              </a:spcAft>
              <a:buClr>
                <a:srgbClr val="356D18"/>
              </a:buClr>
              <a:buSzPts val="2000"/>
              <a:buChar char="•"/>
              <a:defRPr>
                <a:latin typeface="Arial"/>
                <a:ea typeface="Arial"/>
                <a:cs typeface="Arial"/>
                <a:sym typeface="Arial"/>
              </a:defRPr>
            </a:lvl3pPr>
            <a:lvl4pPr marL="1828800" lvl="3" indent="-342900" algn="l">
              <a:lnSpc>
                <a:spcPct val="150000"/>
              </a:lnSpc>
              <a:spcBef>
                <a:spcPts val="0"/>
              </a:spcBef>
              <a:spcAft>
                <a:spcPts val="0"/>
              </a:spcAft>
              <a:buClr>
                <a:srgbClr val="356D18"/>
              </a:buClr>
              <a:buSzPts val="1800"/>
              <a:buChar char="•"/>
              <a:defRPr>
                <a:latin typeface="Arial"/>
                <a:ea typeface="Arial"/>
                <a:cs typeface="Arial"/>
                <a:sym typeface="Arial"/>
              </a:defRPr>
            </a:lvl4pPr>
            <a:lvl5pPr marL="2286000" lvl="4" indent="-342900" algn="l">
              <a:lnSpc>
                <a:spcPct val="150000"/>
              </a:lnSpc>
              <a:spcBef>
                <a:spcPts val="0"/>
              </a:spcBef>
              <a:spcAft>
                <a:spcPts val="0"/>
              </a:spcAft>
              <a:buClr>
                <a:srgbClr val="356D18"/>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0" name="Google Shape;90;p19"/>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rgbClr val="022A0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9"/>
          <p:cNvSpPr/>
          <p:nvPr/>
        </p:nvSpPr>
        <p:spPr>
          <a:xfrm>
            <a:off x="0" y="1355231"/>
            <a:ext cx="12192000" cy="155927"/>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35144306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Heading">
  <p:cSld name="1_Heading">
    <p:spTree>
      <p:nvGrpSpPr>
        <p:cNvPr id="1" name="Shape 18"/>
        <p:cNvGrpSpPr/>
        <p:nvPr/>
      </p:nvGrpSpPr>
      <p:grpSpPr>
        <a:xfrm>
          <a:off x="0" y="0"/>
          <a:ext cx="0" cy="0"/>
          <a:chOff x="0" y="0"/>
          <a:chExt cx="0" cy="0"/>
        </a:xfrm>
      </p:grpSpPr>
      <p:sp>
        <p:nvSpPr>
          <p:cNvPr id="19" name="Google Shape;19;p9"/>
          <p:cNvSpPr/>
          <p:nvPr/>
        </p:nvSpPr>
        <p:spPr>
          <a:xfrm>
            <a:off x="-18541" y="4594860"/>
            <a:ext cx="12210539" cy="213469"/>
          </a:xfrm>
          <a:prstGeom prst="rect">
            <a:avLst/>
          </a:prstGeom>
          <a:solidFill>
            <a:srgbClr val="042245"/>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dk1"/>
              </a:buClr>
              <a:buSzPts val="1300"/>
              <a:buFont typeface="Trebuchet MS"/>
              <a:buNone/>
            </a:pPr>
            <a:endParaRPr sz="1300" b="0" i="0" u="none" strike="noStrike" cap="none">
              <a:solidFill>
                <a:srgbClr val="042245"/>
              </a:solidFill>
              <a:latin typeface="Trebuchet MS"/>
              <a:ea typeface="Trebuchet MS"/>
              <a:cs typeface="Trebuchet MS"/>
              <a:sym typeface="Trebuchet MS"/>
            </a:endParaRPr>
          </a:p>
        </p:txBody>
      </p:sp>
      <p:pic>
        <p:nvPicPr>
          <p:cNvPr id="20" name="Google Shape;20;p9" descr="Looking up at the sky through the trees&#10;&#10;Description automatically generated"/>
          <p:cNvPicPr preferRelativeResize="0"/>
          <p:nvPr/>
        </p:nvPicPr>
        <p:blipFill rotWithShape="1">
          <a:blip r:embed="rId2">
            <a:alphaModFix/>
          </a:blip>
          <a:srcRect t="7532" b="22858"/>
          <a:stretch/>
        </p:blipFill>
        <p:spPr>
          <a:xfrm>
            <a:off x="-18540" y="0"/>
            <a:ext cx="12210539" cy="4594860"/>
          </a:xfrm>
          <a:prstGeom prst="rect">
            <a:avLst/>
          </a:prstGeom>
          <a:noFill/>
          <a:ln>
            <a:noFill/>
          </a:ln>
        </p:spPr>
      </p:pic>
      <p:sp>
        <p:nvSpPr>
          <p:cNvPr id="21" name="Google Shape;21;p9"/>
          <p:cNvSpPr txBox="1">
            <a:spLocks noGrp="1"/>
          </p:cNvSpPr>
          <p:nvPr>
            <p:ph type="subTitle" idx="1"/>
          </p:nvPr>
        </p:nvSpPr>
        <p:spPr>
          <a:xfrm>
            <a:off x="1090863" y="5404174"/>
            <a:ext cx="10010273" cy="68611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42245"/>
              </a:buClr>
              <a:buSzPts val="4800"/>
              <a:buFont typeface="Arial"/>
              <a:buNone/>
              <a:defRPr sz="4800" b="1" i="0" u="none" strike="noStrike" cap="none">
                <a:solidFill>
                  <a:srgbClr val="042245"/>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741590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deas Slide">
  <p:cSld name="Ideas Slide">
    <p:spTree>
      <p:nvGrpSpPr>
        <p:cNvPr id="1" name="Shape 276"/>
        <p:cNvGrpSpPr/>
        <p:nvPr/>
      </p:nvGrpSpPr>
      <p:grpSpPr>
        <a:xfrm>
          <a:off x="0" y="0"/>
          <a:ext cx="0" cy="0"/>
          <a:chOff x="0" y="0"/>
          <a:chExt cx="0" cy="0"/>
        </a:xfrm>
      </p:grpSpPr>
      <p:sp>
        <p:nvSpPr>
          <p:cNvPr id="277" name="Google Shape;277;p28"/>
          <p:cNvSpPr/>
          <p:nvPr/>
        </p:nvSpPr>
        <p:spPr>
          <a:xfrm>
            <a:off x="4064290" y="1002189"/>
            <a:ext cx="7746701" cy="5799667"/>
          </a:xfrm>
          <a:prstGeom prst="rect">
            <a:avLst/>
          </a:prstGeom>
          <a:solidFill>
            <a:srgbClr val="F2F2F2">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8" name="Google Shape;278;p28"/>
          <p:cNvSpPr/>
          <p:nvPr/>
        </p:nvSpPr>
        <p:spPr>
          <a:xfrm rot="-5400000" flipH="1">
            <a:off x="651480" y="2596840"/>
            <a:ext cx="2765650" cy="2610365"/>
          </a:xfrm>
          <a:custGeom>
            <a:avLst/>
            <a:gdLst/>
            <a:ahLst/>
            <a:cxnLst/>
            <a:rect l="l" t="t" r="r" b="b"/>
            <a:pathLst>
              <a:path w="2928608" h="2758049" extrusionOk="0">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350"/>
              <a:buFont typeface="Calibri"/>
              <a:buNone/>
            </a:pPr>
            <a:endParaRPr sz="1350" b="0" i="0" u="none" strike="noStrike" cap="none">
              <a:solidFill>
                <a:srgbClr val="FFFFFF"/>
              </a:solidFill>
              <a:latin typeface="Arial"/>
              <a:ea typeface="Arial"/>
              <a:cs typeface="Arial"/>
              <a:sym typeface="Arial"/>
            </a:endParaRPr>
          </a:p>
        </p:txBody>
      </p:sp>
      <p:sp>
        <p:nvSpPr>
          <p:cNvPr id="279" name="Google Shape;279;p28"/>
          <p:cNvSpPr txBox="1">
            <a:spLocks noGrp="1"/>
          </p:cNvSpPr>
          <p:nvPr>
            <p:ph type="body" idx="1"/>
          </p:nvPr>
        </p:nvSpPr>
        <p:spPr>
          <a:xfrm>
            <a:off x="4064290" y="1489076"/>
            <a:ext cx="7728162" cy="5028456"/>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50000"/>
              </a:lnSpc>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0" name="Google Shape;280;p28"/>
          <p:cNvSpPr txBox="1">
            <a:spLocks noGrp="1"/>
          </p:cNvSpPr>
          <p:nvPr>
            <p:ph type="subTitle" idx="2"/>
          </p:nvPr>
        </p:nvSpPr>
        <p:spPr>
          <a:xfrm>
            <a:off x="381009" y="479743"/>
            <a:ext cx="11411443" cy="57181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81" name="Google Shape;281;p28"/>
          <p:cNvSpPr/>
          <p:nvPr/>
        </p:nvSpPr>
        <p:spPr>
          <a:xfrm>
            <a:off x="4320" y="1043831"/>
            <a:ext cx="12210539" cy="213469"/>
          </a:xfrm>
          <a:prstGeom prst="rect">
            <a:avLst/>
          </a:prstGeom>
          <a:solidFill>
            <a:srgbClr val="009FDA"/>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dk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41521010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tatement, Image &amp; Column">
  <p:cSld name="Statement, Image &amp; Column">
    <p:spTree>
      <p:nvGrpSpPr>
        <p:cNvPr id="1" name="Shape 50"/>
        <p:cNvGrpSpPr/>
        <p:nvPr/>
      </p:nvGrpSpPr>
      <p:grpSpPr>
        <a:xfrm>
          <a:off x="0" y="0"/>
          <a:ext cx="0" cy="0"/>
          <a:chOff x="0" y="0"/>
          <a:chExt cx="0" cy="0"/>
        </a:xfrm>
      </p:grpSpPr>
      <p:sp>
        <p:nvSpPr>
          <p:cNvPr id="51" name="Google Shape;51;p16"/>
          <p:cNvSpPr txBox="1">
            <a:spLocks noGrp="1"/>
          </p:cNvSpPr>
          <p:nvPr>
            <p:ph type="subTitle" idx="1"/>
          </p:nvPr>
        </p:nvSpPr>
        <p:spPr>
          <a:xfrm>
            <a:off x="381009" y="479743"/>
            <a:ext cx="11411443" cy="57181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52" name="Google Shape;52;p16"/>
          <p:cNvSpPr/>
          <p:nvPr/>
        </p:nvSpPr>
        <p:spPr>
          <a:xfrm>
            <a:off x="4320" y="1043831"/>
            <a:ext cx="12210539" cy="213469"/>
          </a:xfrm>
          <a:prstGeom prst="rect">
            <a:avLst/>
          </a:prstGeom>
          <a:solidFill>
            <a:srgbClr val="009FDA"/>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dk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53" name="Google Shape;53;p16"/>
          <p:cNvSpPr txBox="1">
            <a:spLocks noGrp="1"/>
          </p:cNvSpPr>
          <p:nvPr>
            <p:ph type="body" idx="2"/>
          </p:nvPr>
        </p:nvSpPr>
        <p:spPr>
          <a:xfrm>
            <a:off x="399548" y="1585377"/>
            <a:ext cx="11392904" cy="85888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5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16"/>
          <p:cNvSpPr>
            <a:spLocks noGrp="1"/>
          </p:cNvSpPr>
          <p:nvPr>
            <p:ph type="pic" idx="3"/>
          </p:nvPr>
        </p:nvSpPr>
        <p:spPr>
          <a:xfrm>
            <a:off x="400050" y="2671948"/>
            <a:ext cx="5561363" cy="3778065"/>
          </a:xfrm>
          <a:prstGeom prst="rect">
            <a:avLst/>
          </a:prstGeom>
          <a:noFill/>
          <a:ln>
            <a:noFill/>
          </a:ln>
        </p:spPr>
      </p:sp>
      <p:sp>
        <p:nvSpPr>
          <p:cNvPr id="55" name="Google Shape;55;p16"/>
          <p:cNvSpPr txBox="1">
            <a:spLocks noGrp="1"/>
          </p:cNvSpPr>
          <p:nvPr>
            <p:ph type="body" idx="4"/>
          </p:nvPr>
        </p:nvSpPr>
        <p:spPr>
          <a:xfrm>
            <a:off x="6230587" y="2671948"/>
            <a:ext cx="5561363" cy="3795899"/>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50000"/>
              </a:lnSpc>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3685834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 Column Text Slide">
  <p:cSld name="2 Column Text Slide">
    <p:spTree>
      <p:nvGrpSpPr>
        <p:cNvPr id="1" name="Shape 30"/>
        <p:cNvGrpSpPr/>
        <p:nvPr/>
      </p:nvGrpSpPr>
      <p:grpSpPr>
        <a:xfrm>
          <a:off x="0" y="0"/>
          <a:ext cx="0" cy="0"/>
          <a:chOff x="0" y="0"/>
          <a:chExt cx="0" cy="0"/>
        </a:xfrm>
      </p:grpSpPr>
      <p:sp>
        <p:nvSpPr>
          <p:cNvPr id="31" name="Google Shape;31;p12"/>
          <p:cNvSpPr txBox="1">
            <a:spLocks noGrp="1"/>
          </p:cNvSpPr>
          <p:nvPr>
            <p:ph type="subTitle" idx="1"/>
          </p:nvPr>
        </p:nvSpPr>
        <p:spPr>
          <a:xfrm>
            <a:off x="381009" y="479743"/>
            <a:ext cx="11411443" cy="57181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32" name="Google Shape;32;p12"/>
          <p:cNvSpPr/>
          <p:nvPr/>
        </p:nvSpPr>
        <p:spPr>
          <a:xfrm>
            <a:off x="4320" y="1043831"/>
            <a:ext cx="12210539" cy="213469"/>
          </a:xfrm>
          <a:prstGeom prst="rect">
            <a:avLst/>
          </a:prstGeom>
          <a:solidFill>
            <a:srgbClr val="009FDA"/>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dk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3" name="Google Shape;33;p12"/>
          <p:cNvSpPr txBox="1">
            <a:spLocks noGrp="1"/>
          </p:cNvSpPr>
          <p:nvPr>
            <p:ph type="body" idx="2"/>
          </p:nvPr>
        </p:nvSpPr>
        <p:spPr>
          <a:xfrm>
            <a:off x="6096000" y="1595381"/>
            <a:ext cx="5696452" cy="479288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50000"/>
              </a:lnSpc>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12"/>
          <p:cNvSpPr txBox="1">
            <a:spLocks noGrp="1"/>
          </p:cNvSpPr>
          <p:nvPr>
            <p:ph type="body" idx="3"/>
          </p:nvPr>
        </p:nvSpPr>
        <p:spPr>
          <a:xfrm>
            <a:off x="399548" y="1585375"/>
            <a:ext cx="5403375" cy="4792881"/>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50000"/>
              </a:lnSpc>
              <a:spcBef>
                <a:spcPts val="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50000"/>
              </a:lnSpc>
              <a:spcBef>
                <a:spcPts val="0"/>
              </a:spcBef>
              <a:spcAft>
                <a:spcPts val="0"/>
              </a:spcAft>
              <a:buClr>
                <a:srgbClr val="00B0F0"/>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895319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983212-0AE2-29C1-9A4B-0250F4060FB9}"/>
              </a:ext>
            </a:extLst>
          </p:cNvPr>
          <p:cNvSpPr>
            <a:spLocks noGrp="1"/>
          </p:cNvSpPr>
          <p:nvPr>
            <p:ph type="title"/>
          </p:nvPr>
        </p:nvSpPr>
        <p:spPr>
          <a:xfrm>
            <a:off x="380999" y="685800"/>
            <a:ext cx="11439526" cy="1004888"/>
          </a:xfrm>
          <a:prstGeom prst="rect">
            <a:avLst/>
          </a:prstGeom>
        </p:spPr>
        <p:txBody>
          <a:bodyPr vert="horz" lIns="0" tIns="0" rIns="0" bIns="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9D208F-AA04-F314-4451-C85FCF1D9131}"/>
              </a:ext>
            </a:extLst>
          </p:cNvPr>
          <p:cNvSpPr>
            <a:spLocks noGrp="1"/>
          </p:cNvSpPr>
          <p:nvPr>
            <p:ph type="body" idx="1"/>
          </p:nvPr>
        </p:nvSpPr>
        <p:spPr>
          <a:xfrm>
            <a:off x="380999" y="1825624"/>
            <a:ext cx="11439525" cy="4829699"/>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64614227"/>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710" r:id="rId4"/>
    <p:sldLayoutId id="2147483711"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12" r:id="rId26"/>
    <p:sldLayoutId id="2147483714" r:id="rId27"/>
    <p:sldLayoutId id="2147483713" r:id="rId28"/>
    <p:sldLayoutId id="2147483707" r:id="rId29"/>
    <p:sldLayoutId id="2147483708" r:id="rId30"/>
    <p:sldLayoutId id="2147483709" r:id="rId31"/>
    <p:sldLayoutId id="2147483716" r:id="rId32"/>
    <p:sldLayoutId id="2147483717" r:id="rId33"/>
    <p:sldLayoutId id="2147483718" r:id="rId34"/>
    <p:sldLayoutId id="2147483719" r:id="rId35"/>
  </p:sldLayoutIdLst>
  <p:hf hdr="0" ftr="0" dt="0"/>
  <p:txStyles>
    <p:title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hyperlink" Target="https://global-tipping-points.org/" TargetMode="External"/><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hyperlink" Target="https://www.climatepolicyinitiative.org/wp-content/uploads/2023/09/How-big-is-the-Net-Zero-financing-gap-2023.pdf" TargetMode="External"/><Relationship Id="rId5" Type="http://schemas.openxmlformats.org/officeDocument/2006/relationships/hyperlink" Target="https://www.pnnl.gov/sites/default/files/media/file/Ukraine%20NZW%20COP28%20report%202023.pdf" TargetMode="External"/><Relationship Id="rId4" Type="http://schemas.openxmlformats.org/officeDocument/2006/relationships/hyperlink" Target="https://iea.blob.core.windows.net/assets/9a698da4-4002-4e53-8ef3-631d8971bf84/NetZeroRoadmap_AGlobalPathwaytoKeepthe1.5CGoalinReach-2023Update.pdf"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lobal-tipping-points.org/" TargetMode="External"/><Relationship Id="rId2" Type="http://schemas.openxmlformats.org/officeDocument/2006/relationships/image" Target="../media/image11.jpe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7.xml"/><Relationship Id="rId4" Type="http://schemas.openxmlformats.org/officeDocument/2006/relationships/hyperlink" Target="https://www.nature.com/articles/s41560-022-01081-y"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hyperlink" Target="https://www.mckinsey.com/capabilities/sustainability/our-insights/solving-the-climate-finance-equation-for-developing-countrie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www.blog.renewableuk.com/post/cfdexplainer" TargetMode="Externa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8" name="Picture 7" descr="A wind turbines in a field&#10;&#10;Description automatically generated">
            <a:extLst>
              <a:ext uri="{FF2B5EF4-FFF2-40B4-BE49-F238E27FC236}">
                <a16:creationId xmlns:a16="http://schemas.microsoft.com/office/drawing/2014/main" id="{465B7B35-3B24-9E85-BADC-5762887AFAE1}"/>
              </a:ext>
            </a:extLst>
          </p:cNvPr>
          <p:cNvPicPr>
            <a:picLocks noChangeAspect="1"/>
          </p:cNvPicPr>
          <p:nvPr/>
        </p:nvPicPr>
        <p:blipFill rotWithShape="1">
          <a:blip r:embed="rId3"/>
          <a:srcRect t="32079" b="37627"/>
          <a:stretch/>
        </p:blipFill>
        <p:spPr>
          <a:xfrm>
            <a:off x="0" y="4472848"/>
            <a:ext cx="12192000" cy="2385152"/>
          </a:xfrm>
          <a:prstGeom prst="rect">
            <a:avLst/>
          </a:prstGeom>
        </p:spPr>
      </p:pic>
      <p:sp>
        <p:nvSpPr>
          <p:cNvPr id="387" name="Google Shape;387;g2cfb641d87b_0_558"/>
          <p:cNvSpPr txBox="1">
            <a:spLocks noGrp="1"/>
          </p:cNvSpPr>
          <p:nvPr>
            <p:ph type="ctrTitle"/>
          </p:nvPr>
        </p:nvSpPr>
        <p:spPr>
          <a:xfrm>
            <a:off x="617538" y="916045"/>
            <a:ext cx="10956925" cy="2512955"/>
          </a:xfrm>
          <a:noFill/>
          <a:ln>
            <a:noFill/>
          </a:ln>
        </p:spPr>
        <p:txBody>
          <a:bodyPr spcFirstLastPara="1" wrap="square" lIns="0" tIns="0" rIns="0" bIns="0" anchor="b" anchorCtr="0">
            <a:noAutofit/>
          </a:bodyPr>
          <a:lstStyle/>
          <a:p>
            <a:r>
              <a:rPr lang="en-US" dirty="0">
                <a:solidFill>
                  <a:srgbClr val="D7CBBD"/>
                </a:solidFill>
                <a:latin typeface="Aptos"/>
                <a:sym typeface="Arial"/>
              </a:rPr>
              <a:t>A Short Course on Robust Climate Policy</a:t>
            </a:r>
            <a:endParaRPr lang="en-US" dirty="0">
              <a:solidFill>
                <a:srgbClr val="D7CBBD"/>
              </a:solidFill>
            </a:endParaRPr>
          </a:p>
        </p:txBody>
      </p:sp>
      <p:sp>
        <p:nvSpPr>
          <p:cNvPr id="2" name="Subtitle 1">
            <a:extLst>
              <a:ext uri="{FF2B5EF4-FFF2-40B4-BE49-F238E27FC236}">
                <a16:creationId xmlns:a16="http://schemas.microsoft.com/office/drawing/2014/main" id="{63DE3001-2019-8FDD-B17F-0642D16CD439}"/>
              </a:ext>
            </a:extLst>
          </p:cNvPr>
          <p:cNvSpPr>
            <a:spLocks noGrp="1"/>
          </p:cNvSpPr>
          <p:nvPr>
            <p:ph type="subTitle" idx="1"/>
          </p:nvPr>
        </p:nvSpPr>
        <p:spPr>
          <a:xfrm>
            <a:off x="618308" y="3610452"/>
            <a:ext cx="10955383" cy="491290"/>
          </a:xfrm>
        </p:spPr>
        <p:txBody>
          <a:bodyPr vert="horz" lIns="0" tIns="0" rIns="0" bIns="0" rtlCol="0" anchor="t">
            <a:normAutofit lnSpcReduction="10000"/>
          </a:bodyPr>
          <a:lstStyle/>
          <a:p>
            <a:r>
              <a:rPr lang="en-US" i="1" dirty="0">
                <a:solidFill>
                  <a:srgbClr val="B2C7C8"/>
                </a:solidFill>
                <a:latin typeface="Aptos Light"/>
                <a:sym typeface="Arial"/>
              </a:rPr>
              <a:t>Module D:  </a:t>
            </a:r>
            <a:r>
              <a:rPr lang="en-US" dirty="0"/>
              <a:t>Net Zero Roadmap and Investment</a:t>
            </a:r>
          </a:p>
        </p:txBody>
      </p:sp>
      <p:sp>
        <p:nvSpPr>
          <p:cNvPr id="6" name="Text Placeholder 5">
            <a:extLst>
              <a:ext uri="{FF2B5EF4-FFF2-40B4-BE49-F238E27FC236}">
                <a16:creationId xmlns:a16="http://schemas.microsoft.com/office/drawing/2014/main" id="{7AF2F45A-C4EC-F501-076C-F960A1BC3C3B}"/>
              </a:ext>
            </a:extLst>
          </p:cNvPr>
          <p:cNvSpPr>
            <a:spLocks noGrp="1"/>
          </p:cNvSpPr>
          <p:nvPr>
            <p:ph type="body" sz="quarter" idx="14"/>
          </p:nvPr>
        </p:nvSpPr>
        <p:spPr>
          <a:xfrm>
            <a:off x="7688062" y="5247968"/>
            <a:ext cx="3885629" cy="1093938"/>
          </a:xfrm>
        </p:spPr>
        <p:txBody>
          <a:bodyPr>
            <a:normAutofit lnSpcReduction="10000"/>
          </a:bodyPr>
          <a:lstStyle/>
          <a:p>
            <a:r>
              <a:rPr lang="en-US">
                <a:solidFill>
                  <a:srgbClr val="012903"/>
                </a:solidFill>
                <a:latin typeface="Aptos Light"/>
              </a:rPr>
              <a:t>Stephen Stretton</a:t>
            </a:r>
          </a:p>
          <a:p>
            <a:pPr>
              <a:lnSpc>
                <a:spcPct val="114999"/>
              </a:lnSpc>
            </a:pPr>
            <a:r>
              <a:rPr lang="en-US">
                <a:solidFill>
                  <a:srgbClr val="012903"/>
                </a:solidFill>
                <a:latin typeface="Aptos Light"/>
              </a:rPr>
              <a:t>Climate Economics</a:t>
            </a:r>
          </a:p>
          <a:p>
            <a:r>
              <a:rPr lang="en-US" i="1">
                <a:solidFill>
                  <a:srgbClr val="012903"/>
                </a:solidFill>
                <a:latin typeface="Aptos Light"/>
              </a:rPr>
              <a:t>American University, Kyiv</a:t>
            </a:r>
            <a:endParaRPr lang="en-US" i="1">
              <a:solidFill>
                <a:srgbClr val="012903"/>
              </a:solidFill>
            </a:endParaRPr>
          </a:p>
          <a:p>
            <a:r>
              <a:rPr lang="en-US">
                <a:solidFill>
                  <a:srgbClr val="012903"/>
                </a:solidFill>
                <a:latin typeface="Aptos Light"/>
              </a:rPr>
              <a:t>August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3BDD1F5-9D86-36FB-921B-E6EBC8CCC29D}"/>
              </a:ext>
            </a:extLst>
          </p:cNvPr>
          <p:cNvPicPr>
            <a:picLocks noChangeAspect="1"/>
          </p:cNvPicPr>
          <p:nvPr/>
        </p:nvPicPr>
        <p:blipFill rotWithShape="1">
          <a:blip r:embed="rId3"/>
          <a:srcRect b="13030"/>
          <a:stretch/>
        </p:blipFill>
        <p:spPr>
          <a:xfrm>
            <a:off x="-18620" y="1"/>
            <a:ext cx="12210619" cy="6858000"/>
          </a:xfrm>
          <a:prstGeom prst="rect">
            <a:avLst/>
          </a:prstGeom>
        </p:spPr>
      </p:pic>
      <p:sp>
        <p:nvSpPr>
          <p:cNvPr id="6" name="Freeform 5">
            <a:extLst>
              <a:ext uri="{FF2B5EF4-FFF2-40B4-BE49-F238E27FC236}">
                <a16:creationId xmlns:a16="http://schemas.microsoft.com/office/drawing/2014/main" id="{9316CE1D-5093-891E-827C-F3694CF7B947}"/>
              </a:ext>
            </a:extLst>
          </p:cNvPr>
          <p:cNvSpPr/>
          <p:nvPr/>
        </p:nvSpPr>
        <p:spPr>
          <a:xfrm>
            <a:off x="-18621" y="0"/>
            <a:ext cx="12210620" cy="6858000"/>
          </a:xfrm>
          <a:custGeom>
            <a:avLst/>
            <a:gdLst/>
            <a:ahLst/>
            <a:cxnLst/>
            <a:rect l="l" t="t" r="r" b="b"/>
            <a:pathLst>
              <a:path w="12186298" h="6858000">
                <a:moveTo>
                  <a:pt x="4186453" y="685512"/>
                </a:moveTo>
                <a:lnTo>
                  <a:pt x="4269709" y="956500"/>
                </a:lnTo>
                <a:lnTo>
                  <a:pt x="4103198" y="956500"/>
                </a:lnTo>
                <a:close/>
                <a:moveTo>
                  <a:pt x="4798797" y="658304"/>
                </a:moveTo>
                <a:lnTo>
                  <a:pt x="4892935" y="658304"/>
                </a:lnTo>
                <a:cubicBezTo>
                  <a:pt x="4936105" y="658304"/>
                  <a:pt x="4973561" y="666557"/>
                  <a:pt x="5005303" y="683063"/>
                </a:cubicBezTo>
                <a:cubicBezTo>
                  <a:pt x="5037045" y="699569"/>
                  <a:pt x="5061441" y="723966"/>
                  <a:pt x="5078491" y="756252"/>
                </a:cubicBezTo>
                <a:cubicBezTo>
                  <a:pt x="5095542" y="788538"/>
                  <a:pt x="5104067" y="828261"/>
                  <a:pt x="5104067" y="875421"/>
                </a:cubicBezTo>
                <a:cubicBezTo>
                  <a:pt x="5104067" y="925846"/>
                  <a:pt x="5096358" y="967565"/>
                  <a:pt x="5080940" y="1000577"/>
                </a:cubicBezTo>
                <a:cubicBezTo>
                  <a:pt x="5065522" y="1033589"/>
                  <a:pt x="5042124" y="1058257"/>
                  <a:pt x="5010745" y="1074581"/>
                </a:cubicBezTo>
                <a:cubicBezTo>
                  <a:pt x="4979365" y="1090906"/>
                  <a:pt x="4940096" y="1099068"/>
                  <a:pt x="4892935" y="1099068"/>
                </a:cubicBezTo>
                <a:lnTo>
                  <a:pt x="4798797" y="1099068"/>
                </a:lnTo>
                <a:close/>
                <a:moveTo>
                  <a:pt x="2731872" y="657216"/>
                </a:moveTo>
                <a:lnTo>
                  <a:pt x="2848865" y="657216"/>
                </a:lnTo>
                <a:cubicBezTo>
                  <a:pt x="2875347" y="657216"/>
                  <a:pt x="2897476" y="664109"/>
                  <a:pt x="2915252" y="677894"/>
                </a:cubicBezTo>
                <a:cubicBezTo>
                  <a:pt x="2933027" y="691679"/>
                  <a:pt x="2941915" y="713082"/>
                  <a:pt x="2941915" y="742104"/>
                </a:cubicBezTo>
                <a:cubicBezTo>
                  <a:pt x="2941915" y="761694"/>
                  <a:pt x="2937925" y="778290"/>
                  <a:pt x="2929944" y="791894"/>
                </a:cubicBezTo>
                <a:cubicBezTo>
                  <a:pt x="2921963" y="805498"/>
                  <a:pt x="2910264" y="815746"/>
                  <a:pt x="2894846" y="822639"/>
                </a:cubicBezTo>
                <a:cubicBezTo>
                  <a:pt x="2879428" y="829531"/>
                  <a:pt x="2860474" y="832977"/>
                  <a:pt x="2837982" y="832977"/>
                </a:cubicBezTo>
                <a:lnTo>
                  <a:pt x="2731872" y="832977"/>
                </a:lnTo>
                <a:close/>
                <a:moveTo>
                  <a:pt x="9150150" y="512471"/>
                </a:moveTo>
                <a:lnTo>
                  <a:pt x="9150150" y="658304"/>
                </a:lnTo>
                <a:lnTo>
                  <a:pt x="9341148" y="658304"/>
                </a:lnTo>
                <a:lnTo>
                  <a:pt x="9341148" y="1244901"/>
                </a:lnTo>
                <a:lnTo>
                  <a:pt x="9516365" y="1244901"/>
                </a:lnTo>
                <a:lnTo>
                  <a:pt x="9516365" y="658304"/>
                </a:lnTo>
                <a:lnTo>
                  <a:pt x="9705730" y="658304"/>
                </a:lnTo>
                <a:lnTo>
                  <a:pt x="9705730" y="512471"/>
                </a:lnTo>
                <a:close/>
                <a:moveTo>
                  <a:pt x="8195999" y="512471"/>
                </a:moveTo>
                <a:lnTo>
                  <a:pt x="8195999" y="1244901"/>
                </a:lnTo>
                <a:lnTo>
                  <a:pt x="8370672" y="1244901"/>
                </a:lnTo>
                <a:lnTo>
                  <a:pt x="8370672" y="512471"/>
                </a:lnTo>
                <a:close/>
                <a:moveTo>
                  <a:pt x="7624499" y="512471"/>
                </a:moveTo>
                <a:lnTo>
                  <a:pt x="7624499" y="1244901"/>
                </a:lnTo>
                <a:lnTo>
                  <a:pt x="8095191" y="1244901"/>
                </a:lnTo>
                <a:lnTo>
                  <a:pt x="8095191" y="1090362"/>
                </a:lnTo>
                <a:lnTo>
                  <a:pt x="7799172" y="1090362"/>
                </a:lnTo>
                <a:lnTo>
                  <a:pt x="7799172" y="512471"/>
                </a:lnTo>
                <a:close/>
                <a:moveTo>
                  <a:pt x="5767124" y="512471"/>
                </a:moveTo>
                <a:lnTo>
                  <a:pt x="5767124" y="1244901"/>
                </a:lnTo>
                <a:lnTo>
                  <a:pt x="5930370" y="1244901"/>
                </a:lnTo>
                <a:lnTo>
                  <a:pt x="5930370" y="783460"/>
                </a:lnTo>
                <a:lnTo>
                  <a:pt x="6242169" y="1244901"/>
                </a:lnTo>
                <a:lnTo>
                  <a:pt x="6412489" y="1244901"/>
                </a:lnTo>
                <a:lnTo>
                  <a:pt x="6412489" y="512471"/>
                </a:lnTo>
                <a:lnTo>
                  <a:pt x="6247611" y="512471"/>
                </a:lnTo>
                <a:lnTo>
                  <a:pt x="6247611" y="970104"/>
                </a:lnTo>
                <a:lnTo>
                  <a:pt x="5936899" y="512471"/>
                </a:lnTo>
                <a:close/>
                <a:moveTo>
                  <a:pt x="5424224" y="512471"/>
                </a:moveTo>
                <a:lnTo>
                  <a:pt x="5424224" y="1244901"/>
                </a:lnTo>
                <a:lnTo>
                  <a:pt x="5598897" y="1244901"/>
                </a:lnTo>
                <a:lnTo>
                  <a:pt x="5598897" y="512471"/>
                </a:lnTo>
                <a:close/>
                <a:moveTo>
                  <a:pt x="4624124" y="512471"/>
                </a:moveTo>
                <a:lnTo>
                  <a:pt x="4624124" y="1244901"/>
                </a:lnTo>
                <a:lnTo>
                  <a:pt x="4907627" y="1244901"/>
                </a:lnTo>
                <a:cubicBezTo>
                  <a:pt x="4985623" y="1244901"/>
                  <a:pt x="5052826" y="1230753"/>
                  <a:pt x="5109236" y="1202457"/>
                </a:cubicBezTo>
                <a:cubicBezTo>
                  <a:pt x="5165647" y="1174161"/>
                  <a:pt x="5208908" y="1132624"/>
                  <a:pt x="5239017" y="1077846"/>
                </a:cubicBezTo>
                <a:cubicBezTo>
                  <a:pt x="5269126" y="1023068"/>
                  <a:pt x="5284181" y="955956"/>
                  <a:pt x="5284181" y="876510"/>
                </a:cubicBezTo>
                <a:cubicBezTo>
                  <a:pt x="5284181" y="800328"/>
                  <a:pt x="5269217" y="735121"/>
                  <a:pt x="5239289" y="680887"/>
                </a:cubicBezTo>
                <a:cubicBezTo>
                  <a:pt x="5209361" y="626653"/>
                  <a:pt x="5166281" y="585025"/>
                  <a:pt x="5110053" y="556004"/>
                </a:cubicBezTo>
                <a:cubicBezTo>
                  <a:pt x="5053823" y="526982"/>
                  <a:pt x="4986349" y="512471"/>
                  <a:pt x="4907627" y="512471"/>
                </a:cubicBezTo>
                <a:close/>
                <a:moveTo>
                  <a:pt x="4094491" y="512471"/>
                </a:moveTo>
                <a:lnTo>
                  <a:pt x="3835475" y="1244901"/>
                </a:lnTo>
                <a:lnTo>
                  <a:pt x="4016678" y="1244901"/>
                </a:lnTo>
                <a:lnTo>
                  <a:pt x="4062386" y="1101789"/>
                </a:lnTo>
                <a:lnTo>
                  <a:pt x="4311064" y="1101789"/>
                </a:lnTo>
                <a:lnTo>
                  <a:pt x="4356773" y="1244901"/>
                </a:lnTo>
                <a:lnTo>
                  <a:pt x="4539608" y="1244901"/>
                </a:lnTo>
                <a:lnTo>
                  <a:pt x="4277871" y="512471"/>
                </a:lnTo>
                <a:close/>
                <a:moveTo>
                  <a:pt x="3271574" y="512471"/>
                </a:moveTo>
                <a:lnTo>
                  <a:pt x="3271574" y="1244901"/>
                </a:lnTo>
                <a:lnTo>
                  <a:pt x="3772739" y="1244901"/>
                </a:lnTo>
                <a:lnTo>
                  <a:pt x="3772739" y="1100157"/>
                </a:lnTo>
                <a:lnTo>
                  <a:pt x="3446247" y="1100157"/>
                </a:lnTo>
                <a:lnTo>
                  <a:pt x="3446247" y="941808"/>
                </a:lnTo>
                <a:lnTo>
                  <a:pt x="3740089" y="941808"/>
                </a:lnTo>
                <a:lnTo>
                  <a:pt x="3740089" y="802505"/>
                </a:lnTo>
                <a:lnTo>
                  <a:pt x="3446247" y="802505"/>
                </a:lnTo>
                <a:lnTo>
                  <a:pt x="3446247" y="657216"/>
                </a:lnTo>
                <a:lnTo>
                  <a:pt x="3772739" y="657216"/>
                </a:lnTo>
                <a:lnTo>
                  <a:pt x="3772739" y="512471"/>
                </a:lnTo>
                <a:close/>
                <a:moveTo>
                  <a:pt x="2557199" y="512471"/>
                </a:moveTo>
                <a:lnTo>
                  <a:pt x="2557199" y="1244901"/>
                </a:lnTo>
                <a:lnTo>
                  <a:pt x="2731872" y="1244901"/>
                </a:lnTo>
                <a:lnTo>
                  <a:pt x="2731872" y="976634"/>
                </a:lnTo>
                <a:lnTo>
                  <a:pt x="2830364" y="976634"/>
                </a:lnTo>
                <a:cubicBezTo>
                  <a:pt x="2858660" y="976634"/>
                  <a:pt x="2880698" y="981350"/>
                  <a:pt x="2896479" y="990782"/>
                </a:cubicBezTo>
                <a:cubicBezTo>
                  <a:pt x="2912259" y="1000214"/>
                  <a:pt x="2924774" y="1014997"/>
                  <a:pt x="2934025" y="1035130"/>
                </a:cubicBezTo>
                <a:cubicBezTo>
                  <a:pt x="2943275" y="1055264"/>
                  <a:pt x="2951709" y="1081655"/>
                  <a:pt x="2959328" y="1114305"/>
                </a:cubicBezTo>
                <a:lnTo>
                  <a:pt x="2990345" y="1244901"/>
                </a:lnTo>
                <a:lnTo>
                  <a:pt x="3173724" y="1244901"/>
                </a:lnTo>
                <a:lnTo>
                  <a:pt x="3125294" y="1077846"/>
                </a:lnTo>
                <a:cubicBezTo>
                  <a:pt x="3115863" y="1043020"/>
                  <a:pt x="3105524" y="1013727"/>
                  <a:pt x="3094278" y="989966"/>
                </a:cubicBezTo>
                <a:cubicBezTo>
                  <a:pt x="3083032" y="966204"/>
                  <a:pt x="3067977" y="947431"/>
                  <a:pt x="3049113" y="933646"/>
                </a:cubicBezTo>
                <a:cubicBezTo>
                  <a:pt x="3030249" y="919861"/>
                  <a:pt x="3004674" y="910429"/>
                  <a:pt x="2972388" y="905350"/>
                </a:cubicBezTo>
                <a:cubicBezTo>
                  <a:pt x="3023175" y="890839"/>
                  <a:pt x="3060813" y="867441"/>
                  <a:pt x="3085300" y="835154"/>
                </a:cubicBezTo>
                <a:cubicBezTo>
                  <a:pt x="3109786" y="802868"/>
                  <a:pt x="3122030" y="763689"/>
                  <a:pt x="3122030" y="717617"/>
                </a:cubicBezTo>
                <a:cubicBezTo>
                  <a:pt x="3122030" y="666830"/>
                  <a:pt x="3111056" y="626472"/>
                  <a:pt x="3089109" y="596543"/>
                </a:cubicBezTo>
                <a:cubicBezTo>
                  <a:pt x="3067161" y="566615"/>
                  <a:pt x="3037142" y="545121"/>
                  <a:pt x="2999051" y="532061"/>
                </a:cubicBezTo>
                <a:cubicBezTo>
                  <a:pt x="2960961" y="519001"/>
                  <a:pt x="2917428" y="512471"/>
                  <a:pt x="2868455" y="512471"/>
                </a:cubicBezTo>
                <a:close/>
                <a:moveTo>
                  <a:pt x="8790842" y="503765"/>
                </a:moveTo>
                <a:cubicBezTo>
                  <a:pt x="8737515" y="503765"/>
                  <a:pt x="8689811" y="510658"/>
                  <a:pt x="8647730" y="524443"/>
                </a:cubicBezTo>
                <a:cubicBezTo>
                  <a:pt x="8605648" y="538228"/>
                  <a:pt x="8572274" y="560357"/>
                  <a:pt x="8547606" y="590830"/>
                </a:cubicBezTo>
                <a:cubicBezTo>
                  <a:pt x="8522937" y="621302"/>
                  <a:pt x="8510603" y="661388"/>
                  <a:pt x="8510603" y="711087"/>
                </a:cubicBezTo>
                <a:cubicBezTo>
                  <a:pt x="8510603" y="757522"/>
                  <a:pt x="8521304" y="794887"/>
                  <a:pt x="8542708" y="823183"/>
                </a:cubicBezTo>
                <a:cubicBezTo>
                  <a:pt x="8564112" y="851479"/>
                  <a:pt x="8593496" y="874424"/>
                  <a:pt x="8630861" y="892018"/>
                </a:cubicBezTo>
                <a:cubicBezTo>
                  <a:pt x="8668226" y="909612"/>
                  <a:pt x="8711214" y="925483"/>
                  <a:pt x="8759825" y="939631"/>
                </a:cubicBezTo>
                <a:cubicBezTo>
                  <a:pt x="8801543" y="951966"/>
                  <a:pt x="8833558" y="962849"/>
                  <a:pt x="8855868" y="972281"/>
                </a:cubicBezTo>
                <a:cubicBezTo>
                  <a:pt x="8878178" y="981713"/>
                  <a:pt x="8893596" y="991870"/>
                  <a:pt x="8902121" y="1002753"/>
                </a:cubicBezTo>
                <a:cubicBezTo>
                  <a:pt x="8910646" y="1013636"/>
                  <a:pt x="8914909" y="1027603"/>
                  <a:pt x="8914909" y="1044653"/>
                </a:cubicBezTo>
                <a:cubicBezTo>
                  <a:pt x="8914909" y="1060615"/>
                  <a:pt x="8910283" y="1073856"/>
                  <a:pt x="8901033" y="1084376"/>
                </a:cubicBezTo>
                <a:cubicBezTo>
                  <a:pt x="8891782" y="1094896"/>
                  <a:pt x="8878541" y="1102696"/>
                  <a:pt x="8861310" y="1107775"/>
                </a:cubicBezTo>
                <a:cubicBezTo>
                  <a:pt x="8844078" y="1112853"/>
                  <a:pt x="8823491" y="1115393"/>
                  <a:pt x="8799548" y="1115393"/>
                </a:cubicBezTo>
                <a:cubicBezTo>
                  <a:pt x="8775606" y="1115393"/>
                  <a:pt x="8754565" y="1112400"/>
                  <a:pt x="8736427" y="1106414"/>
                </a:cubicBezTo>
                <a:cubicBezTo>
                  <a:pt x="8718288" y="1100429"/>
                  <a:pt x="8703959" y="1090452"/>
                  <a:pt x="8693439" y="1076486"/>
                </a:cubicBezTo>
                <a:cubicBezTo>
                  <a:pt x="8682918" y="1062519"/>
                  <a:pt x="8676932" y="1043746"/>
                  <a:pt x="8675482" y="1020166"/>
                </a:cubicBezTo>
                <a:lnTo>
                  <a:pt x="8495911" y="1020166"/>
                </a:lnTo>
                <a:cubicBezTo>
                  <a:pt x="8495911" y="1076032"/>
                  <a:pt x="8509243" y="1121197"/>
                  <a:pt x="8535906" y="1155660"/>
                </a:cubicBezTo>
                <a:cubicBezTo>
                  <a:pt x="8562570" y="1190123"/>
                  <a:pt x="8598574" y="1215245"/>
                  <a:pt x="8643921" y="1231025"/>
                </a:cubicBezTo>
                <a:cubicBezTo>
                  <a:pt x="8689267" y="1246806"/>
                  <a:pt x="8740417" y="1254696"/>
                  <a:pt x="8797372" y="1254696"/>
                </a:cubicBezTo>
                <a:cubicBezTo>
                  <a:pt x="8853964" y="1254696"/>
                  <a:pt x="8904751" y="1247441"/>
                  <a:pt x="8949735" y="1232930"/>
                </a:cubicBezTo>
                <a:cubicBezTo>
                  <a:pt x="8994717" y="1218419"/>
                  <a:pt x="9030269" y="1194930"/>
                  <a:pt x="9056388" y="1162462"/>
                </a:cubicBezTo>
                <a:cubicBezTo>
                  <a:pt x="9082508" y="1129994"/>
                  <a:pt x="9095567" y="1087097"/>
                  <a:pt x="9095567" y="1033770"/>
                </a:cubicBezTo>
                <a:cubicBezTo>
                  <a:pt x="9095567" y="986247"/>
                  <a:pt x="9086861" y="948066"/>
                  <a:pt x="9069448" y="919226"/>
                </a:cubicBezTo>
                <a:cubicBezTo>
                  <a:pt x="9052035" y="890386"/>
                  <a:pt x="9025462" y="866806"/>
                  <a:pt x="8989730" y="848486"/>
                </a:cubicBezTo>
                <a:cubicBezTo>
                  <a:pt x="8953997" y="830166"/>
                  <a:pt x="8908560" y="812662"/>
                  <a:pt x="8853419" y="795975"/>
                </a:cubicBezTo>
                <a:cubicBezTo>
                  <a:pt x="8808436" y="782190"/>
                  <a:pt x="8774245" y="770218"/>
                  <a:pt x="8750847" y="760061"/>
                </a:cubicBezTo>
                <a:cubicBezTo>
                  <a:pt x="8727448" y="749903"/>
                  <a:pt x="8711577" y="740018"/>
                  <a:pt x="8703233" y="730405"/>
                </a:cubicBezTo>
                <a:cubicBezTo>
                  <a:pt x="8694889" y="720791"/>
                  <a:pt x="8690718" y="709999"/>
                  <a:pt x="8690718" y="698028"/>
                </a:cubicBezTo>
                <a:cubicBezTo>
                  <a:pt x="8690718" y="676624"/>
                  <a:pt x="8700603" y="661297"/>
                  <a:pt x="8720374" y="652047"/>
                </a:cubicBezTo>
                <a:cubicBezTo>
                  <a:pt x="8740145" y="642796"/>
                  <a:pt x="8763271" y="638171"/>
                  <a:pt x="8789754" y="638171"/>
                </a:cubicBezTo>
                <a:cubicBezTo>
                  <a:pt x="8818050" y="638171"/>
                  <a:pt x="8842536" y="644610"/>
                  <a:pt x="8863214" y="657488"/>
                </a:cubicBezTo>
                <a:cubicBezTo>
                  <a:pt x="8883892" y="670367"/>
                  <a:pt x="8894231" y="690409"/>
                  <a:pt x="8894231" y="717617"/>
                </a:cubicBezTo>
                <a:lnTo>
                  <a:pt x="9073801" y="717617"/>
                </a:lnTo>
                <a:cubicBezTo>
                  <a:pt x="9073801" y="668281"/>
                  <a:pt x="9061014" y="627832"/>
                  <a:pt x="9035439" y="596271"/>
                </a:cubicBezTo>
                <a:cubicBezTo>
                  <a:pt x="9009863" y="564710"/>
                  <a:pt x="8975582" y="541402"/>
                  <a:pt x="8932594" y="526347"/>
                </a:cubicBezTo>
                <a:cubicBezTo>
                  <a:pt x="8889606" y="511292"/>
                  <a:pt x="8842354" y="503765"/>
                  <a:pt x="8790842" y="503765"/>
                </a:cubicBezTo>
                <a:close/>
                <a:moveTo>
                  <a:pt x="6908138" y="502677"/>
                </a:moveTo>
                <a:cubicBezTo>
                  <a:pt x="6833770" y="502677"/>
                  <a:pt x="6769379" y="518094"/>
                  <a:pt x="6714964" y="548930"/>
                </a:cubicBezTo>
                <a:cubicBezTo>
                  <a:pt x="6660548" y="579765"/>
                  <a:pt x="6618558" y="623388"/>
                  <a:pt x="6588992" y="679798"/>
                </a:cubicBezTo>
                <a:cubicBezTo>
                  <a:pt x="6559427" y="736209"/>
                  <a:pt x="6544644" y="802686"/>
                  <a:pt x="6544644" y="879230"/>
                </a:cubicBezTo>
                <a:cubicBezTo>
                  <a:pt x="6544644" y="955412"/>
                  <a:pt x="6559427" y="1021617"/>
                  <a:pt x="6588992" y="1077846"/>
                </a:cubicBezTo>
                <a:cubicBezTo>
                  <a:pt x="6618558" y="1134075"/>
                  <a:pt x="6660548" y="1177608"/>
                  <a:pt x="6714964" y="1208443"/>
                </a:cubicBezTo>
                <a:cubicBezTo>
                  <a:pt x="6769379" y="1239278"/>
                  <a:pt x="6833770" y="1254696"/>
                  <a:pt x="6908138" y="1254696"/>
                </a:cubicBezTo>
                <a:cubicBezTo>
                  <a:pt x="6979603" y="1254696"/>
                  <a:pt x="7040276" y="1241183"/>
                  <a:pt x="7090157" y="1214156"/>
                </a:cubicBezTo>
                <a:cubicBezTo>
                  <a:pt x="7140038" y="1187130"/>
                  <a:pt x="7178128" y="1149493"/>
                  <a:pt x="7204429" y="1101245"/>
                </a:cubicBezTo>
                <a:cubicBezTo>
                  <a:pt x="7230730" y="1052997"/>
                  <a:pt x="7243880" y="997130"/>
                  <a:pt x="7243880" y="933646"/>
                </a:cubicBezTo>
                <a:lnTo>
                  <a:pt x="7243880" y="852023"/>
                </a:lnTo>
                <a:lnTo>
                  <a:pt x="6909770" y="852023"/>
                </a:lnTo>
                <a:lnTo>
                  <a:pt x="6909770" y="990782"/>
                </a:lnTo>
                <a:lnTo>
                  <a:pt x="7067031" y="990782"/>
                </a:lnTo>
                <a:cubicBezTo>
                  <a:pt x="7064128" y="1014362"/>
                  <a:pt x="7055875" y="1035040"/>
                  <a:pt x="7042272" y="1052815"/>
                </a:cubicBezTo>
                <a:cubicBezTo>
                  <a:pt x="7028668" y="1070591"/>
                  <a:pt x="7010529" y="1084467"/>
                  <a:pt x="6987856" y="1094443"/>
                </a:cubicBezTo>
                <a:cubicBezTo>
                  <a:pt x="6965183" y="1104419"/>
                  <a:pt x="6938610" y="1109407"/>
                  <a:pt x="6908138" y="1109407"/>
                </a:cubicBezTo>
                <a:cubicBezTo>
                  <a:pt x="6863517" y="1109407"/>
                  <a:pt x="6827785" y="1098705"/>
                  <a:pt x="6800940" y="1077302"/>
                </a:cubicBezTo>
                <a:cubicBezTo>
                  <a:pt x="6774095" y="1055899"/>
                  <a:pt x="6754596" y="1027603"/>
                  <a:pt x="6742443" y="992414"/>
                </a:cubicBezTo>
                <a:cubicBezTo>
                  <a:pt x="6730291" y="957226"/>
                  <a:pt x="6724214" y="919498"/>
                  <a:pt x="6724214" y="879230"/>
                </a:cubicBezTo>
                <a:cubicBezTo>
                  <a:pt x="6724214" y="838600"/>
                  <a:pt x="6730200" y="800872"/>
                  <a:pt x="6742171" y="766047"/>
                </a:cubicBezTo>
                <a:cubicBezTo>
                  <a:pt x="6754143" y="731221"/>
                  <a:pt x="6773279" y="703016"/>
                  <a:pt x="6799579" y="681431"/>
                </a:cubicBezTo>
                <a:cubicBezTo>
                  <a:pt x="6825880" y="659846"/>
                  <a:pt x="6860797" y="649054"/>
                  <a:pt x="6904329" y="649054"/>
                </a:cubicBezTo>
                <a:cubicBezTo>
                  <a:pt x="6934801" y="649054"/>
                  <a:pt x="6960830" y="653588"/>
                  <a:pt x="6982415" y="662658"/>
                </a:cubicBezTo>
                <a:cubicBezTo>
                  <a:pt x="7003999" y="671727"/>
                  <a:pt x="7021050" y="684515"/>
                  <a:pt x="7033565" y="701020"/>
                </a:cubicBezTo>
                <a:cubicBezTo>
                  <a:pt x="7046081" y="717526"/>
                  <a:pt x="7053608" y="737025"/>
                  <a:pt x="7056147" y="759517"/>
                </a:cubicBezTo>
                <a:lnTo>
                  <a:pt x="7236262" y="759517"/>
                </a:lnTo>
                <a:cubicBezTo>
                  <a:pt x="7231908" y="714896"/>
                  <a:pt x="7219575" y="676352"/>
                  <a:pt x="7199260" y="643884"/>
                </a:cubicBezTo>
                <a:cubicBezTo>
                  <a:pt x="7178945" y="611417"/>
                  <a:pt x="7153279" y="584753"/>
                  <a:pt x="7122262" y="563894"/>
                </a:cubicBezTo>
                <a:cubicBezTo>
                  <a:pt x="7091245" y="543035"/>
                  <a:pt x="7057236" y="527617"/>
                  <a:pt x="7020233" y="517641"/>
                </a:cubicBezTo>
                <a:cubicBezTo>
                  <a:pt x="6983231" y="507665"/>
                  <a:pt x="6945866" y="502677"/>
                  <a:pt x="6908138" y="502677"/>
                </a:cubicBezTo>
                <a:close/>
                <a:moveTo>
                  <a:pt x="0" y="0"/>
                </a:moveTo>
                <a:lnTo>
                  <a:pt x="12186298" y="0"/>
                </a:lnTo>
                <a:lnTo>
                  <a:pt x="12186298" y="6858000"/>
                </a:lnTo>
                <a:lnTo>
                  <a:pt x="0" y="6858000"/>
                </a:lnTo>
                <a:close/>
              </a:path>
            </a:pathLst>
          </a:custGeom>
          <a:solidFill>
            <a:srgbClr val="FFFFFF">
              <a:alpha val="3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ndParaRPr>
          </a:p>
        </p:txBody>
      </p:sp>
      <p:sp>
        <p:nvSpPr>
          <p:cNvPr id="10" name="TextBox 9">
            <a:extLst>
              <a:ext uri="{FF2B5EF4-FFF2-40B4-BE49-F238E27FC236}">
                <a16:creationId xmlns:a16="http://schemas.microsoft.com/office/drawing/2014/main" id="{A0E7F8F9-9DEC-475F-6624-93C9CBD56246}"/>
              </a:ext>
            </a:extLst>
          </p:cNvPr>
          <p:cNvSpPr txBox="1"/>
          <p:nvPr/>
        </p:nvSpPr>
        <p:spPr>
          <a:xfrm>
            <a:off x="728420" y="1853142"/>
            <a:ext cx="8624585" cy="2154179"/>
          </a:xfrm>
          <a:prstGeom prst="rect">
            <a:avLst/>
          </a:prstGeom>
          <a:noFill/>
        </p:spPr>
        <p:txBody>
          <a:bodyPr wrap="square" lIns="91440" tIns="45720" rIns="91440" bIns="45720" anchor="t">
            <a:spAutoFit/>
          </a:bodyPr>
          <a:lstStyle/>
          <a:p>
            <a:pPr marL="457200" indent="-457200">
              <a:lnSpc>
                <a:spcPct val="150000"/>
              </a:lnSpc>
              <a:spcBef>
                <a:spcPts val="1000"/>
              </a:spcBef>
              <a:buClr>
                <a:srgbClr val="002803"/>
              </a:buClr>
              <a:buAutoNum type="arabicPeriod"/>
            </a:pPr>
            <a:r>
              <a:rPr lang="en-US" sz="2000" dirty="0">
                <a:solidFill>
                  <a:srgbClr val="012903"/>
                </a:solidFill>
                <a:latin typeface="Aptos" panose="020B0004020202020204" pitchFamily="34" charset="0"/>
                <a:hlinkClick r:id="rId4"/>
              </a:rPr>
              <a:t>IEA (2023), ‘Net Zero Pathway’</a:t>
            </a:r>
            <a:endParaRPr lang="en-US" sz="2000" dirty="0">
              <a:solidFill>
                <a:srgbClr val="012903"/>
              </a:solidFill>
              <a:latin typeface="Aptos" panose="020B0004020202020204" pitchFamily="34" charset="0"/>
            </a:endParaRPr>
          </a:p>
          <a:p>
            <a:pPr marL="457200" indent="-457200">
              <a:lnSpc>
                <a:spcPct val="150000"/>
              </a:lnSpc>
              <a:spcBef>
                <a:spcPts val="1000"/>
              </a:spcBef>
              <a:buClr>
                <a:srgbClr val="002803"/>
              </a:buClr>
              <a:buAutoNum type="arabicPeriod"/>
            </a:pPr>
            <a:r>
              <a:rPr lang="en-US" sz="2000" dirty="0">
                <a:solidFill>
                  <a:srgbClr val="012903"/>
                </a:solidFill>
                <a:latin typeface="Aptos" panose="020B0004020202020204" pitchFamily="34" charset="0"/>
                <a:hlinkClick r:id="rId5"/>
              </a:rPr>
              <a:t>‘Ukraine’s Net Zero COP28 Report’ (2023). </a:t>
            </a:r>
            <a:endParaRPr lang="en-US" sz="2000" dirty="0">
              <a:solidFill>
                <a:srgbClr val="012903"/>
              </a:solidFill>
              <a:latin typeface="Aptos" panose="020B0004020202020204" pitchFamily="34" charset="0"/>
            </a:endParaRPr>
          </a:p>
          <a:p>
            <a:pPr marL="457200" indent="-457200">
              <a:lnSpc>
                <a:spcPct val="150000"/>
              </a:lnSpc>
              <a:spcBef>
                <a:spcPts val="1000"/>
              </a:spcBef>
              <a:buClr>
                <a:srgbClr val="002803"/>
              </a:buClr>
              <a:buAutoNum type="arabicPeriod"/>
            </a:pPr>
            <a:r>
              <a:rPr lang="en-US" sz="2000" dirty="0">
                <a:solidFill>
                  <a:srgbClr val="012903"/>
                </a:solidFill>
                <a:latin typeface="Aptos" panose="020B0004020202020204" pitchFamily="34" charset="0"/>
                <a:hlinkClick r:id="rId6"/>
              </a:rPr>
              <a:t>CPI (2023), ‘How Big is the Net Zero Financing Gap?’</a:t>
            </a:r>
            <a:endParaRPr lang="en-US" sz="2000" dirty="0">
              <a:solidFill>
                <a:srgbClr val="012903"/>
              </a:solidFill>
              <a:latin typeface="Aptos" panose="020B0004020202020204" pitchFamily="34" charset="0"/>
            </a:endParaRPr>
          </a:p>
          <a:p>
            <a:pPr marL="457200" indent="-457200">
              <a:lnSpc>
                <a:spcPct val="150000"/>
              </a:lnSpc>
              <a:spcBef>
                <a:spcPts val="1000"/>
              </a:spcBef>
              <a:buClr>
                <a:srgbClr val="002803"/>
              </a:buClr>
              <a:buAutoNum type="arabicPeriod"/>
            </a:pPr>
            <a:endParaRPr lang="en-US" dirty="0">
              <a:solidFill>
                <a:srgbClr val="012903"/>
              </a:solidFill>
              <a:latin typeface="Aptos" panose="020B0004020202020204" pitchFamily="34" charset="0"/>
              <a:hlinkClick r:id="rId7">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900721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3BDD1F5-9D86-36FB-921B-E6EBC8CCC29D}"/>
              </a:ext>
            </a:extLst>
          </p:cNvPr>
          <p:cNvPicPr>
            <a:picLocks noChangeAspect="1"/>
          </p:cNvPicPr>
          <p:nvPr/>
        </p:nvPicPr>
        <p:blipFill rotWithShape="1">
          <a:blip r:embed="rId2"/>
          <a:srcRect l="20568" b="32793"/>
          <a:stretch/>
        </p:blipFill>
        <p:spPr>
          <a:xfrm>
            <a:off x="0" y="0"/>
            <a:ext cx="12551280" cy="6858000"/>
          </a:xfrm>
          <a:prstGeom prst="rect">
            <a:avLst/>
          </a:prstGeom>
        </p:spPr>
      </p:pic>
      <p:sp>
        <p:nvSpPr>
          <p:cNvPr id="2" name="Rectangle 1">
            <a:extLst>
              <a:ext uri="{FF2B5EF4-FFF2-40B4-BE49-F238E27FC236}">
                <a16:creationId xmlns:a16="http://schemas.microsoft.com/office/drawing/2014/main" id="{558C90F6-31E8-A726-F5A2-4C4E502D6687}"/>
              </a:ext>
            </a:extLst>
          </p:cNvPr>
          <p:cNvSpPr/>
          <p:nvPr/>
        </p:nvSpPr>
        <p:spPr>
          <a:xfrm>
            <a:off x="3755597" y="996042"/>
            <a:ext cx="8330954" cy="4426563"/>
          </a:xfrm>
          <a:prstGeom prst="rect">
            <a:avLst/>
          </a:prstGeom>
          <a:solidFill>
            <a:srgbClr val="FFFFFF">
              <a:alpha val="6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0E7F8F9-9DEC-475F-6624-93C9CBD56246}"/>
              </a:ext>
            </a:extLst>
          </p:cNvPr>
          <p:cNvSpPr txBox="1"/>
          <p:nvPr/>
        </p:nvSpPr>
        <p:spPr>
          <a:xfrm>
            <a:off x="3967232" y="1085440"/>
            <a:ext cx="7907684" cy="4247766"/>
          </a:xfrm>
          <a:prstGeom prst="rect">
            <a:avLst/>
          </a:prstGeom>
          <a:noFill/>
        </p:spPr>
        <p:txBody>
          <a:bodyPr wrap="square" lIns="91440" tIns="45720" rIns="91440" bIns="45720" anchor="t">
            <a:spAutoFit/>
          </a:bodyPr>
          <a:lstStyle/>
          <a:p>
            <a:pPr algn="ctr">
              <a:lnSpc>
                <a:spcPct val="150000"/>
              </a:lnSpc>
              <a:spcBef>
                <a:spcPts val="1000"/>
              </a:spcBef>
              <a:buClr>
                <a:srgbClr val="002803"/>
              </a:buClr>
            </a:pPr>
            <a:r>
              <a:rPr lang="en-GB" sz="1600" b="1" dirty="0">
                <a:solidFill>
                  <a:srgbClr val="00463D"/>
                </a:solidFill>
                <a:latin typeface="Aptos" panose="020B0004020202020204" pitchFamily="34" charset="0"/>
              </a:rPr>
              <a:t>“</a:t>
            </a:r>
            <a:r>
              <a:rPr lang="en-US" sz="1600" b="1" dirty="0">
                <a:solidFill>
                  <a:srgbClr val="00463D"/>
                </a:solidFill>
                <a:latin typeface="Aptos" panose="020B0004020202020204" pitchFamily="34" charset="0"/>
              </a:rPr>
              <a:t>Today much of the momentum is in small, modular clean energy technologies like solar PV and batteries, but these alone are not sufficient to deliver net zero emissions... Electricity transmission and distribution grids need to expand by around 2 million km each year to 2030 to meet the needs of the NZE Scenario… Carbon capture, </a:t>
            </a:r>
            <a:r>
              <a:rPr lang="en-US" sz="1600" b="1" dirty="0" err="1">
                <a:solidFill>
                  <a:srgbClr val="00463D"/>
                </a:solidFill>
                <a:latin typeface="Aptos" panose="020B0004020202020204" pitchFamily="34" charset="0"/>
              </a:rPr>
              <a:t>utilisation</a:t>
            </a:r>
            <a:r>
              <a:rPr lang="en-US" sz="1600" b="1" dirty="0">
                <a:solidFill>
                  <a:srgbClr val="00463D"/>
                </a:solidFill>
                <a:latin typeface="Aptos" panose="020B0004020202020204" pitchFamily="34" charset="0"/>
              </a:rPr>
              <a:t> and storage (CCUS), hydrogen and hydrogen-based fuels, and sustainable bioenergy are critical to achieve net zero emissions; rapid progress is needed by 2030… Increasing clean energy investment in developing countries is vital. The world is set to invest a record USD 1.8 trillion in clean energy in 2023: this needs to climb to around USD 4.5 trillion a year by the early 2030s to be in line with our pathway. </a:t>
            </a:r>
            <a:r>
              <a:rPr lang="en-GB" sz="1600" b="1" dirty="0">
                <a:solidFill>
                  <a:srgbClr val="00463D"/>
                </a:solidFill>
                <a:latin typeface="Aptos" panose="020B0004020202020204" pitchFamily="34" charset="0"/>
              </a:rPr>
              <a:t>” </a:t>
            </a:r>
          </a:p>
          <a:p>
            <a:pPr algn="ctr">
              <a:lnSpc>
                <a:spcPct val="150000"/>
              </a:lnSpc>
              <a:spcBef>
                <a:spcPts val="1000"/>
              </a:spcBef>
              <a:buClr>
                <a:srgbClr val="002803"/>
              </a:buClr>
            </a:pPr>
            <a:r>
              <a:rPr lang="en-GB" sz="1600" dirty="0">
                <a:solidFill>
                  <a:srgbClr val="00463D"/>
                </a:solidFill>
                <a:latin typeface="Aptos" panose="020B0004020202020204" pitchFamily="34" charset="0"/>
              </a:rPr>
              <a:t>(IEA Report, 2023)  </a:t>
            </a:r>
            <a:endParaRPr lang="en-US" sz="1000" dirty="0">
              <a:solidFill>
                <a:srgbClr val="00463D"/>
              </a:solidFill>
              <a:latin typeface="Aptos" panose="020B0004020202020204" pitchFamily="34"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765407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6" name="Freeform: Shape 5">
            <a:extLst>
              <a:ext uri="{FF2B5EF4-FFF2-40B4-BE49-F238E27FC236}">
                <a16:creationId xmlns:a16="http://schemas.microsoft.com/office/drawing/2014/main" id="{5DBFBA6B-A667-FF51-D220-342524B8E093}"/>
              </a:ext>
            </a:extLst>
          </p:cNvPr>
          <p:cNvSpPr/>
          <p:nvPr/>
        </p:nvSpPr>
        <p:spPr>
          <a:xfrm>
            <a:off x="3961786" y="2559279"/>
            <a:ext cx="4313784" cy="1712417"/>
          </a:xfrm>
          <a:custGeom>
            <a:avLst/>
            <a:gdLst/>
            <a:ahLst/>
            <a:cxnLst/>
            <a:rect l="l" t="t" r="r" b="b"/>
            <a:pathLst>
              <a:path w="4313784" h="1712417">
                <a:moveTo>
                  <a:pt x="3486299" y="1245394"/>
                </a:moveTo>
                <a:lnTo>
                  <a:pt x="3417987" y="1467743"/>
                </a:lnTo>
                <a:lnTo>
                  <a:pt x="3554611" y="1467743"/>
                </a:lnTo>
                <a:close/>
                <a:moveTo>
                  <a:pt x="1486049" y="1245394"/>
                </a:moveTo>
                <a:lnTo>
                  <a:pt x="1417737" y="1467743"/>
                </a:lnTo>
                <a:lnTo>
                  <a:pt x="1554361" y="1467743"/>
                </a:lnTo>
                <a:close/>
                <a:moveTo>
                  <a:pt x="1991172" y="1223070"/>
                </a:moveTo>
                <a:lnTo>
                  <a:pt x="1991172" y="1584722"/>
                </a:lnTo>
                <a:lnTo>
                  <a:pt x="2068413" y="1584722"/>
                </a:lnTo>
                <a:cubicBezTo>
                  <a:pt x="2107109" y="1584722"/>
                  <a:pt x="2139330" y="1578025"/>
                  <a:pt x="2165077" y="1564631"/>
                </a:cubicBezTo>
                <a:cubicBezTo>
                  <a:pt x="2190825" y="1551236"/>
                  <a:pt x="2210024" y="1530995"/>
                  <a:pt x="2222674" y="1503909"/>
                </a:cubicBezTo>
                <a:cubicBezTo>
                  <a:pt x="2235324" y="1476822"/>
                  <a:pt x="2241650" y="1442592"/>
                  <a:pt x="2241650" y="1401217"/>
                </a:cubicBezTo>
                <a:cubicBezTo>
                  <a:pt x="2241650" y="1362522"/>
                  <a:pt x="2234655" y="1329929"/>
                  <a:pt x="2220665" y="1303437"/>
                </a:cubicBezTo>
                <a:cubicBezTo>
                  <a:pt x="2206675" y="1276946"/>
                  <a:pt x="2186658" y="1256928"/>
                  <a:pt x="2160613" y="1243385"/>
                </a:cubicBezTo>
                <a:cubicBezTo>
                  <a:pt x="2134568" y="1229842"/>
                  <a:pt x="2103835" y="1223070"/>
                  <a:pt x="2068413" y="1223070"/>
                </a:cubicBezTo>
                <a:close/>
                <a:moveTo>
                  <a:pt x="143322" y="1222177"/>
                </a:moveTo>
                <a:lnTo>
                  <a:pt x="143322" y="1366392"/>
                </a:lnTo>
                <a:lnTo>
                  <a:pt x="230386" y="1366392"/>
                </a:lnTo>
                <a:cubicBezTo>
                  <a:pt x="248842" y="1366392"/>
                  <a:pt x="264393" y="1363564"/>
                  <a:pt x="277044" y="1357908"/>
                </a:cubicBezTo>
                <a:cubicBezTo>
                  <a:pt x="289694" y="1352253"/>
                  <a:pt x="299294" y="1343844"/>
                  <a:pt x="305842" y="1332682"/>
                </a:cubicBezTo>
                <a:cubicBezTo>
                  <a:pt x="312390" y="1321520"/>
                  <a:pt x="315665" y="1307902"/>
                  <a:pt x="315665" y="1291829"/>
                </a:cubicBezTo>
                <a:cubicBezTo>
                  <a:pt x="315665" y="1268016"/>
                  <a:pt x="308372" y="1250454"/>
                  <a:pt x="293787" y="1239143"/>
                </a:cubicBezTo>
                <a:cubicBezTo>
                  <a:pt x="279202" y="1227833"/>
                  <a:pt x="261046" y="1222177"/>
                  <a:pt x="239316" y="1222177"/>
                </a:cubicBezTo>
                <a:close/>
                <a:moveTo>
                  <a:pt x="3991422" y="1219052"/>
                </a:moveTo>
                <a:lnTo>
                  <a:pt x="3991422" y="1385144"/>
                </a:lnTo>
                <a:lnTo>
                  <a:pt x="4077593" y="1385144"/>
                </a:lnTo>
                <a:cubicBezTo>
                  <a:pt x="4103787" y="1385144"/>
                  <a:pt x="4125069" y="1378075"/>
                  <a:pt x="4141441" y="1363936"/>
                </a:cubicBezTo>
                <a:cubicBezTo>
                  <a:pt x="4157812" y="1349797"/>
                  <a:pt x="4165997" y="1328887"/>
                  <a:pt x="4165997" y="1301205"/>
                </a:cubicBezTo>
                <a:cubicBezTo>
                  <a:pt x="4165997" y="1273523"/>
                  <a:pt x="4157588" y="1252910"/>
                  <a:pt x="4140771" y="1239367"/>
                </a:cubicBezTo>
                <a:cubicBezTo>
                  <a:pt x="4123953" y="1225823"/>
                  <a:pt x="4102894" y="1219052"/>
                  <a:pt x="4077593" y="1219052"/>
                </a:cubicBezTo>
                <a:close/>
                <a:moveTo>
                  <a:pt x="859334" y="1215480"/>
                </a:moveTo>
                <a:cubicBezTo>
                  <a:pt x="823615" y="1215480"/>
                  <a:pt x="794966" y="1224037"/>
                  <a:pt x="773386" y="1241153"/>
                </a:cubicBezTo>
                <a:cubicBezTo>
                  <a:pt x="751805" y="1258268"/>
                  <a:pt x="736179" y="1281113"/>
                  <a:pt x="726505" y="1309688"/>
                </a:cubicBezTo>
                <a:cubicBezTo>
                  <a:pt x="716831" y="1338263"/>
                  <a:pt x="711994" y="1369815"/>
                  <a:pt x="711994" y="1404343"/>
                </a:cubicBezTo>
                <a:cubicBezTo>
                  <a:pt x="711994" y="1438276"/>
                  <a:pt x="716831" y="1469529"/>
                  <a:pt x="726505" y="1498104"/>
                </a:cubicBezTo>
                <a:cubicBezTo>
                  <a:pt x="736179" y="1526679"/>
                  <a:pt x="751805" y="1549599"/>
                  <a:pt x="773386" y="1566863"/>
                </a:cubicBezTo>
                <a:cubicBezTo>
                  <a:pt x="794966" y="1584127"/>
                  <a:pt x="823615" y="1592759"/>
                  <a:pt x="859334" y="1592759"/>
                </a:cubicBezTo>
                <a:cubicBezTo>
                  <a:pt x="894755" y="1592759"/>
                  <a:pt x="923182" y="1584127"/>
                  <a:pt x="944612" y="1566863"/>
                </a:cubicBezTo>
                <a:cubicBezTo>
                  <a:pt x="966044" y="1549599"/>
                  <a:pt x="981671" y="1526679"/>
                  <a:pt x="991493" y="1498104"/>
                </a:cubicBezTo>
                <a:cubicBezTo>
                  <a:pt x="1001316" y="1469529"/>
                  <a:pt x="1006228" y="1438276"/>
                  <a:pt x="1006228" y="1404343"/>
                </a:cubicBezTo>
                <a:cubicBezTo>
                  <a:pt x="1006228" y="1369815"/>
                  <a:pt x="1001316" y="1338263"/>
                  <a:pt x="991493" y="1309688"/>
                </a:cubicBezTo>
                <a:cubicBezTo>
                  <a:pt x="981671" y="1281113"/>
                  <a:pt x="966044" y="1258268"/>
                  <a:pt x="944612" y="1241153"/>
                </a:cubicBezTo>
                <a:cubicBezTo>
                  <a:pt x="923182" y="1224037"/>
                  <a:pt x="894755" y="1215480"/>
                  <a:pt x="859334" y="1215480"/>
                </a:cubicBezTo>
                <a:close/>
                <a:moveTo>
                  <a:pt x="3848100" y="1103412"/>
                </a:moveTo>
                <a:lnTo>
                  <a:pt x="4091434" y="1103412"/>
                </a:lnTo>
                <a:cubicBezTo>
                  <a:pt x="4131916" y="1103412"/>
                  <a:pt x="4168974" y="1110333"/>
                  <a:pt x="4202609" y="1124174"/>
                </a:cubicBezTo>
                <a:cubicBezTo>
                  <a:pt x="4236244" y="1138015"/>
                  <a:pt x="4263182" y="1159520"/>
                  <a:pt x="4283423" y="1188691"/>
                </a:cubicBezTo>
                <a:cubicBezTo>
                  <a:pt x="4303663" y="1217861"/>
                  <a:pt x="4313784" y="1255366"/>
                  <a:pt x="4313784" y="1301205"/>
                </a:cubicBezTo>
                <a:cubicBezTo>
                  <a:pt x="4313784" y="1347044"/>
                  <a:pt x="4303663" y="1384623"/>
                  <a:pt x="4283423" y="1413942"/>
                </a:cubicBezTo>
                <a:cubicBezTo>
                  <a:pt x="4263182" y="1443261"/>
                  <a:pt x="4236244" y="1464841"/>
                  <a:pt x="4202609" y="1478682"/>
                </a:cubicBezTo>
                <a:cubicBezTo>
                  <a:pt x="4168974" y="1492523"/>
                  <a:pt x="4131916" y="1499444"/>
                  <a:pt x="4091434" y="1499444"/>
                </a:cubicBezTo>
                <a:lnTo>
                  <a:pt x="3991422" y="1499444"/>
                </a:lnTo>
                <a:lnTo>
                  <a:pt x="3991422" y="1704380"/>
                </a:lnTo>
                <a:lnTo>
                  <a:pt x="3848100" y="1704380"/>
                </a:lnTo>
                <a:close/>
                <a:moveTo>
                  <a:pt x="3410843" y="1103412"/>
                </a:moveTo>
                <a:lnTo>
                  <a:pt x="3561309" y="1103412"/>
                </a:lnTo>
                <a:lnTo>
                  <a:pt x="3776068" y="1704380"/>
                </a:lnTo>
                <a:lnTo>
                  <a:pt x="3626049" y="1704380"/>
                </a:lnTo>
                <a:lnTo>
                  <a:pt x="3588544" y="1586955"/>
                </a:lnTo>
                <a:lnTo>
                  <a:pt x="3384501" y="1586955"/>
                </a:lnTo>
                <a:lnTo>
                  <a:pt x="3346996" y="1704380"/>
                </a:lnTo>
                <a:lnTo>
                  <a:pt x="3198317" y="1704380"/>
                </a:lnTo>
                <a:close/>
                <a:moveTo>
                  <a:pt x="2505075" y="1103412"/>
                </a:moveTo>
                <a:lnTo>
                  <a:pt x="2672060" y="1103412"/>
                </a:lnTo>
                <a:lnTo>
                  <a:pt x="2821489" y="1361073"/>
                </a:lnTo>
                <a:lnTo>
                  <a:pt x="2969419" y="1103412"/>
                </a:lnTo>
                <a:lnTo>
                  <a:pt x="3128814" y="1103412"/>
                </a:lnTo>
                <a:lnTo>
                  <a:pt x="3128814" y="1704380"/>
                </a:lnTo>
                <a:lnTo>
                  <a:pt x="2988171" y="1704380"/>
                </a:lnTo>
                <a:lnTo>
                  <a:pt x="2988171" y="1285252"/>
                </a:lnTo>
                <a:lnTo>
                  <a:pt x="2860030" y="1511052"/>
                </a:lnTo>
                <a:lnTo>
                  <a:pt x="2772966" y="1511052"/>
                </a:lnTo>
                <a:lnTo>
                  <a:pt x="2642146" y="1286748"/>
                </a:lnTo>
                <a:lnTo>
                  <a:pt x="2642146" y="1704380"/>
                </a:lnTo>
                <a:lnTo>
                  <a:pt x="2505075" y="1704380"/>
                </a:lnTo>
                <a:close/>
                <a:moveTo>
                  <a:pt x="1847850" y="1103412"/>
                </a:moveTo>
                <a:lnTo>
                  <a:pt x="2080469" y="1103412"/>
                </a:lnTo>
                <a:cubicBezTo>
                  <a:pt x="2145060" y="1103412"/>
                  <a:pt x="2200424" y="1115318"/>
                  <a:pt x="2246561" y="1139131"/>
                </a:cubicBezTo>
                <a:cubicBezTo>
                  <a:pt x="2292698" y="1162943"/>
                  <a:pt x="2328044" y="1197100"/>
                  <a:pt x="2352601" y="1241599"/>
                </a:cubicBezTo>
                <a:cubicBezTo>
                  <a:pt x="2377158" y="1286099"/>
                  <a:pt x="2389436" y="1339602"/>
                  <a:pt x="2389436" y="1402110"/>
                </a:cubicBezTo>
                <a:cubicBezTo>
                  <a:pt x="2389436" y="1467297"/>
                  <a:pt x="2377083" y="1522363"/>
                  <a:pt x="2352378" y="1567310"/>
                </a:cubicBezTo>
                <a:cubicBezTo>
                  <a:pt x="2327672" y="1612256"/>
                  <a:pt x="2292177" y="1646337"/>
                  <a:pt x="2245891" y="1669554"/>
                </a:cubicBezTo>
                <a:cubicBezTo>
                  <a:pt x="2199606" y="1692772"/>
                  <a:pt x="2144465" y="1704380"/>
                  <a:pt x="2080469" y="1704380"/>
                </a:cubicBezTo>
                <a:lnTo>
                  <a:pt x="1847850" y="1704380"/>
                </a:lnTo>
                <a:close/>
                <a:moveTo>
                  <a:pt x="1410593" y="1103412"/>
                </a:moveTo>
                <a:lnTo>
                  <a:pt x="1561058" y="1103412"/>
                </a:lnTo>
                <a:lnTo>
                  <a:pt x="1775818" y="1704380"/>
                </a:lnTo>
                <a:lnTo>
                  <a:pt x="1625799" y="1704380"/>
                </a:lnTo>
                <a:lnTo>
                  <a:pt x="1588294" y="1586955"/>
                </a:lnTo>
                <a:lnTo>
                  <a:pt x="1384251" y="1586955"/>
                </a:lnTo>
                <a:lnTo>
                  <a:pt x="1346747" y="1704380"/>
                </a:lnTo>
                <a:lnTo>
                  <a:pt x="1198067" y="1704380"/>
                </a:lnTo>
                <a:close/>
                <a:moveTo>
                  <a:pt x="0" y="1103412"/>
                </a:moveTo>
                <a:lnTo>
                  <a:pt x="255389" y="1103412"/>
                </a:lnTo>
                <a:cubicBezTo>
                  <a:pt x="295573" y="1103412"/>
                  <a:pt x="331292" y="1108770"/>
                  <a:pt x="362546" y="1119486"/>
                </a:cubicBezTo>
                <a:cubicBezTo>
                  <a:pt x="393799" y="1130201"/>
                  <a:pt x="418430" y="1147837"/>
                  <a:pt x="436439" y="1172394"/>
                </a:cubicBezTo>
                <a:cubicBezTo>
                  <a:pt x="454447" y="1196951"/>
                  <a:pt x="463451" y="1230065"/>
                  <a:pt x="463451" y="1271737"/>
                </a:cubicBezTo>
                <a:cubicBezTo>
                  <a:pt x="463451" y="1309539"/>
                  <a:pt x="453406" y="1341686"/>
                  <a:pt x="433313" y="1368177"/>
                </a:cubicBezTo>
                <a:cubicBezTo>
                  <a:pt x="413222" y="1394669"/>
                  <a:pt x="382340" y="1413868"/>
                  <a:pt x="340668" y="1425774"/>
                </a:cubicBezTo>
                <a:cubicBezTo>
                  <a:pt x="367160" y="1429941"/>
                  <a:pt x="388144" y="1437680"/>
                  <a:pt x="403622" y="1448991"/>
                </a:cubicBezTo>
                <a:cubicBezTo>
                  <a:pt x="419100" y="1460302"/>
                  <a:pt x="431453" y="1475706"/>
                  <a:pt x="440680" y="1495202"/>
                </a:cubicBezTo>
                <a:cubicBezTo>
                  <a:pt x="449908" y="1514699"/>
                  <a:pt x="458391" y="1538735"/>
                  <a:pt x="466130" y="1567310"/>
                </a:cubicBezTo>
                <a:lnTo>
                  <a:pt x="505867" y="1704380"/>
                </a:lnTo>
                <a:lnTo>
                  <a:pt x="355402" y="1704380"/>
                </a:lnTo>
                <a:lnTo>
                  <a:pt x="329952" y="1597224"/>
                </a:lnTo>
                <a:cubicBezTo>
                  <a:pt x="323701" y="1570435"/>
                  <a:pt x="316781" y="1548780"/>
                  <a:pt x="309191" y="1532260"/>
                </a:cubicBezTo>
                <a:cubicBezTo>
                  <a:pt x="301600" y="1515741"/>
                  <a:pt x="291331" y="1503611"/>
                  <a:pt x="278383" y="1495872"/>
                </a:cubicBezTo>
                <a:cubicBezTo>
                  <a:pt x="265436" y="1488133"/>
                  <a:pt x="247353" y="1484263"/>
                  <a:pt x="224136" y="1484263"/>
                </a:cubicBezTo>
                <a:lnTo>
                  <a:pt x="143322" y="1484263"/>
                </a:lnTo>
                <a:lnTo>
                  <a:pt x="143322" y="1704380"/>
                </a:lnTo>
                <a:lnTo>
                  <a:pt x="0" y="1704380"/>
                </a:lnTo>
                <a:close/>
                <a:moveTo>
                  <a:pt x="859334" y="1095376"/>
                </a:moveTo>
                <a:cubicBezTo>
                  <a:pt x="922139" y="1095376"/>
                  <a:pt x="975494" y="1107952"/>
                  <a:pt x="1019398" y="1133103"/>
                </a:cubicBezTo>
                <a:cubicBezTo>
                  <a:pt x="1063303" y="1158255"/>
                  <a:pt x="1096715" y="1193900"/>
                  <a:pt x="1119634" y="1240036"/>
                </a:cubicBezTo>
                <a:cubicBezTo>
                  <a:pt x="1142554" y="1286173"/>
                  <a:pt x="1154013" y="1340942"/>
                  <a:pt x="1154013" y="1404343"/>
                </a:cubicBezTo>
                <a:cubicBezTo>
                  <a:pt x="1154013" y="1467446"/>
                  <a:pt x="1142554" y="1521991"/>
                  <a:pt x="1119634" y="1567979"/>
                </a:cubicBezTo>
                <a:cubicBezTo>
                  <a:pt x="1096715" y="1613967"/>
                  <a:pt x="1063303" y="1649537"/>
                  <a:pt x="1019398" y="1674689"/>
                </a:cubicBezTo>
                <a:cubicBezTo>
                  <a:pt x="975494" y="1699841"/>
                  <a:pt x="922139" y="1712417"/>
                  <a:pt x="859334" y="1712417"/>
                </a:cubicBezTo>
                <a:cubicBezTo>
                  <a:pt x="796528" y="1712417"/>
                  <a:pt x="743099" y="1699841"/>
                  <a:pt x="699046" y="1674689"/>
                </a:cubicBezTo>
                <a:cubicBezTo>
                  <a:pt x="654993" y="1649537"/>
                  <a:pt x="621506" y="1613967"/>
                  <a:pt x="598587" y="1567979"/>
                </a:cubicBezTo>
                <a:cubicBezTo>
                  <a:pt x="575667" y="1521991"/>
                  <a:pt x="564208" y="1467446"/>
                  <a:pt x="564208" y="1404343"/>
                </a:cubicBezTo>
                <a:cubicBezTo>
                  <a:pt x="564208" y="1340942"/>
                  <a:pt x="575667" y="1286173"/>
                  <a:pt x="598587" y="1240036"/>
                </a:cubicBezTo>
                <a:cubicBezTo>
                  <a:pt x="621506" y="1193900"/>
                  <a:pt x="654993" y="1158255"/>
                  <a:pt x="699046" y="1133103"/>
                </a:cubicBezTo>
                <a:cubicBezTo>
                  <a:pt x="743099" y="1107952"/>
                  <a:pt x="796528" y="1095376"/>
                  <a:pt x="859334" y="1095376"/>
                </a:cubicBezTo>
                <a:close/>
                <a:moveTo>
                  <a:pt x="3162747" y="126802"/>
                </a:moveTo>
                <a:lnTo>
                  <a:pt x="3162747" y="271016"/>
                </a:lnTo>
                <a:lnTo>
                  <a:pt x="3249811" y="271016"/>
                </a:lnTo>
                <a:cubicBezTo>
                  <a:pt x="3268266" y="271016"/>
                  <a:pt x="3283819" y="268189"/>
                  <a:pt x="3296469" y="262533"/>
                </a:cubicBezTo>
                <a:cubicBezTo>
                  <a:pt x="3309119" y="256878"/>
                  <a:pt x="3318719" y="248469"/>
                  <a:pt x="3325267" y="237307"/>
                </a:cubicBezTo>
                <a:cubicBezTo>
                  <a:pt x="3331816" y="226145"/>
                  <a:pt x="3335090" y="212527"/>
                  <a:pt x="3335090" y="196454"/>
                </a:cubicBezTo>
                <a:cubicBezTo>
                  <a:pt x="3335090" y="172641"/>
                  <a:pt x="3327797" y="155079"/>
                  <a:pt x="3313212" y="143769"/>
                </a:cubicBezTo>
                <a:cubicBezTo>
                  <a:pt x="3298627" y="132457"/>
                  <a:pt x="3280470" y="126802"/>
                  <a:pt x="3258741" y="126802"/>
                </a:cubicBezTo>
                <a:close/>
                <a:moveTo>
                  <a:pt x="3878759" y="120105"/>
                </a:moveTo>
                <a:cubicBezTo>
                  <a:pt x="3843040" y="120105"/>
                  <a:pt x="3814391" y="128662"/>
                  <a:pt x="3792811" y="145778"/>
                </a:cubicBezTo>
                <a:cubicBezTo>
                  <a:pt x="3771231" y="162893"/>
                  <a:pt x="3755604" y="185738"/>
                  <a:pt x="3745930" y="214313"/>
                </a:cubicBezTo>
                <a:cubicBezTo>
                  <a:pt x="3736256" y="242888"/>
                  <a:pt x="3731419" y="274440"/>
                  <a:pt x="3731419" y="308968"/>
                </a:cubicBezTo>
                <a:cubicBezTo>
                  <a:pt x="3731419" y="342900"/>
                  <a:pt x="3736256" y="374155"/>
                  <a:pt x="3745930" y="402729"/>
                </a:cubicBezTo>
                <a:cubicBezTo>
                  <a:pt x="3755604" y="431304"/>
                  <a:pt x="3771231" y="454224"/>
                  <a:pt x="3792811" y="471488"/>
                </a:cubicBezTo>
                <a:cubicBezTo>
                  <a:pt x="3814391" y="488752"/>
                  <a:pt x="3843040" y="497384"/>
                  <a:pt x="3878759" y="497384"/>
                </a:cubicBezTo>
                <a:cubicBezTo>
                  <a:pt x="3914180" y="497384"/>
                  <a:pt x="3942606" y="488752"/>
                  <a:pt x="3964037" y="471488"/>
                </a:cubicBezTo>
                <a:cubicBezTo>
                  <a:pt x="3985469" y="454224"/>
                  <a:pt x="4001096" y="431304"/>
                  <a:pt x="4010918" y="402729"/>
                </a:cubicBezTo>
                <a:cubicBezTo>
                  <a:pt x="4020741" y="374155"/>
                  <a:pt x="4025652" y="342900"/>
                  <a:pt x="4025652" y="308968"/>
                </a:cubicBezTo>
                <a:cubicBezTo>
                  <a:pt x="4025652" y="274440"/>
                  <a:pt x="4020741" y="242888"/>
                  <a:pt x="4010918" y="214313"/>
                </a:cubicBezTo>
                <a:cubicBezTo>
                  <a:pt x="4001096" y="185738"/>
                  <a:pt x="3985469" y="162893"/>
                  <a:pt x="3964037" y="145778"/>
                </a:cubicBezTo>
                <a:cubicBezTo>
                  <a:pt x="3942606" y="128662"/>
                  <a:pt x="3914180" y="120105"/>
                  <a:pt x="3878759" y="120105"/>
                </a:cubicBezTo>
                <a:close/>
                <a:moveTo>
                  <a:pt x="3019425" y="8037"/>
                </a:moveTo>
                <a:lnTo>
                  <a:pt x="3274814" y="8037"/>
                </a:lnTo>
                <a:cubicBezTo>
                  <a:pt x="3314998" y="8037"/>
                  <a:pt x="3350717" y="13395"/>
                  <a:pt x="3381971" y="24111"/>
                </a:cubicBezTo>
                <a:cubicBezTo>
                  <a:pt x="3413225" y="34826"/>
                  <a:pt x="3437856" y="52462"/>
                  <a:pt x="3455864" y="77019"/>
                </a:cubicBezTo>
                <a:cubicBezTo>
                  <a:pt x="3473872" y="101576"/>
                  <a:pt x="3482876" y="134690"/>
                  <a:pt x="3482876" y="176362"/>
                </a:cubicBezTo>
                <a:cubicBezTo>
                  <a:pt x="3482876" y="214164"/>
                  <a:pt x="3472830" y="246311"/>
                  <a:pt x="3452738" y="272802"/>
                </a:cubicBezTo>
                <a:cubicBezTo>
                  <a:pt x="3432647" y="299294"/>
                  <a:pt x="3401765" y="318493"/>
                  <a:pt x="3360093" y="330399"/>
                </a:cubicBezTo>
                <a:cubicBezTo>
                  <a:pt x="3386584" y="334566"/>
                  <a:pt x="3407569" y="342305"/>
                  <a:pt x="3423047" y="353616"/>
                </a:cubicBezTo>
                <a:cubicBezTo>
                  <a:pt x="3438525" y="364927"/>
                  <a:pt x="3450878" y="380331"/>
                  <a:pt x="3460105" y="399827"/>
                </a:cubicBezTo>
                <a:cubicBezTo>
                  <a:pt x="3469333" y="419324"/>
                  <a:pt x="3477816" y="443359"/>
                  <a:pt x="3485555" y="471934"/>
                </a:cubicBezTo>
                <a:lnTo>
                  <a:pt x="3525292" y="609005"/>
                </a:lnTo>
                <a:lnTo>
                  <a:pt x="3374827" y="609005"/>
                </a:lnTo>
                <a:lnTo>
                  <a:pt x="3349377" y="501849"/>
                </a:lnTo>
                <a:cubicBezTo>
                  <a:pt x="3343127" y="475060"/>
                  <a:pt x="3336206" y="453405"/>
                  <a:pt x="3328616" y="436885"/>
                </a:cubicBezTo>
                <a:cubicBezTo>
                  <a:pt x="3321026" y="420366"/>
                  <a:pt x="3310756" y="408236"/>
                  <a:pt x="3297808" y="400497"/>
                </a:cubicBezTo>
                <a:cubicBezTo>
                  <a:pt x="3284860" y="392758"/>
                  <a:pt x="3266778" y="388888"/>
                  <a:pt x="3243560" y="388888"/>
                </a:cubicBezTo>
                <a:lnTo>
                  <a:pt x="3162747" y="388888"/>
                </a:lnTo>
                <a:lnTo>
                  <a:pt x="3162747" y="609005"/>
                </a:lnTo>
                <a:lnTo>
                  <a:pt x="3019425" y="609005"/>
                </a:lnTo>
                <a:close/>
                <a:moveTo>
                  <a:pt x="2486025" y="8037"/>
                </a:moveTo>
                <a:lnTo>
                  <a:pt x="2897237" y="8037"/>
                </a:lnTo>
                <a:lnTo>
                  <a:pt x="2897237" y="126802"/>
                </a:lnTo>
                <a:lnTo>
                  <a:pt x="2629347" y="126802"/>
                </a:lnTo>
                <a:lnTo>
                  <a:pt x="2629347" y="246014"/>
                </a:lnTo>
                <a:lnTo>
                  <a:pt x="2870448" y="246014"/>
                </a:lnTo>
                <a:lnTo>
                  <a:pt x="2870448" y="360314"/>
                </a:lnTo>
                <a:lnTo>
                  <a:pt x="2629347" y="360314"/>
                </a:lnTo>
                <a:lnTo>
                  <a:pt x="2629347" y="490241"/>
                </a:lnTo>
                <a:lnTo>
                  <a:pt x="2897237" y="490241"/>
                </a:lnTo>
                <a:lnTo>
                  <a:pt x="2897237" y="609005"/>
                </a:lnTo>
                <a:lnTo>
                  <a:pt x="2486025" y="609005"/>
                </a:lnTo>
                <a:close/>
                <a:moveTo>
                  <a:pt x="1948905" y="8037"/>
                </a:moveTo>
                <a:lnTo>
                  <a:pt x="2370386" y="8037"/>
                </a:lnTo>
                <a:lnTo>
                  <a:pt x="2370386" y="114747"/>
                </a:lnTo>
                <a:lnTo>
                  <a:pt x="2100263" y="489347"/>
                </a:lnTo>
                <a:lnTo>
                  <a:pt x="2391817" y="489347"/>
                </a:lnTo>
                <a:lnTo>
                  <a:pt x="2391817" y="609005"/>
                </a:lnTo>
                <a:lnTo>
                  <a:pt x="1925241" y="609005"/>
                </a:lnTo>
                <a:lnTo>
                  <a:pt x="1925241" y="496045"/>
                </a:lnTo>
                <a:lnTo>
                  <a:pt x="2189113" y="127695"/>
                </a:lnTo>
                <a:lnTo>
                  <a:pt x="1948905" y="127695"/>
                </a:lnTo>
                <a:close/>
                <a:moveTo>
                  <a:pt x="1253282" y="8037"/>
                </a:moveTo>
                <a:lnTo>
                  <a:pt x="1709142" y="8037"/>
                </a:lnTo>
                <a:lnTo>
                  <a:pt x="1709142" y="127695"/>
                </a:lnTo>
                <a:lnTo>
                  <a:pt x="1553766" y="127695"/>
                </a:lnTo>
                <a:lnTo>
                  <a:pt x="1553766" y="609005"/>
                </a:lnTo>
                <a:lnTo>
                  <a:pt x="1409998" y="609005"/>
                </a:lnTo>
                <a:lnTo>
                  <a:pt x="1409998" y="127695"/>
                </a:lnTo>
                <a:lnTo>
                  <a:pt x="1253282" y="127695"/>
                </a:lnTo>
                <a:close/>
                <a:moveTo>
                  <a:pt x="781050" y="8037"/>
                </a:moveTo>
                <a:lnTo>
                  <a:pt x="1192262" y="8037"/>
                </a:lnTo>
                <a:lnTo>
                  <a:pt x="1192262" y="126802"/>
                </a:lnTo>
                <a:lnTo>
                  <a:pt x="924372" y="126802"/>
                </a:lnTo>
                <a:lnTo>
                  <a:pt x="924372" y="246014"/>
                </a:lnTo>
                <a:lnTo>
                  <a:pt x="1165473" y="246014"/>
                </a:lnTo>
                <a:lnTo>
                  <a:pt x="1165473" y="360314"/>
                </a:lnTo>
                <a:lnTo>
                  <a:pt x="924372" y="360314"/>
                </a:lnTo>
                <a:lnTo>
                  <a:pt x="924372" y="490241"/>
                </a:lnTo>
                <a:lnTo>
                  <a:pt x="1192262" y="490241"/>
                </a:lnTo>
                <a:lnTo>
                  <a:pt x="1192262" y="609005"/>
                </a:lnTo>
                <a:lnTo>
                  <a:pt x="781050" y="609005"/>
                </a:lnTo>
                <a:close/>
                <a:moveTo>
                  <a:pt x="114300" y="8037"/>
                </a:moveTo>
                <a:lnTo>
                  <a:pt x="253603" y="8037"/>
                </a:lnTo>
                <a:lnTo>
                  <a:pt x="508546" y="383531"/>
                </a:lnTo>
                <a:lnTo>
                  <a:pt x="508546" y="8037"/>
                </a:lnTo>
                <a:lnTo>
                  <a:pt x="643831" y="8037"/>
                </a:lnTo>
                <a:lnTo>
                  <a:pt x="643831" y="609005"/>
                </a:lnTo>
                <a:lnTo>
                  <a:pt x="504081" y="609005"/>
                </a:lnTo>
                <a:lnTo>
                  <a:pt x="248246" y="230386"/>
                </a:lnTo>
                <a:lnTo>
                  <a:pt x="248246" y="609005"/>
                </a:lnTo>
                <a:lnTo>
                  <a:pt x="114300" y="609005"/>
                </a:lnTo>
                <a:close/>
                <a:moveTo>
                  <a:pt x="3878759" y="0"/>
                </a:moveTo>
                <a:cubicBezTo>
                  <a:pt x="3941564" y="0"/>
                  <a:pt x="3994919" y="12576"/>
                  <a:pt x="4038824" y="37729"/>
                </a:cubicBezTo>
                <a:cubicBezTo>
                  <a:pt x="4082728" y="62880"/>
                  <a:pt x="4116140" y="98525"/>
                  <a:pt x="4139059" y="144661"/>
                </a:cubicBezTo>
                <a:cubicBezTo>
                  <a:pt x="4161979" y="190798"/>
                  <a:pt x="4173439" y="245567"/>
                  <a:pt x="4173439" y="308968"/>
                </a:cubicBezTo>
                <a:cubicBezTo>
                  <a:pt x="4173439" y="372071"/>
                  <a:pt x="4161979" y="426616"/>
                  <a:pt x="4139059" y="472604"/>
                </a:cubicBezTo>
                <a:cubicBezTo>
                  <a:pt x="4116140" y="518592"/>
                  <a:pt x="4082728" y="554162"/>
                  <a:pt x="4038824" y="579314"/>
                </a:cubicBezTo>
                <a:cubicBezTo>
                  <a:pt x="3994919" y="604466"/>
                  <a:pt x="3941564" y="617042"/>
                  <a:pt x="3878759" y="617042"/>
                </a:cubicBezTo>
                <a:cubicBezTo>
                  <a:pt x="3815953" y="617042"/>
                  <a:pt x="3762524" y="604466"/>
                  <a:pt x="3718471" y="579314"/>
                </a:cubicBezTo>
                <a:cubicBezTo>
                  <a:pt x="3674418" y="554162"/>
                  <a:pt x="3640932" y="518592"/>
                  <a:pt x="3618012" y="472604"/>
                </a:cubicBezTo>
                <a:cubicBezTo>
                  <a:pt x="3595093" y="426616"/>
                  <a:pt x="3583633" y="372071"/>
                  <a:pt x="3583633" y="308968"/>
                </a:cubicBezTo>
                <a:cubicBezTo>
                  <a:pt x="3583633" y="245567"/>
                  <a:pt x="3595093" y="190798"/>
                  <a:pt x="3618012" y="144661"/>
                </a:cubicBezTo>
                <a:cubicBezTo>
                  <a:pt x="3640932" y="98525"/>
                  <a:pt x="3674418" y="62880"/>
                  <a:pt x="3718471" y="37729"/>
                </a:cubicBezTo>
                <a:cubicBezTo>
                  <a:pt x="3762524" y="12576"/>
                  <a:pt x="3815953" y="0"/>
                  <a:pt x="3878759" y="0"/>
                </a:cubicBezTo>
                <a:close/>
              </a:path>
            </a:pathLst>
          </a:cu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3041798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2" name="Title 1">
            <a:extLst>
              <a:ext uri="{FF2B5EF4-FFF2-40B4-BE49-F238E27FC236}">
                <a16:creationId xmlns:a16="http://schemas.microsoft.com/office/drawing/2014/main" id="{480BA7EC-7F34-20BF-E631-3C6E1D86C041}"/>
              </a:ext>
            </a:extLst>
          </p:cNvPr>
          <p:cNvSpPr>
            <a:spLocks noGrp="1"/>
          </p:cNvSpPr>
          <p:nvPr>
            <p:ph type="ctrTitle"/>
          </p:nvPr>
        </p:nvSpPr>
        <p:spPr/>
        <p:txBody>
          <a:bodyPr>
            <a:normAutofit fontScale="90000"/>
          </a:bodyPr>
          <a:lstStyle/>
          <a:p>
            <a:r>
              <a:rPr lang="en-US" dirty="0"/>
              <a:t>Transitioning to Net Zero</a:t>
            </a:r>
            <a:endParaRPr lang="en-AU" dirty="0"/>
          </a:p>
        </p:txBody>
      </p:sp>
      <p:sp>
        <p:nvSpPr>
          <p:cNvPr id="406" name="Google Shape;406;g2c2796f98b2_0_1"/>
          <p:cNvSpPr txBox="1">
            <a:spLocks noGrp="1"/>
          </p:cNvSpPr>
          <p:nvPr>
            <p:ph sz="half" idx="2"/>
          </p:nvPr>
        </p:nvSpPr>
        <p:spPr/>
        <p:txBody>
          <a:bodyPr spcFirstLastPara="1" wrap="square" lIns="91425" tIns="45700" rIns="91425" bIns="45700" anchor="t" anchorCtr="0">
            <a:normAutofit fontScale="92500" lnSpcReduction="20000"/>
          </a:bodyPr>
          <a:lstStyle/>
          <a:p>
            <a:pPr lvl="0"/>
            <a:r>
              <a:rPr lang="en-US" dirty="0"/>
              <a:t>A net zero pathway reduces the physical risks of climate change.</a:t>
            </a:r>
          </a:p>
          <a:p>
            <a:pPr lvl="0"/>
            <a:r>
              <a:rPr lang="en-US" dirty="0"/>
              <a:t>The Pathway involves:</a:t>
            </a:r>
          </a:p>
          <a:p>
            <a:pPr lvl="1"/>
            <a:r>
              <a:rPr lang="en-US" dirty="0"/>
              <a:t>Increasing RE capacity (3x by 2030, led by solar and wind).</a:t>
            </a:r>
          </a:p>
          <a:p>
            <a:pPr lvl="1"/>
            <a:r>
              <a:rPr lang="en-US" dirty="0"/>
              <a:t>Doubling the rate of energy intensity.</a:t>
            </a:r>
          </a:p>
          <a:p>
            <a:pPr lvl="1"/>
            <a:r>
              <a:rPr lang="en-US" dirty="0"/>
              <a:t>Further electrification of end-uses.</a:t>
            </a:r>
          </a:p>
          <a:p>
            <a:pPr lvl="1"/>
            <a:r>
              <a:rPr lang="en-US" dirty="0"/>
              <a:t>Cutting CH4 emissions from energy.</a:t>
            </a:r>
          </a:p>
          <a:p>
            <a:pPr lvl="1"/>
            <a:r>
              <a:rPr lang="en-US" dirty="0"/>
              <a:t>Using emerging technologies such as hydrogen and CCS.</a:t>
            </a:r>
          </a:p>
          <a:p>
            <a:pPr lvl="1"/>
            <a:r>
              <a:rPr lang="en-US" dirty="0"/>
              <a:t>More and varied infrastructure (grids,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3" name="Title 2">
            <a:extLst>
              <a:ext uri="{FF2B5EF4-FFF2-40B4-BE49-F238E27FC236}">
                <a16:creationId xmlns:a16="http://schemas.microsoft.com/office/drawing/2014/main" id="{A24C30FD-06B0-C25F-542D-1A86A2B89E6E}"/>
              </a:ext>
            </a:extLst>
          </p:cNvPr>
          <p:cNvSpPr>
            <a:spLocks noGrp="1"/>
          </p:cNvSpPr>
          <p:nvPr>
            <p:ph type="title"/>
          </p:nvPr>
        </p:nvSpPr>
        <p:spPr/>
        <p:txBody>
          <a:bodyPr>
            <a:normAutofit/>
          </a:bodyPr>
          <a:lstStyle/>
          <a:p>
            <a:r>
              <a:rPr lang="en-US" dirty="0"/>
              <a:t>Global Efforts to Net Zero Emissions</a:t>
            </a:r>
            <a:endParaRPr lang="en-AU" dirty="0"/>
          </a:p>
        </p:txBody>
      </p:sp>
      <p:sp>
        <p:nvSpPr>
          <p:cNvPr id="412" name="Google Shape;412;g2c0ccf1399f_0_6"/>
          <p:cNvSpPr txBox="1">
            <a:spLocks noGrp="1"/>
          </p:cNvSpPr>
          <p:nvPr>
            <p:ph idx="4294967295"/>
          </p:nvPr>
        </p:nvSpPr>
        <p:spPr>
          <a:xfrm>
            <a:off x="6015074" y="1720343"/>
            <a:ext cx="5795925" cy="4995862"/>
          </a:xfrm>
          <a:prstGeom prst="rect">
            <a:avLst/>
          </a:prstGeom>
        </p:spPr>
        <p:txBody>
          <a:bodyPr spcFirstLastPara="1" wrap="square" lIns="91425" tIns="45700" rIns="91425" bIns="45700" anchor="t" anchorCtr="0">
            <a:normAutofit fontScale="70000" lnSpcReduction="20000"/>
          </a:bodyPr>
          <a:lstStyle/>
          <a:p>
            <a:pPr marL="457200" lvl="0" indent="-355600" algn="l" rtl="0">
              <a:lnSpc>
                <a:spcPct val="170000"/>
              </a:lnSpc>
              <a:spcBef>
                <a:spcPts val="0"/>
              </a:spcBef>
              <a:spcAft>
                <a:spcPts val="0"/>
              </a:spcAft>
              <a:buSzPts val="2000"/>
              <a:buChar char="•"/>
            </a:pPr>
            <a:r>
              <a:rPr lang="en-US" dirty="0"/>
              <a:t>Advanced economies take the lead and reach net zero emissions by 2045 in aggregate in the NZE Scenario, China by 2050 and other emerging market and developing economies after 2050.</a:t>
            </a:r>
            <a:endParaRPr dirty="0"/>
          </a:p>
          <a:p>
            <a:pPr marL="457200" lvl="0" indent="-355600" algn="l" rtl="0">
              <a:lnSpc>
                <a:spcPct val="170000"/>
              </a:lnSpc>
              <a:spcBef>
                <a:spcPts val="0"/>
              </a:spcBef>
              <a:spcAft>
                <a:spcPts val="0"/>
              </a:spcAft>
              <a:buSzPts val="2000"/>
              <a:buChar char="•"/>
            </a:pPr>
            <a:r>
              <a:rPr lang="en-US" dirty="0"/>
              <a:t>Mitigation Efforts Distribution to 2050:</a:t>
            </a:r>
            <a:endParaRPr dirty="0"/>
          </a:p>
          <a:p>
            <a:pPr marL="914400" lvl="1" indent="-342900" algn="l" rtl="0">
              <a:lnSpc>
                <a:spcPct val="170000"/>
              </a:lnSpc>
              <a:spcBef>
                <a:spcPts val="0"/>
              </a:spcBef>
              <a:spcAft>
                <a:spcPts val="0"/>
              </a:spcAft>
              <a:buSzPts val="1800"/>
              <a:buChar char="•"/>
            </a:pPr>
            <a:r>
              <a:rPr lang="en-US" sz="2800" b="1" dirty="0"/>
              <a:t>Solar Photovoltaics (PV) and Electrification:</a:t>
            </a:r>
            <a:r>
              <a:rPr lang="en-US" sz="2800" dirty="0"/>
              <a:t> 50% </a:t>
            </a:r>
            <a:endParaRPr sz="2800" dirty="0"/>
          </a:p>
          <a:p>
            <a:pPr marL="914400" lvl="1" indent="-342900" algn="l" rtl="0">
              <a:lnSpc>
                <a:spcPct val="170000"/>
              </a:lnSpc>
              <a:spcBef>
                <a:spcPts val="0"/>
              </a:spcBef>
              <a:spcAft>
                <a:spcPts val="0"/>
              </a:spcAft>
              <a:buSzPts val="1800"/>
              <a:buChar char="•"/>
            </a:pPr>
            <a:r>
              <a:rPr lang="en-US" sz="2800" b="1" dirty="0"/>
              <a:t>Efficiency and </a:t>
            </a:r>
            <a:r>
              <a:rPr lang="en-US" sz="2800" b="1" dirty="0" err="1"/>
              <a:t>behaviour</a:t>
            </a:r>
            <a:r>
              <a:rPr lang="en-US" sz="2800" b="1" dirty="0"/>
              <a:t> change:</a:t>
            </a:r>
            <a:r>
              <a:rPr lang="en-US" sz="2800" dirty="0"/>
              <a:t> 25%</a:t>
            </a:r>
            <a:endParaRPr sz="2800" dirty="0"/>
          </a:p>
          <a:p>
            <a:pPr marL="914400" lvl="1" indent="-342900" algn="l" rtl="0">
              <a:lnSpc>
                <a:spcPct val="170000"/>
              </a:lnSpc>
              <a:spcBef>
                <a:spcPts val="0"/>
              </a:spcBef>
              <a:spcAft>
                <a:spcPts val="0"/>
              </a:spcAft>
              <a:buSzPts val="1800"/>
              <a:buChar char="•"/>
            </a:pPr>
            <a:r>
              <a:rPr lang="en-US" sz="2800" b="1" dirty="0"/>
              <a:t>Other technology:</a:t>
            </a:r>
            <a:r>
              <a:rPr lang="en-US" sz="2800" dirty="0"/>
              <a:t> 25%</a:t>
            </a:r>
            <a:endParaRPr sz="2800" dirty="0"/>
          </a:p>
        </p:txBody>
      </p:sp>
      <p:pic>
        <p:nvPicPr>
          <p:cNvPr id="413" name="Google Shape;413;g2c0ccf1399f_0_6"/>
          <p:cNvPicPr preferRelativeResize="0"/>
          <p:nvPr/>
        </p:nvPicPr>
        <p:blipFill rotWithShape="1">
          <a:blip r:embed="rId3">
            <a:alphaModFix/>
          </a:blip>
          <a:srcRect/>
          <a:stretch/>
        </p:blipFill>
        <p:spPr>
          <a:xfrm>
            <a:off x="1434250" y="1428175"/>
            <a:ext cx="3927651" cy="2790099"/>
          </a:xfrm>
          <a:prstGeom prst="rect">
            <a:avLst/>
          </a:prstGeom>
          <a:noFill/>
          <a:ln>
            <a:noFill/>
          </a:ln>
        </p:spPr>
      </p:pic>
      <p:pic>
        <p:nvPicPr>
          <p:cNvPr id="414" name="Google Shape;414;g2c0ccf1399f_0_6"/>
          <p:cNvPicPr preferRelativeResize="0"/>
          <p:nvPr/>
        </p:nvPicPr>
        <p:blipFill rotWithShape="1">
          <a:blip r:embed="rId4">
            <a:alphaModFix/>
          </a:blip>
          <a:srcRect/>
          <a:stretch/>
        </p:blipFill>
        <p:spPr>
          <a:xfrm>
            <a:off x="1345350" y="4387125"/>
            <a:ext cx="4105449" cy="2470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2" name="Title 1">
            <a:extLst>
              <a:ext uri="{FF2B5EF4-FFF2-40B4-BE49-F238E27FC236}">
                <a16:creationId xmlns:a16="http://schemas.microsoft.com/office/drawing/2014/main" id="{636782EA-AC01-03AC-09A4-EE6E8DDF66DC}"/>
              </a:ext>
            </a:extLst>
          </p:cNvPr>
          <p:cNvSpPr>
            <a:spLocks noGrp="1"/>
          </p:cNvSpPr>
          <p:nvPr>
            <p:ph type="title"/>
          </p:nvPr>
        </p:nvSpPr>
        <p:spPr/>
        <p:txBody>
          <a:bodyPr>
            <a:normAutofit/>
          </a:bodyPr>
          <a:lstStyle/>
          <a:p>
            <a:r>
              <a:rPr lang="en-US" dirty="0"/>
              <a:t>Transition Requirements</a:t>
            </a:r>
            <a:endParaRPr lang="en-AU" dirty="0"/>
          </a:p>
        </p:txBody>
      </p:sp>
      <p:sp>
        <p:nvSpPr>
          <p:cNvPr id="419" name="Google Shape;419;g2c650aad0c2_0_2"/>
          <p:cNvSpPr txBox="1">
            <a:spLocks noGrp="1"/>
          </p:cNvSpPr>
          <p:nvPr>
            <p:ph idx="4294967295"/>
          </p:nvPr>
        </p:nvSpPr>
        <p:spPr>
          <a:xfrm>
            <a:off x="0" y="1608341"/>
            <a:ext cx="6929438" cy="4995862"/>
          </a:xfrm>
          <a:prstGeom prst="rect">
            <a:avLst/>
          </a:prstGeom>
        </p:spPr>
        <p:txBody>
          <a:bodyPr spcFirstLastPara="1" wrap="square" lIns="91425" tIns="45700" rIns="91425" bIns="45700" anchor="t" anchorCtr="0">
            <a:normAutofit/>
          </a:bodyPr>
          <a:lstStyle/>
          <a:p>
            <a:pPr marL="927100" lvl="1" indent="-342900">
              <a:buSzPts val="1600"/>
              <a:buFont typeface="+mj-lt"/>
              <a:buAutoNum type="arabicPeriod"/>
            </a:pPr>
            <a:r>
              <a:rPr lang="en-US" sz="1800" b="1" dirty="0"/>
              <a:t>Behavioural changes</a:t>
            </a:r>
            <a:r>
              <a:rPr lang="en-US" sz="1800" dirty="0"/>
              <a:t> cut around 1 Gt CO2 from emissions-intensive assets which are still in use in 2030.</a:t>
            </a:r>
            <a:endParaRPr lang="en-US" sz="1600" dirty="0"/>
          </a:p>
          <a:p>
            <a:pPr marL="927100" lvl="1" indent="-342900">
              <a:buSzPts val="1600"/>
              <a:buFont typeface="+mj-lt"/>
              <a:buAutoNum type="arabicPeriod"/>
            </a:pPr>
            <a:r>
              <a:rPr lang="en-US" sz="1800" b="1" dirty="0"/>
              <a:t>Clean energy investment</a:t>
            </a:r>
            <a:r>
              <a:rPr lang="en-US" sz="1800" dirty="0"/>
              <a:t> needs to increase to around $4.5trn a year by the early 2030s, with a particular focus on </a:t>
            </a:r>
            <a:r>
              <a:rPr lang="en-US" sz="1800" b="1" dirty="0"/>
              <a:t>developing countries.</a:t>
            </a:r>
          </a:p>
          <a:p>
            <a:pPr marL="927100" lvl="1" indent="-342900">
              <a:buSzPts val="1600"/>
              <a:buFont typeface="+mj-lt"/>
              <a:buAutoNum type="arabicPeriod"/>
            </a:pPr>
            <a:r>
              <a:rPr lang="en-US" sz="1800" dirty="0"/>
              <a:t>Emerging technologies such as </a:t>
            </a:r>
            <a:r>
              <a:rPr lang="en-US" sz="1800" b="1" dirty="0"/>
              <a:t>hydrogen and carbon capture, </a:t>
            </a:r>
            <a:r>
              <a:rPr lang="en-US" sz="1800" b="1" dirty="0" err="1"/>
              <a:t>utilisation</a:t>
            </a:r>
            <a:r>
              <a:rPr lang="en-US" sz="1800" b="1" dirty="0"/>
              <a:t> and storage </a:t>
            </a:r>
            <a:r>
              <a:rPr lang="en-US" sz="1800" dirty="0"/>
              <a:t>(CCUS) cut emissions mainly after 2030.</a:t>
            </a:r>
          </a:p>
          <a:p>
            <a:pPr marL="927100" lvl="1" indent="-342900">
              <a:buSzPts val="1600"/>
              <a:buFont typeface="+mj-lt"/>
              <a:buAutoNum type="arabicPeriod"/>
            </a:pPr>
            <a:r>
              <a:rPr lang="en-US" sz="1800" b="1" dirty="0"/>
              <a:t>Transmission and distribution grids</a:t>
            </a:r>
            <a:r>
              <a:rPr lang="en-US" sz="1800" dirty="0"/>
              <a:t> expand by around 2 million km each year to 2030, and around 30 000 to 50 000 km of </a:t>
            </a:r>
            <a:r>
              <a:rPr lang="en-US" sz="1800" b="1" dirty="0"/>
              <a:t>CO2 pipelines</a:t>
            </a:r>
            <a:r>
              <a:rPr lang="en-US" sz="1800" dirty="0"/>
              <a:t> need to be installed.</a:t>
            </a:r>
          </a:p>
        </p:txBody>
      </p:sp>
      <p:pic>
        <p:nvPicPr>
          <p:cNvPr id="421" name="Google Shape;421;g2c650aad0c2_0_2"/>
          <p:cNvPicPr preferRelativeResize="0"/>
          <p:nvPr/>
        </p:nvPicPr>
        <p:blipFill>
          <a:blip r:embed="rId3">
            <a:alphaModFix/>
          </a:blip>
          <a:stretch>
            <a:fillRect/>
          </a:stretch>
        </p:blipFill>
        <p:spPr>
          <a:xfrm>
            <a:off x="7415423" y="172925"/>
            <a:ext cx="4322455" cy="2915575"/>
          </a:xfrm>
          <a:prstGeom prst="rect">
            <a:avLst/>
          </a:prstGeom>
          <a:noFill/>
          <a:ln>
            <a:noFill/>
          </a:ln>
        </p:spPr>
      </p:pic>
      <p:pic>
        <p:nvPicPr>
          <p:cNvPr id="4" name="Google Shape;429;g2c650aad0c2_0_13">
            <a:extLst>
              <a:ext uri="{FF2B5EF4-FFF2-40B4-BE49-F238E27FC236}">
                <a16:creationId xmlns:a16="http://schemas.microsoft.com/office/drawing/2014/main" id="{0DFC08CF-A18A-1865-AC7F-86556BE699DE}"/>
              </a:ext>
            </a:extLst>
          </p:cNvPr>
          <p:cNvPicPr preferRelativeResize="0"/>
          <p:nvPr/>
        </p:nvPicPr>
        <p:blipFill rotWithShape="1">
          <a:blip r:embed="rId4">
            <a:alphaModFix/>
          </a:blip>
          <a:srcRect/>
          <a:stretch/>
        </p:blipFill>
        <p:spPr>
          <a:xfrm>
            <a:off x="7204775" y="3513378"/>
            <a:ext cx="4604701" cy="3090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2" name="Title 1">
            <a:extLst>
              <a:ext uri="{FF2B5EF4-FFF2-40B4-BE49-F238E27FC236}">
                <a16:creationId xmlns:a16="http://schemas.microsoft.com/office/drawing/2014/main" id="{BD1850A6-1D86-BA80-503C-3AC11F24EDCB}"/>
              </a:ext>
            </a:extLst>
          </p:cNvPr>
          <p:cNvSpPr>
            <a:spLocks noGrp="1"/>
          </p:cNvSpPr>
          <p:nvPr>
            <p:ph type="ctrTitle"/>
          </p:nvPr>
        </p:nvSpPr>
        <p:spPr>
          <a:xfrm>
            <a:off x="480087" y="502920"/>
            <a:ext cx="3453960" cy="1676400"/>
          </a:xfrm>
        </p:spPr>
        <p:txBody>
          <a:bodyPr>
            <a:normAutofit fontScale="90000"/>
          </a:bodyPr>
          <a:lstStyle/>
          <a:p>
            <a:r>
              <a:rPr lang="en-US" dirty="0"/>
              <a:t>Key Uncertainties around IEA Roadmap</a:t>
            </a:r>
            <a:endParaRPr lang="en-AU" dirty="0"/>
          </a:p>
        </p:txBody>
      </p:sp>
      <p:sp>
        <p:nvSpPr>
          <p:cNvPr id="427" name="Google Shape;427;g2c650aad0c2_0_13"/>
          <p:cNvSpPr txBox="1">
            <a:spLocks noGrp="1"/>
          </p:cNvSpPr>
          <p:nvPr>
            <p:ph sz="half" idx="2"/>
          </p:nvPr>
        </p:nvSpPr>
        <p:spPr>
          <a:xfrm>
            <a:off x="4840105" y="394335"/>
            <a:ext cx="7027086" cy="6069330"/>
          </a:xfrm>
        </p:spPr>
        <p:txBody>
          <a:bodyPr spcFirstLastPara="1" wrap="square" lIns="91425" tIns="45700" rIns="91425" bIns="45700" anchor="t" anchorCtr="0">
            <a:normAutofit fontScale="85000" lnSpcReduction="20000"/>
          </a:bodyPr>
          <a:lstStyle/>
          <a:p>
            <a:pPr lvl="0"/>
            <a:r>
              <a:rPr lang="en-US" dirty="0"/>
              <a:t>Optimistic techno-economic scenario, which highlights what could be done without political nuance.</a:t>
            </a:r>
          </a:p>
          <a:p>
            <a:pPr lvl="1"/>
            <a:r>
              <a:rPr lang="en-US" dirty="0"/>
              <a:t>Not enough scenario building around policy actions.  </a:t>
            </a:r>
          </a:p>
          <a:p>
            <a:pPr lvl="0"/>
            <a:r>
              <a:rPr lang="en-US" dirty="0"/>
              <a:t>Scenario fails to include LULUCF emissions from agricultural sector which are significant and difficult to abate.</a:t>
            </a:r>
          </a:p>
          <a:p>
            <a:pPr lvl="0"/>
            <a:r>
              <a:rPr lang="en-US" dirty="0"/>
              <a:t>Roadmap relies on energy demand falling 10% compared to 2022, even as economies continue to grow.</a:t>
            </a:r>
          </a:p>
          <a:p>
            <a:pPr lvl="1"/>
            <a:r>
              <a:rPr lang="en-US" dirty="0"/>
              <a:t>Reliance on </a:t>
            </a:r>
            <a:r>
              <a:rPr lang="en-US" dirty="0" err="1"/>
              <a:t>behaviour</a:t>
            </a:r>
            <a:r>
              <a:rPr lang="en-US" dirty="0"/>
              <a:t> change, which is difficult to predict/ control. </a:t>
            </a:r>
          </a:p>
        </p:txBody>
      </p:sp>
      <p:pic>
        <p:nvPicPr>
          <p:cNvPr id="3" name="Google Shape;422;g2c650aad0c2_0_2">
            <a:extLst>
              <a:ext uri="{FF2B5EF4-FFF2-40B4-BE49-F238E27FC236}">
                <a16:creationId xmlns:a16="http://schemas.microsoft.com/office/drawing/2014/main" id="{EAA60951-A00D-941B-1E6B-BE297F34DD0B}"/>
              </a:ext>
            </a:extLst>
          </p:cNvPr>
          <p:cNvPicPr preferRelativeResize="0"/>
          <p:nvPr/>
        </p:nvPicPr>
        <p:blipFill>
          <a:blip r:embed="rId3">
            <a:alphaModFix/>
          </a:blip>
          <a:stretch>
            <a:fillRect/>
          </a:stretch>
        </p:blipFill>
        <p:spPr>
          <a:xfrm>
            <a:off x="159034" y="3505821"/>
            <a:ext cx="4404625" cy="32261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F497FC-C171-4A9F-E2E2-416C5C6B982A}"/>
              </a:ext>
            </a:extLst>
          </p:cNvPr>
          <p:cNvPicPr>
            <a:picLocks noChangeAspect="1"/>
          </p:cNvPicPr>
          <p:nvPr/>
        </p:nvPicPr>
        <p:blipFill>
          <a:blip r:embed="rId2"/>
          <a:srcRect l="24753" t="27145" r="19520" b="17129"/>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6B2BC92-C493-4995-F532-7E71ADAF20E0}"/>
              </a:ext>
            </a:extLst>
          </p:cNvPr>
          <p:cNvSpPr/>
          <p:nvPr/>
        </p:nvSpPr>
        <p:spPr>
          <a:xfrm>
            <a:off x="401676" y="1675059"/>
            <a:ext cx="5398383" cy="4874597"/>
          </a:xfrm>
          <a:prstGeom prst="rect">
            <a:avLst/>
          </a:prstGeom>
          <a:solidFill>
            <a:srgbClr val="FFFFFF">
              <a:alpha val="7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A42CB6E-F045-AE41-AA24-4E91DCE34050}"/>
              </a:ext>
            </a:extLst>
          </p:cNvPr>
          <p:cNvSpPr txBox="1">
            <a:spLocks/>
          </p:cNvSpPr>
          <p:nvPr/>
        </p:nvSpPr>
        <p:spPr>
          <a:xfrm>
            <a:off x="424235" y="464697"/>
            <a:ext cx="5398383" cy="1066818"/>
          </a:xfrm>
          <a:prstGeom prst="rect">
            <a:avLst/>
          </a:prstGeom>
        </p:spPr>
        <p:txBody>
          <a:bodyPr>
            <a:normAutofit fontScale="90000" lnSpcReduction="20000"/>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buClrTx/>
              <a:buFontTx/>
            </a:pPr>
            <a:r>
              <a:rPr lang="en-AU" dirty="0">
                <a:solidFill>
                  <a:srgbClr val="FFFFFF"/>
                </a:solidFill>
                <a:latin typeface="Aptos"/>
              </a:rPr>
              <a:t>Example: Ukraine’s Net Zero Roadmap </a:t>
            </a:r>
            <a:endParaRPr lang="en-US" dirty="0">
              <a:solidFill>
                <a:srgbClr val="FFFFFF"/>
              </a:solidFill>
            </a:endParaRPr>
          </a:p>
        </p:txBody>
      </p:sp>
      <p:sp>
        <p:nvSpPr>
          <p:cNvPr id="5" name="Google Shape;427;g2c650aad0c2_0_13">
            <a:extLst>
              <a:ext uri="{FF2B5EF4-FFF2-40B4-BE49-F238E27FC236}">
                <a16:creationId xmlns:a16="http://schemas.microsoft.com/office/drawing/2014/main" id="{DEAC21ED-3273-DFB7-8E8B-8EED58100472}"/>
              </a:ext>
            </a:extLst>
          </p:cNvPr>
          <p:cNvSpPr txBox="1">
            <a:spLocks/>
          </p:cNvSpPr>
          <p:nvPr/>
        </p:nvSpPr>
        <p:spPr>
          <a:xfrm>
            <a:off x="551427" y="1833435"/>
            <a:ext cx="5098879" cy="4496642"/>
          </a:xfrm>
          <a:prstGeom prst="rect">
            <a:avLst/>
          </a:prstGeom>
        </p:spPr>
        <p:txBody>
          <a:bodyPr spcFirstLastPara="1" wrap="square" lIns="91425" tIns="45700" rIns="91425" bIns="45700" anchor="t" anchorCtr="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Tx/>
              <a:buFont typeface="+mj-lt"/>
              <a:buAutoNum type="arabicPeriod"/>
            </a:pPr>
            <a:r>
              <a:rPr lang="en-US" sz="1800" b="1" dirty="0">
                <a:solidFill>
                  <a:srgbClr val="025353"/>
                </a:solidFill>
                <a:latin typeface="+mn-lt"/>
              </a:rPr>
              <a:t>Rapid phase-out of fossil fuels </a:t>
            </a:r>
            <a:r>
              <a:rPr lang="en-US" sz="1800" b="1" dirty="0">
                <a:latin typeface="+mn-lt"/>
              </a:rPr>
              <a:t>–</a:t>
            </a:r>
            <a:r>
              <a:rPr lang="en-US" sz="1800" dirty="0">
                <a:latin typeface="+mn-lt"/>
              </a:rPr>
              <a:t> first coal, followed by natural gas and oil – and increases in wind, biofuels, solar, hydro, and nuclear.</a:t>
            </a:r>
          </a:p>
          <a:p>
            <a:pPr marL="342900" indent="-342900">
              <a:buClrTx/>
              <a:buFont typeface="+mj-lt"/>
              <a:buAutoNum type="arabicPeriod"/>
            </a:pPr>
            <a:r>
              <a:rPr lang="en-US" sz="1800" b="1" dirty="0">
                <a:solidFill>
                  <a:srgbClr val="025353"/>
                </a:solidFill>
                <a:latin typeface="+mn-lt"/>
              </a:rPr>
              <a:t>Substantially increased electrification.</a:t>
            </a:r>
          </a:p>
          <a:p>
            <a:pPr marL="342900" indent="-342900">
              <a:buClrTx/>
              <a:buFont typeface="+mj-lt"/>
              <a:buAutoNum type="arabicPeriod"/>
            </a:pPr>
            <a:r>
              <a:rPr lang="en-US" sz="1800" b="1" dirty="0">
                <a:solidFill>
                  <a:srgbClr val="025353"/>
                </a:solidFill>
                <a:latin typeface="+mn-lt"/>
              </a:rPr>
              <a:t>Exports of green hydrogen and green electricity begin in 2035 and increase rapidly until 2050. </a:t>
            </a:r>
          </a:p>
          <a:p>
            <a:pPr marL="342900" indent="-342900">
              <a:buClrTx/>
              <a:buFont typeface="+mj-lt"/>
              <a:buAutoNum type="arabicPeriod"/>
            </a:pPr>
            <a:r>
              <a:rPr lang="en-US" sz="1800" b="1" dirty="0">
                <a:solidFill>
                  <a:srgbClr val="025353"/>
                </a:solidFill>
                <a:latin typeface="+mn-lt"/>
              </a:rPr>
              <a:t>The 2050 supply mix is roughly half nuclear and half renewables.</a:t>
            </a:r>
          </a:p>
        </p:txBody>
      </p:sp>
      <p:pic>
        <p:nvPicPr>
          <p:cNvPr id="8" name="Picture 7">
            <a:extLst>
              <a:ext uri="{FF2B5EF4-FFF2-40B4-BE49-F238E27FC236}">
                <a16:creationId xmlns:a16="http://schemas.microsoft.com/office/drawing/2014/main" id="{FB29F03E-940D-F8F0-7603-D0D1D6664ED3}"/>
              </a:ext>
            </a:extLst>
          </p:cNvPr>
          <p:cNvPicPr>
            <a:picLocks noChangeAspect="1"/>
          </p:cNvPicPr>
          <p:nvPr/>
        </p:nvPicPr>
        <p:blipFill>
          <a:blip r:embed="rId3"/>
          <a:srcRect l="33229" t="25821" r="12004" b="11782"/>
          <a:stretch/>
        </p:blipFill>
        <p:spPr>
          <a:xfrm>
            <a:off x="6096000" y="433194"/>
            <a:ext cx="4451498" cy="2852783"/>
          </a:xfrm>
          <a:prstGeom prst="rect">
            <a:avLst/>
          </a:prstGeom>
        </p:spPr>
      </p:pic>
      <p:pic>
        <p:nvPicPr>
          <p:cNvPr id="11" name="Picture 10">
            <a:extLst>
              <a:ext uri="{FF2B5EF4-FFF2-40B4-BE49-F238E27FC236}">
                <a16:creationId xmlns:a16="http://schemas.microsoft.com/office/drawing/2014/main" id="{C61F7770-D4CE-C0A6-A8E0-6D5A46119F8F}"/>
              </a:ext>
            </a:extLst>
          </p:cNvPr>
          <p:cNvPicPr>
            <a:picLocks noChangeAspect="1"/>
          </p:cNvPicPr>
          <p:nvPr/>
        </p:nvPicPr>
        <p:blipFill>
          <a:blip r:embed="rId4"/>
          <a:srcRect l="34622" t="25892" r="12181" b="10007"/>
          <a:stretch/>
        </p:blipFill>
        <p:spPr>
          <a:xfrm>
            <a:off x="7359209" y="3604154"/>
            <a:ext cx="4536851" cy="3075042"/>
          </a:xfrm>
          <a:prstGeom prst="rect">
            <a:avLst/>
          </a:prstGeom>
        </p:spPr>
      </p:pic>
      <p:sp>
        <p:nvSpPr>
          <p:cNvPr id="12" name="TextBox 11">
            <a:extLst>
              <a:ext uri="{FF2B5EF4-FFF2-40B4-BE49-F238E27FC236}">
                <a16:creationId xmlns:a16="http://schemas.microsoft.com/office/drawing/2014/main" id="{FA0036FF-938A-FAA6-30A6-EEF2B3DA2790}"/>
              </a:ext>
            </a:extLst>
          </p:cNvPr>
          <p:cNvSpPr txBox="1"/>
          <p:nvPr/>
        </p:nvSpPr>
        <p:spPr>
          <a:xfrm>
            <a:off x="6096000" y="115874"/>
            <a:ext cx="4451498" cy="307777"/>
          </a:xfrm>
          <a:prstGeom prst="rect">
            <a:avLst/>
          </a:prstGeom>
          <a:solidFill>
            <a:srgbClr val="6283A6"/>
          </a:solidFill>
          <a:ln>
            <a:noFill/>
          </a:ln>
        </p:spPr>
        <p:txBody>
          <a:bodyPr wrap="square">
            <a:spAutoFit/>
          </a:bodyPr>
          <a:lstStyle/>
          <a:p>
            <a:pPr marL="0" indent="0" algn="ctr">
              <a:buClrTx/>
              <a:buNone/>
            </a:pPr>
            <a:r>
              <a:rPr lang="en-GB" b="1" dirty="0">
                <a:solidFill>
                  <a:schemeClr val="tx1"/>
                </a:solidFill>
                <a:latin typeface="Aptos" panose="020B0004020202020204" pitchFamily="34" charset="0"/>
              </a:rPr>
              <a:t>Total Primary Energy Supply</a:t>
            </a:r>
          </a:p>
        </p:txBody>
      </p:sp>
      <p:sp>
        <p:nvSpPr>
          <p:cNvPr id="13" name="TextBox 12">
            <a:extLst>
              <a:ext uri="{FF2B5EF4-FFF2-40B4-BE49-F238E27FC236}">
                <a16:creationId xmlns:a16="http://schemas.microsoft.com/office/drawing/2014/main" id="{85A39A8C-7A82-E880-117A-DA0EF769DE82}"/>
              </a:ext>
            </a:extLst>
          </p:cNvPr>
          <p:cNvSpPr txBox="1"/>
          <p:nvPr/>
        </p:nvSpPr>
        <p:spPr>
          <a:xfrm>
            <a:off x="7359208" y="3370808"/>
            <a:ext cx="4536851" cy="307777"/>
          </a:xfrm>
          <a:prstGeom prst="rect">
            <a:avLst/>
          </a:prstGeom>
          <a:solidFill>
            <a:srgbClr val="6283A6"/>
          </a:solidFill>
          <a:ln>
            <a:noFill/>
          </a:ln>
        </p:spPr>
        <p:txBody>
          <a:bodyPr wrap="square">
            <a:spAutoFit/>
          </a:bodyPr>
          <a:lstStyle/>
          <a:p>
            <a:pPr marL="0" indent="0" algn="ctr">
              <a:buClrTx/>
              <a:buNone/>
            </a:pPr>
            <a:r>
              <a:rPr lang="en-GB" b="1" dirty="0">
                <a:solidFill>
                  <a:schemeClr val="tx1"/>
                </a:solidFill>
                <a:latin typeface="Aptos" panose="020B0004020202020204" pitchFamily="34" charset="0"/>
              </a:rPr>
              <a:t>Electricity Generation by Technology</a:t>
            </a:r>
          </a:p>
        </p:txBody>
      </p:sp>
    </p:spTree>
    <p:extLst>
      <p:ext uri="{BB962C8B-B14F-4D97-AF65-F5344CB8AC3E}">
        <p14:creationId xmlns:p14="http://schemas.microsoft.com/office/powerpoint/2010/main" val="32614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F497FC-C171-4A9F-E2E2-416C5C6B982A}"/>
              </a:ext>
            </a:extLst>
          </p:cNvPr>
          <p:cNvPicPr>
            <a:picLocks noChangeAspect="1"/>
          </p:cNvPicPr>
          <p:nvPr/>
        </p:nvPicPr>
        <p:blipFill>
          <a:blip r:embed="rId2"/>
          <a:srcRect l="24753" t="27145" r="19520" b="17129"/>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6B2BC92-C493-4995-F532-7E71ADAF20E0}"/>
              </a:ext>
            </a:extLst>
          </p:cNvPr>
          <p:cNvSpPr/>
          <p:nvPr/>
        </p:nvSpPr>
        <p:spPr>
          <a:xfrm>
            <a:off x="295941" y="1627823"/>
            <a:ext cx="5526677" cy="4874597"/>
          </a:xfrm>
          <a:prstGeom prst="rect">
            <a:avLst/>
          </a:prstGeom>
          <a:solidFill>
            <a:srgbClr val="FFFFFF">
              <a:alpha val="7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A42CB6E-F045-AE41-AA24-4E91DCE34050}"/>
              </a:ext>
            </a:extLst>
          </p:cNvPr>
          <p:cNvSpPr txBox="1">
            <a:spLocks/>
          </p:cNvSpPr>
          <p:nvPr/>
        </p:nvSpPr>
        <p:spPr>
          <a:xfrm>
            <a:off x="424236" y="464697"/>
            <a:ext cx="5398382" cy="1066818"/>
          </a:xfrm>
          <a:prstGeom prst="rect">
            <a:avLst/>
          </a:prstGeom>
        </p:spPr>
        <p:txBody>
          <a:bodyPr>
            <a:normAutofit fontScale="90000" lnSpcReduction="20000"/>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buClrTx/>
              <a:buFontTx/>
            </a:pPr>
            <a:r>
              <a:rPr lang="en-AU" dirty="0">
                <a:solidFill>
                  <a:srgbClr val="FFFFFF"/>
                </a:solidFill>
                <a:latin typeface="Aptos"/>
              </a:rPr>
              <a:t>Example: Ukraine’s Net Zero Roadmap </a:t>
            </a:r>
            <a:endParaRPr lang="en-US" dirty="0">
              <a:solidFill>
                <a:srgbClr val="FFFFFF"/>
              </a:solidFill>
            </a:endParaRPr>
          </a:p>
        </p:txBody>
      </p:sp>
      <p:sp>
        <p:nvSpPr>
          <p:cNvPr id="5" name="Google Shape;427;g2c650aad0c2_0_13">
            <a:extLst>
              <a:ext uri="{FF2B5EF4-FFF2-40B4-BE49-F238E27FC236}">
                <a16:creationId xmlns:a16="http://schemas.microsoft.com/office/drawing/2014/main" id="{DEAC21ED-3273-DFB7-8E8B-8EED58100472}"/>
              </a:ext>
            </a:extLst>
          </p:cNvPr>
          <p:cNvSpPr txBox="1">
            <a:spLocks/>
          </p:cNvSpPr>
          <p:nvPr/>
        </p:nvSpPr>
        <p:spPr>
          <a:xfrm>
            <a:off x="424236" y="1807535"/>
            <a:ext cx="5189755" cy="4465674"/>
          </a:xfrm>
          <a:prstGeom prst="rect">
            <a:avLst/>
          </a:prstGeom>
        </p:spPr>
        <p:txBody>
          <a:bodyPr spcFirstLastPara="1" wrap="square" lIns="91425" tIns="45700" rIns="91425" bIns="45700" anchor="t" anchorCtr="0">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Tx/>
              <a:buFont typeface="+mj-lt"/>
              <a:buAutoNum type="arabicPeriod"/>
            </a:pPr>
            <a:r>
              <a:rPr lang="en-US" sz="1800" b="1" dirty="0">
                <a:solidFill>
                  <a:srgbClr val="025353"/>
                </a:solidFill>
                <a:latin typeface="+mn-lt"/>
              </a:rPr>
              <a:t>The share of bioenergy </a:t>
            </a:r>
            <a:r>
              <a:rPr lang="en-US" sz="1800" dirty="0">
                <a:solidFill>
                  <a:srgbClr val="025353"/>
                </a:solidFill>
                <a:latin typeface="+mn-lt"/>
              </a:rPr>
              <a:t>grows fast between 2030 and 2050, and fossil fuels are replaced by electricity and technologies with </a:t>
            </a:r>
            <a:r>
              <a:rPr lang="en-US" sz="1800" b="1" dirty="0">
                <a:solidFill>
                  <a:srgbClr val="025353"/>
                </a:solidFill>
                <a:latin typeface="+mn-lt"/>
              </a:rPr>
              <a:t>CCS systems.</a:t>
            </a:r>
          </a:p>
          <a:p>
            <a:pPr marL="342900" indent="-342900">
              <a:buClrTx/>
              <a:buFont typeface="+mj-lt"/>
              <a:buAutoNum type="arabicPeriod"/>
            </a:pPr>
            <a:r>
              <a:rPr lang="en-US" sz="1800" b="1" dirty="0">
                <a:solidFill>
                  <a:srgbClr val="025353"/>
                </a:solidFill>
                <a:latin typeface="+mn-lt"/>
              </a:rPr>
              <a:t>Heat pumps </a:t>
            </a:r>
            <a:r>
              <a:rPr lang="en-US" sz="1800" dirty="0">
                <a:solidFill>
                  <a:srgbClr val="025353"/>
                </a:solidFill>
                <a:latin typeface="+mn-lt"/>
              </a:rPr>
              <a:t>as part of the district heat systems play an important role in decarbonizing the heat sector.</a:t>
            </a:r>
          </a:p>
          <a:p>
            <a:pPr marL="342900" indent="-342900">
              <a:buClrTx/>
              <a:buFont typeface="+mj-lt"/>
              <a:buAutoNum type="arabicPeriod"/>
            </a:pPr>
            <a:r>
              <a:rPr lang="en-US" sz="1800" b="1" dirty="0">
                <a:solidFill>
                  <a:srgbClr val="025353"/>
                </a:solidFill>
                <a:latin typeface="+mn-lt"/>
              </a:rPr>
              <a:t>The power sector </a:t>
            </a:r>
            <a:r>
              <a:rPr lang="en-US" sz="1800" dirty="0">
                <a:solidFill>
                  <a:srgbClr val="025353"/>
                </a:solidFill>
                <a:latin typeface="+mn-lt"/>
              </a:rPr>
              <a:t>is decarbonized and becomes</a:t>
            </a:r>
            <a:r>
              <a:rPr lang="en-US" sz="1800" b="1" dirty="0">
                <a:solidFill>
                  <a:srgbClr val="025353"/>
                </a:solidFill>
                <a:latin typeface="+mn-lt"/>
              </a:rPr>
              <a:t> net negative in 2040. The buildings sectors </a:t>
            </a:r>
            <a:r>
              <a:rPr lang="en-US" sz="1800" dirty="0">
                <a:solidFill>
                  <a:srgbClr val="025353"/>
                </a:solidFill>
                <a:latin typeface="+mn-lt"/>
              </a:rPr>
              <a:t>reach</a:t>
            </a:r>
            <a:r>
              <a:rPr lang="en-US" sz="1800" b="1" dirty="0">
                <a:solidFill>
                  <a:srgbClr val="025353"/>
                </a:solidFill>
                <a:latin typeface="+mn-lt"/>
              </a:rPr>
              <a:t> zero emissions by 2045.</a:t>
            </a:r>
          </a:p>
        </p:txBody>
      </p:sp>
      <p:sp>
        <p:nvSpPr>
          <p:cNvPr id="13" name="TextBox 12">
            <a:extLst>
              <a:ext uri="{FF2B5EF4-FFF2-40B4-BE49-F238E27FC236}">
                <a16:creationId xmlns:a16="http://schemas.microsoft.com/office/drawing/2014/main" id="{85A39A8C-7A82-E880-117A-DA0EF769DE82}"/>
              </a:ext>
            </a:extLst>
          </p:cNvPr>
          <p:cNvSpPr txBox="1"/>
          <p:nvPr/>
        </p:nvSpPr>
        <p:spPr>
          <a:xfrm>
            <a:off x="7359208" y="3370808"/>
            <a:ext cx="4536851" cy="307777"/>
          </a:xfrm>
          <a:prstGeom prst="rect">
            <a:avLst/>
          </a:prstGeom>
          <a:solidFill>
            <a:srgbClr val="6283A6"/>
          </a:solidFill>
          <a:ln>
            <a:noFill/>
          </a:ln>
        </p:spPr>
        <p:txBody>
          <a:bodyPr wrap="square">
            <a:spAutoFit/>
          </a:bodyPr>
          <a:lstStyle/>
          <a:p>
            <a:pPr marL="0" indent="0" algn="ctr">
              <a:buClrTx/>
              <a:buNone/>
            </a:pPr>
            <a:r>
              <a:rPr lang="en-GB" b="1" dirty="0">
                <a:solidFill>
                  <a:schemeClr val="tx1"/>
                </a:solidFill>
                <a:latin typeface="Aptos" panose="020B0004020202020204" pitchFamily="34" charset="0"/>
              </a:rPr>
              <a:t>GHG Emissions Projections</a:t>
            </a:r>
          </a:p>
        </p:txBody>
      </p:sp>
      <p:pic>
        <p:nvPicPr>
          <p:cNvPr id="6" name="Picture 5">
            <a:extLst>
              <a:ext uri="{FF2B5EF4-FFF2-40B4-BE49-F238E27FC236}">
                <a16:creationId xmlns:a16="http://schemas.microsoft.com/office/drawing/2014/main" id="{3A2D8E1F-8C87-144E-4ACA-2A080BFF6E64}"/>
              </a:ext>
            </a:extLst>
          </p:cNvPr>
          <p:cNvPicPr>
            <a:picLocks noChangeAspect="1"/>
          </p:cNvPicPr>
          <p:nvPr/>
        </p:nvPicPr>
        <p:blipFill>
          <a:blip r:embed="rId3"/>
          <a:srcRect l="32616" t="24425" r="12616" b="12093"/>
          <a:stretch/>
        </p:blipFill>
        <p:spPr>
          <a:xfrm>
            <a:off x="6096000" y="370486"/>
            <a:ext cx="4451498" cy="2902402"/>
          </a:xfrm>
          <a:prstGeom prst="rect">
            <a:avLst/>
          </a:prstGeom>
        </p:spPr>
      </p:pic>
      <p:sp>
        <p:nvSpPr>
          <p:cNvPr id="12" name="TextBox 11">
            <a:extLst>
              <a:ext uri="{FF2B5EF4-FFF2-40B4-BE49-F238E27FC236}">
                <a16:creationId xmlns:a16="http://schemas.microsoft.com/office/drawing/2014/main" id="{FA0036FF-938A-FAA6-30A6-EEF2B3DA2790}"/>
              </a:ext>
            </a:extLst>
          </p:cNvPr>
          <p:cNvSpPr txBox="1"/>
          <p:nvPr/>
        </p:nvSpPr>
        <p:spPr>
          <a:xfrm>
            <a:off x="6096000" y="115874"/>
            <a:ext cx="4451498" cy="307777"/>
          </a:xfrm>
          <a:prstGeom prst="rect">
            <a:avLst/>
          </a:prstGeom>
          <a:solidFill>
            <a:srgbClr val="6283A6"/>
          </a:solidFill>
          <a:ln>
            <a:noFill/>
          </a:ln>
        </p:spPr>
        <p:txBody>
          <a:bodyPr wrap="square">
            <a:spAutoFit/>
          </a:bodyPr>
          <a:lstStyle/>
          <a:p>
            <a:pPr marL="0" indent="0" algn="ctr">
              <a:buClrTx/>
              <a:buNone/>
            </a:pPr>
            <a:r>
              <a:rPr lang="en-GB" b="1" dirty="0">
                <a:solidFill>
                  <a:schemeClr val="tx1"/>
                </a:solidFill>
                <a:latin typeface="Aptos" panose="020B0004020202020204" pitchFamily="34" charset="0"/>
              </a:rPr>
              <a:t>Heat Generation by Technology</a:t>
            </a:r>
          </a:p>
        </p:txBody>
      </p:sp>
      <p:pic>
        <p:nvPicPr>
          <p:cNvPr id="10" name="Picture 9">
            <a:extLst>
              <a:ext uri="{FF2B5EF4-FFF2-40B4-BE49-F238E27FC236}">
                <a16:creationId xmlns:a16="http://schemas.microsoft.com/office/drawing/2014/main" id="{CF06A299-AE0F-7DF3-2F9C-0995E47AD96D}"/>
              </a:ext>
            </a:extLst>
          </p:cNvPr>
          <p:cNvPicPr>
            <a:picLocks noChangeAspect="1"/>
          </p:cNvPicPr>
          <p:nvPr/>
        </p:nvPicPr>
        <p:blipFill>
          <a:blip r:embed="rId4"/>
          <a:srcRect l="34883" t="24425" r="10785" b="12713"/>
          <a:stretch/>
        </p:blipFill>
        <p:spPr>
          <a:xfrm>
            <a:off x="7359208" y="3678585"/>
            <a:ext cx="4536850" cy="2952662"/>
          </a:xfrm>
          <a:prstGeom prst="rect">
            <a:avLst/>
          </a:prstGeom>
        </p:spPr>
      </p:pic>
    </p:spTree>
    <p:extLst>
      <p:ext uri="{BB962C8B-B14F-4D97-AF65-F5344CB8AC3E}">
        <p14:creationId xmlns:p14="http://schemas.microsoft.com/office/powerpoint/2010/main" val="843757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7" name="Freeform: Shape 6">
            <a:extLst>
              <a:ext uri="{FF2B5EF4-FFF2-40B4-BE49-F238E27FC236}">
                <a16:creationId xmlns:a16="http://schemas.microsoft.com/office/drawing/2014/main" id="{C45A68E9-A89B-4045-B00D-5EF1BBA9127B}"/>
              </a:ext>
            </a:extLst>
          </p:cNvPr>
          <p:cNvSpPr/>
          <p:nvPr/>
        </p:nvSpPr>
        <p:spPr>
          <a:xfrm>
            <a:off x="2746556" y="2560172"/>
            <a:ext cx="6733728" cy="1858417"/>
          </a:xfrm>
          <a:custGeom>
            <a:avLst/>
            <a:gdLst/>
            <a:ahLst/>
            <a:cxnLst/>
            <a:rect l="l" t="t" r="r" b="b"/>
            <a:pathLst>
              <a:path w="6733728" h="1858417">
                <a:moveTo>
                  <a:pt x="2857946" y="1221284"/>
                </a:moveTo>
                <a:lnTo>
                  <a:pt x="2857946" y="1365499"/>
                </a:lnTo>
                <a:lnTo>
                  <a:pt x="2945011" y="1365499"/>
                </a:lnTo>
                <a:cubicBezTo>
                  <a:pt x="2963465" y="1365499"/>
                  <a:pt x="2979018" y="1362671"/>
                  <a:pt x="2991669" y="1357015"/>
                </a:cubicBezTo>
                <a:cubicBezTo>
                  <a:pt x="3004319" y="1351360"/>
                  <a:pt x="3013918" y="1342951"/>
                  <a:pt x="3020467" y="1331789"/>
                </a:cubicBezTo>
                <a:cubicBezTo>
                  <a:pt x="3027015" y="1320627"/>
                  <a:pt x="3030289" y="1307009"/>
                  <a:pt x="3030289" y="1290936"/>
                </a:cubicBezTo>
                <a:cubicBezTo>
                  <a:pt x="3030289" y="1267123"/>
                  <a:pt x="3022997" y="1249561"/>
                  <a:pt x="3008411" y="1238250"/>
                </a:cubicBezTo>
                <a:cubicBezTo>
                  <a:pt x="2993826" y="1226940"/>
                  <a:pt x="2975669" y="1221284"/>
                  <a:pt x="2953940" y="1221284"/>
                </a:cubicBezTo>
                <a:close/>
                <a:moveTo>
                  <a:pt x="143321" y="1221284"/>
                </a:moveTo>
                <a:lnTo>
                  <a:pt x="143321" y="1365499"/>
                </a:lnTo>
                <a:lnTo>
                  <a:pt x="230386" y="1365499"/>
                </a:lnTo>
                <a:cubicBezTo>
                  <a:pt x="248841" y="1365499"/>
                  <a:pt x="264393" y="1362671"/>
                  <a:pt x="277044" y="1357015"/>
                </a:cubicBezTo>
                <a:cubicBezTo>
                  <a:pt x="289694" y="1351360"/>
                  <a:pt x="299293" y="1342951"/>
                  <a:pt x="305842" y="1331789"/>
                </a:cubicBezTo>
                <a:cubicBezTo>
                  <a:pt x="312391" y="1320627"/>
                  <a:pt x="315665" y="1307009"/>
                  <a:pt x="315665" y="1290936"/>
                </a:cubicBezTo>
                <a:cubicBezTo>
                  <a:pt x="315665" y="1267123"/>
                  <a:pt x="308372" y="1249561"/>
                  <a:pt x="293787" y="1238250"/>
                </a:cubicBezTo>
                <a:cubicBezTo>
                  <a:pt x="279201" y="1226940"/>
                  <a:pt x="261045" y="1221284"/>
                  <a:pt x="239315" y="1221284"/>
                </a:cubicBezTo>
                <a:close/>
                <a:moveTo>
                  <a:pt x="1392734" y="1214587"/>
                </a:moveTo>
                <a:cubicBezTo>
                  <a:pt x="1357015" y="1214587"/>
                  <a:pt x="1328366" y="1223144"/>
                  <a:pt x="1306785" y="1240260"/>
                </a:cubicBezTo>
                <a:cubicBezTo>
                  <a:pt x="1285205" y="1257375"/>
                  <a:pt x="1269578" y="1280220"/>
                  <a:pt x="1259905" y="1308795"/>
                </a:cubicBezTo>
                <a:cubicBezTo>
                  <a:pt x="1250231" y="1337370"/>
                  <a:pt x="1245394" y="1368922"/>
                  <a:pt x="1245394" y="1403450"/>
                </a:cubicBezTo>
                <a:cubicBezTo>
                  <a:pt x="1245394" y="1437383"/>
                  <a:pt x="1250231" y="1468636"/>
                  <a:pt x="1259905" y="1497211"/>
                </a:cubicBezTo>
                <a:cubicBezTo>
                  <a:pt x="1269578" y="1525786"/>
                  <a:pt x="1285205" y="1548706"/>
                  <a:pt x="1306785" y="1565970"/>
                </a:cubicBezTo>
                <a:cubicBezTo>
                  <a:pt x="1328366" y="1583234"/>
                  <a:pt x="1357015" y="1591866"/>
                  <a:pt x="1392734" y="1591866"/>
                </a:cubicBezTo>
                <a:cubicBezTo>
                  <a:pt x="1428155" y="1591866"/>
                  <a:pt x="1456581" y="1583234"/>
                  <a:pt x="1478013" y="1565970"/>
                </a:cubicBezTo>
                <a:cubicBezTo>
                  <a:pt x="1499443" y="1548706"/>
                  <a:pt x="1515070" y="1525786"/>
                  <a:pt x="1524893" y="1497211"/>
                </a:cubicBezTo>
                <a:cubicBezTo>
                  <a:pt x="1534716" y="1468636"/>
                  <a:pt x="1539627" y="1437383"/>
                  <a:pt x="1539627" y="1403450"/>
                </a:cubicBezTo>
                <a:cubicBezTo>
                  <a:pt x="1539627" y="1368922"/>
                  <a:pt x="1534716" y="1337370"/>
                  <a:pt x="1524893" y="1308795"/>
                </a:cubicBezTo>
                <a:cubicBezTo>
                  <a:pt x="1515070" y="1280220"/>
                  <a:pt x="1499443" y="1257375"/>
                  <a:pt x="1478013" y="1240260"/>
                </a:cubicBezTo>
                <a:cubicBezTo>
                  <a:pt x="1456581" y="1223144"/>
                  <a:pt x="1428155" y="1214587"/>
                  <a:pt x="1392734" y="1214587"/>
                </a:cubicBezTo>
                <a:close/>
                <a:moveTo>
                  <a:pt x="5739556" y="1102519"/>
                </a:moveTo>
                <a:lnTo>
                  <a:pt x="6195416" y="1102519"/>
                </a:lnTo>
                <a:lnTo>
                  <a:pt x="6195416" y="1222177"/>
                </a:lnTo>
                <a:lnTo>
                  <a:pt x="6040040" y="1222177"/>
                </a:lnTo>
                <a:lnTo>
                  <a:pt x="6040040" y="1703487"/>
                </a:lnTo>
                <a:lnTo>
                  <a:pt x="5896272" y="1703487"/>
                </a:lnTo>
                <a:lnTo>
                  <a:pt x="5896272" y="1222177"/>
                </a:lnTo>
                <a:lnTo>
                  <a:pt x="5739556" y="1222177"/>
                </a:lnTo>
                <a:close/>
                <a:moveTo>
                  <a:pt x="5133975" y="1102519"/>
                </a:moveTo>
                <a:lnTo>
                  <a:pt x="5273278" y="1102519"/>
                </a:lnTo>
                <a:lnTo>
                  <a:pt x="5528220" y="1478013"/>
                </a:lnTo>
                <a:lnTo>
                  <a:pt x="5528220" y="1102519"/>
                </a:lnTo>
                <a:lnTo>
                  <a:pt x="5663505" y="1102519"/>
                </a:lnTo>
                <a:lnTo>
                  <a:pt x="5663505" y="1703487"/>
                </a:lnTo>
                <a:lnTo>
                  <a:pt x="5523755" y="1703487"/>
                </a:lnTo>
                <a:lnTo>
                  <a:pt x="5267920" y="1324868"/>
                </a:lnTo>
                <a:lnTo>
                  <a:pt x="5267920" y="1703487"/>
                </a:lnTo>
                <a:lnTo>
                  <a:pt x="5133975" y="1703487"/>
                </a:lnTo>
                <a:close/>
                <a:moveTo>
                  <a:pt x="4600575" y="1102519"/>
                </a:moveTo>
                <a:lnTo>
                  <a:pt x="5011787" y="1102519"/>
                </a:lnTo>
                <a:lnTo>
                  <a:pt x="5011787" y="1221284"/>
                </a:lnTo>
                <a:lnTo>
                  <a:pt x="4743896" y="1221284"/>
                </a:lnTo>
                <a:lnTo>
                  <a:pt x="4743896" y="1340495"/>
                </a:lnTo>
                <a:lnTo>
                  <a:pt x="4984998" y="1340495"/>
                </a:lnTo>
                <a:lnTo>
                  <a:pt x="4984998" y="1454795"/>
                </a:lnTo>
                <a:lnTo>
                  <a:pt x="4743896" y="1454795"/>
                </a:lnTo>
                <a:lnTo>
                  <a:pt x="4743896" y="1584722"/>
                </a:lnTo>
                <a:lnTo>
                  <a:pt x="5011787" y="1584722"/>
                </a:lnTo>
                <a:lnTo>
                  <a:pt x="5011787" y="1703487"/>
                </a:lnTo>
                <a:lnTo>
                  <a:pt x="4600575" y="1703487"/>
                </a:lnTo>
                <a:close/>
                <a:moveTo>
                  <a:pt x="3838575" y="1102519"/>
                </a:moveTo>
                <a:lnTo>
                  <a:pt x="4005560" y="1102519"/>
                </a:lnTo>
                <a:lnTo>
                  <a:pt x="4154988" y="1360180"/>
                </a:lnTo>
                <a:lnTo>
                  <a:pt x="4302918" y="1102519"/>
                </a:lnTo>
                <a:lnTo>
                  <a:pt x="4462313" y="1102519"/>
                </a:lnTo>
                <a:lnTo>
                  <a:pt x="4462313" y="1703487"/>
                </a:lnTo>
                <a:lnTo>
                  <a:pt x="4321671" y="1703487"/>
                </a:lnTo>
                <a:lnTo>
                  <a:pt x="4321671" y="1284359"/>
                </a:lnTo>
                <a:lnTo>
                  <a:pt x="4193530" y="1510159"/>
                </a:lnTo>
                <a:lnTo>
                  <a:pt x="4106466" y="1510159"/>
                </a:lnTo>
                <a:lnTo>
                  <a:pt x="3975646" y="1285855"/>
                </a:lnTo>
                <a:lnTo>
                  <a:pt x="3975646" y="1703487"/>
                </a:lnTo>
                <a:lnTo>
                  <a:pt x="3838575" y="1703487"/>
                </a:lnTo>
                <a:close/>
                <a:moveTo>
                  <a:pt x="3305176" y="1102519"/>
                </a:moveTo>
                <a:lnTo>
                  <a:pt x="3716387" y="1102519"/>
                </a:lnTo>
                <a:lnTo>
                  <a:pt x="3716387" y="1221284"/>
                </a:lnTo>
                <a:lnTo>
                  <a:pt x="3448496" y="1221284"/>
                </a:lnTo>
                <a:lnTo>
                  <a:pt x="3448496" y="1340495"/>
                </a:lnTo>
                <a:lnTo>
                  <a:pt x="3689598" y="1340495"/>
                </a:lnTo>
                <a:lnTo>
                  <a:pt x="3689598" y="1454795"/>
                </a:lnTo>
                <a:lnTo>
                  <a:pt x="3448496" y="1454795"/>
                </a:lnTo>
                <a:lnTo>
                  <a:pt x="3448496" y="1584722"/>
                </a:lnTo>
                <a:lnTo>
                  <a:pt x="3716387" y="1584722"/>
                </a:lnTo>
                <a:lnTo>
                  <a:pt x="3716387" y="1703487"/>
                </a:lnTo>
                <a:lnTo>
                  <a:pt x="3305176" y="1703487"/>
                </a:lnTo>
                <a:close/>
                <a:moveTo>
                  <a:pt x="2714625" y="1102519"/>
                </a:moveTo>
                <a:lnTo>
                  <a:pt x="2970014" y="1102519"/>
                </a:lnTo>
                <a:cubicBezTo>
                  <a:pt x="3010198" y="1102519"/>
                  <a:pt x="3045916" y="1107877"/>
                  <a:pt x="3077170" y="1118593"/>
                </a:cubicBezTo>
                <a:cubicBezTo>
                  <a:pt x="3108424" y="1129308"/>
                  <a:pt x="3133055" y="1146944"/>
                  <a:pt x="3151063" y="1171501"/>
                </a:cubicBezTo>
                <a:cubicBezTo>
                  <a:pt x="3169071" y="1196058"/>
                  <a:pt x="3178076" y="1229172"/>
                  <a:pt x="3178076" y="1270844"/>
                </a:cubicBezTo>
                <a:cubicBezTo>
                  <a:pt x="3178076" y="1308646"/>
                  <a:pt x="3168030" y="1340793"/>
                  <a:pt x="3147938" y="1367284"/>
                </a:cubicBezTo>
                <a:cubicBezTo>
                  <a:pt x="3127846" y="1393776"/>
                  <a:pt x="3096964" y="1412975"/>
                  <a:pt x="3055293" y="1424881"/>
                </a:cubicBezTo>
                <a:cubicBezTo>
                  <a:pt x="3081784" y="1429048"/>
                  <a:pt x="3102769" y="1436787"/>
                  <a:pt x="3118247" y="1448098"/>
                </a:cubicBezTo>
                <a:cubicBezTo>
                  <a:pt x="3133725" y="1459409"/>
                  <a:pt x="3146077" y="1474813"/>
                  <a:pt x="3155305" y="1494309"/>
                </a:cubicBezTo>
                <a:cubicBezTo>
                  <a:pt x="3164532" y="1513806"/>
                  <a:pt x="3173016" y="1537842"/>
                  <a:pt x="3180755" y="1566417"/>
                </a:cubicBezTo>
                <a:lnTo>
                  <a:pt x="3220492" y="1703487"/>
                </a:lnTo>
                <a:lnTo>
                  <a:pt x="3070026" y="1703487"/>
                </a:lnTo>
                <a:lnTo>
                  <a:pt x="3044577" y="1596331"/>
                </a:lnTo>
                <a:cubicBezTo>
                  <a:pt x="3038326" y="1569542"/>
                  <a:pt x="3031405" y="1547887"/>
                  <a:pt x="3023816" y="1531367"/>
                </a:cubicBezTo>
                <a:cubicBezTo>
                  <a:pt x="3016225" y="1514848"/>
                  <a:pt x="3005956" y="1502718"/>
                  <a:pt x="2993009" y="1494979"/>
                </a:cubicBezTo>
                <a:cubicBezTo>
                  <a:pt x="2980060" y="1487240"/>
                  <a:pt x="2961977" y="1483370"/>
                  <a:pt x="2938760" y="1483370"/>
                </a:cubicBezTo>
                <a:lnTo>
                  <a:pt x="2857946" y="1483370"/>
                </a:lnTo>
                <a:lnTo>
                  <a:pt x="2857946" y="1703487"/>
                </a:lnTo>
                <a:lnTo>
                  <a:pt x="2714625" y="1703487"/>
                </a:lnTo>
                <a:close/>
                <a:moveTo>
                  <a:pt x="2438400" y="1102519"/>
                </a:moveTo>
                <a:lnTo>
                  <a:pt x="2581721" y="1102519"/>
                </a:lnTo>
                <a:lnTo>
                  <a:pt x="2581721" y="1703487"/>
                </a:lnTo>
                <a:lnTo>
                  <a:pt x="2438400" y="1703487"/>
                </a:lnTo>
                <a:close/>
                <a:moveTo>
                  <a:pt x="1793528" y="1102519"/>
                </a:moveTo>
                <a:lnTo>
                  <a:pt x="1940867" y="1102519"/>
                </a:lnTo>
                <a:lnTo>
                  <a:pt x="1940867" y="1458367"/>
                </a:lnTo>
                <a:cubicBezTo>
                  <a:pt x="1940867" y="1502123"/>
                  <a:pt x="1949574" y="1535535"/>
                  <a:pt x="1966987" y="1558603"/>
                </a:cubicBezTo>
                <a:cubicBezTo>
                  <a:pt x="1984400" y="1581671"/>
                  <a:pt x="2013198" y="1593206"/>
                  <a:pt x="2053381" y="1593206"/>
                </a:cubicBezTo>
                <a:cubicBezTo>
                  <a:pt x="2093863" y="1593206"/>
                  <a:pt x="2122363" y="1581671"/>
                  <a:pt x="2138884" y="1558603"/>
                </a:cubicBezTo>
                <a:cubicBezTo>
                  <a:pt x="2155403" y="1535535"/>
                  <a:pt x="2163663" y="1502123"/>
                  <a:pt x="2163663" y="1458367"/>
                </a:cubicBezTo>
                <a:lnTo>
                  <a:pt x="2163663" y="1102519"/>
                </a:lnTo>
                <a:lnTo>
                  <a:pt x="2311449" y="1102519"/>
                </a:lnTo>
                <a:lnTo>
                  <a:pt x="2311449" y="1458367"/>
                </a:lnTo>
                <a:cubicBezTo>
                  <a:pt x="2311449" y="1514624"/>
                  <a:pt x="2302445" y="1561580"/>
                  <a:pt x="2284437" y="1599233"/>
                </a:cubicBezTo>
                <a:cubicBezTo>
                  <a:pt x="2266430" y="1636887"/>
                  <a:pt x="2238375" y="1665015"/>
                  <a:pt x="2200275" y="1683619"/>
                </a:cubicBezTo>
                <a:cubicBezTo>
                  <a:pt x="2162176" y="1702222"/>
                  <a:pt x="2112913" y="1711524"/>
                  <a:pt x="2052488" y="1711524"/>
                </a:cubicBezTo>
                <a:cubicBezTo>
                  <a:pt x="1992362" y="1711524"/>
                  <a:pt x="1943174" y="1702222"/>
                  <a:pt x="1904925" y="1683619"/>
                </a:cubicBezTo>
                <a:cubicBezTo>
                  <a:pt x="1866677" y="1665015"/>
                  <a:pt x="1838548" y="1636887"/>
                  <a:pt x="1820540" y="1599233"/>
                </a:cubicBezTo>
                <a:cubicBezTo>
                  <a:pt x="1802532" y="1561580"/>
                  <a:pt x="1793528" y="1514624"/>
                  <a:pt x="1793528" y="1458367"/>
                </a:cubicBezTo>
                <a:close/>
                <a:moveTo>
                  <a:pt x="590550" y="1102519"/>
                </a:moveTo>
                <a:lnTo>
                  <a:pt x="1001762" y="1102519"/>
                </a:lnTo>
                <a:lnTo>
                  <a:pt x="1001762" y="1221284"/>
                </a:lnTo>
                <a:lnTo>
                  <a:pt x="733872" y="1221284"/>
                </a:lnTo>
                <a:lnTo>
                  <a:pt x="733872" y="1340495"/>
                </a:lnTo>
                <a:lnTo>
                  <a:pt x="974974" y="1340495"/>
                </a:lnTo>
                <a:lnTo>
                  <a:pt x="974974" y="1454795"/>
                </a:lnTo>
                <a:lnTo>
                  <a:pt x="733872" y="1454795"/>
                </a:lnTo>
                <a:lnTo>
                  <a:pt x="733872" y="1584722"/>
                </a:lnTo>
                <a:lnTo>
                  <a:pt x="1001762" y="1584722"/>
                </a:lnTo>
                <a:lnTo>
                  <a:pt x="1001762" y="1703487"/>
                </a:lnTo>
                <a:lnTo>
                  <a:pt x="590550" y="1703487"/>
                </a:lnTo>
                <a:close/>
                <a:moveTo>
                  <a:pt x="0" y="1102519"/>
                </a:moveTo>
                <a:lnTo>
                  <a:pt x="255389" y="1102519"/>
                </a:lnTo>
                <a:cubicBezTo>
                  <a:pt x="295573" y="1102519"/>
                  <a:pt x="331292" y="1107877"/>
                  <a:pt x="362545" y="1118593"/>
                </a:cubicBezTo>
                <a:cubicBezTo>
                  <a:pt x="393799" y="1129308"/>
                  <a:pt x="418431" y="1146944"/>
                  <a:pt x="436439" y="1171501"/>
                </a:cubicBezTo>
                <a:cubicBezTo>
                  <a:pt x="454447" y="1196058"/>
                  <a:pt x="463451" y="1229172"/>
                  <a:pt x="463451" y="1270844"/>
                </a:cubicBezTo>
                <a:cubicBezTo>
                  <a:pt x="463451" y="1308646"/>
                  <a:pt x="453405" y="1340793"/>
                  <a:pt x="433313" y="1367284"/>
                </a:cubicBezTo>
                <a:cubicBezTo>
                  <a:pt x="413221" y="1393776"/>
                  <a:pt x="382340" y="1412975"/>
                  <a:pt x="340668" y="1424881"/>
                </a:cubicBezTo>
                <a:cubicBezTo>
                  <a:pt x="367159" y="1429048"/>
                  <a:pt x="388144" y="1436787"/>
                  <a:pt x="403622" y="1448098"/>
                </a:cubicBezTo>
                <a:cubicBezTo>
                  <a:pt x="419100" y="1459409"/>
                  <a:pt x="431453" y="1474813"/>
                  <a:pt x="440680" y="1494309"/>
                </a:cubicBezTo>
                <a:cubicBezTo>
                  <a:pt x="449907" y="1513806"/>
                  <a:pt x="458391" y="1537842"/>
                  <a:pt x="466130" y="1566417"/>
                </a:cubicBezTo>
                <a:lnTo>
                  <a:pt x="505867" y="1703487"/>
                </a:lnTo>
                <a:lnTo>
                  <a:pt x="355402" y="1703487"/>
                </a:lnTo>
                <a:lnTo>
                  <a:pt x="329952" y="1596331"/>
                </a:lnTo>
                <a:cubicBezTo>
                  <a:pt x="323701" y="1569542"/>
                  <a:pt x="316781" y="1547887"/>
                  <a:pt x="309190" y="1531367"/>
                </a:cubicBezTo>
                <a:cubicBezTo>
                  <a:pt x="301600" y="1514848"/>
                  <a:pt x="291331" y="1502718"/>
                  <a:pt x="278383" y="1494979"/>
                </a:cubicBezTo>
                <a:cubicBezTo>
                  <a:pt x="265435" y="1487240"/>
                  <a:pt x="247352" y="1483370"/>
                  <a:pt x="224135" y="1483370"/>
                </a:cubicBezTo>
                <a:lnTo>
                  <a:pt x="143321" y="1483370"/>
                </a:lnTo>
                <a:lnTo>
                  <a:pt x="143321" y="1703487"/>
                </a:lnTo>
                <a:lnTo>
                  <a:pt x="0" y="1703487"/>
                </a:lnTo>
                <a:close/>
                <a:moveTo>
                  <a:pt x="6483696" y="1095375"/>
                </a:moveTo>
                <a:cubicBezTo>
                  <a:pt x="6525964" y="1095375"/>
                  <a:pt x="6564734" y="1101552"/>
                  <a:pt x="6600006" y="1113905"/>
                </a:cubicBezTo>
                <a:cubicBezTo>
                  <a:pt x="6635278" y="1126257"/>
                  <a:pt x="6663406" y="1145382"/>
                  <a:pt x="6684392" y="1171278"/>
                </a:cubicBezTo>
                <a:cubicBezTo>
                  <a:pt x="6705376" y="1197174"/>
                  <a:pt x="6715868" y="1230363"/>
                  <a:pt x="6715868" y="1270844"/>
                </a:cubicBezTo>
                <a:lnTo>
                  <a:pt x="6568528" y="1270844"/>
                </a:lnTo>
                <a:cubicBezTo>
                  <a:pt x="6568528" y="1248520"/>
                  <a:pt x="6560046" y="1232074"/>
                  <a:pt x="6543079" y="1221507"/>
                </a:cubicBezTo>
                <a:cubicBezTo>
                  <a:pt x="6526112" y="1210941"/>
                  <a:pt x="6506021" y="1205657"/>
                  <a:pt x="6482804" y="1205657"/>
                </a:cubicBezTo>
                <a:cubicBezTo>
                  <a:pt x="6461074" y="1205657"/>
                  <a:pt x="6442099" y="1209452"/>
                  <a:pt x="6425877" y="1217042"/>
                </a:cubicBezTo>
                <a:cubicBezTo>
                  <a:pt x="6409654" y="1224633"/>
                  <a:pt x="6401544" y="1237209"/>
                  <a:pt x="6401544" y="1254770"/>
                </a:cubicBezTo>
                <a:cubicBezTo>
                  <a:pt x="6401544" y="1264593"/>
                  <a:pt x="6404966" y="1273448"/>
                  <a:pt x="6411812" y="1281336"/>
                </a:cubicBezTo>
                <a:cubicBezTo>
                  <a:pt x="6418658" y="1289224"/>
                  <a:pt x="6431681" y="1297335"/>
                  <a:pt x="6450880" y="1305670"/>
                </a:cubicBezTo>
                <a:cubicBezTo>
                  <a:pt x="6470079" y="1314004"/>
                  <a:pt x="6498133" y="1323827"/>
                  <a:pt x="6535042" y="1335138"/>
                </a:cubicBezTo>
                <a:cubicBezTo>
                  <a:pt x="6580286" y="1348830"/>
                  <a:pt x="6617568" y="1363192"/>
                  <a:pt x="6646886" y="1378223"/>
                </a:cubicBezTo>
                <a:cubicBezTo>
                  <a:pt x="6676206" y="1393255"/>
                  <a:pt x="6698009" y="1412603"/>
                  <a:pt x="6712296" y="1436266"/>
                </a:cubicBezTo>
                <a:cubicBezTo>
                  <a:pt x="6726584" y="1459930"/>
                  <a:pt x="6733728" y="1491258"/>
                  <a:pt x="6733728" y="1530251"/>
                </a:cubicBezTo>
                <a:cubicBezTo>
                  <a:pt x="6733728" y="1574007"/>
                  <a:pt x="6723012" y="1609205"/>
                  <a:pt x="6701581" y="1635845"/>
                </a:cubicBezTo>
                <a:cubicBezTo>
                  <a:pt x="6680150" y="1662485"/>
                  <a:pt x="6650980" y="1681758"/>
                  <a:pt x="6614070" y="1693665"/>
                </a:cubicBezTo>
                <a:cubicBezTo>
                  <a:pt x="6577160" y="1705571"/>
                  <a:pt x="6535489" y="1711524"/>
                  <a:pt x="6489054" y="1711524"/>
                </a:cubicBezTo>
                <a:cubicBezTo>
                  <a:pt x="6442322" y="1711524"/>
                  <a:pt x="6400353" y="1705050"/>
                  <a:pt x="6363146" y="1692102"/>
                </a:cubicBezTo>
                <a:cubicBezTo>
                  <a:pt x="6325939" y="1679154"/>
                  <a:pt x="6296396" y="1658541"/>
                  <a:pt x="6274518" y="1630264"/>
                </a:cubicBezTo>
                <a:cubicBezTo>
                  <a:pt x="6252641" y="1601986"/>
                  <a:pt x="6241702" y="1564928"/>
                  <a:pt x="6241702" y="1519089"/>
                </a:cubicBezTo>
                <a:lnTo>
                  <a:pt x="6389042" y="1519089"/>
                </a:lnTo>
                <a:cubicBezTo>
                  <a:pt x="6390232" y="1538437"/>
                  <a:pt x="6395144" y="1553841"/>
                  <a:pt x="6403776" y="1565300"/>
                </a:cubicBezTo>
                <a:cubicBezTo>
                  <a:pt x="6412408" y="1576760"/>
                  <a:pt x="6424166" y="1584946"/>
                  <a:pt x="6439048" y="1589857"/>
                </a:cubicBezTo>
                <a:cubicBezTo>
                  <a:pt x="6453931" y="1594768"/>
                  <a:pt x="6471195" y="1597224"/>
                  <a:pt x="6490840" y="1597224"/>
                </a:cubicBezTo>
                <a:cubicBezTo>
                  <a:pt x="6510486" y="1597224"/>
                  <a:pt x="6527378" y="1595140"/>
                  <a:pt x="6541516" y="1590973"/>
                </a:cubicBezTo>
                <a:cubicBezTo>
                  <a:pt x="6555655" y="1586806"/>
                  <a:pt x="6566520" y="1580406"/>
                  <a:pt x="6574110" y="1571774"/>
                </a:cubicBezTo>
                <a:cubicBezTo>
                  <a:pt x="6581700" y="1563142"/>
                  <a:pt x="6585495" y="1552278"/>
                  <a:pt x="6585495" y="1539181"/>
                </a:cubicBezTo>
                <a:cubicBezTo>
                  <a:pt x="6585495" y="1525191"/>
                  <a:pt x="6581998" y="1513731"/>
                  <a:pt x="6575002" y="1504802"/>
                </a:cubicBezTo>
                <a:cubicBezTo>
                  <a:pt x="6568008" y="1495872"/>
                  <a:pt x="6555358" y="1487538"/>
                  <a:pt x="6537052" y="1479799"/>
                </a:cubicBezTo>
                <a:cubicBezTo>
                  <a:pt x="6518746" y="1472059"/>
                  <a:pt x="6492478" y="1463130"/>
                  <a:pt x="6458247" y="1453009"/>
                </a:cubicBezTo>
                <a:cubicBezTo>
                  <a:pt x="6418361" y="1441401"/>
                  <a:pt x="6383089" y="1428378"/>
                  <a:pt x="6352430" y="1413942"/>
                </a:cubicBezTo>
                <a:cubicBezTo>
                  <a:pt x="6321772" y="1399506"/>
                  <a:pt x="6297662" y="1380679"/>
                  <a:pt x="6280100" y="1357462"/>
                </a:cubicBezTo>
                <a:cubicBezTo>
                  <a:pt x="6262538" y="1334245"/>
                  <a:pt x="6253757" y="1303586"/>
                  <a:pt x="6253757" y="1265486"/>
                </a:cubicBezTo>
                <a:cubicBezTo>
                  <a:pt x="6253757" y="1224707"/>
                  <a:pt x="6263878" y="1191816"/>
                  <a:pt x="6284118" y="1166813"/>
                </a:cubicBezTo>
                <a:cubicBezTo>
                  <a:pt x="6304358" y="1141810"/>
                  <a:pt x="6331743" y="1123653"/>
                  <a:pt x="6366271" y="1112342"/>
                </a:cubicBezTo>
                <a:cubicBezTo>
                  <a:pt x="6400800" y="1101031"/>
                  <a:pt x="6439941" y="1095375"/>
                  <a:pt x="6483696" y="1095375"/>
                </a:cubicBezTo>
                <a:close/>
                <a:moveTo>
                  <a:pt x="1392734" y="1094483"/>
                </a:moveTo>
                <a:cubicBezTo>
                  <a:pt x="1455540" y="1094483"/>
                  <a:pt x="1508894" y="1107059"/>
                  <a:pt x="1552798" y="1132210"/>
                </a:cubicBezTo>
                <a:cubicBezTo>
                  <a:pt x="1596702" y="1157362"/>
                  <a:pt x="1630114" y="1193007"/>
                  <a:pt x="1653034" y="1239143"/>
                </a:cubicBezTo>
                <a:cubicBezTo>
                  <a:pt x="1675953" y="1285280"/>
                  <a:pt x="1687413" y="1340049"/>
                  <a:pt x="1687413" y="1403450"/>
                </a:cubicBezTo>
                <a:cubicBezTo>
                  <a:pt x="1687413" y="1466553"/>
                  <a:pt x="1675953" y="1521098"/>
                  <a:pt x="1653034" y="1567086"/>
                </a:cubicBezTo>
                <a:cubicBezTo>
                  <a:pt x="1630114" y="1613074"/>
                  <a:pt x="1596702" y="1648644"/>
                  <a:pt x="1552798" y="1673796"/>
                </a:cubicBezTo>
                <a:cubicBezTo>
                  <a:pt x="1541822" y="1680084"/>
                  <a:pt x="1530256" y="1685586"/>
                  <a:pt x="1518098" y="1690302"/>
                </a:cubicBezTo>
                <a:lnTo>
                  <a:pt x="1496986" y="1696810"/>
                </a:lnTo>
                <a:lnTo>
                  <a:pt x="1513954" y="1710854"/>
                </a:lnTo>
                <a:cubicBezTo>
                  <a:pt x="1526903" y="1719635"/>
                  <a:pt x="1543868" y="1726109"/>
                  <a:pt x="1564854" y="1730276"/>
                </a:cubicBezTo>
                <a:cubicBezTo>
                  <a:pt x="1585838" y="1734443"/>
                  <a:pt x="1612850" y="1736527"/>
                  <a:pt x="1645890" y="1736527"/>
                </a:cubicBezTo>
                <a:lnTo>
                  <a:pt x="1669554" y="1736527"/>
                </a:lnTo>
                <a:lnTo>
                  <a:pt x="1669554" y="1858417"/>
                </a:lnTo>
                <a:lnTo>
                  <a:pt x="1639639" y="1858417"/>
                </a:lnTo>
                <a:cubicBezTo>
                  <a:pt x="1594098" y="1858417"/>
                  <a:pt x="1556296" y="1854101"/>
                  <a:pt x="1526232" y="1845469"/>
                </a:cubicBezTo>
                <a:cubicBezTo>
                  <a:pt x="1496169" y="1836837"/>
                  <a:pt x="1471464" y="1824856"/>
                  <a:pt x="1452116" y="1809527"/>
                </a:cubicBezTo>
                <a:cubicBezTo>
                  <a:pt x="1432768" y="1794198"/>
                  <a:pt x="1416621" y="1776413"/>
                  <a:pt x="1403673" y="1756172"/>
                </a:cubicBezTo>
                <a:cubicBezTo>
                  <a:pt x="1397199" y="1746052"/>
                  <a:pt x="1390930" y="1735522"/>
                  <a:pt x="1384864" y="1724584"/>
                </a:cubicBezTo>
                <a:lnTo>
                  <a:pt x="1377718" y="1710743"/>
                </a:lnTo>
                <a:lnTo>
                  <a:pt x="1347388" y="1709166"/>
                </a:lnTo>
                <a:cubicBezTo>
                  <a:pt x="1303800" y="1704450"/>
                  <a:pt x="1265486" y="1692660"/>
                  <a:pt x="1232446" y="1673796"/>
                </a:cubicBezTo>
                <a:cubicBezTo>
                  <a:pt x="1188393" y="1648644"/>
                  <a:pt x="1154906" y="1613074"/>
                  <a:pt x="1131987" y="1567086"/>
                </a:cubicBezTo>
                <a:cubicBezTo>
                  <a:pt x="1109067" y="1521098"/>
                  <a:pt x="1097608" y="1466553"/>
                  <a:pt x="1097608" y="1403450"/>
                </a:cubicBezTo>
                <a:cubicBezTo>
                  <a:pt x="1097608" y="1340049"/>
                  <a:pt x="1109067" y="1285280"/>
                  <a:pt x="1131987" y="1239143"/>
                </a:cubicBezTo>
                <a:cubicBezTo>
                  <a:pt x="1154906" y="1193007"/>
                  <a:pt x="1188393" y="1157362"/>
                  <a:pt x="1232446" y="1132210"/>
                </a:cubicBezTo>
                <a:cubicBezTo>
                  <a:pt x="1276499" y="1107059"/>
                  <a:pt x="1329928" y="1094483"/>
                  <a:pt x="1392734" y="1094483"/>
                </a:cubicBezTo>
                <a:close/>
                <a:moveTo>
                  <a:pt x="5644306" y="7144"/>
                </a:moveTo>
                <a:lnTo>
                  <a:pt x="6100166" y="7144"/>
                </a:lnTo>
                <a:lnTo>
                  <a:pt x="6100166" y="126802"/>
                </a:lnTo>
                <a:lnTo>
                  <a:pt x="5944790" y="126802"/>
                </a:lnTo>
                <a:lnTo>
                  <a:pt x="5944790" y="608112"/>
                </a:lnTo>
                <a:lnTo>
                  <a:pt x="5801022" y="608112"/>
                </a:lnTo>
                <a:lnTo>
                  <a:pt x="5801022" y="126802"/>
                </a:lnTo>
                <a:lnTo>
                  <a:pt x="5644306" y="126802"/>
                </a:lnTo>
                <a:close/>
                <a:moveTo>
                  <a:pt x="5038725" y="7144"/>
                </a:moveTo>
                <a:lnTo>
                  <a:pt x="5178028" y="7144"/>
                </a:lnTo>
                <a:lnTo>
                  <a:pt x="5432970" y="382638"/>
                </a:lnTo>
                <a:lnTo>
                  <a:pt x="5432970" y="7144"/>
                </a:lnTo>
                <a:lnTo>
                  <a:pt x="5568255" y="7144"/>
                </a:lnTo>
                <a:lnTo>
                  <a:pt x="5568255" y="608112"/>
                </a:lnTo>
                <a:lnTo>
                  <a:pt x="5428505" y="608112"/>
                </a:lnTo>
                <a:lnTo>
                  <a:pt x="5172670" y="229493"/>
                </a:lnTo>
                <a:lnTo>
                  <a:pt x="5172670" y="608112"/>
                </a:lnTo>
                <a:lnTo>
                  <a:pt x="5038725" y="608112"/>
                </a:lnTo>
                <a:close/>
                <a:moveTo>
                  <a:pt x="4505325" y="7144"/>
                </a:moveTo>
                <a:lnTo>
                  <a:pt x="4916537" y="7144"/>
                </a:lnTo>
                <a:lnTo>
                  <a:pt x="4916537" y="125909"/>
                </a:lnTo>
                <a:lnTo>
                  <a:pt x="4648646" y="125909"/>
                </a:lnTo>
                <a:lnTo>
                  <a:pt x="4648646" y="245121"/>
                </a:lnTo>
                <a:lnTo>
                  <a:pt x="4889748" y="245121"/>
                </a:lnTo>
                <a:lnTo>
                  <a:pt x="4889748" y="359421"/>
                </a:lnTo>
                <a:lnTo>
                  <a:pt x="4648646" y="359421"/>
                </a:lnTo>
                <a:lnTo>
                  <a:pt x="4648646" y="489348"/>
                </a:lnTo>
                <a:lnTo>
                  <a:pt x="4916537" y="489348"/>
                </a:lnTo>
                <a:lnTo>
                  <a:pt x="4916537" y="608112"/>
                </a:lnTo>
                <a:lnTo>
                  <a:pt x="4505325" y="608112"/>
                </a:lnTo>
                <a:close/>
                <a:moveTo>
                  <a:pt x="3743325" y="7144"/>
                </a:moveTo>
                <a:lnTo>
                  <a:pt x="3910310" y="7144"/>
                </a:lnTo>
                <a:lnTo>
                  <a:pt x="4059738" y="264805"/>
                </a:lnTo>
                <a:lnTo>
                  <a:pt x="4207669" y="7144"/>
                </a:lnTo>
                <a:lnTo>
                  <a:pt x="4367063" y="7144"/>
                </a:lnTo>
                <a:lnTo>
                  <a:pt x="4367063" y="608112"/>
                </a:lnTo>
                <a:lnTo>
                  <a:pt x="4226421" y="608112"/>
                </a:lnTo>
                <a:lnTo>
                  <a:pt x="4226421" y="188984"/>
                </a:lnTo>
                <a:lnTo>
                  <a:pt x="4098280" y="414784"/>
                </a:lnTo>
                <a:lnTo>
                  <a:pt x="4011216" y="414784"/>
                </a:lnTo>
                <a:lnTo>
                  <a:pt x="3880396" y="190480"/>
                </a:lnTo>
                <a:lnTo>
                  <a:pt x="3880396" y="608112"/>
                </a:lnTo>
                <a:lnTo>
                  <a:pt x="3743325" y="608112"/>
                </a:lnTo>
                <a:close/>
                <a:moveTo>
                  <a:pt x="3205906" y="7144"/>
                </a:moveTo>
                <a:lnTo>
                  <a:pt x="3661767" y="7144"/>
                </a:lnTo>
                <a:lnTo>
                  <a:pt x="3661767" y="126802"/>
                </a:lnTo>
                <a:lnTo>
                  <a:pt x="3506390" y="126802"/>
                </a:lnTo>
                <a:lnTo>
                  <a:pt x="3506390" y="608112"/>
                </a:lnTo>
                <a:lnTo>
                  <a:pt x="3362622" y="608112"/>
                </a:lnTo>
                <a:lnTo>
                  <a:pt x="3362622" y="126802"/>
                </a:lnTo>
                <a:lnTo>
                  <a:pt x="3205906" y="126802"/>
                </a:lnTo>
                <a:close/>
                <a:moveTo>
                  <a:pt x="2171700" y="7144"/>
                </a:moveTo>
                <a:lnTo>
                  <a:pt x="2582912" y="7144"/>
                </a:lnTo>
                <a:lnTo>
                  <a:pt x="2582912" y="125909"/>
                </a:lnTo>
                <a:lnTo>
                  <a:pt x="2315021" y="125909"/>
                </a:lnTo>
                <a:lnTo>
                  <a:pt x="2315021" y="245121"/>
                </a:lnTo>
                <a:lnTo>
                  <a:pt x="2556123" y="245121"/>
                </a:lnTo>
                <a:lnTo>
                  <a:pt x="2556123" y="359421"/>
                </a:lnTo>
                <a:lnTo>
                  <a:pt x="2315021" y="359421"/>
                </a:lnTo>
                <a:lnTo>
                  <a:pt x="2315021" y="489348"/>
                </a:lnTo>
                <a:lnTo>
                  <a:pt x="2582912" y="489348"/>
                </a:lnTo>
                <a:lnTo>
                  <a:pt x="2582912" y="608112"/>
                </a:lnTo>
                <a:lnTo>
                  <a:pt x="2171700" y="608112"/>
                </a:lnTo>
                <a:close/>
                <a:moveTo>
                  <a:pt x="1531441" y="7144"/>
                </a:moveTo>
                <a:lnTo>
                  <a:pt x="1685478" y="7144"/>
                </a:lnTo>
                <a:lnTo>
                  <a:pt x="1817191" y="462558"/>
                </a:lnTo>
                <a:lnTo>
                  <a:pt x="1951583" y="7144"/>
                </a:lnTo>
                <a:lnTo>
                  <a:pt x="2105620" y="7144"/>
                </a:lnTo>
                <a:lnTo>
                  <a:pt x="1901130" y="608112"/>
                </a:lnTo>
                <a:lnTo>
                  <a:pt x="1731020" y="608112"/>
                </a:lnTo>
                <a:close/>
                <a:moveTo>
                  <a:pt x="933450" y="7144"/>
                </a:moveTo>
                <a:lnTo>
                  <a:pt x="1072753" y="7144"/>
                </a:lnTo>
                <a:lnTo>
                  <a:pt x="1327696" y="382638"/>
                </a:lnTo>
                <a:lnTo>
                  <a:pt x="1327696" y="7144"/>
                </a:lnTo>
                <a:lnTo>
                  <a:pt x="1462980" y="7144"/>
                </a:lnTo>
                <a:lnTo>
                  <a:pt x="1462980" y="608112"/>
                </a:lnTo>
                <a:lnTo>
                  <a:pt x="1323231" y="608112"/>
                </a:lnTo>
                <a:lnTo>
                  <a:pt x="1067395" y="229493"/>
                </a:lnTo>
                <a:lnTo>
                  <a:pt x="1067395" y="608112"/>
                </a:lnTo>
                <a:lnTo>
                  <a:pt x="933450" y="608112"/>
                </a:lnTo>
                <a:close/>
                <a:moveTo>
                  <a:pt x="657225" y="7144"/>
                </a:moveTo>
                <a:lnTo>
                  <a:pt x="800546" y="7144"/>
                </a:lnTo>
                <a:lnTo>
                  <a:pt x="800546" y="608112"/>
                </a:lnTo>
                <a:lnTo>
                  <a:pt x="657225" y="608112"/>
                </a:lnTo>
                <a:close/>
                <a:moveTo>
                  <a:pt x="2911822" y="0"/>
                </a:moveTo>
                <a:cubicBezTo>
                  <a:pt x="2954089" y="0"/>
                  <a:pt x="2992859" y="6177"/>
                  <a:pt x="3028131" y="18530"/>
                </a:cubicBezTo>
                <a:cubicBezTo>
                  <a:pt x="3063403" y="30882"/>
                  <a:pt x="3091532" y="50007"/>
                  <a:pt x="3112517" y="75903"/>
                </a:cubicBezTo>
                <a:cubicBezTo>
                  <a:pt x="3133502" y="101799"/>
                  <a:pt x="3143994" y="134988"/>
                  <a:pt x="3143994" y="175469"/>
                </a:cubicBezTo>
                <a:lnTo>
                  <a:pt x="2996654" y="175469"/>
                </a:lnTo>
                <a:cubicBezTo>
                  <a:pt x="2996654" y="153145"/>
                  <a:pt x="2988171" y="136699"/>
                  <a:pt x="2971204" y="126132"/>
                </a:cubicBezTo>
                <a:cubicBezTo>
                  <a:pt x="2954238" y="115565"/>
                  <a:pt x="2934146" y="110282"/>
                  <a:pt x="2910929" y="110282"/>
                </a:cubicBezTo>
                <a:cubicBezTo>
                  <a:pt x="2889200" y="110282"/>
                  <a:pt x="2870225" y="114077"/>
                  <a:pt x="2854002" y="121667"/>
                </a:cubicBezTo>
                <a:cubicBezTo>
                  <a:pt x="2837780" y="129258"/>
                  <a:pt x="2829669" y="141834"/>
                  <a:pt x="2829669" y="159395"/>
                </a:cubicBezTo>
                <a:cubicBezTo>
                  <a:pt x="2829669" y="169218"/>
                  <a:pt x="2833092" y="178073"/>
                  <a:pt x="2839938" y="185961"/>
                </a:cubicBezTo>
                <a:cubicBezTo>
                  <a:pt x="2846784" y="193849"/>
                  <a:pt x="2859807" y="201960"/>
                  <a:pt x="2879005" y="210295"/>
                </a:cubicBezTo>
                <a:cubicBezTo>
                  <a:pt x="2898204" y="218629"/>
                  <a:pt x="2926258" y="228452"/>
                  <a:pt x="2963168" y="239763"/>
                </a:cubicBezTo>
                <a:cubicBezTo>
                  <a:pt x="3008411" y="253455"/>
                  <a:pt x="3045693" y="267817"/>
                  <a:pt x="3075012" y="282848"/>
                </a:cubicBezTo>
                <a:cubicBezTo>
                  <a:pt x="3104331" y="297880"/>
                  <a:pt x="3126135" y="317228"/>
                  <a:pt x="3140422" y="340891"/>
                </a:cubicBezTo>
                <a:cubicBezTo>
                  <a:pt x="3154710" y="364555"/>
                  <a:pt x="3161853" y="395883"/>
                  <a:pt x="3161853" y="434876"/>
                </a:cubicBezTo>
                <a:cubicBezTo>
                  <a:pt x="3161853" y="478632"/>
                  <a:pt x="3151138" y="513830"/>
                  <a:pt x="3129706" y="540470"/>
                </a:cubicBezTo>
                <a:cubicBezTo>
                  <a:pt x="3108275" y="567110"/>
                  <a:pt x="3079105" y="586383"/>
                  <a:pt x="3042195" y="598290"/>
                </a:cubicBezTo>
                <a:cubicBezTo>
                  <a:pt x="3005286" y="610196"/>
                  <a:pt x="2963614" y="616149"/>
                  <a:pt x="2917180" y="616149"/>
                </a:cubicBezTo>
                <a:cubicBezTo>
                  <a:pt x="2870448" y="616149"/>
                  <a:pt x="2828478" y="609675"/>
                  <a:pt x="2791271" y="596727"/>
                </a:cubicBezTo>
                <a:cubicBezTo>
                  <a:pt x="2754064" y="583779"/>
                  <a:pt x="2724522" y="563166"/>
                  <a:pt x="2702645" y="534889"/>
                </a:cubicBezTo>
                <a:cubicBezTo>
                  <a:pt x="2680766" y="506611"/>
                  <a:pt x="2669827" y="469553"/>
                  <a:pt x="2669827" y="423714"/>
                </a:cubicBezTo>
                <a:lnTo>
                  <a:pt x="2817168" y="423714"/>
                </a:lnTo>
                <a:cubicBezTo>
                  <a:pt x="2818358" y="443062"/>
                  <a:pt x="2823269" y="458466"/>
                  <a:pt x="2831901" y="469925"/>
                </a:cubicBezTo>
                <a:cubicBezTo>
                  <a:pt x="2840533" y="481385"/>
                  <a:pt x="2852291" y="489571"/>
                  <a:pt x="2867174" y="494482"/>
                </a:cubicBezTo>
                <a:cubicBezTo>
                  <a:pt x="2882056" y="499393"/>
                  <a:pt x="2899320" y="501849"/>
                  <a:pt x="2918966" y="501849"/>
                </a:cubicBezTo>
                <a:cubicBezTo>
                  <a:pt x="2938611" y="501849"/>
                  <a:pt x="2955503" y="499765"/>
                  <a:pt x="2969642" y="495598"/>
                </a:cubicBezTo>
                <a:cubicBezTo>
                  <a:pt x="2983780" y="491431"/>
                  <a:pt x="2994645" y="485031"/>
                  <a:pt x="3002235" y="476399"/>
                </a:cubicBezTo>
                <a:cubicBezTo>
                  <a:pt x="3009825" y="467767"/>
                  <a:pt x="3013620" y="456903"/>
                  <a:pt x="3013620" y="443806"/>
                </a:cubicBezTo>
                <a:cubicBezTo>
                  <a:pt x="3013620" y="429816"/>
                  <a:pt x="3010123" y="418356"/>
                  <a:pt x="3003128" y="409427"/>
                </a:cubicBezTo>
                <a:cubicBezTo>
                  <a:pt x="2996134" y="400497"/>
                  <a:pt x="2983483" y="392163"/>
                  <a:pt x="2965177" y="384424"/>
                </a:cubicBezTo>
                <a:cubicBezTo>
                  <a:pt x="2946871" y="376684"/>
                  <a:pt x="2920603" y="367755"/>
                  <a:pt x="2886372" y="357634"/>
                </a:cubicBezTo>
                <a:cubicBezTo>
                  <a:pt x="2846486" y="346026"/>
                  <a:pt x="2811214" y="333004"/>
                  <a:pt x="2780556" y="318567"/>
                </a:cubicBezTo>
                <a:cubicBezTo>
                  <a:pt x="2749897" y="304131"/>
                  <a:pt x="2725787" y="285304"/>
                  <a:pt x="2708225" y="262087"/>
                </a:cubicBezTo>
                <a:cubicBezTo>
                  <a:pt x="2690663" y="238870"/>
                  <a:pt x="2681883" y="208211"/>
                  <a:pt x="2681883" y="170111"/>
                </a:cubicBezTo>
                <a:cubicBezTo>
                  <a:pt x="2681883" y="129332"/>
                  <a:pt x="2692003" y="96441"/>
                  <a:pt x="2712244" y="71438"/>
                </a:cubicBezTo>
                <a:cubicBezTo>
                  <a:pt x="2732484" y="46435"/>
                  <a:pt x="2759869" y="28278"/>
                  <a:pt x="2794397" y="16967"/>
                </a:cubicBezTo>
                <a:cubicBezTo>
                  <a:pt x="2828926" y="5656"/>
                  <a:pt x="2868067" y="0"/>
                  <a:pt x="2911822" y="0"/>
                </a:cubicBezTo>
                <a:close/>
              </a:path>
            </a:pathLst>
          </a:cu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3301490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040F-D70D-C765-8B2A-F893F2119565}"/>
              </a:ext>
            </a:extLst>
          </p:cNvPr>
          <p:cNvSpPr>
            <a:spLocks noGrp="1"/>
          </p:cNvSpPr>
          <p:nvPr>
            <p:ph type="title"/>
          </p:nvPr>
        </p:nvSpPr>
        <p:spPr/>
        <p:txBody>
          <a:bodyPr/>
          <a:lstStyle/>
          <a:p>
            <a:r>
              <a:rPr lang="en-AU" dirty="0"/>
              <a:t>Financing Gap</a:t>
            </a:r>
          </a:p>
        </p:txBody>
      </p:sp>
      <p:sp>
        <p:nvSpPr>
          <p:cNvPr id="5" name="Content Placeholder 4">
            <a:extLst>
              <a:ext uri="{FF2B5EF4-FFF2-40B4-BE49-F238E27FC236}">
                <a16:creationId xmlns:a16="http://schemas.microsoft.com/office/drawing/2014/main" id="{E763E404-30DA-4EAD-F027-E9A370EDB96C}"/>
              </a:ext>
            </a:extLst>
          </p:cNvPr>
          <p:cNvSpPr>
            <a:spLocks noGrp="1"/>
          </p:cNvSpPr>
          <p:nvPr>
            <p:ph idx="4294967295"/>
          </p:nvPr>
        </p:nvSpPr>
        <p:spPr>
          <a:xfrm>
            <a:off x="5249688" y="1659446"/>
            <a:ext cx="6561312" cy="4995862"/>
          </a:xfrm>
        </p:spPr>
        <p:txBody>
          <a:bodyPr>
            <a:normAutofit fontScale="92500" lnSpcReduction="10000"/>
          </a:bodyPr>
          <a:lstStyle/>
          <a:p>
            <a:r>
              <a:rPr lang="en-US" sz="1800" dirty="0">
                <a:latin typeface="Aptos ExtraBold" panose="020B0004020202020204" pitchFamily="34" charset="0"/>
              </a:rPr>
              <a:t>Massive Investment Required: </a:t>
            </a:r>
            <a:r>
              <a:rPr lang="en-US" sz="1800" dirty="0"/>
              <a:t>Achieving net zero globally will require trillions of dollars in investments across sectors, particularly in renewable energy, sustainable infrastructure, and adaptation projects.</a:t>
            </a:r>
          </a:p>
          <a:p>
            <a:r>
              <a:rPr lang="en-US" sz="1800" dirty="0">
                <a:latin typeface="Aptos ExtraBold" panose="020B0004020202020204" pitchFamily="34" charset="0"/>
              </a:rPr>
              <a:t>Public- Private Finance Balance</a:t>
            </a:r>
            <a:r>
              <a:rPr lang="en-US" sz="1800" dirty="0"/>
              <a:t>: The private sector must play a central role in meeting climate investment needs. However, public finance (from developed countries and multilateral development banks) is essential to reduce the cost of capital and attract private investors, especially in higher-risk developing countries.</a:t>
            </a:r>
          </a:p>
          <a:p>
            <a:r>
              <a:rPr lang="en-US" sz="1800" b="1" dirty="0">
                <a:latin typeface="Aptos ExtraBold" panose="020B0004020202020204" pitchFamily="34" charset="0"/>
              </a:rPr>
              <a:t>Long-term Investment Urgency: </a:t>
            </a:r>
            <a:r>
              <a:rPr lang="en-US" sz="1800" dirty="0"/>
              <a:t>Many investments, such as in renewable energy infrastructure, are capital-intensive and front-loaded. While policies like carbon pricing support the transition, large-scale investments must be made now to meet long-term climate goals.</a:t>
            </a:r>
            <a:endParaRPr lang="en-AU" sz="1800" dirty="0"/>
          </a:p>
        </p:txBody>
      </p:sp>
      <p:pic>
        <p:nvPicPr>
          <p:cNvPr id="3" name="Picture 2">
            <a:extLst>
              <a:ext uri="{FF2B5EF4-FFF2-40B4-BE49-F238E27FC236}">
                <a16:creationId xmlns:a16="http://schemas.microsoft.com/office/drawing/2014/main" id="{F8078A15-584A-AFDC-9B59-627DC76EF049}"/>
              </a:ext>
            </a:extLst>
          </p:cNvPr>
          <p:cNvPicPr>
            <a:picLocks noChangeAspect="1"/>
          </p:cNvPicPr>
          <p:nvPr/>
        </p:nvPicPr>
        <p:blipFill rotWithShape="1">
          <a:blip r:embed="rId2"/>
          <a:srcRect l="47878" t="26823" r="12704" b="6046"/>
          <a:stretch/>
        </p:blipFill>
        <p:spPr>
          <a:xfrm>
            <a:off x="222075" y="1855428"/>
            <a:ext cx="4805917" cy="4603898"/>
          </a:xfrm>
          <a:prstGeom prst="rect">
            <a:avLst/>
          </a:prstGeom>
        </p:spPr>
      </p:pic>
    </p:spTree>
    <p:extLst>
      <p:ext uri="{BB962C8B-B14F-4D97-AF65-F5344CB8AC3E}">
        <p14:creationId xmlns:p14="http://schemas.microsoft.com/office/powerpoint/2010/main" val="3710282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E0BE4-5138-8DB2-D574-6B4CB097892E}"/>
              </a:ext>
            </a:extLst>
          </p:cNvPr>
          <p:cNvSpPr>
            <a:spLocks noGrp="1"/>
          </p:cNvSpPr>
          <p:nvPr>
            <p:ph type="ctrTitle"/>
          </p:nvPr>
        </p:nvSpPr>
        <p:spPr/>
        <p:txBody>
          <a:bodyPr>
            <a:normAutofit fontScale="90000"/>
          </a:bodyPr>
          <a:lstStyle/>
          <a:p>
            <a:r>
              <a:rPr lang="en-US" dirty="0"/>
              <a:t>Challenges for Developing Countries</a:t>
            </a:r>
          </a:p>
        </p:txBody>
      </p:sp>
      <p:sp>
        <p:nvSpPr>
          <p:cNvPr id="3" name="Content Placeholder 2">
            <a:extLst>
              <a:ext uri="{FF2B5EF4-FFF2-40B4-BE49-F238E27FC236}">
                <a16:creationId xmlns:a16="http://schemas.microsoft.com/office/drawing/2014/main" id="{CB9734CB-D911-E328-3CE9-BDDB848BEF80}"/>
              </a:ext>
            </a:extLst>
          </p:cNvPr>
          <p:cNvSpPr>
            <a:spLocks noGrp="1"/>
          </p:cNvSpPr>
          <p:nvPr>
            <p:ph sz="half" idx="2"/>
          </p:nvPr>
        </p:nvSpPr>
        <p:spPr>
          <a:xfrm>
            <a:off x="4518837" y="311535"/>
            <a:ext cx="7283303" cy="6069330"/>
          </a:xfrm>
        </p:spPr>
        <p:txBody>
          <a:bodyPr>
            <a:normAutofit fontScale="92500" lnSpcReduction="20000"/>
          </a:bodyPr>
          <a:lstStyle/>
          <a:p>
            <a:r>
              <a:rPr lang="en-US" sz="1900" dirty="0">
                <a:latin typeface="Aptos ExtraBold" panose="020B0004020202020204" pitchFamily="34" charset="0"/>
              </a:rPr>
              <a:t>High Cost of Capital: </a:t>
            </a:r>
            <a:r>
              <a:rPr lang="en-US" sz="1900" dirty="0"/>
              <a:t>Developing economies face significantly higher capital costs due to perceived risks like political instability, weaker regulatory frameworks, and market volatility. This makes it harder to attract private investment.</a:t>
            </a:r>
          </a:p>
          <a:p>
            <a:r>
              <a:rPr lang="en-US" sz="1900" dirty="0">
                <a:latin typeface="Aptos ExtraBold" panose="020B0004020202020204" pitchFamily="34" charset="0"/>
              </a:rPr>
              <a:t>Limited Policy and Regulatory Capacity: </a:t>
            </a:r>
            <a:r>
              <a:rPr lang="en-US" sz="1900" dirty="0"/>
              <a:t>Inadequate policy frameworks and regulatory uncertainty reduce investor confidence. Strengthening these areas is critical to enabling large-scale renewable energy projects and other climate investments.</a:t>
            </a:r>
          </a:p>
          <a:p>
            <a:r>
              <a:rPr lang="en-US" sz="1900" dirty="0">
                <a:latin typeface="Aptos ExtraBold" panose="020B0004020202020204" pitchFamily="34" charset="0"/>
              </a:rPr>
              <a:t>Debt Constraints: </a:t>
            </a:r>
            <a:r>
              <a:rPr lang="en-US" sz="1900" dirty="0"/>
              <a:t>Many developing countries are constrained by debt burdens, limiting their ability to invest in climate projects. Despite this, many mitigation investments offer positive long-term returns, which should be factored into debt sustainability assessments.</a:t>
            </a:r>
          </a:p>
          <a:p>
            <a:r>
              <a:rPr lang="en-US" sz="1900" dirty="0">
                <a:latin typeface="Aptos ExtraBold" panose="020B0004020202020204" pitchFamily="34" charset="0"/>
              </a:rPr>
              <a:t>Innovation Gaps: </a:t>
            </a:r>
            <a:r>
              <a:rPr lang="en-US" sz="1900" dirty="0"/>
              <a:t>Outside of China, developing countries contribute minimally to global clean energy R&amp;D. This underinvestment in innovation creates delays in the adoption of clean technologies, which further slows the transition to low-carbon economies.</a:t>
            </a:r>
          </a:p>
        </p:txBody>
      </p:sp>
    </p:spTree>
    <p:extLst>
      <p:ext uri="{BB962C8B-B14F-4D97-AF65-F5344CB8AC3E}">
        <p14:creationId xmlns:p14="http://schemas.microsoft.com/office/powerpoint/2010/main" val="3546155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F497FC-C171-4A9F-E2E2-416C5C6B982A}"/>
              </a:ext>
            </a:extLst>
          </p:cNvPr>
          <p:cNvPicPr>
            <a:picLocks noChangeAspect="1"/>
          </p:cNvPicPr>
          <p:nvPr/>
        </p:nvPicPr>
        <p:blipFill>
          <a:blip r:embed="rId2"/>
          <a:srcRect l="24753" t="27145" r="19520" b="17129"/>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6B2BC92-C493-4995-F532-7E71ADAF20E0}"/>
              </a:ext>
            </a:extLst>
          </p:cNvPr>
          <p:cNvSpPr/>
          <p:nvPr/>
        </p:nvSpPr>
        <p:spPr>
          <a:xfrm>
            <a:off x="202723" y="1630538"/>
            <a:ext cx="5044807" cy="4567095"/>
          </a:xfrm>
          <a:prstGeom prst="rect">
            <a:avLst/>
          </a:prstGeom>
          <a:solidFill>
            <a:srgbClr val="FFFFFF">
              <a:alpha val="7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A42CB6E-F045-AE41-AA24-4E91DCE34050}"/>
              </a:ext>
            </a:extLst>
          </p:cNvPr>
          <p:cNvSpPr txBox="1">
            <a:spLocks/>
          </p:cNvSpPr>
          <p:nvPr/>
        </p:nvSpPr>
        <p:spPr>
          <a:xfrm>
            <a:off x="672862" y="451137"/>
            <a:ext cx="10846276" cy="1066818"/>
          </a:xfrm>
          <a:prstGeom prst="rect">
            <a:avLst/>
          </a:prstGeom>
        </p:spPr>
        <p:txBody>
          <a:bodyPr lIns="91440" tIns="45720" rIns="91440" bIns="45720" anchor="t">
            <a:normAutofit fontScale="97500"/>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buClrTx/>
              <a:buFontTx/>
            </a:pPr>
            <a:r>
              <a:rPr lang="en-AU" dirty="0">
                <a:solidFill>
                  <a:srgbClr val="FFFFFF"/>
                </a:solidFill>
                <a:latin typeface="Aptos"/>
              </a:rPr>
              <a:t>Example: Ukraine’s Investment Needs</a:t>
            </a:r>
            <a:endParaRPr lang="en-US">
              <a:solidFill>
                <a:srgbClr val="FFFFFF"/>
              </a:solidFill>
            </a:endParaRPr>
          </a:p>
        </p:txBody>
      </p:sp>
      <p:sp>
        <p:nvSpPr>
          <p:cNvPr id="5" name="Google Shape;427;g2c650aad0c2_0_13">
            <a:extLst>
              <a:ext uri="{FF2B5EF4-FFF2-40B4-BE49-F238E27FC236}">
                <a16:creationId xmlns:a16="http://schemas.microsoft.com/office/drawing/2014/main" id="{DEAC21ED-3273-DFB7-8E8B-8EED58100472}"/>
              </a:ext>
            </a:extLst>
          </p:cNvPr>
          <p:cNvSpPr txBox="1">
            <a:spLocks/>
          </p:cNvSpPr>
          <p:nvPr/>
        </p:nvSpPr>
        <p:spPr>
          <a:xfrm>
            <a:off x="318976" y="1816801"/>
            <a:ext cx="4752753" cy="4211859"/>
          </a:xfrm>
          <a:prstGeom prst="rect">
            <a:avLst/>
          </a:prstGeom>
        </p:spPr>
        <p:txBody>
          <a:bodyPr spcFirstLastPara="1" wrap="square" lIns="91425" tIns="45700" rIns="91425" bIns="45700" anchor="t" anchorCtr="0">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Tx/>
              <a:buFont typeface="+mj-lt"/>
              <a:buAutoNum type="arabicPeriod"/>
            </a:pPr>
            <a:r>
              <a:rPr lang="en-US" sz="1800" b="1" dirty="0">
                <a:solidFill>
                  <a:srgbClr val="025353"/>
                </a:solidFill>
                <a:latin typeface="+mn-lt"/>
              </a:rPr>
              <a:t>NZ Investment</a:t>
            </a:r>
            <a:r>
              <a:rPr lang="en-US" sz="1800" dirty="0">
                <a:solidFill>
                  <a:srgbClr val="025353"/>
                </a:solidFill>
                <a:latin typeface="+mn-lt"/>
              </a:rPr>
              <a:t>: </a:t>
            </a:r>
            <a:r>
              <a:rPr lang="en-US" sz="1800" dirty="0">
                <a:latin typeface="+mn-lt"/>
              </a:rPr>
              <a:t>Approximately 50% higher than the Reference scenario.</a:t>
            </a:r>
          </a:p>
          <a:p>
            <a:pPr marL="342900" indent="-342900">
              <a:buClrTx/>
              <a:buFont typeface="+mj-lt"/>
              <a:buAutoNum type="arabicPeriod"/>
            </a:pPr>
            <a:r>
              <a:rPr lang="en-US" sz="1800" b="1" dirty="0">
                <a:solidFill>
                  <a:srgbClr val="025353"/>
                </a:solidFill>
                <a:latin typeface="+mn-lt"/>
              </a:rPr>
              <a:t>Key Areas</a:t>
            </a:r>
            <a:r>
              <a:rPr lang="en-US" sz="1800" b="1" dirty="0">
                <a:latin typeface="+mn-lt"/>
              </a:rPr>
              <a:t>: </a:t>
            </a:r>
            <a:r>
              <a:rPr lang="en-US" sz="1800" dirty="0">
                <a:latin typeface="+mn-lt"/>
              </a:rPr>
              <a:t>Electric and clean-fueled vehicles; Building upgrades; Installation of clean heating systems; New renewable and nuclear power plants.</a:t>
            </a:r>
          </a:p>
          <a:p>
            <a:pPr marL="342900" indent="-342900">
              <a:buClrTx/>
              <a:buFont typeface="+mj-lt"/>
              <a:buAutoNum type="arabicPeriod"/>
            </a:pPr>
            <a:r>
              <a:rPr lang="en-US" sz="1800" dirty="0">
                <a:latin typeface="+mn-lt"/>
              </a:rPr>
              <a:t>Estimated at </a:t>
            </a:r>
            <a:r>
              <a:rPr lang="en-US" sz="1800" b="1" dirty="0">
                <a:solidFill>
                  <a:srgbClr val="025353"/>
                </a:solidFill>
                <a:latin typeface="+mn-lt"/>
              </a:rPr>
              <a:t>€300 billion for 2028-2032 </a:t>
            </a:r>
            <a:r>
              <a:rPr lang="en-US" sz="1800" dirty="0">
                <a:latin typeface="+mn-lt"/>
              </a:rPr>
              <a:t>to meet increased demand for energy services, industrial facilities, and clean power. Gradual decrease as the clean energy economy matures.</a:t>
            </a:r>
          </a:p>
        </p:txBody>
      </p:sp>
      <p:sp>
        <p:nvSpPr>
          <p:cNvPr id="12" name="TextBox 11">
            <a:extLst>
              <a:ext uri="{FF2B5EF4-FFF2-40B4-BE49-F238E27FC236}">
                <a16:creationId xmlns:a16="http://schemas.microsoft.com/office/drawing/2014/main" id="{FA0036FF-938A-FAA6-30A6-EEF2B3DA2790}"/>
              </a:ext>
            </a:extLst>
          </p:cNvPr>
          <p:cNvSpPr txBox="1"/>
          <p:nvPr/>
        </p:nvSpPr>
        <p:spPr>
          <a:xfrm>
            <a:off x="5450253" y="1630538"/>
            <a:ext cx="6539024" cy="338554"/>
          </a:xfrm>
          <a:prstGeom prst="rect">
            <a:avLst/>
          </a:prstGeom>
          <a:solidFill>
            <a:srgbClr val="025353"/>
          </a:solidFill>
          <a:ln>
            <a:noFill/>
          </a:ln>
        </p:spPr>
        <p:txBody>
          <a:bodyPr wrap="square">
            <a:spAutoFit/>
          </a:bodyPr>
          <a:lstStyle/>
          <a:p>
            <a:pPr marL="0" indent="0" algn="ctr">
              <a:buClrTx/>
              <a:buNone/>
            </a:pPr>
            <a:r>
              <a:rPr lang="en-GB" sz="1600" b="1" dirty="0">
                <a:solidFill>
                  <a:schemeClr val="tx1"/>
                </a:solidFill>
                <a:latin typeface="Aptos" panose="020B0004020202020204" pitchFamily="34" charset="0"/>
              </a:rPr>
              <a:t>Total Investment Needs by Sector</a:t>
            </a:r>
          </a:p>
        </p:txBody>
      </p:sp>
      <p:pic>
        <p:nvPicPr>
          <p:cNvPr id="7" name="Picture 6">
            <a:extLst>
              <a:ext uri="{FF2B5EF4-FFF2-40B4-BE49-F238E27FC236}">
                <a16:creationId xmlns:a16="http://schemas.microsoft.com/office/drawing/2014/main" id="{8CB53AAC-8B89-EE3D-A23E-4B6F7B72730A}"/>
              </a:ext>
            </a:extLst>
          </p:cNvPr>
          <p:cNvPicPr>
            <a:picLocks noChangeAspect="1"/>
          </p:cNvPicPr>
          <p:nvPr/>
        </p:nvPicPr>
        <p:blipFill>
          <a:blip r:embed="rId3"/>
          <a:srcRect l="32878" t="26492" r="13488" b="11318"/>
          <a:stretch/>
        </p:blipFill>
        <p:spPr>
          <a:xfrm>
            <a:off x="5450253" y="1932610"/>
            <a:ext cx="6539024" cy="4265023"/>
          </a:xfrm>
          <a:prstGeom prst="rect">
            <a:avLst/>
          </a:prstGeom>
        </p:spPr>
      </p:pic>
    </p:spTree>
    <p:extLst>
      <p:ext uri="{BB962C8B-B14F-4D97-AF65-F5344CB8AC3E}">
        <p14:creationId xmlns:p14="http://schemas.microsoft.com/office/powerpoint/2010/main" val="2747059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6" name="Freeform: Shape 5">
            <a:extLst>
              <a:ext uri="{FF2B5EF4-FFF2-40B4-BE49-F238E27FC236}">
                <a16:creationId xmlns:a16="http://schemas.microsoft.com/office/drawing/2014/main" id="{4AA5AA53-42AB-8DCB-4422-B12CBED6D900}"/>
              </a:ext>
            </a:extLst>
          </p:cNvPr>
          <p:cNvSpPr/>
          <p:nvPr/>
        </p:nvSpPr>
        <p:spPr>
          <a:xfrm>
            <a:off x="3348664" y="2463586"/>
            <a:ext cx="5503068" cy="1712417"/>
          </a:xfrm>
          <a:custGeom>
            <a:avLst/>
            <a:gdLst/>
            <a:ahLst/>
            <a:cxnLst/>
            <a:rect l="l" t="t" r="r" b="b"/>
            <a:pathLst>
              <a:path w="5503068" h="1712417">
                <a:moveTo>
                  <a:pt x="2540496" y="1245394"/>
                </a:moveTo>
                <a:lnTo>
                  <a:pt x="2472184" y="1467743"/>
                </a:lnTo>
                <a:lnTo>
                  <a:pt x="2608808" y="1467743"/>
                </a:lnTo>
                <a:close/>
                <a:moveTo>
                  <a:pt x="4216747" y="1103412"/>
                </a:moveTo>
                <a:lnTo>
                  <a:pt x="4627959" y="1103412"/>
                </a:lnTo>
                <a:lnTo>
                  <a:pt x="4627959" y="1222177"/>
                </a:lnTo>
                <a:lnTo>
                  <a:pt x="4360069" y="1222177"/>
                </a:lnTo>
                <a:lnTo>
                  <a:pt x="4360069" y="1341388"/>
                </a:lnTo>
                <a:lnTo>
                  <a:pt x="4601170" y="1341388"/>
                </a:lnTo>
                <a:lnTo>
                  <a:pt x="4601170" y="1455688"/>
                </a:lnTo>
                <a:lnTo>
                  <a:pt x="4360069" y="1455688"/>
                </a:lnTo>
                <a:lnTo>
                  <a:pt x="4360069" y="1585615"/>
                </a:lnTo>
                <a:lnTo>
                  <a:pt x="4627959" y="1585615"/>
                </a:lnTo>
                <a:lnTo>
                  <a:pt x="4627959" y="1704380"/>
                </a:lnTo>
                <a:lnTo>
                  <a:pt x="4216747" y="1704380"/>
                </a:lnTo>
                <a:close/>
                <a:moveTo>
                  <a:pt x="2902297" y="1103412"/>
                </a:moveTo>
                <a:lnTo>
                  <a:pt x="3041600" y="1103412"/>
                </a:lnTo>
                <a:lnTo>
                  <a:pt x="3296543" y="1478906"/>
                </a:lnTo>
                <a:lnTo>
                  <a:pt x="3296543" y="1103412"/>
                </a:lnTo>
                <a:lnTo>
                  <a:pt x="3431828" y="1103412"/>
                </a:lnTo>
                <a:lnTo>
                  <a:pt x="3431828" y="1704380"/>
                </a:lnTo>
                <a:lnTo>
                  <a:pt x="3292078" y="1704380"/>
                </a:lnTo>
                <a:lnTo>
                  <a:pt x="3036243" y="1325761"/>
                </a:lnTo>
                <a:lnTo>
                  <a:pt x="3036243" y="1704380"/>
                </a:lnTo>
                <a:lnTo>
                  <a:pt x="2902297" y="1704380"/>
                </a:lnTo>
                <a:close/>
                <a:moveTo>
                  <a:pt x="2465040" y="1103412"/>
                </a:moveTo>
                <a:lnTo>
                  <a:pt x="2615506" y="1103412"/>
                </a:lnTo>
                <a:lnTo>
                  <a:pt x="2830265" y="1704380"/>
                </a:lnTo>
                <a:lnTo>
                  <a:pt x="2680246" y="1704380"/>
                </a:lnTo>
                <a:lnTo>
                  <a:pt x="2642741" y="1586955"/>
                </a:lnTo>
                <a:lnTo>
                  <a:pt x="2438698" y="1586955"/>
                </a:lnTo>
                <a:lnTo>
                  <a:pt x="2401193" y="1704380"/>
                </a:lnTo>
                <a:lnTo>
                  <a:pt x="2252514" y="1704380"/>
                </a:lnTo>
                <a:close/>
                <a:moveTo>
                  <a:pt x="1654523" y="1103412"/>
                </a:moveTo>
                <a:lnTo>
                  <a:pt x="1793825" y="1103412"/>
                </a:lnTo>
                <a:lnTo>
                  <a:pt x="2048768" y="1478906"/>
                </a:lnTo>
                <a:lnTo>
                  <a:pt x="2048768" y="1103412"/>
                </a:lnTo>
                <a:lnTo>
                  <a:pt x="2184053" y="1103412"/>
                </a:lnTo>
                <a:lnTo>
                  <a:pt x="2184053" y="1704380"/>
                </a:lnTo>
                <a:lnTo>
                  <a:pt x="2044303" y="1704380"/>
                </a:lnTo>
                <a:lnTo>
                  <a:pt x="1788468" y="1325761"/>
                </a:lnTo>
                <a:lnTo>
                  <a:pt x="1788468" y="1704380"/>
                </a:lnTo>
                <a:lnTo>
                  <a:pt x="1654523" y="1704380"/>
                </a:lnTo>
                <a:close/>
                <a:moveTo>
                  <a:pt x="1378297" y="1103412"/>
                </a:moveTo>
                <a:lnTo>
                  <a:pt x="1521619" y="1103412"/>
                </a:lnTo>
                <a:lnTo>
                  <a:pt x="1521619" y="1704380"/>
                </a:lnTo>
                <a:lnTo>
                  <a:pt x="1378297" y="1704380"/>
                </a:lnTo>
                <a:close/>
                <a:moveTo>
                  <a:pt x="882997" y="1103412"/>
                </a:moveTo>
                <a:lnTo>
                  <a:pt x="1283494" y="1103412"/>
                </a:lnTo>
                <a:lnTo>
                  <a:pt x="1283494" y="1222177"/>
                </a:lnTo>
                <a:lnTo>
                  <a:pt x="1026319" y="1222177"/>
                </a:lnTo>
                <a:lnTo>
                  <a:pt x="1026319" y="1342281"/>
                </a:lnTo>
                <a:lnTo>
                  <a:pt x="1255812" y="1342281"/>
                </a:lnTo>
                <a:lnTo>
                  <a:pt x="1255812" y="1455688"/>
                </a:lnTo>
                <a:lnTo>
                  <a:pt x="1026319" y="1455688"/>
                </a:lnTo>
                <a:lnTo>
                  <a:pt x="1026319" y="1704380"/>
                </a:lnTo>
                <a:lnTo>
                  <a:pt x="882997" y="1704380"/>
                </a:lnTo>
                <a:close/>
                <a:moveTo>
                  <a:pt x="3837831" y="1095376"/>
                </a:moveTo>
                <a:cubicBezTo>
                  <a:pt x="3887242" y="1095376"/>
                  <a:pt x="3932411" y="1103859"/>
                  <a:pt x="3973339" y="1120825"/>
                </a:cubicBezTo>
                <a:cubicBezTo>
                  <a:pt x="4014267" y="1137792"/>
                  <a:pt x="4047158" y="1162646"/>
                  <a:pt x="4072012" y="1195388"/>
                </a:cubicBezTo>
                <a:cubicBezTo>
                  <a:pt x="4096866" y="1228130"/>
                  <a:pt x="4110038" y="1268016"/>
                  <a:pt x="4111526" y="1315046"/>
                </a:cubicBezTo>
                <a:lnTo>
                  <a:pt x="3964186" y="1315046"/>
                </a:lnTo>
                <a:cubicBezTo>
                  <a:pt x="3960912" y="1293019"/>
                  <a:pt x="3953694" y="1274639"/>
                  <a:pt x="3942532" y="1259905"/>
                </a:cubicBezTo>
                <a:cubicBezTo>
                  <a:pt x="3931370" y="1245171"/>
                  <a:pt x="3916859" y="1234083"/>
                  <a:pt x="3898999" y="1226642"/>
                </a:cubicBezTo>
                <a:cubicBezTo>
                  <a:pt x="3881140" y="1219201"/>
                  <a:pt x="3860751" y="1215480"/>
                  <a:pt x="3837831" y="1215480"/>
                </a:cubicBezTo>
                <a:cubicBezTo>
                  <a:pt x="3802112" y="1215480"/>
                  <a:pt x="3773463" y="1224410"/>
                  <a:pt x="3751883" y="1242269"/>
                </a:cubicBezTo>
                <a:cubicBezTo>
                  <a:pt x="3730303" y="1260128"/>
                  <a:pt x="3714676" y="1283345"/>
                  <a:pt x="3705002" y="1311920"/>
                </a:cubicBezTo>
                <a:cubicBezTo>
                  <a:pt x="3695328" y="1340495"/>
                  <a:pt x="3690491" y="1371303"/>
                  <a:pt x="3690491" y="1404343"/>
                </a:cubicBezTo>
                <a:cubicBezTo>
                  <a:pt x="3690491" y="1437085"/>
                  <a:pt x="3695328" y="1467818"/>
                  <a:pt x="3705002" y="1496542"/>
                </a:cubicBezTo>
                <a:cubicBezTo>
                  <a:pt x="3714676" y="1525266"/>
                  <a:pt x="3730303" y="1548483"/>
                  <a:pt x="3751883" y="1566193"/>
                </a:cubicBezTo>
                <a:cubicBezTo>
                  <a:pt x="3773463" y="1583904"/>
                  <a:pt x="3802112" y="1592759"/>
                  <a:pt x="3837831" y="1592759"/>
                </a:cubicBezTo>
                <a:cubicBezTo>
                  <a:pt x="3876526" y="1592759"/>
                  <a:pt x="3906515" y="1582713"/>
                  <a:pt x="3927798" y="1562621"/>
                </a:cubicBezTo>
                <a:cubicBezTo>
                  <a:pt x="3949080" y="1542530"/>
                  <a:pt x="3961210" y="1514624"/>
                  <a:pt x="3964186" y="1478906"/>
                </a:cubicBezTo>
                <a:lnTo>
                  <a:pt x="4111972" y="1478906"/>
                </a:lnTo>
                <a:cubicBezTo>
                  <a:pt x="4108698" y="1528614"/>
                  <a:pt x="4095973" y="1570807"/>
                  <a:pt x="4073798" y="1605484"/>
                </a:cubicBezTo>
                <a:cubicBezTo>
                  <a:pt x="4051623" y="1640161"/>
                  <a:pt x="4020741" y="1666652"/>
                  <a:pt x="3981153" y="1684958"/>
                </a:cubicBezTo>
                <a:cubicBezTo>
                  <a:pt x="3941564" y="1703264"/>
                  <a:pt x="3893790" y="1712417"/>
                  <a:pt x="3837831" y="1712417"/>
                </a:cubicBezTo>
                <a:cubicBezTo>
                  <a:pt x="3777704" y="1712417"/>
                  <a:pt x="3725540" y="1699841"/>
                  <a:pt x="3681338" y="1674689"/>
                </a:cubicBezTo>
                <a:cubicBezTo>
                  <a:pt x="3637136" y="1649537"/>
                  <a:pt x="3602980" y="1613967"/>
                  <a:pt x="3578870" y="1567979"/>
                </a:cubicBezTo>
                <a:cubicBezTo>
                  <a:pt x="3554760" y="1521991"/>
                  <a:pt x="3542705" y="1467446"/>
                  <a:pt x="3542705" y="1404343"/>
                </a:cubicBezTo>
                <a:cubicBezTo>
                  <a:pt x="3542705" y="1340942"/>
                  <a:pt x="3554760" y="1286173"/>
                  <a:pt x="3578870" y="1240036"/>
                </a:cubicBezTo>
                <a:cubicBezTo>
                  <a:pt x="3602980" y="1193900"/>
                  <a:pt x="3637136" y="1158255"/>
                  <a:pt x="3681338" y="1133103"/>
                </a:cubicBezTo>
                <a:cubicBezTo>
                  <a:pt x="3725540" y="1107952"/>
                  <a:pt x="3777704" y="1095376"/>
                  <a:pt x="3837831" y="1095376"/>
                </a:cubicBezTo>
                <a:close/>
                <a:moveTo>
                  <a:pt x="2055019" y="126802"/>
                </a:moveTo>
                <a:lnTo>
                  <a:pt x="2055019" y="271017"/>
                </a:lnTo>
                <a:lnTo>
                  <a:pt x="2142083" y="271017"/>
                </a:lnTo>
                <a:cubicBezTo>
                  <a:pt x="2160538" y="271017"/>
                  <a:pt x="2176091" y="268189"/>
                  <a:pt x="2188741" y="262533"/>
                </a:cubicBezTo>
                <a:cubicBezTo>
                  <a:pt x="2201391" y="256878"/>
                  <a:pt x="2210991" y="248469"/>
                  <a:pt x="2217539" y="237307"/>
                </a:cubicBezTo>
                <a:cubicBezTo>
                  <a:pt x="2224088" y="226145"/>
                  <a:pt x="2227362" y="212527"/>
                  <a:pt x="2227362" y="196454"/>
                </a:cubicBezTo>
                <a:cubicBezTo>
                  <a:pt x="2227362" y="172641"/>
                  <a:pt x="2220069" y="155080"/>
                  <a:pt x="2205485" y="143768"/>
                </a:cubicBezTo>
                <a:cubicBezTo>
                  <a:pt x="2190899" y="132457"/>
                  <a:pt x="2172743" y="126802"/>
                  <a:pt x="2151013" y="126802"/>
                </a:cubicBezTo>
                <a:close/>
                <a:moveTo>
                  <a:pt x="4695081" y="120105"/>
                </a:moveTo>
                <a:cubicBezTo>
                  <a:pt x="4659362" y="120105"/>
                  <a:pt x="4630713" y="128663"/>
                  <a:pt x="4609133" y="145778"/>
                </a:cubicBezTo>
                <a:cubicBezTo>
                  <a:pt x="4587552" y="162893"/>
                  <a:pt x="4571925" y="185738"/>
                  <a:pt x="4562252" y="214313"/>
                </a:cubicBezTo>
                <a:cubicBezTo>
                  <a:pt x="4552578" y="242888"/>
                  <a:pt x="4547741" y="274440"/>
                  <a:pt x="4547741" y="308968"/>
                </a:cubicBezTo>
                <a:cubicBezTo>
                  <a:pt x="4547741" y="342901"/>
                  <a:pt x="4552578" y="374154"/>
                  <a:pt x="4562252" y="402729"/>
                </a:cubicBezTo>
                <a:cubicBezTo>
                  <a:pt x="4571925" y="431305"/>
                  <a:pt x="4587552" y="454224"/>
                  <a:pt x="4609133" y="471488"/>
                </a:cubicBezTo>
                <a:cubicBezTo>
                  <a:pt x="4630713" y="488752"/>
                  <a:pt x="4659362" y="497384"/>
                  <a:pt x="4695081" y="497384"/>
                </a:cubicBezTo>
                <a:cubicBezTo>
                  <a:pt x="4730502" y="497384"/>
                  <a:pt x="4758928" y="488752"/>
                  <a:pt x="4780359" y="471488"/>
                </a:cubicBezTo>
                <a:cubicBezTo>
                  <a:pt x="4801791" y="454224"/>
                  <a:pt x="4817417" y="431305"/>
                  <a:pt x="4827240" y="402729"/>
                </a:cubicBezTo>
                <a:cubicBezTo>
                  <a:pt x="4837063" y="374154"/>
                  <a:pt x="4841974" y="342901"/>
                  <a:pt x="4841974" y="308968"/>
                </a:cubicBezTo>
                <a:cubicBezTo>
                  <a:pt x="4841974" y="274440"/>
                  <a:pt x="4837063" y="242888"/>
                  <a:pt x="4827240" y="214313"/>
                </a:cubicBezTo>
                <a:cubicBezTo>
                  <a:pt x="4817417" y="185738"/>
                  <a:pt x="4801791" y="162893"/>
                  <a:pt x="4780359" y="145778"/>
                </a:cubicBezTo>
                <a:cubicBezTo>
                  <a:pt x="4758928" y="128663"/>
                  <a:pt x="4730502" y="120105"/>
                  <a:pt x="4695081" y="120105"/>
                </a:cubicBezTo>
                <a:close/>
                <a:moveTo>
                  <a:pt x="866031" y="120105"/>
                </a:moveTo>
                <a:cubicBezTo>
                  <a:pt x="830312" y="120105"/>
                  <a:pt x="801663" y="128663"/>
                  <a:pt x="780083" y="145778"/>
                </a:cubicBezTo>
                <a:cubicBezTo>
                  <a:pt x="758503" y="162893"/>
                  <a:pt x="742876" y="185738"/>
                  <a:pt x="733202" y="214313"/>
                </a:cubicBezTo>
                <a:cubicBezTo>
                  <a:pt x="723528" y="242888"/>
                  <a:pt x="718691" y="274440"/>
                  <a:pt x="718691" y="308968"/>
                </a:cubicBezTo>
                <a:cubicBezTo>
                  <a:pt x="718691" y="342901"/>
                  <a:pt x="723528" y="374154"/>
                  <a:pt x="733202" y="402729"/>
                </a:cubicBezTo>
                <a:cubicBezTo>
                  <a:pt x="742876" y="431305"/>
                  <a:pt x="758503" y="454224"/>
                  <a:pt x="780083" y="471488"/>
                </a:cubicBezTo>
                <a:cubicBezTo>
                  <a:pt x="801663" y="488752"/>
                  <a:pt x="830312" y="497384"/>
                  <a:pt x="866031" y="497384"/>
                </a:cubicBezTo>
                <a:cubicBezTo>
                  <a:pt x="901452" y="497384"/>
                  <a:pt x="929879" y="488752"/>
                  <a:pt x="951310" y="471488"/>
                </a:cubicBezTo>
                <a:cubicBezTo>
                  <a:pt x="972741" y="454224"/>
                  <a:pt x="988368" y="431305"/>
                  <a:pt x="998190" y="402729"/>
                </a:cubicBezTo>
                <a:cubicBezTo>
                  <a:pt x="1008013" y="374154"/>
                  <a:pt x="1012924" y="342901"/>
                  <a:pt x="1012924" y="308968"/>
                </a:cubicBezTo>
                <a:cubicBezTo>
                  <a:pt x="1012924" y="274440"/>
                  <a:pt x="1008013" y="242888"/>
                  <a:pt x="998190" y="214313"/>
                </a:cubicBezTo>
                <a:cubicBezTo>
                  <a:pt x="988368" y="185738"/>
                  <a:pt x="972741" y="162893"/>
                  <a:pt x="951310" y="145778"/>
                </a:cubicBezTo>
                <a:cubicBezTo>
                  <a:pt x="929879" y="128663"/>
                  <a:pt x="901452" y="120105"/>
                  <a:pt x="866031" y="120105"/>
                </a:cubicBezTo>
                <a:close/>
                <a:moveTo>
                  <a:pt x="5102572" y="8037"/>
                </a:moveTo>
                <a:lnTo>
                  <a:pt x="5503068" y="8037"/>
                </a:lnTo>
                <a:lnTo>
                  <a:pt x="5503068" y="126802"/>
                </a:lnTo>
                <a:lnTo>
                  <a:pt x="5245894" y="126802"/>
                </a:lnTo>
                <a:lnTo>
                  <a:pt x="5245894" y="246907"/>
                </a:lnTo>
                <a:lnTo>
                  <a:pt x="5475386" y="246907"/>
                </a:lnTo>
                <a:lnTo>
                  <a:pt x="5475386" y="360313"/>
                </a:lnTo>
                <a:lnTo>
                  <a:pt x="5245894" y="360313"/>
                </a:lnTo>
                <a:lnTo>
                  <a:pt x="5245894" y="609005"/>
                </a:lnTo>
                <a:lnTo>
                  <a:pt x="5102572" y="609005"/>
                </a:lnTo>
                <a:close/>
                <a:moveTo>
                  <a:pt x="3149947" y="8037"/>
                </a:moveTo>
                <a:lnTo>
                  <a:pt x="3561159" y="8037"/>
                </a:lnTo>
                <a:lnTo>
                  <a:pt x="3561159" y="126802"/>
                </a:lnTo>
                <a:lnTo>
                  <a:pt x="3293269" y="126802"/>
                </a:lnTo>
                <a:lnTo>
                  <a:pt x="3293269" y="246013"/>
                </a:lnTo>
                <a:lnTo>
                  <a:pt x="3534370" y="246013"/>
                </a:lnTo>
                <a:lnTo>
                  <a:pt x="3534370" y="360313"/>
                </a:lnTo>
                <a:lnTo>
                  <a:pt x="3293269" y="360313"/>
                </a:lnTo>
                <a:lnTo>
                  <a:pt x="3293269" y="490240"/>
                </a:lnTo>
                <a:lnTo>
                  <a:pt x="3561159" y="490240"/>
                </a:lnTo>
                <a:lnTo>
                  <a:pt x="3561159" y="609005"/>
                </a:lnTo>
                <a:lnTo>
                  <a:pt x="3149947" y="609005"/>
                </a:lnTo>
                <a:close/>
                <a:moveTo>
                  <a:pt x="1911697" y="8037"/>
                </a:moveTo>
                <a:lnTo>
                  <a:pt x="2167086" y="8037"/>
                </a:lnTo>
                <a:cubicBezTo>
                  <a:pt x="2207270" y="8037"/>
                  <a:pt x="2242989" y="13395"/>
                  <a:pt x="2274243" y="24111"/>
                </a:cubicBezTo>
                <a:cubicBezTo>
                  <a:pt x="2305497" y="34826"/>
                  <a:pt x="2330128" y="52463"/>
                  <a:pt x="2348136" y="77019"/>
                </a:cubicBezTo>
                <a:cubicBezTo>
                  <a:pt x="2366144" y="101576"/>
                  <a:pt x="2375148" y="134690"/>
                  <a:pt x="2375148" y="176362"/>
                </a:cubicBezTo>
                <a:cubicBezTo>
                  <a:pt x="2375148" y="214164"/>
                  <a:pt x="2365102" y="246311"/>
                  <a:pt x="2345011" y="272803"/>
                </a:cubicBezTo>
                <a:cubicBezTo>
                  <a:pt x="2324919" y="299294"/>
                  <a:pt x="2294037" y="318493"/>
                  <a:pt x="2252365" y="330399"/>
                </a:cubicBezTo>
                <a:cubicBezTo>
                  <a:pt x="2278856" y="334566"/>
                  <a:pt x="2299841" y="342305"/>
                  <a:pt x="2315319" y="353616"/>
                </a:cubicBezTo>
                <a:cubicBezTo>
                  <a:pt x="2330797" y="364927"/>
                  <a:pt x="2343150" y="380331"/>
                  <a:pt x="2352377" y="399827"/>
                </a:cubicBezTo>
                <a:cubicBezTo>
                  <a:pt x="2361605" y="419324"/>
                  <a:pt x="2370088" y="443360"/>
                  <a:pt x="2377827" y="471934"/>
                </a:cubicBezTo>
                <a:lnTo>
                  <a:pt x="2417564" y="609005"/>
                </a:lnTo>
                <a:lnTo>
                  <a:pt x="2267099" y="609005"/>
                </a:lnTo>
                <a:lnTo>
                  <a:pt x="2241649" y="501849"/>
                </a:lnTo>
                <a:cubicBezTo>
                  <a:pt x="2235399" y="475060"/>
                  <a:pt x="2228478" y="453406"/>
                  <a:pt x="2220888" y="436885"/>
                </a:cubicBezTo>
                <a:cubicBezTo>
                  <a:pt x="2213298" y="420366"/>
                  <a:pt x="2203028" y="408236"/>
                  <a:pt x="2190080" y="400497"/>
                </a:cubicBezTo>
                <a:cubicBezTo>
                  <a:pt x="2177133" y="392758"/>
                  <a:pt x="2159050" y="388888"/>
                  <a:pt x="2135833" y="388888"/>
                </a:cubicBezTo>
                <a:lnTo>
                  <a:pt x="2055019" y="388888"/>
                </a:lnTo>
                <a:lnTo>
                  <a:pt x="2055019" y="609005"/>
                </a:lnTo>
                <a:lnTo>
                  <a:pt x="1911697" y="609005"/>
                </a:lnTo>
                <a:close/>
                <a:moveTo>
                  <a:pt x="1266825" y="8037"/>
                </a:moveTo>
                <a:lnTo>
                  <a:pt x="1414165" y="8037"/>
                </a:lnTo>
                <a:lnTo>
                  <a:pt x="1414165" y="363885"/>
                </a:lnTo>
                <a:cubicBezTo>
                  <a:pt x="1414165" y="407641"/>
                  <a:pt x="1422871" y="441053"/>
                  <a:pt x="1440284" y="464121"/>
                </a:cubicBezTo>
                <a:cubicBezTo>
                  <a:pt x="1457697" y="487190"/>
                  <a:pt x="1486496" y="498724"/>
                  <a:pt x="1526679" y="498724"/>
                </a:cubicBezTo>
                <a:cubicBezTo>
                  <a:pt x="1567160" y="498724"/>
                  <a:pt x="1595661" y="487190"/>
                  <a:pt x="1612181" y="464121"/>
                </a:cubicBezTo>
                <a:cubicBezTo>
                  <a:pt x="1628701" y="441053"/>
                  <a:pt x="1636961" y="407641"/>
                  <a:pt x="1636961" y="363885"/>
                </a:cubicBezTo>
                <a:lnTo>
                  <a:pt x="1636961" y="8037"/>
                </a:lnTo>
                <a:lnTo>
                  <a:pt x="1784747" y="8037"/>
                </a:lnTo>
                <a:lnTo>
                  <a:pt x="1784747" y="363885"/>
                </a:lnTo>
                <a:cubicBezTo>
                  <a:pt x="1784747" y="420142"/>
                  <a:pt x="1775743" y="467098"/>
                  <a:pt x="1757735" y="504751"/>
                </a:cubicBezTo>
                <a:cubicBezTo>
                  <a:pt x="1739726" y="542405"/>
                  <a:pt x="1711672" y="570533"/>
                  <a:pt x="1673572" y="589137"/>
                </a:cubicBezTo>
                <a:cubicBezTo>
                  <a:pt x="1635472" y="607740"/>
                  <a:pt x="1586210" y="617042"/>
                  <a:pt x="1525786" y="617042"/>
                </a:cubicBezTo>
                <a:cubicBezTo>
                  <a:pt x="1465660" y="617042"/>
                  <a:pt x="1416472" y="607740"/>
                  <a:pt x="1378223" y="589137"/>
                </a:cubicBezTo>
                <a:cubicBezTo>
                  <a:pt x="1339974" y="570533"/>
                  <a:pt x="1311846" y="542405"/>
                  <a:pt x="1293837" y="504751"/>
                </a:cubicBezTo>
                <a:cubicBezTo>
                  <a:pt x="1275829" y="467098"/>
                  <a:pt x="1266825" y="420142"/>
                  <a:pt x="1266825" y="363885"/>
                </a:cubicBezTo>
                <a:close/>
                <a:moveTo>
                  <a:pt x="3890070" y="894"/>
                </a:moveTo>
                <a:cubicBezTo>
                  <a:pt x="3932337" y="894"/>
                  <a:pt x="3971107" y="7070"/>
                  <a:pt x="4006379" y="19423"/>
                </a:cubicBezTo>
                <a:cubicBezTo>
                  <a:pt x="4041651" y="31775"/>
                  <a:pt x="4069780" y="50900"/>
                  <a:pt x="4090764" y="76796"/>
                </a:cubicBezTo>
                <a:cubicBezTo>
                  <a:pt x="4111749" y="102692"/>
                  <a:pt x="4122242" y="135881"/>
                  <a:pt x="4122242" y="176362"/>
                </a:cubicBezTo>
                <a:lnTo>
                  <a:pt x="3974902" y="176362"/>
                </a:lnTo>
                <a:cubicBezTo>
                  <a:pt x="3974902" y="154038"/>
                  <a:pt x="3966419" y="137592"/>
                  <a:pt x="3949452" y="127025"/>
                </a:cubicBezTo>
                <a:cubicBezTo>
                  <a:pt x="3932486" y="116458"/>
                  <a:pt x="3912394" y="111175"/>
                  <a:pt x="3889177" y="111175"/>
                </a:cubicBezTo>
                <a:cubicBezTo>
                  <a:pt x="3867448" y="111175"/>
                  <a:pt x="3848472" y="114970"/>
                  <a:pt x="3832250" y="122561"/>
                </a:cubicBezTo>
                <a:cubicBezTo>
                  <a:pt x="3816028" y="130151"/>
                  <a:pt x="3807917" y="142727"/>
                  <a:pt x="3807917" y="160288"/>
                </a:cubicBezTo>
                <a:cubicBezTo>
                  <a:pt x="3807917" y="170111"/>
                  <a:pt x="3811340" y="178966"/>
                  <a:pt x="3818186" y="186854"/>
                </a:cubicBezTo>
                <a:cubicBezTo>
                  <a:pt x="3825032" y="194742"/>
                  <a:pt x="3838054" y="202853"/>
                  <a:pt x="3857253" y="211188"/>
                </a:cubicBezTo>
                <a:cubicBezTo>
                  <a:pt x="3876452" y="219522"/>
                  <a:pt x="3904506" y="229345"/>
                  <a:pt x="3941415" y="240656"/>
                </a:cubicBezTo>
                <a:cubicBezTo>
                  <a:pt x="3986659" y="254348"/>
                  <a:pt x="4023941" y="268710"/>
                  <a:pt x="4053260" y="283741"/>
                </a:cubicBezTo>
                <a:cubicBezTo>
                  <a:pt x="4082579" y="298773"/>
                  <a:pt x="4104382" y="318121"/>
                  <a:pt x="4118670" y="341784"/>
                </a:cubicBezTo>
                <a:cubicBezTo>
                  <a:pt x="4132957" y="365448"/>
                  <a:pt x="4140101" y="396776"/>
                  <a:pt x="4140101" y="435769"/>
                </a:cubicBezTo>
                <a:cubicBezTo>
                  <a:pt x="4140101" y="479525"/>
                  <a:pt x="4129385" y="514723"/>
                  <a:pt x="4107954" y="541363"/>
                </a:cubicBezTo>
                <a:cubicBezTo>
                  <a:pt x="4086523" y="568003"/>
                  <a:pt x="4057353" y="587276"/>
                  <a:pt x="4020443" y="599183"/>
                </a:cubicBezTo>
                <a:cubicBezTo>
                  <a:pt x="3983534" y="611089"/>
                  <a:pt x="3941862" y="617042"/>
                  <a:pt x="3895428" y="617042"/>
                </a:cubicBezTo>
                <a:cubicBezTo>
                  <a:pt x="3848696" y="617042"/>
                  <a:pt x="3806726" y="610568"/>
                  <a:pt x="3769519" y="597620"/>
                </a:cubicBezTo>
                <a:cubicBezTo>
                  <a:pt x="3732312" y="584672"/>
                  <a:pt x="3702770" y="564059"/>
                  <a:pt x="3680892" y="535782"/>
                </a:cubicBezTo>
                <a:cubicBezTo>
                  <a:pt x="3659014" y="507505"/>
                  <a:pt x="3648075" y="470446"/>
                  <a:pt x="3648075" y="424607"/>
                </a:cubicBezTo>
                <a:lnTo>
                  <a:pt x="3795415" y="424607"/>
                </a:lnTo>
                <a:cubicBezTo>
                  <a:pt x="3796606" y="443955"/>
                  <a:pt x="3801517" y="459359"/>
                  <a:pt x="3810149" y="470818"/>
                </a:cubicBezTo>
                <a:cubicBezTo>
                  <a:pt x="3818781" y="482278"/>
                  <a:pt x="3830538" y="490464"/>
                  <a:pt x="3845421" y="495375"/>
                </a:cubicBezTo>
                <a:cubicBezTo>
                  <a:pt x="3860304" y="500286"/>
                  <a:pt x="3877568" y="502742"/>
                  <a:pt x="3897213" y="502742"/>
                </a:cubicBezTo>
                <a:cubicBezTo>
                  <a:pt x="3916859" y="502742"/>
                  <a:pt x="3933751" y="500658"/>
                  <a:pt x="3947889" y="496491"/>
                </a:cubicBezTo>
                <a:cubicBezTo>
                  <a:pt x="3962028" y="492324"/>
                  <a:pt x="3972893" y="485924"/>
                  <a:pt x="3980483" y="477292"/>
                </a:cubicBezTo>
                <a:cubicBezTo>
                  <a:pt x="3988073" y="468660"/>
                  <a:pt x="3991868" y="457796"/>
                  <a:pt x="3991868" y="444699"/>
                </a:cubicBezTo>
                <a:cubicBezTo>
                  <a:pt x="3991868" y="430709"/>
                  <a:pt x="3988371" y="419250"/>
                  <a:pt x="3981376" y="410320"/>
                </a:cubicBezTo>
                <a:cubicBezTo>
                  <a:pt x="3974381" y="401390"/>
                  <a:pt x="3961730" y="393056"/>
                  <a:pt x="3943425" y="385317"/>
                </a:cubicBezTo>
                <a:cubicBezTo>
                  <a:pt x="3925119" y="377577"/>
                  <a:pt x="3898851" y="368648"/>
                  <a:pt x="3864620" y="358527"/>
                </a:cubicBezTo>
                <a:cubicBezTo>
                  <a:pt x="3824734" y="346919"/>
                  <a:pt x="3789462" y="333896"/>
                  <a:pt x="3758803" y="319460"/>
                </a:cubicBezTo>
                <a:cubicBezTo>
                  <a:pt x="3728145" y="305024"/>
                  <a:pt x="3704035" y="286197"/>
                  <a:pt x="3686473" y="262980"/>
                </a:cubicBezTo>
                <a:cubicBezTo>
                  <a:pt x="3668911" y="239763"/>
                  <a:pt x="3660130" y="209104"/>
                  <a:pt x="3660130" y="171004"/>
                </a:cubicBezTo>
                <a:cubicBezTo>
                  <a:pt x="3660130" y="130225"/>
                  <a:pt x="3670251" y="97334"/>
                  <a:pt x="3690491" y="72331"/>
                </a:cubicBezTo>
                <a:cubicBezTo>
                  <a:pt x="3710732" y="47328"/>
                  <a:pt x="3738116" y="29171"/>
                  <a:pt x="3772644" y="17860"/>
                </a:cubicBezTo>
                <a:cubicBezTo>
                  <a:pt x="3807172" y="6549"/>
                  <a:pt x="3846314" y="894"/>
                  <a:pt x="3890070" y="894"/>
                </a:cubicBezTo>
                <a:close/>
                <a:moveTo>
                  <a:pt x="241995" y="894"/>
                </a:moveTo>
                <a:cubicBezTo>
                  <a:pt x="284262" y="894"/>
                  <a:pt x="323032" y="7070"/>
                  <a:pt x="358304" y="19423"/>
                </a:cubicBezTo>
                <a:cubicBezTo>
                  <a:pt x="393576" y="31775"/>
                  <a:pt x="421705" y="50900"/>
                  <a:pt x="442689" y="76796"/>
                </a:cubicBezTo>
                <a:cubicBezTo>
                  <a:pt x="463674" y="102692"/>
                  <a:pt x="474167" y="135881"/>
                  <a:pt x="474167" y="176362"/>
                </a:cubicBezTo>
                <a:lnTo>
                  <a:pt x="326827" y="176362"/>
                </a:lnTo>
                <a:cubicBezTo>
                  <a:pt x="326827" y="154038"/>
                  <a:pt x="318344" y="137592"/>
                  <a:pt x="301377" y="127025"/>
                </a:cubicBezTo>
                <a:cubicBezTo>
                  <a:pt x="284411" y="116458"/>
                  <a:pt x="264319" y="111175"/>
                  <a:pt x="241102" y="111175"/>
                </a:cubicBezTo>
                <a:cubicBezTo>
                  <a:pt x="219373" y="111175"/>
                  <a:pt x="200397" y="114970"/>
                  <a:pt x="184175" y="122561"/>
                </a:cubicBezTo>
                <a:cubicBezTo>
                  <a:pt x="167953" y="130151"/>
                  <a:pt x="159842" y="142727"/>
                  <a:pt x="159842" y="160288"/>
                </a:cubicBezTo>
                <a:cubicBezTo>
                  <a:pt x="159842" y="170111"/>
                  <a:pt x="163265" y="178966"/>
                  <a:pt x="170111" y="186854"/>
                </a:cubicBezTo>
                <a:cubicBezTo>
                  <a:pt x="176957" y="194742"/>
                  <a:pt x="189979" y="202853"/>
                  <a:pt x="209178" y="211188"/>
                </a:cubicBezTo>
                <a:cubicBezTo>
                  <a:pt x="228377" y="219522"/>
                  <a:pt x="256431" y="229345"/>
                  <a:pt x="293341" y="240656"/>
                </a:cubicBezTo>
                <a:cubicBezTo>
                  <a:pt x="338584" y="254348"/>
                  <a:pt x="375866" y="268710"/>
                  <a:pt x="405185" y="283741"/>
                </a:cubicBezTo>
                <a:cubicBezTo>
                  <a:pt x="434504" y="298773"/>
                  <a:pt x="456307" y="318121"/>
                  <a:pt x="470595" y="341784"/>
                </a:cubicBezTo>
                <a:cubicBezTo>
                  <a:pt x="484882" y="365448"/>
                  <a:pt x="492026" y="396776"/>
                  <a:pt x="492026" y="435769"/>
                </a:cubicBezTo>
                <a:cubicBezTo>
                  <a:pt x="492026" y="479525"/>
                  <a:pt x="481310" y="514723"/>
                  <a:pt x="459879" y="541363"/>
                </a:cubicBezTo>
                <a:cubicBezTo>
                  <a:pt x="438448" y="568003"/>
                  <a:pt x="409278" y="587276"/>
                  <a:pt x="372368" y="599183"/>
                </a:cubicBezTo>
                <a:cubicBezTo>
                  <a:pt x="335459" y="611089"/>
                  <a:pt x="293787" y="617042"/>
                  <a:pt x="247353" y="617042"/>
                </a:cubicBezTo>
                <a:cubicBezTo>
                  <a:pt x="200621" y="617042"/>
                  <a:pt x="158651" y="610568"/>
                  <a:pt x="121444" y="597620"/>
                </a:cubicBezTo>
                <a:cubicBezTo>
                  <a:pt x="84237" y="584672"/>
                  <a:pt x="54695" y="564059"/>
                  <a:pt x="32817" y="535782"/>
                </a:cubicBezTo>
                <a:cubicBezTo>
                  <a:pt x="10939" y="507505"/>
                  <a:pt x="0" y="470446"/>
                  <a:pt x="0" y="424607"/>
                </a:cubicBezTo>
                <a:lnTo>
                  <a:pt x="147340" y="424607"/>
                </a:lnTo>
                <a:cubicBezTo>
                  <a:pt x="148531" y="443955"/>
                  <a:pt x="153442" y="459359"/>
                  <a:pt x="162074" y="470818"/>
                </a:cubicBezTo>
                <a:cubicBezTo>
                  <a:pt x="170706" y="482278"/>
                  <a:pt x="182464" y="490464"/>
                  <a:pt x="197346" y="495375"/>
                </a:cubicBezTo>
                <a:cubicBezTo>
                  <a:pt x="212229" y="500286"/>
                  <a:pt x="229493" y="502742"/>
                  <a:pt x="249138" y="502742"/>
                </a:cubicBezTo>
                <a:cubicBezTo>
                  <a:pt x="268784" y="502742"/>
                  <a:pt x="285676" y="500658"/>
                  <a:pt x="299814" y="496491"/>
                </a:cubicBezTo>
                <a:cubicBezTo>
                  <a:pt x="313953" y="492324"/>
                  <a:pt x="324818" y="485924"/>
                  <a:pt x="332408" y="477292"/>
                </a:cubicBezTo>
                <a:cubicBezTo>
                  <a:pt x="339998" y="468660"/>
                  <a:pt x="343793" y="457796"/>
                  <a:pt x="343793" y="444699"/>
                </a:cubicBezTo>
                <a:cubicBezTo>
                  <a:pt x="343793" y="430709"/>
                  <a:pt x="340296" y="419250"/>
                  <a:pt x="333301" y="410320"/>
                </a:cubicBezTo>
                <a:cubicBezTo>
                  <a:pt x="326306" y="401390"/>
                  <a:pt x="313656" y="393056"/>
                  <a:pt x="295350" y="385317"/>
                </a:cubicBezTo>
                <a:cubicBezTo>
                  <a:pt x="277044" y="377577"/>
                  <a:pt x="250776" y="368648"/>
                  <a:pt x="216545" y="358527"/>
                </a:cubicBezTo>
                <a:cubicBezTo>
                  <a:pt x="176659" y="346919"/>
                  <a:pt x="141387" y="333896"/>
                  <a:pt x="110728" y="319460"/>
                </a:cubicBezTo>
                <a:cubicBezTo>
                  <a:pt x="80070" y="305024"/>
                  <a:pt x="55960" y="286197"/>
                  <a:pt x="38398" y="262980"/>
                </a:cubicBezTo>
                <a:cubicBezTo>
                  <a:pt x="20836" y="239763"/>
                  <a:pt x="12055" y="209104"/>
                  <a:pt x="12055" y="171004"/>
                </a:cubicBezTo>
                <a:cubicBezTo>
                  <a:pt x="12055" y="130225"/>
                  <a:pt x="22176" y="97334"/>
                  <a:pt x="42416" y="72331"/>
                </a:cubicBezTo>
                <a:cubicBezTo>
                  <a:pt x="62657" y="47328"/>
                  <a:pt x="90041" y="29171"/>
                  <a:pt x="124569" y="17860"/>
                </a:cubicBezTo>
                <a:cubicBezTo>
                  <a:pt x="159097" y="6549"/>
                  <a:pt x="198239" y="894"/>
                  <a:pt x="241995" y="894"/>
                </a:cubicBezTo>
                <a:close/>
                <a:moveTo>
                  <a:pt x="4695081" y="0"/>
                </a:moveTo>
                <a:cubicBezTo>
                  <a:pt x="4757886" y="0"/>
                  <a:pt x="4811241" y="12577"/>
                  <a:pt x="4855145" y="37728"/>
                </a:cubicBezTo>
                <a:cubicBezTo>
                  <a:pt x="4899050" y="62881"/>
                  <a:pt x="4932462" y="98525"/>
                  <a:pt x="4955381" y="144662"/>
                </a:cubicBezTo>
                <a:cubicBezTo>
                  <a:pt x="4978301" y="190798"/>
                  <a:pt x="4989760" y="245567"/>
                  <a:pt x="4989760" y="308968"/>
                </a:cubicBezTo>
                <a:cubicBezTo>
                  <a:pt x="4989760" y="372071"/>
                  <a:pt x="4978301" y="426616"/>
                  <a:pt x="4955381" y="472604"/>
                </a:cubicBezTo>
                <a:cubicBezTo>
                  <a:pt x="4932462" y="518592"/>
                  <a:pt x="4899050" y="554162"/>
                  <a:pt x="4855145" y="579314"/>
                </a:cubicBezTo>
                <a:cubicBezTo>
                  <a:pt x="4811241" y="604466"/>
                  <a:pt x="4757886" y="617042"/>
                  <a:pt x="4695081" y="617042"/>
                </a:cubicBezTo>
                <a:cubicBezTo>
                  <a:pt x="4632275" y="617042"/>
                  <a:pt x="4578846" y="604466"/>
                  <a:pt x="4534793" y="579314"/>
                </a:cubicBezTo>
                <a:cubicBezTo>
                  <a:pt x="4490740" y="554162"/>
                  <a:pt x="4457253" y="518592"/>
                  <a:pt x="4434334" y="472604"/>
                </a:cubicBezTo>
                <a:cubicBezTo>
                  <a:pt x="4411414" y="426616"/>
                  <a:pt x="4399955" y="372071"/>
                  <a:pt x="4399955" y="308968"/>
                </a:cubicBezTo>
                <a:cubicBezTo>
                  <a:pt x="4399955" y="245567"/>
                  <a:pt x="4411414" y="190798"/>
                  <a:pt x="4434334" y="144662"/>
                </a:cubicBezTo>
                <a:cubicBezTo>
                  <a:pt x="4457253" y="98525"/>
                  <a:pt x="4490740" y="62881"/>
                  <a:pt x="4534793" y="37728"/>
                </a:cubicBezTo>
                <a:cubicBezTo>
                  <a:pt x="4578846" y="12577"/>
                  <a:pt x="4632275" y="0"/>
                  <a:pt x="4695081" y="0"/>
                </a:cubicBezTo>
                <a:close/>
                <a:moveTo>
                  <a:pt x="2771031" y="0"/>
                </a:moveTo>
                <a:cubicBezTo>
                  <a:pt x="2820442" y="0"/>
                  <a:pt x="2865611" y="8484"/>
                  <a:pt x="2906539" y="25450"/>
                </a:cubicBezTo>
                <a:cubicBezTo>
                  <a:pt x="2947467" y="42417"/>
                  <a:pt x="2980358" y="67271"/>
                  <a:pt x="3005212" y="100013"/>
                </a:cubicBezTo>
                <a:cubicBezTo>
                  <a:pt x="3030066" y="132755"/>
                  <a:pt x="3043238" y="172641"/>
                  <a:pt x="3044726" y="219671"/>
                </a:cubicBezTo>
                <a:lnTo>
                  <a:pt x="2897386" y="219671"/>
                </a:lnTo>
                <a:cubicBezTo>
                  <a:pt x="2894112" y="197644"/>
                  <a:pt x="2886894" y="179264"/>
                  <a:pt x="2875732" y="164530"/>
                </a:cubicBezTo>
                <a:cubicBezTo>
                  <a:pt x="2864569" y="149796"/>
                  <a:pt x="2850059" y="138708"/>
                  <a:pt x="2832199" y="131267"/>
                </a:cubicBezTo>
                <a:cubicBezTo>
                  <a:pt x="2814340" y="123825"/>
                  <a:pt x="2793950" y="120105"/>
                  <a:pt x="2771031" y="120105"/>
                </a:cubicBezTo>
                <a:cubicBezTo>
                  <a:pt x="2735312" y="120105"/>
                  <a:pt x="2706663" y="129035"/>
                  <a:pt x="2685083" y="146894"/>
                </a:cubicBezTo>
                <a:cubicBezTo>
                  <a:pt x="2663503" y="164753"/>
                  <a:pt x="2647876" y="187970"/>
                  <a:pt x="2638202" y="216545"/>
                </a:cubicBezTo>
                <a:cubicBezTo>
                  <a:pt x="2628528" y="245121"/>
                  <a:pt x="2623691" y="275928"/>
                  <a:pt x="2623691" y="308968"/>
                </a:cubicBezTo>
                <a:cubicBezTo>
                  <a:pt x="2623691" y="341710"/>
                  <a:pt x="2628528" y="372443"/>
                  <a:pt x="2638202" y="401167"/>
                </a:cubicBezTo>
                <a:cubicBezTo>
                  <a:pt x="2647876" y="429891"/>
                  <a:pt x="2663503" y="453108"/>
                  <a:pt x="2685083" y="470818"/>
                </a:cubicBezTo>
                <a:cubicBezTo>
                  <a:pt x="2706663" y="488529"/>
                  <a:pt x="2735312" y="497384"/>
                  <a:pt x="2771031" y="497384"/>
                </a:cubicBezTo>
                <a:cubicBezTo>
                  <a:pt x="2809726" y="497384"/>
                  <a:pt x="2839715" y="487338"/>
                  <a:pt x="2860998" y="467247"/>
                </a:cubicBezTo>
                <a:cubicBezTo>
                  <a:pt x="2882280" y="447155"/>
                  <a:pt x="2894409" y="419250"/>
                  <a:pt x="2897386" y="383531"/>
                </a:cubicBezTo>
                <a:lnTo>
                  <a:pt x="3045172" y="383531"/>
                </a:lnTo>
                <a:cubicBezTo>
                  <a:pt x="3041898" y="433239"/>
                  <a:pt x="3029173" y="475432"/>
                  <a:pt x="3006998" y="510109"/>
                </a:cubicBezTo>
                <a:cubicBezTo>
                  <a:pt x="2984823" y="544786"/>
                  <a:pt x="2953941" y="571277"/>
                  <a:pt x="2914352" y="589583"/>
                </a:cubicBezTo>
                <a:cubicBezTo>
                  <a:pt x="2874764" y="607889"/>
                  <a:pt x="2826990" y="617042"/>
                  <a:pt x="2771031" y="617042"/>
                </a:cubicBezTo>
                <a:cubicBezTo>
                  <a:pt x="2710904" y="617042"/>
                  <a:pt x="2658740" y="604466"/>
                  <a:pt x="2614538" y="579314"/>
                </a:cubicBezTo>
                <a:cubicBezTo>
                  <a:pt x="2570337" y="554162"/>
                  <a:pt x="2536180" y="518592"/>
                  <a:pt x="2512070" y="472604"/>
                </a:cubicBezTo>
                <a:cubicBezTo>
                  <a:pt x="2487960" y="426616"/>
                  <a:pt x="2475906" y="372071"/>
                  <a:pt x="2475906" y="308968"/>
                </a:cubicBezTo>
                <a:cubicBezTo>
                  <a:pt x="2475906" y="245567"/>
                  <a:pt x="2487960" y="190798"/>
                  <a:pt x="2512070" y="144662"/>
                </a:cubicBezTo>
                <a:cubicBezTo>
                  <a:pt x="2536180" y="98525"/>
                  <a:pt x="2570337" y="62881"/>
                  <a:pt x="2614538" y="37728"/>
                </a:cubicBezTo>
                <a:cubicBezTo>
                  <a:pt x="2658740" y="12577"/>
                  <a:pt x="2710904" y="0"/>
                  <a:pt x="2771031" y="0"/>
                </a:cubicBezTo>
                <a:close/>
                <a:moveTo>
                  <a:pt x="866031" y="0"/>
                </a:moveTo>
                <a:cubicBezTo>
                  <a:pt x="928836" y="0"/>
                  <a:pt x="982191" y="12577"/>
                  <a:pt x="1026096" y="37728"/>
                </a:cubicBezTo>
                <a:cubicBezTo>
                  <a:pt x="1070000" y="62881"/>
                  <a:pt x="1103412" y="98525"/>
                  <a:pt x="1126331" y="144662"/>
                </a:cubicBezTo>
                <a:cubicBezTo>
                  <a:pt x="1149251" y="190798"/>
                  <a:pt x="1160711" y="245567"/>
                  <a:pt x="1160711" y="308968"/>
                </a:cubicBezTo>
                <a:cubicBezTo>
                  <a:pt x="1160711" y="372071"/>
                  <a:pt x="1149251" y="426616"/>
                  <a:pt x="1126331" y="472604"/>
                </a:cubicBezTo>
                <a:cubicBezTo>
                  <a:pt x="1103412" y="518592"/>
                  <a:pt x="1070000" y="554162"/>
                  <a:pt x="1026096" y="579314"/>
                </a:cubicBezTo>
                <a:cubicBezTo>
                  <a:pt x="982191" y="604466"/>
                  <a:pt x="928836" y="617042"/>
                  <a:pt x="866031" y="617042"/>
                </a:cubicBezTo>
                <a:cubicBezTo>
                  <a:pt x="803226" y="617042"/>
                  <a:pt x="749796" y="604466"/>
                  <a:pt x="705743" y="579314"/>
                </a:cubicBezTo>
                <a:cubicBezTo>
                  <a:pt x="661690" y="554162"/>
                  <a:pt x="628204" y="518592"/>
                  <a:pt x="605284" y="472604"/>
                </a:cubicBezTo>
                <a:cubicBezTo>
                  <a:pt x="582365" y="426616"/>
                  <a:pt x="570905" y="372071"/>
                  <a:pt x="570905" y="308968"/>
                </a:cubicBezTo>
                <a:cubicBezTo>
                  <a:pt x="570905" y="245567"/>
                  <a:pt x="582365" y="190798"/>
                  <a:pt x="605284" y="144662"/>
                </a:cubicBezTo>
                <a:cubicBezTo>
                  <a:pt x="628204" y="98525"/>
                  <a:pt x="661690" y="62881"/>
                  <a:pt x="705743" y="37728"/>
                </a:cubicBezTo>
                <a:cubicBezTo>
                  <a:pt x="749796" y="12577"/>
                  <a:pt x="803226" y="0"/>
                  <a:pt x="866031" y="0"/>
                </a:cubicBezTo>
                <a:close/>
              </a:path>
            </a:pathLst>
          </a:cu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831230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1722361"/>
            <a:ext cx="4276422" cy="1066818"/>
          </a:xfrm>
        </p:spPr>
        <p:txBody>
          <a:bodyPr>
            <a:normAutofit fontScale="90000"/>
          </a:bodyPr>
          <a:lstStyle/>
          <a:p>
            <a:r>
              <a:rPr lang="en-AU" dirty="0">
                <a:solidFill>
                  <a:srgbClr val="FFC6B1"/>
                </a:solidFill>
                <a:latin typeface="Aptos"/>
              </a:rPr>
              <a:t>Mitigation Investment</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706473" y="740160"/>
            <a:ext cx="6867218" cy="2517490"/>
          </a:xfrm>
        </p:spPr>
        <p:txBody>
          <a:bodyPr vert="horz" lIns="0" tIns="0" rIns="0" bIns="0" rtlCol="0" anchor="t">
            <a:noAutofit/>
          </a:bodyPr>
          <a:lstStyle/>
          <a:p>
            <a:r>
              <a:rPr lang="en-GB" sz="2000" dirty="0">
                <a:solidFill>
                  <a:srgbClr val="B2DCEA"/>
                </a:solidFill>
              </a:rPr>
              <a:t>Most mitigation investments can generate revenue and be handled by the private sector, but success depends on effective public policy frameworks.</a:t>
            </a:r>
          </a:p>
          <a:p>
            <a:r>
              <a:rPr lang="en-US" sz="2000" dirty="0">
                <a:solidFill>
                  <a:srgbClr val="B2DCEA"/>
                </a:solidFill>
              </a:rPr>
              <a:t>Typical public policy for renewable energy involves renewables auctions for guaranteed revenues. These auctions could be derisked by government.</a:t>
            </a: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669973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1722361"/>
            <a:ext cx="4276422" cy="1066818"/>
          </a:xfrm>
        </p:spPr>
        <p:txBody>
          <a:bodyPr>
            <a:normAutofit fontScale="90000"/>
          </a:bodyPr>
          <a:lstStyle/>
          <a:p>
            <a:r>
              <a:rPr lang="en-AU" dirty="0">
                <a:solidFill>
                  <a:srgbClr val="FFC6B1"/>
                </a:solidFill>
                <a:latin typeface="Aptos"/>
              </a:rPr>
              <a:t>Mitigation Investment</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706473" y="395256"/>
            <a:ext cx="6867218" cy="3484765"/>
          </a:xfrm>
        </p:spPr>
        <p:txBody>
          <a:bodyPr vert="horz" lIns="0" tIns="0" rIns="0" bIns="0" rtlCol="0" anchor="t">
            <a:noAutofit/>
          </a:bodyPr>
          <a:lstStyle/>
          <a:p>
            <a:r>
              <a:rPr lang="en-US" sz="1800" dirty="0">
                <a:solidFill>
                  <a:srgbClr val="B2DCEA"/>
                </a:solidFill>
              </a:rPr>
              <a:t>The needed public policy for investment is more important in developing countries, because of the higher risk level.</a:t>
            </a:r>
          </a:p>
          <a:p>
            <a:r>
              <a:rPr lang="en-GB" sz="1800" b="1" dirty="0">
                <a:solidFill>
                  <a:srgbClr val="B2DCEA"/>
                </a:solidFill>
              </a:rPr>
              <a:t>Supporting Emerging Sectors:</a:t>
            </a:r>
            <a:endParaRPr lang="en-GB" sz="1800" dirty="0">
              <a:solidFill>
                <a:srgbClr val="B2DCEA"/>
              </a:solidFill>
            </a:endParaRPr>
          </a:p>
          <a:p>
            <a:pPr marL="742950" lvl="1" indent="-285750" algn="l">
              <a:buFont typeface="Arial" panose="020B0604020202020204" pitchFamily="34" charset="0"/>
              <a:buChar char="•"/>
            </a:pPr>
            <a:r>
              <a:rPr lang="en-GB" sz="1600" dirty="0">
                <a:solidFill>
                  <a:schemeClr val="tx1"/>
                </a:solidFill>
              </a:rPr>
              <a:t>Public policies should focus on nurturing emerging technologies ("infant industries").</a:t>
            </a:r>
          </a:p>
          <a:p>
            <a:pPr marL="742950" lvl="1" indent="-285750" algn="l">
              <a:buFont typeface="Arial" panose="020B0604020202020204" pitchFamily="34" charset="0"/>
              <a:buChar char="•"/>
            </a:pPr>
            <a:r>
              <a:rPr lang="en-GB" sz="1600" dirty="0">
                <a:solidFill>
                  <a:schemeClr val="tx1"/>
                </a:solidFill>
              </a:rPr>
              <a:t>As these sectors mature, policies should gradually phase out support for outdated technologies, encouraging a shift to sustainable alternatives.</a:t>
            </a: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2727369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C32605-E0B4-7D6D-8852-8DDF2A478CBF}"/>
              </a:ext>
            </a:extLst>
          </p:cNvPr>
          <p:cNvSpPr/>
          <p:nvPr/>
        </p:nvSpPr>
        <p:spPr>
          <a:xfrm>
            <a:off x="588555" y="1778699"/>
            <a:ext cx="5198290" cy="461664"/>
          </a:xfrm>
          <a:prstGeom prst="rect">
            <a:avLst/>
          </a:prstGeom>
          <a:solidFill>
            <a:srgbClr val="ECF4D6"/>
          </a:solidFill>
          <a:ln>
            <a:solidFill>
              <a:srgbClr val="ECF4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DD3E645-552E-76E3-F610-4B6E90A89DAC}"/>
              </a:ext>
            </a:extLst>
          </p:cNvPr>
          <p:cNvSpPr>
            <a:spLocks noGrp="1"/>
          </p:cNvSpPr>
          <p:nvPr>
            <p:ph type="title"/>
          </p:nvPr>
        </p:nvSpPr>
        <p:spPr/>
        <p:txBody>
          <a:bodyPr/>
          <a:lstStyle/>
          <a:p>
            <a:r>
              <a:rPr lang="en-US"/>
              <a:t>National Financing</a:t>
            </a:r>
          </a:p>
        </p:txBody>
      </p:sp>
      <p:sp>
        <p:nvSpPr>
          <p:cNvPr id="2" name="Content Placeholder 1">
            <a:extLst>
              <a:ext uri="{FF2B5EF4-FFF2-40B4-BE49-F238E27FC236}">
                <a16:creationId xmlns:a16="http://schemas.microsoft.com/office/drawing/2014/main" id="{E380272B-05C7-C8AB-DFC7-01A77476CFC9}"/>
              </a:ext>
            </a:extLst>
          </p:cNvPr>
          <p:cNvSpPr>
            <a:spLocks noGrp="1"/>
          </p:cNvSpPr>
          <p:nvPr>
            <p:ph idx="4294967295"/>
          </p:nvPr>
        </p:nvSpPr>
        <p:spPr>
          <a:xfrm>
            <a:off x="202176" y="2168527"/>
            <a:ext cx="5613400" cy="4533900"/>
          </a:xfrm>
        </p:spPr>
        <p:txBody>
          <a:bodyPr>
            <a:normAutofit fontScale="62500" lnSpcReduction="20000"/>
          </a:bodyPr>
          <a:lstStyle/>
          <a:p>
            <a:pPr marL="0" indent="0" algn="ctr">
              <a:buNone/>
            </a:pPr>
            <a:endParaRPr lang="en-GB" b="1" u="sng" dirty="0"/>
          </a:p>
          <a:p>
            <a:pPr marL="514350" indent="-514350">
              <a:buFont typeface="+mj-lt"/>
              <a:buAutoNum type="arabicPeriod"/>
            </a:pPr>
            <a:r>
              <a:rPr lang="en-GB" b="1" dirty="0">
                <a:latin typeface="Aptos ExtraBold" panose="020B0004020202020204" pitchFamily="34" charset="0"/>
              </a:rPr>
              <a:t>Public Finance: </a:t>
            </a:r>
            <a:r>
              <a:rPr lang="en-GB" dirty="0"/>
              <a:t>Government budgets, national development banks, and dedicated climate funds (e.g., Green Climate Fund).</a:t>
            </a:r>
          </a:p>
          <a:p>
            <a:pPr marL="514350" indent="-514350">
              <a:buFont typeface="+mj-lt"/>
              <a:buAutoNum type="arabicPeriod"/>
            </a:pPr>
            <a:r>
              <a:rPr lang="en-GB" b="1" dirty="0">
                <a:latin typeface="Aptos ExtraBold" panose="020B0004020202020204" pitchFamily="34" charset="0"/>
              </a:rPr>
              <a:t>Private Finance: </a:t>
            </a:r>
            <a:r>
              <a:rPr lang="en-GB" dirty="0"/>
              <a:t>Mobilizing private investment through incentives, risk mitigation, and public-private partnerships (PPPs).</a:t>
            </a:r>
          </a:p>
          <a:p>
            <a:pPr marL="514350" indent="-514350">
              <a:buFont typeface="+mj-lt"/>
              <a:buAutoNum type="arabicPeriod"/>
            </a:pPr>
            <a:r>
              <a:rPr lang="en-GB" b="1" dirty="0">
                <a:latin typeface="Aptos ExtraBold" panose="020B0004020202020204" pitchFamily="34" charset="0"/>
              </a:rPr>
              <a:t>International Aid and Loans: </a:t>
            </a:r>
            <a:r>
              <a:rPr lang="en-GB" dirty="0"/>
              <a:t>Leveraging international grants, concessional loans, and technical assistance to supplement national efforts.</a:t>
            </a:r>
          </a:p>
          <a:p>
            <a:endParaRPr lang="en-US" dirty="0"/>
          </a:p>
        </p:txBody>
      </p:sp>
      <p:sp>
        <p:nvSpPr>
          <p:cNvPr id="5" name="TextBox 4">
            <a:extLst>
              <a:ext uri="{FF2B5EF4-FFF2-40B4-BE49-F238E27FC236}">
                <a16:creationId xmlns:a16="http://schemas.microsoft.com/office/drawing/2014/main" id="{3E7FA92D-52A7-3FA3-7139-0B203CAE2802}"/>
              </a:ext>
            </a:extLst>
          </p:cNvPr>
          <p:cNvSpPr txBox="1"/>
          <p:nvPr/>
        </p:nvSpPr>
        <p:spPr>
          <a:xfrm>
            <a:off x="588555" y="1778699"/>
            <a:ext cx="5198290" cy="461665"/>
          </a:xfrm>
          <a:prstGeom prst="rect">
            <a:avLst/>
          </a:prstGeom>
          <a:solidFill>
            <a:srgbClr val="025353"/>
          </a:solidFill>
          <a:ln>
            <a:solidFill>
              <a:srgbClr val="025353"/>
            </a:solidFill>
          </a:ln>
        </p:spPr>
        <p:txBody>
          <a:bodyPr wrap="square">
            <a:spAutoFit/>
          </a:bodyPr>
          <a:lstStyle/>
          <a:p>
            <a:pPr marL="0" indent="0" algn="ctr">
              <a:buClrTx/>
              <a:buNone/>
            </a:pPr>
            <a:r>
              <a:rPr lang="en-GB" sz="2400" b="1" dirty="0">
                <a:solidFill>
                  <a:schemeClr val="tx1"/>
                </a:solidFill>
                <a:latin typeface="Aptos" panose="020B0004020202020204" pitchFamily="34" charset="0"/>
              </a:rPr>
              <a:t>Sources of Finance</a:t>
            </a:r>
          </a:p>
        </p:txBody>
      </p:sp>
      <p:pic>
        <p:nvPicPr>
          <p:cNvPr id="11" name="Picture 10">
            <a:extLst>
              <a:ext uri="{FF2B5EF4-FFF2-40B4-BE49-F238E27FC236}">
                <a16:creationId xmlns:a16="http://schemas.microsoft.com/office/drawing/2014/main" id="{1525FAB2-6BF5-FCD6-41EB-D7FB74BBB50D}"/>
              </a:ext>
            </a:extLst>
          </p:cNvPr>
          <p:cNvPicPr>
            <a:picLocks noChangeAspect="1"/>
          </p:cNvPicPr>
          <p:nvPr/>
        </p:nvPicPr>
        <p:blipFill>
          <a:blip r:embed="rId3"/>
          <a:stretch>
            <a:fillRect/>
          </a:stretch>
        </p:blipFill>
        <p:spPr>
          <a:xfrm>
            <a:off x="6096000" y="2722418"/>
            <a:ext cx="5921101" cy="3443170"/>
          </a:xfrm>
          <a:prstGeom prst="rect">
            <a:avLst/>
          </a:prstGeom>
        </p:spPr>
      </p:pic>
      <p:sp>
        <p:nvSpPr>
          <p:cNvPr id="12" name="TextBox 11">
            <a:extLst>
              <a:ext uri="{FF2B5EF4-FFF2-40B4-BE49-F238E27FC236}">
                <a16:creationId xmlns:a16="http://schemas.microsoft.com/office/drawing/2014/main" id="{EC3A09A3-9BDE-06B6-3F53-1EF5E2118CA0}"/>
              </a:ext>
            </a:extLst>
          </p:cNvPr>
          <p:cNvSpPr txBox="1"/>
          <p:nvPr/>
        </p:nvSpPr>
        <p:spPr>
          <a:xfrm>
            <a:off x="6572111" y="2051044"/>
            <a:ext cx="5417713" cy="369332"/>
          </a:xfrm>
          <a:prstGeom prst="rect">
            <a:avLst/>
          </a:prstGeom>
          <a:noFill/>
        </p:spPr>
        <p:txBody>
          <a:bodyPr wrap="square" lIns="91440" tIns="45720" rIns="91440" bIns="45720" rtlCol="0" anchor="t">
            <a:spAutoFit/>
          </a:bodyPr>
          <a:lstStyle/>
          <a:p>
            <a:pPr algn="ctr"/>
            <a:r>
              <a:rPr lang="en-US" sz="1800" b="1" u="sng" dirty="0">
                <a:solidFill>
                  <a:srgbClr val="00463D"/>
                </a:solidFill>
                <a:latin typeface="+mj-lt"/>
              </a:rPr>
              <a:t>Average Estimated Annual Climate Investment Need </a:t>
            </a:r>
          </a:p>
        </p:txBody>
      </p:sp>
      <p:sp>
        <p:nvSpPr>
          <p:cNvPr id="13" name="TextBox 12">
            <a:extLst>
              <a:ext uri="{FF2B5EF4-FFF2-40B4-BE49-F238E27FC236}">
                <a16:creationId xmlns:a16="http://schemas.microsoft.com/office/drawing/2014/main" id="{C5644AC5-27EF-2E4D-95B6-2D0BAEF33278}"/>
              </a:ext>
            </a:extLst>
          </p:cNvPr>
          <p:cNvSpPr txBox="1"/>
          <p:nvPr/>
        </p:nvSpPr>
        <p:spPr>
          <a:xfrm>
            <a:off x="6976305" y="6267532"/>
            <a:ext cx="4834695" cy="276999"/>
          </a:xfrm>
          <a:prstGeom prst="rect">
            <a:avLst/>
          </a:prstGeom>
          <a:noFill/>
        </p:spPr>
        <p:txBody>
          <a:bodyPr wrap="square" rtlCol="0">
            <a:spAutoFit/>
          </a:bodyPr>
          <a:lstStyle/>
          <a:p>
            <a:pPr algn="ctr"/>
            <a:r>
              <a:rPr lang="en-US" sz="1200" dirty="0">
                <a:solidFill>
                  <a:srgbClr val="00463D"/>
                </a:solidFill>
                <a:latin typeface="+mn-lt"/>
              </a:rPr>
              <a:t>Source: </a:t>
            </a:r>
            <a:r>
              <a:rPr lang="en-US" sz="1200" i="1" dirty="0">
                <a:solidFill>
                  <a:srgbClr val="00463D"/>
                </a:solidFill>
                <a:latin typeface="+mn-lt"/>
                <a:hlinkClick r:id="rId4"/>
              </a:rPr>
              <a:t>Meckling et al. (2022) </a:t>
            </a:r>
            <a:endParaRPr lang="en-US" sz="1200" i="1" dirty="0">
              <a:solidFill>
                <a:srgbClr val="00463D"/>
              </a:solidFill>
              <a:latin typeface="+mn-lt"/>
            </a:endParaRPr>
          </a:p>
        </p:txBody>
      </p:sp>
    </p:spTree>
    <p:extLst>
      <p:ext uri="{BB962C8B-B14F-4D97-AF65-F5344CB8AC3E}">
        <p14:creationId xmlns:p14="http://schemas.microsoft.com/office/powerpoint/2010/main" val="1257186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7338FF2-B316-B672-75BF-337EC4EE2D81}"/>
              </a:ext>
            </a:extLst>
          </p:cNvPr>
          <p:cNvSpPr/>
          <p:nvPr/>
        </p:nvSpPr>
        <p:spPr>
          <a:xfrm>
            <a:off x="7099298" y="1824467"/>
            <a:ext cx="4558782" cy="936701"/>
          </a:xfrm>
          <a:prstGeom prst="rect">
            <a:avLst/>
          </a:prstGeom>
          <a:solidFill>
            <a:srgbClr val="025353"/>
          </a:solidFill>
          <a:ln>
            <a:solidFill>
              <a:srgbClr val="0253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DD3E645-552E-76E3-F610-4B6E90A89DAC}"/>
              </a:ext>
            </a:extLst>
          </p:cNvPr>
          <p:cNvSpPr>
            <a:spLocks noGrp="1"/>
          </p:cNvSpPr>
          <p:nvPr>
            <p:ph type="title"/>
          </p:nvPr>
        </p:nvSpPr>
        <p:spPr/>
        <p:txBody>
          <a:bodyPr/>
          <a:lstStyle/>
          <a:p>
            <a:r>
              <a:rPr lang="en-US"/>
              <a:t>National Financing</a:t>
            </a:r>
          </a:p>
        </p:txBody>
      </p:sp>
      <p:sp>
        <p:nvSpPr>
          <p:cNvPr id="3" name="Content Placeholder 2">
            <a:extLst>
              <a:ext uri="{FF2B5EF4-FFF2-40B4-BE49-F238E27FC236}">
                <a16:creationId xmlns:a16="http://schemas.microsoft.com/office/drawing/2014/main" id="{D61CA13F-F936-0C61-6547-DDA26D6D0F4F}"/>
              </a:ext>
            </a:extLst>
          </p:cNvPr>
          <p:cNvSpPr>
            <a:spLocks noGrp="1"/>
          </p:cNvSpPr>
          <p:nvPr>
            <p:ph idx="4294967295"/>
          </p:nvPr>
        </p:nvSpPr>
        <p:spPr>
          <a:xfrm>
            <a:off x="7099298" y="3020072"/>
            <a:ext cx="4504146" cy="3220090"/>
          </a:xfrm>
        </p:spPr>
        <p:txBody>
          <a:bodyPr>
            <a:normAutofit lnSpcReduction="10000"/>
          </a:bodyPr>
          <a:lstStyle/>
          <a:p>
            <a:pPr marL="457200" indent="-457200">
              <a:buFont typeface="+mj-lt"/>
              <a:buAutoNum type="arabicPeriod"/>
            </a:pPr>
            <a:r>
              <a:rPr lang="en-GB" sz="1800" b="1" dirty="0">
                <a:latin typeface="Aptos ExtraBold" panose="020B0004020202020204" pitchFamily="34" charset="0"/>
              </a:rPr>
              <a:t>Grants and Subsidies: </a:t>
            </a:r>
            <a:r>
              <a:rPr lang="en-GB" sz="1800" dirty="0"/>
              <a:t>Direct financial support for clean energy projects, energy efficiency initiatives, and climate adaptation efforts.</a:t>
            </a:r>
          </a:p>
          <a:p>
            <a:pPr marL="457200" indent="-457200">
              <a:buFont typeface="+mj-lt"/>
              <a:buAutoNum type="arabicPeriod"/>
            </a:pPr>
            <a:r>
              <a:rPr lang="en-GB" sz="1800" b="1" dirty="0">
                <a:latin typeface="Aptos ExtraBold" panose="020B0004020202020204" pitchFamily="34" charset="0"/>
              </a:rPr>
              <a:t>Loans and Credit Facilities: </a:t>
            </a:r>
            <a:r>
              <a:rPr lang="en-GB" sz="1800" dirty="0"/>
              <a:t>Providing low-interest loans or credit guarantees to de-risk investments in green technologies and infrastructure.</a:t>
            </a:r>
          </a:p>
          <a:p>
            <a:endParaRPr lang="en-US" dirty="0"/>
          </a:p>
        </p:txBody>
      </p:sp>
      <p:sp>
        <p:nvSpPr>
          <p:cNvPr id="7" name="TextBox 6">
            <a:extLst>
              <a:ext uri="{FF2B5EF4-FFF2-40B4-BE49-F238E27FC236}">
                <a16:creationId xmlns:a16="http://schemas.microsoft.com/office/drawing/2014/main" id="{BE6148B9-9C53-3749-5E3D-28866BE659FD}"/>
              </a:ext>
            </a:extLst>
          </p:cNvPr>
          <p:cNvSpPr txBox="1"/>
          <p:nvPr/>
        </p:nvSpPr>
        <p:spPr>
          <a:xfrm>
            <a:off x="7126616" y="1942854"/>
            <a:ext cx="4504145" cy="1077218"/>
          </a:xfrm>
          <a:prstGeom prst="rect">
            <a:avLst/>
          </a:prstGeom>
          <a:noFill/>
        </p:spPr>
        <p:txBody>
          <a:bodyPr wrap="square">
            <a:spAutoFit/>
          </a:bodyPr>
          <a:lstStyle/>
          <a:p>
            <a:pPr algn="ctr">
              <a:buClrTx/>
            </a:pPr>
            <a:r>
              <a:rPr lang="en-GB" sz="2000" b="1" dirty="0">
                <a:solidFill>
                  <a:schemeClr val="tx1"/>
                </a:solidFill>
                <a:latin typeface="Aptos ExtraBold" panose="020B0004020202020204" pitchFamily="34" charset="0"/>
              </a:rPr>
              <a:t>Mechanisms for Distributing Climate Finance</a:t>
            </a:r>
          </a:p>
          <a:p>
            <a:pPr algn="ctr">
              <a:buClrTx/>
            </a:pPr>
            <a:endParaRPr lang="en-GB" sz="2400" b="1" dirty="0">
              <a:solidFill>
                <a:schemeClr val="tx1"/>
              </a:solidFill>
              <a:latin typeface="Aptos" panose="020B0004020202020204" pitchFamily="34" charset="0"/>
            </a:endParaRPr>
          </a:p>
        </p:txBody>
      </p:sp>
      <p:pic>
        <p:nvPicPr>
          <p:cNvPr id="11" name="Picture 10">
            <a:extLst>
              <a:ext uri="{FF2B5EF4-FFF2-40B4-BE49-F238E27FC236}">
                <a16:creationId xmlns:a16="http://schemas.microsoft.com/office/drawing/2014/main" id="{742C734E-1F4D-A4C5-706F-A27602E28F42}"/>
              </a:ext>
            </a:extLst>
          </p:cNvPr>
          <p:cNvPicPr>
            <a:picLocks noChangeAspect="1"/>
          </p:cNvPicPr>
          <p:nvPr/>
        </p:nvPicPr>
        <p:blipFill>
          <a:blip r:embed="rId3"/>
          <a:stretch>
            <a:fillRect/>
          </a:stretch>
        </p:blipFill>
        <p:spPr>
          <a:xfrm>
            <a:off x="266700" y="2789922"/>
            <a:ext cx="6248400" cy="2717873"/>
          </a:xfrm>
          <a:prstGeom prst="rect">
            <a:avLst/>
          </a:prstGeom>
        </p:spPr>
      </p:pic>
      <p:sp>
        <p:nvSpPr>
          <p:cNvPr id="12" name="TextBox 11">
            <a:extLst>
              <a:ext uri="{FF2B5EF4-FFF2-40B4-BE49-F238E27FC236}">
                <a16:creationId xmlns:a16="http://schemas.microsoft.com/office/drawing/2014/main" id="{13831AF5-2D49-6F86-273A-4A30FF6983BE}"/>
              </a:ext>
            </a:extLst>
          </p:cNvPr>
          <p:cNvSpPr txBox="1"/>
          <p:nvPr/>
        </p:nvSpPr>
        <p:spPr>
          <a:xfrm>
            <a:off x="315582" y="2292818"/>
            <a:ext cx="6303036" cy="369332"/>
          </a:xfrm>
          <a:prstGeom prst="rect">
            <a:avLst/>
          </a:prstGeom>
          <a:noFill/>
        </p:spPr>
        <p:txBody>
          <a:bodyPr wrap="square" lIns="91440" tIns="45720" rIns="91440" bIns="45720" rtlCol="0" anchor="t">
            <a:spAutoFit/>
          </a:bodyPr>
          <a:lstStyle/>
          <a:p>
            <a:pPr algn="ctr"/>
            <a:r>
              <a:rPr lang="en-US" sz="1800" b="1" u="sng" dirty="0">
                <a:solidFill>
                  <a:srgbClr val="00463D"/>
                </a:solidFill>
                <a:latin typeface="+mj-lt"/>
              </a:rPr>
              <a:t>Global Leverage Ratios* for Different Financing Instruments </a:t>
            </a:r>
          </a:p>
        </p:txBody>
      </p:sp>
      <p:sp>
        <p:nvSpPr>
          <p:cNvPr id="13" name="TextBox 12">
            <a:extLst>
              <a:ext uri="{FF2B5EF4-FFF2-40B4-BE49-F238E27FC236}">
                <a16:creationId xmlns:a16="http://schemas.microsoft.com/office/drawing/2014/main" id="{1872FDFB-6E34-8C11-2D02-31A903E46B89}"/>
              </a:ext>
            </a:extLst>
          </p:cNvPr>
          <p:cNvSpPr txBox="1"/>
          <p:nvPr/>
        </p:nvSpPr>
        <p:spPr>
          <a:xfrm>
            <a:off x="880064" y="5635567"/>
            <a:ext cx="4834695" cy="276999"/>
          </a:xfrm>
          <a:prstGeom prst="rect">
            <a:avLst/>
          </a:prstGeom>
          <a:noFill/>
        </p:spPr>
        <p:txBody>
          <a:bodyPr wrap="square" rtlCol="0">
            <a:spAutoFit/>
          </a:bodyPr>
          <a:lstStyle/>
          <a:p>
            <a:pPr algn="ctr"/>
            <a:r>
              <a:rPr lang="en-US" sz="1200" dirty="0">
                <a:solidFill>
                  <a:srgbClr val="00463D"/>
                </a:solidFill>
                <a:latin typeface="+mn-lt"/>
              </a:rPr>
              <a:t>Source: </a:t>
            </a:r>
            <a:r>
              <a:rPr lang="en-US" sz="1200" i="1" dirty="0">
                <a:solidFill>
                  <a:srgbClr val="00463D"/>
                </a:solidFill>
                <a:latin typeface="+mn-lt"/>
                <a:hlinkClick r:id="rId4"/>
              </a:rPr>
              <a:t>McKinsey Sustainability (2023) </a:t>
            </a:r>
            <a:endParaRPr lang="en-US" sz="1200" i="1" dirty="0">
              <a:solidFill>
                <a:srgbClr val="00463D"/>
              </a:solidFill>
              <a:latin typeface="+mn-lt"/>
            </a:endParaRPr>
          </a:p>
        </p:txBody>
      </p:sp>
      <p:sp>
        <p:nvSpPr>
          <p:cNvPr id="15" name="TextBox 14">
            <a:extLst>
              <a:ext uri="{FF2B5EF4-FFF2-40B4-BE49-F238E27FC236}">
                <a16:creationId xmlns:a16="http://schemas.microsoft.com/office/drawing/2014/main" id="{E11A24A9-05E8-688D-36B7-DC267E934B13}"/>
              </a:ext>
            </a:extLst>
          </p:cNvPr>
          <p:cNvSpPr txBox="1"/>
          <p:nvPr/>
        </p:nvSpPr>
        <p:spPr>
          <a:xfrm>
            <a:off x="419100" y="6417248"/>
            <a:ext cx="6096000" cy="276999"/>
          </a:xfrm>
          <a:prstGeom prst="rect">
            <a:avLst/>
          </a:prstGeom>
          <a:noFill/>
        </p:spPr>
        <p:txBody>
          <a:bodyPr wrap="square">
            <a:spAutoFit/>
          </a:bodyPr>
          <a:lstStyle/>
          <a:p>
            <a:r>
              <a:rPr lang="en-US" sz="1200" b="1" dirty="0">
                <a:solidFill>
                  <a:srgbClr val="00463D"/>
                </a:solidFill>
                <a:latin typeface="+mj-lt"/>
              </a:rPr>
              <a:t>*the amount of private sector capital deployment for every unit of public-sector spending. </a:t>
            </a:r>
            <a:endParaRPr lang="en-US" sz="1200" dirty="0"/>
          </a:p>
        </p:txBody>
      </p:sp>
    </p:spTree>
    <p:extLst>
      <p:ext uri="{BB962C8B-B14F-4D97-AF65-F5344CB8AC3E}">
        <p14:creationId xmlns:p14="http://schemas.microsoft.com/office/powerpoint/2010/main" val="1903012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2043637"/>
            <a:ext cx="4276422" cy="1066818"/>
          </a:xfrm>
        </p:spPr>
        <p:txBody>
          <a:bodyPr>
            <a:normAutofit fontScale="90000"/>
          </a:bodyPr>
          <a:lstStyle/>
          <a:p>
            <a:r>
              <a:rPr lang="en-AU" dirty="0">
                <a:solidFill>
                  <a:srgbClr val="FFC6B1"/>
                </a:solidFill>
                <a:latin typeface="Aptos"/>
              </a:rPr>
              <a:t>Innovative Financing Options</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457964" y="1340548"/>
            <a:ext cx="7055476" cy="2088452"/>
          </a:xfrm>
        </p:spPr>
        <p:txBody>
          <a:bodyPr vert="horz" lIns="0" tIns="0" rIns="0" bIns="0" rtlCol="0" anchor="t">
            <a:noAutofit/>
          </a:bodyPr>
          <a:lstStyle/>
          <a:p>
            <a:r>
              <a:rPr lang="en-US" sz="2000" dirty="0"/>
              <a:t>Even when governments have limited capacity to borrow or invest directly, innovative financing mechanisms can bridge the gap for climate mitigation.</a:t>
            </a: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111017"/>
            <a:ext cx="12192000" cy="2931459"/>
          </a:xfrm>
          <a:prstGeom prst="rect">
            <a:avLst/>
          </a:prstGeom>
        </p:spPr>
      </p:pic>
    </p:spTree>
    <p:extLst>
      <p:ext uri="{BB962C8B-B14F-4D97-AF65-F5344CB8AC3E}">
        <p14:creationId xmlns:p14="http://schemas.microsoft.com/office/powerpoint/2010/main" val="2820907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2043637"/>
            <a:ext cx="4276422" cy="1066818"/>
          </a:xfrm>
        </p:spPr>
        <p:txBody>
          <a:bodyPr>
            <a:normAutofit fontScale="90000"/>
          </a:bodyPr>
          <a:lstStyle/>
          <a:p>
            <a:r>
              <a:rPr lang="en-AU" dirty="0">
                <a:solidFill>
                  <a:srgbClr val="FFC6B1"/>
                </a:solidFill>
                <a:latin typeface="Aptos"/>
              </a:rPr>
              <a:t>Innovative Financing Options</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040372" y="381751"/>
            <a:ext cx="7721577" cy="2088452"/>
          </a:xfrm>
        </p:spPr>
        <p:txBody>
          <a:bodyPr vert="horz" lIns="0" tIns="0" rIns="0" bIns="0" rtlCol="0" anchor="t">
            <a:noAutofit/>
          </a:bodyPr>
          <a:lstStyle/>
          <a:p>
            <a:r>
              <a:rPr lang="en-US" sz="1800" b="1" dirty="0"/>
              <a:t>Pay-As-You-Go Model: </a:t>
            </a:r>
            <a:r>
              <a:rPr lang="en-US" sz="1800" dirty="0"/>
              <a:t>Offshore financing can cover the upfront costs, with governments repaying through fixed annual payments. This approach offers a manageable comparison to ongoing costs like electricity imports or fossil fuel reliance, making the long-term case for investment in renewables.</a:t>
            </a:r>
          </a:p>
          <a:p>
            <a:r>
              <a:rPr lang="en-US" sz="1800" b="1" dirty="0"/>
              <a:t>Sovereign Wealth and Pension Funds: </a:t>
            </a:r>
            <a:r>
              <a:rPr lang="en-US" sz="1800" dirty="0"/>
              <a:t>Sovereign wealth funds or pension funds can invest in renewable energy projects. These capital-intensive investments might increase short-term debt but yield long-term GDP growth, with the ability to spread risks across borders.</a:t>
            </a: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387798"/>
            <a:ext cx="12192000" cy="2931459"/>
          </a:xfrm>
          <a:prstGeom prst="rect">
            <a:avLst/>
          </a:prstGeom>
        </p:spPr>
      </p:pic>
    </p:spTree>
    <p:extLst>
      <p:ext uri="{BB962C8B-B14F-4D97-AF65-F5344CB8AC3E}">
        <p14:creationId xmlns:p14="http://schemas.microsoft.com/office/powerpoint/2010/main" val="3104331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A86512-31E8-659E-E04E-EA58F56EC786}"/>
              </a:ext>
            </a:extLst>
          </p:cNvPr>
          <p:cNvPicPr>
            <a:picLocks noChangeAspect="1"/>
          </p:cNvPicPr>
          <p:nvPr/>
        </p:nvPicPr>
        <p:blipFill>
          <a:blip r:embed="rId2"/>
          <a:srcRect l="27209" t="29358" r="11482" b="9334"/>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C94C450-8F7F-4536-7C71-5AAC7FDC3637}"/>
              </a:ext>
            </a:extLst>
          </p:cNvPr>
          <p:cNvSpPr/>
          <p:nvPr/>
        </p:nvSpPr>
        <p:spPr>
          <a:xfrm>
            <a:off x="900221" y="1888845"/>
            <a:ext cx="10391553" cy="4496642"/>
          </a:xfrm>
          <a:prstGeom prst="rect">
            <a:avLst/>
          </a:prstGeom>
          <a:solidFill>
            <a:srgbClr val="FFFFFF">
              <a:alpha val="7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CFB003A-3619-222B-8853-57D3D6E6FC58}"/>
              </a:ext>
            </a:extLst>
          </p:cNvPr>
          <p:cNvSpPr txBox="1">
            <a:spLocks/>
          </p:cNvSpPr>
          <p:nvPr/>
        </p:nvSpPr>
        <p:spPr>
          <a:xfrm>
            <a:off x="2074531" y="416367"/>
            <a:ext cx="8042930" cy="984068"/>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buClrTx/>
              <a:buFontTx/>
            </a:pPr>
            <a:r>
              <a:rPr lang="en-AU" sz="4000" dirty="0">
                <a:solidFill>
                  <a:schemeClr val="tx1"/>
                </a:solidFill>
                <a:latin typeface="Aptos"/>
              </a:rPr>
              <a:t>Ukraine: Sources of Finance Explicit in Roadmap</a:t>
            </a:r>
          </a:p>
        </p:txBody>
      </p:sp>
      <p:sp>
        <p:nvSpPr>
          <p:cNvPr id="3" name="Google Shape;427;g2c650aad0c2_0_13">
            <a:extLst>
              <a:ext uri="{FF2B5EF4-FFF2-40B4-BE49-F238E27FC236}">
                <a16:creationId xmlns:a16="http://schemas.microsoft.com/office/drawing/2014/main" id="{DC508B16-18BD-D842-8FAD-74C102797250}"/>
              </a:ext>
            </a:extLst>
          </p:cNvPr>
          <p:cNvSpPr txBox="1">
            <a:spLocks/>
          </p:cNvSpPr>
          <p:nvPr/>
        </p:nvSpPr>
        <p:spPr>
          <a:xfrm>
            <a:off x="659232" y="1816801"/>
            <a:ext cx="4971289" cy="4496642"/>
          </a:xfrm>
          <a:prstGeom prst="rect">
            <a:avLst/>
          </a:prstGeom>
        </p:spPr>
        <p:txBody>
          <a:bodyPr spcFirstLastPara="1" wrap="square" lIns="91425" tIns="45700" rIns="91425" bIns="45700" anchor="t" anchorCtr="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Tx/>
              <a:buFont typeface="+mj-lt"/>
              <a:buAutoNum type="arabicPeriod"/>
            </a:pPr>
            <a:endParaRPr lang="en-US" sz="1800" b="1" dirty="0">
              <a:latin typeface="+mn-lt"/>
            </a:endParaRPr>
          </a:p>
        </p:txBody>
      </p:sp>
      <p:sp>
        <p:nvSpPr>
          <p:cNvPr id="20" name="Google Shape;427;g2c650aad0c2_0_13">
            <a:extLst>
              <a:ext uri="{FF2B5EF4-FFF2-40B4-BE49-F238E27FC236}">
                <a16:creationId xmlns:a16="http://schemas.microsoft.com/office/drawing/2014/main" id="{3A833286-C51A-50D7-68F7-19DE26FB1359}"/>
              </a:ext>
            </a:extLst>
          </p:cNvPr>
          <p:cNvSpPr txBox="1">
            <a:spLocks/>
          </p:cNvSpPr>
          <p:nvPr/>
        </p:nvSpPr>
        <p:spPr>
          <a:xfrm>
            <a:off x="1033126" y="2104650"/>
            <a:ext cx="10125741" cy="4496642"/>
          </a:xfrm>
          <a:prstGeom prst="rect">
            <a:avLst/>
          </a:prstGeom>
        </p:spPr>
        <p:txBody>
          <a:bodyPr spcFirstLastPara="1" wrap="square" lIns="91425" tIns="45700" rIns="91425" bIns="45700" anchor="t" anchorCtr="0">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Tx/>
              <a:buFont typeface="+mj-lt"/>
              <a:buAutoNum type="arabicPeriod"/>
            </a:pPr>
            <a:r>
              <a:rPr lang="en-US" sz="1800" b="1" dirty="0">
                <a:solidFill>
                  <a:srgbClr val="025353"/>
                </a:solidFill>
                <a:latin typeface="+mn-lt"/>
              </a:rPr>
              <a:t>International Financial Institutions (IFIs)</a:t>
            </a:r>
            <a:r>
              <a:rPr lang="en-US" sz="1800" dirty="0">
                <a:latin typeface="+mn-lt"/>
              </a:rPr>
              <a:t> e.g</a:t>
            </a:r>
            <a:r>
              <a:rPr lang="en-US" sz="1800" b="1" dirty="0">
                <a:latin typeface="+mn-lt"/>
              </a:rPr>
              <a:t>. </a:t>
            </a:r>
            <a:r>
              <a:rPr lang="en-US" sz="1800" dirty="0">
                <a:latin typeface="+mn-lt"/>
              </a:rPr>
              <a:t>World Bank, European Bank for Reconstruction and Development (EBRD), International Monetary Fund (IMF). Support through </a:t>
            </a:r>
            <a:r>
              <a:rPr lang="en-US" sz="1800" b="1" dirty="0">
                <a:solidFill>
                  <a:srgbClr val="025353"/>
                </a:solidFill>
                <a:latin typeface="+mn-lt"/>
              </a:rPr>
              <a:t>loans, grants, and technical assistance</a:t>
            </a:r>
            <a:r>
              <a:rPr lang="en-US" sz="1800" dirty="0">
                <a:solidFill>
                  <a:srgbClr val="025353"/>
                </a:solidFill>
                <a:latin typeface="+mn-lt"/>
              </a:rPr>
              <a:t>.</a:t>
            </a:r>
          </a:p>
          <a:p>
            <a:pPr marL="342900" indent="-342900">
              <a:buClrTx/>
              <a:buFont typeface="+mj-lt"/>
              <a:buAutoNum type="arabicPeriod"/>
            </a:pPr>
            <a:r>
              <a:rPr lang="en-US" sz="1800" b="1" dirty="0">
                <a:solidFill>
                  <a:srgbClr val="025353"/>
                </a:solidFill>
                <a:latin typeface="+mn-lt"/>
              </a:rPr>
              <a:t>Bilateral Donors</a:t>
            </a:r>
            <a:r>
              <a:rPr lang="en-US" sz="1800" b="1" dirty="0">
                <a:latin typeface="+mn-lt"/>
              </a:rPr>
              <a:t> </a:t>
            </a:r>
            <a:r>
              <a:rPr lang="en-US" sz="1800" dirty="0">
                <a:latin typeface="+mn-lt"/>
              </a:rPr>
              <a:t>e.g. Governments of the EU, USA, and Japan. </a:t>
            </a:r>
            <a:r>
              <a:rPr lang="en-US" sz="1800" b="1" dirty="0">
                <a:solidFill>
                  <a:srgbClr val="025353"/>
                </a:solidFill>
                <a:latin typeface="+mn-lt"/>
              </a:rPr>
              <a:t>Direct grants and concessional loans</a:t>
            </a:r>
            <a:r>
              <a:rPr lang="en-US" sz="1800" b="1" dirty="0">
                <a:latin typeface="+mn-lt"/>
              </a:rPr>
              <a:t> </a:t>
            </a:r>
            <a:r>
              <a:rPr lang="en-US" sz="1800" dirty="0">
                <a:latin typeface="+mn-lt"/>
              </a:rPr>
              <a:t>for reconstruction and sustainability projects. </a:t>
            </a:r>
          </a:p>
          <a:p>
            <a:pPr marL="342900" indent="-342900">
              <a:buClrTx/>
              <a:buFont typeface="+mj-lt"/>
              <a:buAutoNum type="arabicPeriod"/>
            </a:pPr>
            <a:r>
              <a:rPr lang="en-US" sz="1800" b="1" dirty="0">
                <a:solidFill>
                  <a:srgbClr val="025353"/>
                </a:solidFill>
                <a:latin typeface="+mn-lt"/>
              </a:rPr>
              <a:t>Private Sector Investors</a:t>
            </a:r>
            <a:r>
              <a:rPr lang="en-US" sz="1800" b="1" dirty="0">
                <a:latin typeface="+mn-lt"/>
              </a:rPr>
              <a:t> </a:t>
            </a:r>
            <a:r>
              <a:rPr lang="en-US" sz="1800" dirty="0">
                <a:latin typeface="+mn-lt"/>
              </a:rPr>
              <a:t>e.g. Private equity, venture capital, and institutional investors.</a:t>
            </a:r>
            <a:r>
              <a:rPr lang="en-US" sz="1800" dirty="0">
                <a:solidFill>
                  <a:srgbClr val="025353"/>
                </a:solidFill>
                <a:latin typeface="+mn-lt"/>
              </a:rPr>
              <a:t> </a:t>
            </a:r>
            <a:r>
              <a:rPr lang="en-US" sz="1800" b="1" dirty="0">
                <a:solidFill>
                  <a:srgbClr val="025353"/>
                </a:solidFill>
                <a:latin typeface="+mn-lt"/>
              </a:rPr>
              <a:t>Investments</a:t>
            </a:r>
            <a:r>
              <a:rPr lang="en-US" sz="1800" dirty="0">
                <a:latin typeface="+mn-lt"/>
              </a:rPr>
              <a:t> in green businesses, renewable energy ventures, and sustainable infrastructure projects.</a:t>
            </a:r>
          </a:p>
          <a:p>
            <a:pPr marL="342900" indent="-342900">
              <a:buClrTx/>
              <a:buFont typeface="+mj-lt"/>
              <a:buAutoNum type="arabicPeriod"/>
            </a:pPr>
            <a:r>
              <a:rPr lang="en-US" sz="1800" b="1" dirty="0">
                <a:solidFill>
                  <a:srgbClr val="025353"/>
                </a:solidFill>
                <a:latin typeface="+mn-lt"/>
              </a:rPr>
              <a:t>Domestic Contributions</a:t>
            </a:r>
            <a:r>
              <a:rPr lang="en-US" sz="1800" b="1" dirty="0">
                <a:latin typeface="+mn-lt"/>
              </a:rPr>
              <a:t> </a:t>
            </a:r>
            <a:r>
              <a:rPr lang="en-US" sz="1800" dirty="0">
                <a:latin typeface="+mn-lt"/>
              </a:rPr>
              <a:t>e.g. Ukrainian government, state-owned enterprises, local businesses. </a:t>
            </a:r>
            <a:r>
              <a:rPr lang="en-US" sz="1800" b="1" dirty="0">
                <a:solidFill>
                  <a:srgbClr val="025353"/>
                </a:solidFill>
                <a:latin typeface="+mn-lt"/>
              </a:rPr>
              <a:t>Public and private investments</a:t>
            </a:r>
            <a:r>
              <a:rPr lang="en-US" sz="1800" b="1" dirty="0">
                <a:latin typeface="+mn-lt"/>
              </a:rPr>
              <a:t> </a:t>
            </a:r>
            <a:r>
              <a:rPr lang="en-US" sz="1800" dirty="0">
                <a:latin typeface="+mn-lt"/>
              </a:rPr>
              <a:t>in infrastructure development, decarbonization, and energy efficiency.</a:t>
            </a:r>
          </a:p>
        </p:txBody>
      </p:sp>
    </p:spTree>
    <p:extLst>
      <p:ext uri="{BB962C8B-B14F-4D97-AF65-F5344CB8AC3E}">
        <p14:creationId xmlns:p14="http://schemas.microsoft.com/office/powerpoint/2010/main" val="2062910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5" name="Freeform: Shape 4">
            <a:extLst>
              <a:ext uri="{FF2B5EF4-FFF2-40B4-BE49-F238E27FC236}">
                <a16:creationId xmlns:a16="http://schemas.microsoft.com/office/drawing/2014/main" id="{B13F9773-43C9-35AA-8C0C-6DE59D2E16E8}"/>
              </a:ext>
            </a:extLst>
          </p:cNvPr>
          <p:cNvSpPr/>
          <p:nvPr/>
        </p:nvSpPr>
        <p:spPr>
          <a:xfrm>
            <a:off x="3755380" y="3113275"/>
            <a:ext cx="4700290" cy="617042"/>
          </a:xfrm>
          <a:custGeom>
            <a:avLst/>
            <a:gdLst/>
            <a:ahLst/>
            <a:cxnLst/>
            <a:rect l="l" t="t" r="r" b="b"/>
            <a:pathLst>
              <a:path w="4700290" h="617042">
                <a:moveTo>
                  <a:pt x="143321" y="127695"/>
                </a:moveTo>
                <a:lnTo>
                  <a:pt x="143321" y="489347"/>
                </a:lnTo>
                <a:lnTo>
                  <a:pt x="220563" y="489347"/>
                </a:lnTo>
                <a:cubicBezTo>
                  <a:pt x="259259" y="489347"/>
                  <a:pt x="291480" y="482650"/>
                  <a:pt x="317227" y="469256"/>
                </a:cubicBezTo>
                <a:cubicBezTo>
                  <a:pt x="342974" y="455861"/>
                  <a:pt x="362173" y="435620"/>
                  <a:pt x="374824" y="408534"/>
                </a:cubicBezTo>
                <a:cubicBezTo>
                  <a:pt x="387474" y="381447"/>
                  <a:pt x="393799" y="347217"/>
                  <a:pt x="393799" y="305842"/>
                </a:cubicBezTo>
                <a:cubicBezTo>
                  <a:pt x="393799" y="267147"/>
                  <a:pt x="386804" y="234554"/>
                  <a:pt x="372814" y="208062"/>
                </a:cubicBezTo>
                <a:cubicBezTo>
                  <a:pt x="358824" y="181571"/>
                  <a:pt x="338807" y="161553"/>
                  <a:pt x="312762" y="148010"/>
                </a:cubicBezTo>
                <a:cubicBezTo>
                  <a:pt x="286717" y="134467"/>
                  <a:pt x="255984" y="127695"/>
                  <a:pt x="220563" y="127695"/>
                </a:cubicBezTo>
                <a:close/>
                <a:moveTo>
                  <a:pt x="1333946" y="126802"/>
                </a:moveTo>
                <a:lnTo>
                  <a:pt x="1333946" y="271016"/>
                </a:lnTo>
                <a:lnTo>
                  <a:pt x="1421011" y="271016"/>
                </a:lnTo>
                <a:cubicBezTo>
                  <a:pt x="1439465" y="271016"/>
                  <a:pt x="1455018" y="268189"/>
                  <a:pt x="1467668" y="262533"/>
                </a:cubicBezTo>
                <a:cubicBezTo>
                  <a:pt x="1480319" y="256878"/>
                  <a:pt x="1489918" y="248469"/>
                  <a:pt x="1496467" y="237307"/>
                </a:cubicBezTo>
                <a:cubicBezTo>
                  <a:pt x="1503015" y="226145"/>
                  <a:pt x="1506289" y="212527"/>
                  <a:pt x="1506289" y="196454"/>
                </a:cubicBezTo>
                <a:cubicBezTo>
                  <a:pt x="1506289" y="172641"/>
                  <a:pt x="1498997" y="155079"/>
                  <a:pt x="1484411" y="143769"/>
                </a:cubicBezTo>
                <a:cubicBezTo>
                  <a:pt x="1469826" y="132457"/>
                  <a:pt x="1451669" y="126802"/>
                  <a:pt x="1429940" y="126802"/>
                </a:cubicBezTo>
                <a:close/>
                <a:moveTo>
                  <a:pt x="3486150" y="8037"/>
                </a:moveTo>
                <a:lnTo>
                  <a:pt x="3625453" y="8037"/>
                </a:lnTo>
                <a:lnTo>
                  <a:pt x="3880395" y="383531"/>
                </a:lnTo>
                <a:lnTo>
                  <a:pt x="3880395" y="8037"/>
                </a:lnTo>
                <a:lnTo>
                  <a:pt x="4015680" y="8037"/>
                </a:lnTo>
                <a:lnTo>
                  <a:pt x="4015680" y="609005"/>
                </a:lnTo>
                <a:lnTo>
                  <a:pt x="3875931" y="609005"/>
                </a:lnTo>
                <a:lnTo>
                  <a:pt x="3620095" y="230386"/>
                </a:lnTo>
                <a:lnTo>
                  <a:pt x="3620095" y="609005"/>
                </a:lnTo>
                <a:lnTo>
                  <a:pt x="3486150" y="609005"/>
                </a:lnTo>
                <a:close/>
                <a:moveTo>
                  <a:pt x="3209925" y="8037"/>
                </a:moveTo>
                <a:lnTo>
                  <a:pt x="3353246" y="8037"/>
                </a:lnTo>
                <a:lnTo>
                  <a:pt x="3353246" y="609005"/>
                </a:lnTo>
                <a:lnTo>
                  <a:pt x="3209925" y="609005"/>
                </a:lnTo>
                <a:close/>
                <a:moveTo>
                  <a:pt x="2619375" y="8037"/>
                </a:moveTo>
                <a:lnTo>
                  <a:pt x="2762696" y="8037"/>
                </a:lnTo>
                <a:lnTo>
                  <a:pt x="2762696" y="293787"/>
                </a:lnTo>
                <a:lnTo>
                  <a:pt x="2965847" y="8037"/>
                </a:lnTo>
                <a:lnTo>
                  <a:pt x="3123902" y="8037"/>
                </a:lnTo>
                <a:lnTo>
                  <a:pt x="2912268" y="289322"/>
                </a:lnTo>
                <a:lnTo>
                  <a:pt x="3135511" y="609005"/>
                </a:lnTo>
                <a:lnTo>
                  <a:pt x="2972097" y="609005"/>
                </a:lnTo>
                <a:lnTo>
                  <a:pt x="2762696" y="301824"/>
                </a:lnTo>
                <a:lnTo>
                  <a:pt x="2762696" y="609005"/>
                </a:lnTo>
                <a:lnTo>
                  <a:pt x="2619375" y="609005"/>
                </a:lnTo>
                <a:close/>
                <a:moveTo>
                  <a:pt x="1781175" y="8037"/>
                </a:moveTo>
                <a:lnTo>
                  <a:pt x="1924496" y="8037"/>
                </a:lnTo>
                <a:lnTo>
                  <a:pt x="1924496" y="609005"/>
                </a:lnTo>
                <a:lnTo>
                  <a:pt x="1781175" y="609005"/>
                </a:lnTo>
                <a:close/>
                <a:moveTo>
                  <a:pt x="1190625" y="8037"/>
                </a:moveTo>
                <a:lnTo>
                  <a:pt x="1446014" y="8037"/>
                </a:lnTo>
                <a:cubicBezTo>
                  <a:pt x="1486197" y="8037"/>
                  <a:pt x="1521916" y="13395"/>
                  <a:pt x="1553170" y="24111"/>
                </a:cubicBezTo>
                <a:cubicBezTo>
                  <a:pt x="1584424" y="34826"/>
                  <a:pt x="1609055" y="52462"/>
                  <a:pt x="1627064" y="77019"/>
                </a:cubicBezTo>
                <a:cubicBezTo>
                  <a:pt x="1645072" y="101576"/>
                  <a:pt x="1654076" y="134690"/>
                  <a:pt x="1654076" y="176362"/>
                </a:cubicBezTo>
                <a:cubicBezTo>
                  <a:pt x="1654076" y="214164"/>
                  <a:pt x="1644031" y="246311"/>
                  <a:pt x="1623938" y="272802"/>
                </a:cubicBezTo>
                <a:cubicBezTo>
                  <a:pt x="1603846" y="299294"/>
                  <a:pt x="1572964" y="318493"/>
                  <a:pt x="1531292" y="330399"/>
                </a:cubicBezTo>
                <a:cubicBezTo>
                  <a:pt x="1557784" y="334566"/>
                  <a:pt x="1578768" y="342305"/>
                  <a:pt x="1594247" y="353616"/>
                </a:cubicBezTo>
                <a:cubicBezTo>
                  <a:pt x="1609725" y="364927"/>
                  <a:pt x="1622078" y="380331"/>
                  <a:pt x="1631305" y="399827"/>
                </a:cubicBezTo>
                <a:cubicBezTo>
                  <a:pt x="1640532" y="419324"/>
                  <a:pt x="1649015" y="443359"/>
                  <a:pt x="1656754" y="471934"/>
                </a:cubicBezTo>
                <a:lnTo>
                  <a:pt x="1696492" y="609005"/>
                </a:lnTo>
                <a:lnTo>
                  <a:pt x="1546026" y="609005"/>
                </a:lnTo>
                <a:lnTo>
                  <a:pt x="1520577" y="501849"/>
                </a:lnTo>
                <a:cubicBezTo>
                  <a:pt x="1514326" y="475060"/>
                  <a:pt x="1507405" y="453405"/>
                  <a:pt x="1499815" y="436885"/>
                </a:cubicBezTo>
                <a:cubicBezTo>
                  <a:pt x="1492225" y="420366"/>
                  <a:pt x="1481956" y="408236"/>
                  <a:pt x="1469008" y="400497"/>
                </a:cubicBezTo>
                <a:cubicBezTo>
                  <a:pt x="1456060" y="392758"/>
                  <a:pt x="1437977" y="388888"/>
                  <a:pt x="1414761" y="388888"/>
                </a:cubicBezTo>
                <a:lnTo>
                  <a:pt x="1333946" y="388888"/>
                </a:lnTo>
                <a:lnTo>
                  <a:pt x="1333946" y="609005"/>
                </a:lnTo>
                <a:lnTo>
                  <a:pt x="1190625" y="609005"/>
                </a:lnTo>
                <a:close/>
                <a:moveTo>
                  <a:pt x="657225" y="8037"/>
                </a:moveTo>
                <a:lnTo>
                  <a:pt x="1068437" y="8037"/>
                </a:lnTo>
                <a:lnTo>
                  <a:pt x="1068437" y="126802"/>
                </a:lnTo>
                <a:lnTo>
                  <a:pt x="800546" y="126802"/>
                </a:lnTo>
                <a:lnTo>
                  <a:pt x="800546" y="246014"/>
                </a:lnTo>
                <a:lnTo>
                  <a:pt x="1041648" y="246014"/>
                </a:lnTo>
                <a:lnTo>
                  <a:pt x="1041648" y="360313"/>
                </a:lnTo>
                <a:lnTo>
                  <a:pt x="800546" y="360313"/>
                </a:lnTo>
                <a:lnTo>
                  <a:pt x="800546" y="490240"/>
                </a:lnTo>
                <a:lnTo>
                  <a:pt x="1068437" y="490240"/>
                </a:lnTo>
                <a:lnTo>
                  <a:pt x="1068437" y="609005"/>
                </a:lnTo>
                <a:lnTo>
                  <a:pt x="657225" y="609005"/>
                </a:lnTo>
                <a:close/>
                <a:moveTo>
                  <a:pt x="0" y="8037"/>
                </a:moveTo>
                <a:lnTo>
                  <a:pt x="232618" y="8037"/>
                </a:lnTo>
                <a:cubicBezTo>
                  <a:pt x="297210" y="8037"/>
                  <a:pt x="352574" y="19943"/>
                  <a:pt x="398710" y="43756"/>
                </a:cubicBezTo>
                <a:cubicBezTo>
                  <a:pt x="444848" y="67569"/>
                  <a:pt x="480194" y="101725"/>
                  <a:pt x="504750" y="146224"/>
                </a:cubicBezTo>
                <a:cubicBezTo>
                  <a:pt x="529307" y="190724"/>
                  <a:pt x="541585" y="244228"/>
                  <a:pt x="541585" y="306735"/>
                </a:cubicBezTo>
                <a:cubicBezTo>
                  <a:pt x="541585" y="371922"/>
                  <a:pt x="529233" y="426988"/>
                  <a:pt x="504527" y="471934"/>
                </a:cubicBezTo>
                <a:cubicBezTo>
                  <a:pt x="479822" y="516881"/>
                  <a:pt x="444326" y="550962"/>
                  <a:pt x="398041" y="574179"/>
                </a:cubicBezTo>
                <a:cubicBezTo>
                  <a:pt x="351755" y="597397"/>
                  <a:pt x="296614" y="609005"/>
                  <a:pt x="232618" y="609005"/>
                </a:cubicBezTo>
                <a:lnTo>
                  <a:pt x="0" y="609005"/>
                </a:lnTo>
                <a:close/>
                <a:moveTo>
                  <a:pt x="2264122" y="893"/>
                </a:moveTo>
                <a:cubicBezTo>
                  <a:pt x="2306389" y="893"/>
                  <a:pt x="2345159" y="7070"/>
                  <a:pt x="2380431" y="19423"/>
                </a:cubicBezTo>
                <a:cubicBezTo>
                  <a:pt x="2415703" y="31775"/>
                  <a:pt x="2443832" y="50900"/>
                  <a:pt x="2464817" y="76796"/>
                </a:cubicBezTo>
                <a:cubicBezTo>
                  <a:pt x="2485801" y="102692"/>
                  <a:pt x="2496294" y="135881"/>
                  <a:pt x="2496294" y="176362"/>
                </a:cubicBezTo>
                <a:lnTo>
                  <a:pt x="2348954" y="176362"/>
                </a:lnTo>
                <a:cubicBezTo>
                  <a:pt x="2348954" y="154038"/>
                  <a:pt x="2340471" y="137592"/>
                  <a:pt x="2323505" y="127025"/>
                </a:cubicBezTo>
                <a:cubicBezTo>
                  <a:pt x="2306538" y="116458"/>
                  <a:pt x="2286446" y="111175"/>
                  <a:pt x="2263229" y="111175"/>
                </a:cubicBezTo>
                <a:cubicBezTo>
                  <a:pt x="2241500" y="111175"/>
                  <a:pt x="2222524" y="114970"/>
                  <a:pt x="2206303" y="122560"/>
                </a:cubicBezTo>
                <a:cubicBezTo>
                  <a:pt x="2190080" y="130151"/>
                  <a:pt x="2181970" y="142727"/>
                  <a:pt x="2181970" y="160288"/>
                </a:cubicBezTo>
                <a:cubicBezTo>
                  <a:pt x="2181970" y="170111"/>
                  <a:pt x="2185392" y="178966"/>
                  <a:pt x="2192239" y="186854"/>
                </a:cubicBezTo>
                <a:cubicBezTo>
                  <a:pt x="2199084" y="194742"/>
                  <a:pt x="2212107" y="202853"/>
                  <a:pt x="2231306" y="211188"/>
                </a:cubicBezTo>
                <a:cubicBezTo>
                  <a:pt x="2250504" y="219522"/>
                  <a:pt x="2278558" y="229345"/>
                  <a:pt x="2315468" y="240656"/>
                </a:cubicBezTo>
                <a:cubicBezTo>
                  <a:pt x="2360711" y="254348"/>
                  <a:pt x="2397993" y="268710"/>
                  <a:pt x="2427312" y="283741"/>
                </a:cubicBezTo>
                <a:cubicBezTo>
                  <a:pt x="2456631" y="298773"/>
                  <a:pt x="2478434" y="318121"/>
                  <a:pt x="2492722" y="341784"/>
                </a:cubicBezTo>
                <a:cubicBezTo>
                  <a:pt x="2507009" y="365448"/>
                  <a:pt x="2514153" y="396776"/>
                  <a:pt x="2514153" y="435769"/>
                </a:cubicBezTo>
                <a:cubicBezTo>
                  <a:pt x="2514153" y="479525"/>
                  <a:pt x="2503438" y="514723"/>
                  <a:pt x="2482006" y="541363"/>
                </a:cubicBezTo>
                <a:cubicBezTo>
                  <a:pt x="2460575" y="568003"/>
                  <a:pt x="2431405" y="587276"/>
                  <a:pt x="2394495" y="599183"/>
                </a:cubicBezTo>
                <a:cubicBezTo>
                  <a:pt x="2357586" y="611089"/>
                  <a:pt x="2315914" y="617042"/>
                  <a:pt x="2269480" y="617042"/>
                </a:cubicBezTo>
                <a:cubicBezTo>
                  <a:pt x="2222748" y="617042"/>
                  <a:pt x="2180778" y="610568"/>
                  <a:pt x="2143571" y="597620"/>
                </a:cubicBezTo>
                <a:cubicBezTo>
                  <a:pt x="2106364" y="584672"/>
                  <a:pt x="2076822" y="564059"/>
                  <a:pt x="2054944" y="535782"/>
                </a:cubicBezTo>
                <a:cubicBezTo>
                  <a:pt x="2033067" y="507504"/>
                  <a:pt x="2022128" y="470446"/>
                  <a:pt x="2022128" y="424607"/>
                </a:cubicBezTo>
                <a:lnTo>
                  <a:pt x="2169467" y="424607"/>
                </a:lnTo>
                <a:cubicBezTo>
                  <a:pt x="2170658" y="443955"/>
                  <a:pt x="2175569" y="459359"/>
                  <a:pt x="2184201" y="470818"/>
                </a:cubicBezTo>
                <a:cubicBezTo>
                  <a:pt x="2192833" y="482278"/>
                  <a:pt x="2204591" y="490464"/>
                  <a:pt x="2219474" y="495375"/>
                </a:cubicBezTo>
                <a:cubicBezTo>
                  <a:pt x="2234357" y="500286"/>
                  <a:pt x="2251620" y="502742"/>
                  <a:pt x="2271266" y="502742"/>
                </a:cubicBezTo>
                <a:cubicBezTo>
                  <a:pt x="2290911" y="502742"/>
                  <a:pt x="2307803" y="500658"/>
                  <a:pt x="2321942" y="496491"/>
                </a:cubicBezTo>
                <a:cubicBezTo>
                  <a:pt x="2336081" y="492324"/>
                  <a:pt x="2346945" y="485924"/>
                  <a:pt x="2354535" y="477292"/>
                </a:cubicBezTo>
                <a:cubicBezTo>
                  <a:pt x="2362125" y="468660"/>
                  <a:pt x="2365920" y="457796"/>
                  <a:pt x="2365920" y="444699"/>
                </a:cubicBezTo>
                <a:cubicBezTo>
                  <a:pt x="2365920" y="430709"/>
                  <a:pt x="2362423" y="419249"/>
                  <a:pt x="2355428" y="410320"/>
                </a:cubicBezTo>
                <a:cubicBezTo>
                  <a:pt x="2348433" y="401390"/>
                  <a:pt x="2335784" y="393056"/>
                  <a:pt x="2317477" y="385317"/>
                </a:cubicBezTo>
                <a:cubicBezTo>
                  <a:pt x="2299171" y="377577"/>
                  <a:pt x="2272903" y="368648"/>
                  <a:pt x="2238673" y="358527"/>
                </a:cubicBezTo>
                <a:cubicBezTo>
                  <a:pt x="2198786" y="346919"/>
                  <a:pt x="2163514" y="333896"/>
                  <a:pt x="2132856" y="319460"/>
                </a:cubicBezTo>
                <a:cubicBezTo>
                  <a:pt x="2102197" y="305024"/>
                  <a:pt x="2078087" y="286197"/>
                  <a:pt x="2060525" y="262980"/>
                </a:cubicBezTo>
                <a:cubicBezTo>
                  <a:pt x="2042963" y="239763"/>
                  <a:pt x="2034183" y="209104"/>
                  <a:pt x="2034183" y="171004"/>
                </a:cubicBezTo>
                <a:cubicBezTo>
                  <a:pt x="2034183" y="130225"/>
                  <a:pt x="2044303" y="97334"/>
                  <a:pt x="2064544" y="72331"/>
                </a:cubicBezTo>
                <a:cubicBezTo>
                  <a:pt x="2084784" y="47328"/>
                  <a:pt x="2112169" y="29171"/>
                  <a:pt x="2146697" y="17860"/>
                </a:cubicBezTo>
                <a:cubicBezTo>
                  <a:pt x="2181225" y="6549"/>
                  <a:pt x="2220367" y="893"/>
                  <a:pt x="2264122" y="893"/>
                </a:cubicBezTo>
                <a:close/>
                <a:moveTo>
                  <a:pt x="4424809" y="0"/>
                </a:moveTo>
                <a:cubicBezTo>
                  <a:pt x="4455765" y="0"/>
                  <a:pt x="4486424" y="4093"/>
                  <a:pt x="4516785" y="12279"/>
                </a:cubicBezTo>
                <a:cubicBezTo>
                  <a:pt x="4547145" y="20464"/>
                  <a:pt x="4575051" y="33115"/>
                  <a:pt x="4600500" y="50230"/>
                </a:cubicBezTo>
                <a:cubicBezTo>
                  <a:pt x="4625950" y="67345"/>
                  <a:pt x="4647009" y="89223"/>
                  <a:pt x="4663678" y="115863"/>
                </a:cubicBezTo>
                <a:cubicBezTo>
                  <a:pt x="4680346" y="142503"/>
                  <a:pt x="4690466" y="174130"/>
                  <a:pt x="4694038" y="210741"/>
                </a:cubicBezTo>
                <a:lnTo>
                  <a:pt x="4546253" y="210741"/>
                </a:lnTo>
                <a:cubicBezTo>
                  <a:pt x="4544169" y="192286"/>
                  <a:pt x="4537993" y="176287"/>
                  <a:pt x="4527723" y="162744"/>
                </a:cubicBezTo>
                <a:cubicBezTo>
                  <a:pt x="4517454" y="149201"/>
                  <a:pt x="4503464" y="138708"/>
                  <a:pt x="4485754" y="131267"/>
                </a:cubicBezTo>
                <a:cubicBezTo>
                  <a:pt x="4468043" y="123826"/>
                  <a:pt x="4446686" y="120105"/>
                  <a:pt x="4421683" y="120105"/>
                </a:cubicBezTo>
                <a:cubicBezTo>
                  <a:pt x="4385965" y="120105"/>
                  <a:pt x="4357315" y="128960"/>
                  <a:pt x="4335735" y="146671"/>
                </a:cubicBezTo>
                <a:cubicBezTo>
                  <a:pt x="4314155" y="164381"/>
                  <a:pt x="4298454" y="187524"/>
                  <a:pt x="4288631" y="216099"/>
                </a:cubicBezTo>
                <a:cubicBezTo>
                  <a:pt x="4278808" y="244674"/>
                  <a:pt x="4273897" y="275630"/>
                  <a:pt x="4273897" y="308968"/>
                </a:cubicBezTo>
                <a:cubicBezTo>
                  <a:pt x="4273897" y="342008"/>
                  <a:pt x="4278883" y="372964"/>
                  <a:pt x="4288854" y="401836"/>
                </a:cubicBezTo>
                <a:cubicBezTo>
                  <a:pt x="4298826" y="430709"/>
                  <a:pt x="4314825" y="453926"/>
                  <a:pt x="4336851" y="471488"/>
                </a:cubicBezTo>
                <a:cubicBezTo>
                  <a:pt x="4358878" y="489050"/>
                  <a:pt x="4388197" y="497831"/>
                  <a:pt x="4424809" y="497831"/>
                </a:cubicBezTo>
                <a:cubicBezTo>
                  <a:pt x="4449812" y="497831"/>
                  <a:pt x="4471615" y="493738"/>
                  <a:pt x="4490219" y="485552"/>
                </a:cubicBezTo>
                <a:cubicBezTo>
                  <a:pt x="4508822" y="477367"/>
                  <a:pt x="4523705" y="465981"/>
                  <a:pt x="4534867" y="451396"/>
                </a:cubicBezTo>
                <a:cubicBezTo>
                  <a:pt x="4546029" y="436811"/>
                  <a:pt x="4552801" y="419845"/>
                  <a:pt x="4555182" y="400497"/>
                </a:cubicBezTo>
                <a:lnTo>
                  <a:pt x="4426148" y="400497"/>
                </a:lnTo>
                <a:lnTo>
                  <a:pt x="4426148" y="286643"/>
                </a:lnTo>
                <a:lnTo>
                  <a:pt x="4700290" y="286643"/>
                </a:lnTo>
                <a:lnTo>
                  <a:pt x="4700290" y="353616"/>
                </a:lnTo>
                <a:cubicBezTo>
                  <a:pt x="4700290" y="405706"/>
                  <a:pt x="4689500" y="451545"/>
                  <a:pt x="4667920" y="491133"/>
                </a:cubicBezTo>
                <a:cubicBezTo>
                  <a:pt x="4646339" y="530722"/>
                  <a:pt x="4615086" y="561603"/>
                  <a:pt x="4574158" y="583779"/>
                </a:cubicBezTo>
                <a:cubicBezTo>
                  <a:pt x="4533230" y="605954"/>
                  <a:pt x="4483447" y="617042"/>
                  <a:pt x="4424809" y="617042"/>
                </a:cubicBezTo>
                <a:cubicBezTo>
                  <a:pt x="4363789" y="617042"/>
                  <a:pt x="4310955" y="604392"/>
                  <a:pt x="4266307" y="579091"/>
                </a:cubicBezTo>
                <a:cubicBezTo>
                  <a:pt x="4221658" y="553790"/>
                  <a:pt x="4187205" y="518071"/>
                  <a:pt x="4162946" y="471934"/>
                </a:cubicBezTo>
                <a:cubicBezTo>
                  <a:pt x="4138687" y="425798"/>
                  <a:pt x="4126557" y="371475"/>
                  <a:pt x="4126557" y="308968"/>
                </a:cubicBezTo>
                <a:cubicBezTo>
                  <a:pt x="4126557" y="246162"/>
                  <a:pt x="4138687" y="191617"/>
                  <a:pt x="4162946" y="145331"/>
                </a:cubicBezTo>
                <a:cubicBezTo>
                  <a:pt x="4187205" y="99046"/>
                  <a:pt x="4221658" y="63252"/>
                  <a:pt x="4266307" y="37952"/>
                </a:cubicBezTo>
                <a:cubicBezTo>
                  <a:pt x="4310955" y="12651"/>
                  <a:pt x="4363789" y="0"/>
                  <a:pt x="4424809" y="0"/>
                </a:cubicBezTo>
                <a:close/>
              </a:path>
            </a:pathLst>
          </a:cu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1025249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2043637"/>
            <a:ext cx="3759177" cy="1066818"/>
          </a:xfrm>
        </p:spPr>
        <p:txBody>
          <a:bodyPr>
            <a:noAutofit/>
          </a:bodyPr>
          <a:lstStyle/>
          <a:p>
            <a:r>
              <a:rPr lang="en-AU" sz="4800" dirty="0">
                <a:solidFill>
                  <a:srgbClr val="FFC6B1"/>
                </a:solidFill>
                <a:latin typeface="Aptos"/>
              </a:rPr>
              <a:t>Flexibility and Risk Management</a:t>
            </a:r>
            <a:endParaRPr lang="en-US" sz="4800"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607026" y="548335"/>
            <a:ext cx="6966665" cy="3505072"/>
          </a:xfrm>
        </p:spPr>
        <p:txBody>
          <a:bodyPr vert="horz" lIns="0" tIns="0" rIns="0" bIns="0" rtlCol="0" anchor="t">
            <a:noAutofit/>
          </a:bodyPr>
          <a:lstStyle/>
          <a:p>
            <a:pPr lvl="0"/>
            <a:r>
              <a:rPr lang="en-US" sz="1800" b="1" i="0" dirty="0">
                <a:solidFill>
                  <a:srgbClr val="B2DCEA"/>
                </a:solidFill>
                <a:latin typeface="Aptos Light" panose="020B0004020202020204" pitchFamily="34" charset="0"/>
              </a:rPr>
              <a:t>Balancing Debt and Flexibility</a:t>
            </a:r>
            <a:r>
              <a:rPr lang="en-US" sz="1800" b="0" i="0" dirty="0">
                <a:solidFill>
                  <a:srgbClr val="B2DCEA"/>
                </a:solidFill>
                <a:latin typeface="Aptos Light" panose="020B0004020202020204" pitchFamily="34" charset="0"/>
              </a:rPr>
              <a:t>: While debt limits can seem rigid, there is room for flexibility. Borrowing in USD or alternative currencies helps manage risks, while innovative strategies like blended finance lower financial strain on governments.</a:t>
            </a:r>
          </a:p>
          <a:p>
            <a:pPr lvl="0"/>
            <a:r>
              <a:rPr lang="en-US" sz="1800" b="1" i="0" dirty="0">
                <a:solidFill>
                  <a:srgbClr val="B2DCEA"/>
                </a:solidFill>
                <a:latin typeface="Aptos Light" panose="020B0004020202020204" pitchFamily="34" charset="0"/>
              </a:rPr>
              <a:t>International Support and Guarantees: </a:t>
            </a:r>
            <a:r>
              <a:rPr lang="en-US" sz="1800" b="0" i="0" dirty="0">
                <a:solidFill>
                  <a:srgbClr val="B2DCEA"/>
                </a:solidFill>
                <a:latin typeface="Aptos Light" panose="020B0004020202020204" pitchFamily="34" charset="0"/>
              </a:rPr>
              <a:t>International institutions, such as multilateral development banks, can offer guarantees or co-financing that reduces risk for private investors. This is crucial for attracting large-scale investment in clean energy.</a:t>
            </a: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451594"/>
            <a:ext cx="12192000" cy="2931459"/>
          </a:xfrm>
          <a:prstGeom prst="rect">
            <a:avLst/>
          </a:prstGeom>
        </p:spPr>
      </p:pic>
    </p:spTree>
    <p:extLst>
      <p:ext uri="{BB962C8B-B14F-4D97-AF65-F5344CB8AC3E}">
        <p14:creationId xmlns:p14="http://schemas.microsoft.com/office/powerpoint/2010/main" val="1241478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2043637"/>
            <a:ext cx="4276422" cy="1066818"/>
          </a:xfrm>
        </p:spPr>
        <p:txBody>
          <a:bodyPr>
            <a:normAutofit fontScale="90000"/>
          </a:bodyPr>
          <a:lstStyle/>
          <a:p>
            <a:r>
              <a:rPr lang="en-AU" dirty="0">
                <a:solidFill>
                  <a:srgbClr val="FFC6B1"/>
                </a:solidFill>
                <a:latin typeface="Aptos"/>
              </a:rPr>
              <a:t>Derisking Investment: Contracts</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706473" y="1136663"/>
            <a:ext cx="6867218" cy="2088452"/>
          </a:xfrm>
        </p:spPr>
        <p:txBody>
          <a:bodyPr vert="horz" lIns="0" tIns="0" rIns="0" bIns="0" rtlCol="0" anchor="t">
            <a:noAutofit/>
          </a:bodyPr>
          <a:lstStyle/>
          <a:p>
            <a:pPr lvl="0"/>
            <a:r>
              <a:rPr lang="en-GB" sz="1800" b="0" i="0" dirty="0">
                <a:solidFill>
                  <a:srgbClr val="B2DCEA"/>
                </a:solidFill>
                <a:latin typeface="Aptos Light" panose="020B0004020202020204" pitchFamily="34" charset="0"/>
              </a:rPr>
              <a:t>Contracts specify the payment terms for the power generated by renewable plants, providing financial certainty for investors.</a:t>
            </a:r>
            <a:endParaRPr lang="en-US" sz="1800" b="0" i="0" dirty="0">
              <a:solidFill>
                <a:srgbClr val="B2DCEA"/>
              </a:solidFill>
              <a:latin typeface="Aptos Light" panose="020B0004020202020204" pitchFamily="34" charset="0"/>
            </a:endParaRPr>
          </a:p>
          <a:p>
            <a:pPr lvl="0"/>
            <a:r>
              <a:rPr lang="en-GB" sz="1800" b="0" i="0" dirty="0">
                <a:solidFill>
                  <a:srgbClr val="B2DCEA"/>
                </a:solidFill>
                <a:latin typeface="Aptos Light" panose="020B0004020202020204" pitchFamily="34" charset="0"/>
              </a:rPr>
              <a:t>Typically, these contracts are agreements between the energy producer and the distributor (Power Purchase Agreements, or PPAs).</a:t>
            </a:r>
            <a:endParaRPr lang="en-US" sz="1800" b="0" i="0" dirty="0">
              <a:solidFill>
                <a:srgbClr val="B2DCEA"/>
              </a:solidFill>
              <a:latin typeface="Aptos Light" panose="020B0004020202020204" pitchFamily="34" charset="0"/>
            </a:endParaRP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1944850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2043637"/>
            <a:ext cx="4276422" cy="1066818"/>
          </a:xfrm>
        </p:spPr>
        <p:txBody>
          <a:bodyPr>
            <a:normAutofit fontScale="90000"/>
          </a:bodyPr>
          <a:lstStyle/>
          <a:p>
            <a:r>
              <a:rPr lang="en-AU" dirty="0">
                <a:solidFill>
                  <a:srgbClr val="FFC6B1"/>
                </a:solidFill>
                <a:latin typeface="Aptos"/>
              </a:rPr>
              <a:t>Derisking Investment: Contracts</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706473" y="700727"/>
            <a:ext cx="6867218" cy="2088452"/>
          </a:xfrm>
        </p:spPr>
        <p:txBody>
          <a:bodyPr vert="horz" lIns="0" tIns="0" rIns="0" bIns="0" rtlCol="0" anchor="t">
            <a:noAutofit/>
          </a:bodyPr>
          <a:lstStyle/>
          <a:p>
            <a:pPr lvl="0"/>
            <a:r>
              <a:rPr lang="en-AU" sz="1800" b="0" i="0" dirty="0">
                <a:solidFill>
                  <a:srgbClr val="B2DCEA"/>
                </a:solidFill>
                <a:latin typeface="Aptos Light" panose="020B0004020202020204" pitchFamily="34" charset="0"/>
              </a:rPr>
              <a:t>UK Example:</a:t>
            </a:r>
          </a:p>
          <a:p>
            <a:pPr marL="285750" lvl="0" indent="-285750">
              <a:lnSpc>
                <a:spcPct val="100000"/>
              </a:lnSpc>
              <a:buFont typeface="Arial" panose="020B0604020202020204" pitchFamily="34" charset="0"/>
              <a:buChar char="•"/>
            </a:pPr>
            <a:r>
              <a:rPr lang="en-GB" sz="1600" b="0" i="0" dirty="0">
                <a:solidFill>
                  <a:schemeClr val="tx1"/>
                </a:solidFill>
                <a:latin typeface="Aptos Light" panose="020B0004020202020204" pitchFamily="34" charset="0"/>
              </a:rPr>
              <a:t>In the UK, the market’s liberalization led to the adoption of a 'Contract for Difference' model.</a:t>
            </a:r>
            <a:endParaRPr lang="en-US" sz="1600" b="0" i="0" dirty="0">
              <a:solidFill>
                <a:schemeClr val="tx1"/>
              </a:solidFill>
              <a:latin typeface="Aptos Light" panose="020B0004020202020204" pitchFamily="34" charset="0"/>
            </a:endParaRPr>
          </a:p>
          <a:p>
            <a:pPr marL="285750" lvl="0" indent="-285750">
              <a:lnSpc>
                <a:spcPct val="100000"/>
              </a:lnSpc>
              <a:buFont typeface="Arial" panose="020B0604020202020204" pitchFamily="34" charset="0"/>
              <a:buChar char="•"/>
            </a:pPr>
            <a:r>
              <a:rPr lang="en-GB" sz="1600" b="1" dirty="0">
                <a:solidFill>
                  <a:schemeClr val="tx1"/>
                </a:solidFill>
              </a:rPr>
              <a:t>How It Works: </a:t>
            </a:r>
            <a:r>
              <a:rPr lang="en-GB" sz="1600" b="0" i="0" dirty="0">
                <a:solidFill>
                  <a:schemeClr val="tx1"/>
                </a:solidFill>
                <a:latin typeface="Aptos Light" panose="020B0004020202020204" pitchFamily="34" charset="0"/>
              </a:rPr>
              <a:t>Producers sell power at market prices, with a contract ensuring that they receive the total amount agreed upon, minimizing market distortions and enhancing market functionality.</a:t>
            </a:r>
            <a:endParaRPr lang="en-US" sz="1600" b="0" i="0" dirty="0">
              <a:solidFill>
                <a:schemeClr val="tx1"/>
              </a:solidFill>
              <a:latin typeface="Aptos Light" panose="020B0004020202020204" pitchFamily="34" charset="0"/>
            </a:endParaRPr>
          </a:p>
          <a:p>
            <a:pPr marL="285750" lvl="0" indent="-285750">
              <a:lnSpc>
                <a:spcPct val="100000"/>
              </a:lnSpc>
              <a:buFont typeface="Arial" panose="020B0604020202020204" pitchFamily="34" charset="0"/>
              <a:buChar char="•"/>
            </a:pPr>
            <a:r>
              <a:rPr lang="en-GB" sz="1600" b="1" dirty="0">
                <a:solidFill>
                  <a:schemeClr val="tx1"/>
                </a:solidFill>
              </a:rPr>
              <a:t>Benefit: </a:t>
            </a:r>
            <a:r>
              <a:rPr lang="en-GB" sz="1600" b="0" i="0" dirty="0">
                <a:solidFill>
                  <a:schemeClr val="tx1"/>
                </a:solidFill>
                <a:latin typeface="Aptos Light" panose="020B0004020202020204" pitchFamily="34" charset="0"/>
              </a:rPr>
              <a:t>This model reduces investor risk and ensures that renewable energy targets are met efficiently.</a:t>
            </a:r>
            <a:endParaRPr lang="en-US" sz="1600" b="0" i="0" dirty="0">
              <a:solidFill>
                <a:schemeClr val="tx1"/>
              </a:solidFill>
              <a:latin typeface="Aptos Light" panose="020B0004020202020204" pitchFamily="34" charset="0"/>
            </a:endParaRPr>
          </a:p>
          <a:p>
            <a:pPr lvl="0"/>
            <a:endParaRPr lang="en-US" sz="1800" b="0" i="0" dirty="0">
              <a:solidFill>
                <a:srgbClr val="B2DCEA"/>
              </a:solidFill>
              <a:latin typeface="Aptos Light" panose="020B0004020202020204" pitchFamily="34" charset="0"/>
            </a:endParaRP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2023222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2043637"/>
            <a:ext cx="4276422" cy="1066818"/>
          </a:xfrm>
        </p:spPr>
        <p:txBody>
          <a:bodyPr>
            <a:normAutofit fontScale="90000"/>
          </a:bodyPr>
          <a:lstStyle/>
          <a:p>
            <a:r>
              <a:rPr lang="en-AU" dirty="0">
                <a:solidFill>
                  <a:srgbClr val="FFC6B1"/>
                </a:solidFill>
                <a:latin typeface="Aptos"/>
              </a:rPr>
              <a:t>Derisking Investment: Contracts</a:t>
            </a:r>
            <a:endParaRPr lang="en-US" dirty="0">
              <a:solidFill>
                <a:srgbClr val="FFC6B1"/>
              </a:solidFill>
            </a:endParaRP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pic>
        <p:nvPicPr>
          <p:cNvPr id="4" name="Content Placeholder 1">
            <a:extLst>
              <a:ext uri="{FF2B5EF4-FFF2-40B4-BE49-F238E27FC236}">
                <a16:creationId xmlns:a16="http://schemas.microsoft.com/office/drawing/2014/main" id="{F32AD2A5-1D9D-35D6-EDFB-1B9E601D7C71}"/>
              </a:ext>
            </a:extLst>
          </p:cNvPr>
          <p:cNvPicPr>
            <a:picLocks noChangeAspect="1"/>
          </p:cNvPicPr>
          <p:nvPr/>
        </p:nvPicPr>
        <p:blipFill>
          <a:blip r:embed="rId4"/>
          <a:stretch>
            <a:fillRect/>
          </a:stretch>
        </p:blipFill>
        <p:spPr>
          <a:xfrm>
            <a:off x="4706473" y="939737"/>
            <a:ext cx="5370970" cy="3459268"/>
          </a:xfrm>
          <a:prstGeom prst="rect">
            <a:avLst/>
          </a:prstGeom>
        </p:spPr>
      </p:pic>
      <p:sp>
        <p:nvSpPr>
          <p:cNvPr id="9" name="TextBox 8">
            <a:extLst>
              <a:ext uri="{FF2B5EF4-FFF2-40B4-BE49-F238E27FC236}">
                <a16:creationId xmlns:a16="http://schemas.microsoft.com/office/drawing/2014/main" id="{AAEF1E3B-0BBB-2FCB-71A2-D946EC5BF9F7}"/>
              </a:ext>
            </a:extLst>
          </p:cNvPr>
          <p:cNvSpPr txBox="1"/>
          <p:nvPr/>
        </p:nvSpPr>
        <p:spPr>
          <a:xfrm>
            <a:off x="4687696" y="514472"/>
            <a:ext cx="5417713" cy="338554"/>
          </a:xfrm>
          <a:prstGeom prst="rect">
            <a:avLst/>
          </a:prstGeom>
          <a:noFill/>
        </p:spPr>
        <p:txBody>
          <a:bodyPr wrap="square" lIns="91440" tIns="45720" rIns="91440" bIns="45720" rtlCol="0" anchor="t">
            <a:spAutoFit/>
          </a:bodyPr>
          <a:lstStyle/>
          <a:p>
            <a:pPr algn="ctr"/>
            <a:r>
              <a:rPr lang="en-US" sz="1600" b="1" u="sng" dirty="0">
                <a:solidFill>
                  <a:srgbClr val="B2DCEA"/>
                </a:solidFill>
                <a:latin typeface="+mj-lt"/>
              </a:rPr>
              <a:t>Contracts for Difference Mechanism Explained</a:t>
            </a:r>
          </a:p>
        </p:txBody>
      </p:sp>
      <p:sp>
        <p:nvSpPr>
          <p:cNvPr id="10" name="TextBox 9">
            <a:extLst>
              <a:ext uri="{FF2B5EF4-FFF2-40B4-BE49-F238E27FC236}">
                <a16:creationId xmlns:a16="http://schemas.microsoft.com/office/drawing/2014/main" id="{4229760A-766C-0D9B-0B71-3C2F883FD35E}"/>
              </a:ext>
            </a:extLst>
          </p:cNvPr>
          <p:cNvSpPr txBox="1"/>
          <p:nvPr/>
        </p:nvSpPr>
        <p:spPr>
          <a:xfrm>
            <a:off x="7688062" y="6597894"/>
            <a:ext cx="4834695" cy="276999"/>
          </a:xfrm>
          <a:prstGeom prst="rect">
            <a:avLst/>
          </a:prstGeom>
          <a:noFill/>
        </p:spPr>
        <p:txBody>
          <a:bodyPr wrap="square" rtlCol="0">
            <a:spAutoFit/>
          </a:bodyPr>
          <a:lstStyle/>
          <a:p>
            <a:pPr algn="ctr"/>
            <a:r>
              <a:rPr lang="en-US" sz="1200" dirty="0">
                <a:solidFill>
                  <a:srgbClr val="FFFFFF"/>
                </a:solidFill>
                <a:latin typeface="+mn-lt"/>
              </a:rPr>
              <a:t>Source: </a:t>
            </a:r>
            <a:r>
              <a:rPr lang="en-US" sz="1200" i="1" dirty="0">
                <a:solidFill>
                  <a:srgbClr val="FFFFFF"/>
                </a:solidFill>
                <a:latin typeface="+mn-lt"/>
                <a:hlinkClick r:id="rId5">
                  <a:extLst>
                    <a:ext uri="{A12FA001-AC4F-418D-AE19-62706E023703}">
                      <ahyp:hlinkClr xmlns:ahyp="http://schemas.microsoft.com/office/drawing/2018/hyperlinkcolor" val="tx"/>
                    </a:ext>
                  </a:extLst>
                </a:hlinkClick>
              </a:rPr>
              <a:t>Renewable UK </a:t>
            </a:r>
            <a:r>
              <a:rPr lang="en-US" sz="1200" i="1" dirty="0">
                <a:solidFill>
                  <a:srgbClr val="FFFFFF"/>
                </a:solidFill>
                <a:latin typeface="+mn-lt"/>
              </a:rPr>
              <a:t>(2019) </a:t>
            </a:r>
          </a:p>
        </p:txBody>
      </p:sp>
    </p:spTree>
    <p:extLst>
      <p:ext uri="{BB962C8B-B14F-4D97-AF65-F5344CB8AC3E}">
        <p14:creationId xmlns:p14="http://schemas.microsoft.com/office/powerpoint/2010/main" val="4205790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A86512-31E8-659E-E04E-EA58F56EC786}"/>
              </a:ext>
            </a:extLst>
          </p:cNvPr>
          <p:cNvPicPr>
            <a:picLocks noChangeAspect="1"/>
          </p:cNvPicPr>
          <p:nvPr/>
        </p:nvPicPr>
        <p:blipFill>
          <a:blip r:embed="rId2"/>
          <a:srcRect l="27209" t="29358" r="11482" b="9334"/>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C94C450-8F7F-4536-7C71-5AAC7FDC3637}"/>
              </a:ext>
            </a:extLst>
          </p:cNvPr>
          <p:cNvSpPr/>
          <p:nvPr/>
        </p:nvSpPr>
        <p:spPr>
          <a:xfrm>
            <a:off x="259947" y="2457645"/>
            <a:ext cx="3389668" cy="3432077"/>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CFB003A-3619-222B-8853-57D3D6E6FC58}"/>
              </a:ext>
            </a:extLst>
          </p:cNvPr>
          <p:cNvSpPr txBox="1">
            <a:spLocks/>
          </p:cNvSpPr>
          <p:nvPr/>
        </p:nvSpPr>
        <p:spPr>
          <a:xfrm>
            <a:off x="257647" y="352811"/>
            <a:ext cx="4896334" cy="1774111"/>
          </a:xfrm>
          <a:prstGeom prst="rect">
            <a:avLst/>
          </a:prstGeom>
        </p:spPr>
        <p:txBody>
          <a:bodyPr>
            <a:normAutofit fontScale="97500"/>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buClrTx/>
              <a:buFontTx/>
            </a:pPr>
            <a:r>
              <a:rPr lang="en-AU" sz="3600" dirty="0">
                <a:solidFill>
                  <a:schemeClr val="tx1"/>
                </a:solidFill>
                <a:latin typeface="Aptos"/>
              </a:rPr>
              <a:t>Ukraine: Financial Mechanisms Explicit in NZ Roadmap</a:t>
            </a:r>
            <a:endParaRPr lang="en-US" sz="3600" dirty="0">
              <a:solidFill>
                <a:schemeClr val="tx1"/>
              </a:solidFill>
            </a:endParaRPr>
          </a:p>
        </p:txBody>
      </p:sp>
      <p:sp>
        <p:nvSpPr>
          <p:cNvPr id="17" name="Rectangle 16">
            <a:extLst>
              <a:ext uri="{FF2B5EF4-FFF2-40B4-BE49-F238E27FC236}">
                <a16:creationId xmlns:a16="http://schemas.microsoft.com/office/drawing/2014/main" id="{469C447A-603B-5612-F284-DC91D97F5A8F}"/>
              </a:ext>
            </a:extLst>
          </p:cNvPr>
          <p:cNvSpPr/>
          <p:nvPr/>
        </p:nvSpPr>
        <p:spPr>
          <a:xfrm>
            <a:off x="3801461" y="3949412"/>
            <a:ext cx="3940624" cy="2629887"/>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1506ED66-017E-B327-AA71-C56F0646E7B4}"/>
              </a:ext>
            </a:extLst>
          </p:cNvPr>
          <p:cNvSpPr/>
          <p:nvPr/>
        </p:nvSpPr>
        <p:spPr>
          <a:xfrm>
            <a:off x="5484103" y="220966"/>
            <a:ext cx="3016103" cy="3208034"/>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CC5DFBAA-D3CE-02E7-3DCB-0CA627635AC6}"/>
              </a:ext>
            </a:extLst>
          </p:cNvPr>
          <p:cNvSpPr/>
          <p:nvPr/>
        </p:nvSpPr>
        <p:spPr>
          <a:xfrm>
            <a:off x="8779514" y="220966"/>
            <a:ext cx="3016103" cy="321478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9">
            <a:extLst>
              <a:ext uri="{FF2B5EF4-FFF2-40B4-BE49-F238E27FC236}">
                <a16:creationId xmlns:a16="http://schemas.microsoft.com/office/drawing/2014/main" id="{C55FC0C5-247E-DEBF-C65D-CB8D4764CD50}"/>
              </a:ext>
            </a:extLst>
          </p:cNvPr>
          <p:cNvSpPr/>
          <p:nvPr/>
        </p:nvSpPr>
        <p:spPr>
          <a:xfrm>
            <a:off x="7877517" y="3971732"/>
            <a:ext cx="3918100" cy="2629887"/>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TextBox 21">
            <a:extLst>
              <a:ext uri="{FF2B5EF4-FFF2-40B4-BE49-F238E27FC236}">
                <a16:creationId xmlns:a16="http://schemas.microsoft.com/office/drawing/2014/main" id="{7DE1F479-0CD0-1927-9C35-F3B815634FF1}"/>
              </a:ext>
            </a:extLst>
          </p:cNvPr>
          <p:cNvSpPr txBox="1"/>
          <p:nvPr/>
        </p:nvSpPr>
        <p:spPr>
          <a:xfrm>
            <a:off x="3969668" y="4017035"/>
            <a:ext cx="3610076" cy="2446824"/>
          </a:xfrm>
          <a:prstGeom prst="rect">
            <a:avLst/>
          </a:prstGeom>
          <a:noFill/>
        </p:spPr>
        <p:txBody>
          <a:bodyPr wrap="square">
            <a:spAutoFit/>
          </a:bodyPr>
          <a:lstStyle/>
          <a:p>
            <a:pPr algn="ctr">
              <a:spcAft>
                <a:spcPts val="600"/>
              </a:spcAft>
              <a:buClrTx/>
            </a:pPr>
            <a:r>
              <a:rPr lang="en-US" sz="2000" b="1" dirty="0">
                <a:solidFill>
                  <a:srgbClr val="025353"/>
                </a:solidFill>
                <a:latin typeface="+mn-lt"/>
              </a:rPr>
              <a:t>Grants </a:t>
            </a:r>
          </a:p>
          <a:p>
            <a:pPr algn="ctr">
              <a:buClrTx/>
            </a:pPr>
            <a:r>
              <a:rPr lang="en-US" sz="1600" b="1" dirty="0">
                <a:solidFill>
                  <a:srgbClr val="025353"/>
                </a:solidFill>
                <a:latin typeface="+mn-lt"/>
              </a:rPr>
              <a:t>Source: </a:t>
            </a:r>
            <a:r>
              <a:rPr lang="en-US" sz="1600" dirty="0">
                <a:solidFill>
                  <a:srgbClr val="025353"/>
                </a:solidFill>
                <a:latin typeface="+mn-lt"/>
              </a:rPr>
              <a:t>International organizations, bilateral donors.</a:t>
            </a:r>
          </a:p>
          <a:p>
            <a:pPr algn="ctr">
              <a:buClrTx/>
            </a:pPr>
            <a:r>
              <a:rPr lang="en-US" sz="1600" b="1" dirty="0">
                <a:solidFill>
                  <a:srgbClr val="025353"/>
                </a:solidFill>
                <a:latin typeface="+mn-lt"/>
              </a:rPr>
              <a:t>Mechanism: </a:t>
            </a:r>
            <a:r>
              <a:rPr lang="en-US" sz="1600" dirty="0">
                <a:solidFill>
                  <a:srgbClr val="025353"/>
                </a:solidFill>
                <a:latin typeface="+mn-lt"/>
              </a:rPr>
              <a:t>Direct financial support without repayment obligations, typically for early-stage or critical projects.</a:t>
            </a:r>
          </a:p>
          <a:p>
            <a:pPr algn="ctr">
              <a:buClrTx/>
            </a:pPr>
            <a:r>
              <a:rPr lang="en-US" sz="1600" b="1" dirty="0">
                <a:solidFill>
                  <a:srgbClr val="025353"/>
                </a:solidFill>
                <a:latin typeface="+mn-lt"/>
              </a:rPr>
              <a:t>Use: </a:t>
            </a:r>
            <a:r>
              <a:rPr lang="en-US" sz="1600" dirty="0">
                <a:solidFill>
                  <a:srgbClr val="025353"/>
                </a:solidFill>
                <a:latin typeface="+mn-lt"/>
              </a:rPr>
              <a:t>Renewable energy projects, grid upgrades, and emergency response.</a:t>
            </a:r>
          </a:p>
        </p:txBody>
      </p:sp>
      <p:sp>
        <p:nvSpPr>
          <p:cNvPr id="24" name="TextBox 23">
            <a:extLst>
              <a:ext uri="{FF2B5EF4-FFF2-40B4-BE49-F238E27FC236}">
                <a16:creationId xmlns:a16="http://schemas.microsoft.com/office/drawing/2014/main" id="{BA9974F5-E03C-B81A-B047-14F6287A24C1}"/>
              </a:ext>
            </a:extLst>
          </p:cNvPr>
          <p:cNvSpPr txBox="1"/>
          <p:nvPr/>
        </p:nvSpPr>
        <p:spPr>
          <a:xfrm>
            <a:off x="5613591" y="355350"/>
            <a:ext cx="2769540" cy="2939266"/>
          </a:xfrm>
          <a:prstGeom prst="rect">
            <a:avLst/>
          </a:prstGeom>
          <a:noFill/>
        </p:spPr>
        <p:txBody>
          <a:bodyPr wrap="square">
            <a:spAutoFit/>
          </a:bodyPr>
          <a:lstStyle/>
          <a:p>
            <a:pPr algn="ctr">
              <a:spcAft>
                <a:spcPts val="600"/>
              </a:spcAft>
              <a:buClrTx/>
            </a:pPr>
            <a:r>
              <a:rPr lang="en-US" sz="2000" b="1" dirty="0">
                <a:solidFill>
                  <a:srgbClr val="025353"/>
                </a:solidFill>
                <a:latin typeface="+mn-lt"/>
              </a:rPr>
              <a:t>Concessional Loans </a:t>
            </a:r>
          </a:p>
          <a:p>
            <a:pPr algn="ctr">
              <a:buClrTx/>
            </a:pPr>
            <a:r>
              <a:rPr lang="en-US" sz="1600" b="1" dirty="0">
                <a:solidFill>
                  <a:srgbClr val="025353"/>
                </a:solidFill>
                <a:latin typeface="+mn-lt"/>
              </a:rPr>
              <a:t>Source: </a:t>
            </a:r>
            <a:r>
              <a:rPr lang="en-US" sz="1600" dirty="0">
                <a:solidFill>
                  <a:srgbClr val="025353"/>
                </a:solidFill>
                <a:latin typeface="+mn-lt"/>
              </a:rPr>
              <a:t>IFIs and bilateral donors.</a:t>
            </a:r>
          </a:p>
          <a:p>
            <a:pPr algn="ctr">
              <a:buClrTx/>
            </a:pPr>
            <a:r>
              <a:rPr lang="en-US" sz="1600" b="1" dirty="0">
                <a:solidFill>
                  <a:srgbClr val="025353"/>
                </a:solidFill>
                <a:latin typeface="+mn-lt"/>
              </a:rPr>
              <a:t>Mechanism: </a:t>
            </a:r>
            <a:r>
              <a:rPr lang="en-US" sz="1600" dirty="0">
                <a:solidFill>
                  <a:srgbClr val="025353"/>
                </a:solidFill>
                <a:latin typeface="+mn-lt"/>
              </a:rPr>
              <a:t>Low-interest loans with favorable terms and extended repayment periods.</a:t>
            </a:r>
          </a:p>
          <a:p>
            <a:pPr algn="ctr">
              <a:buClrTx/>
            </a:pPr>
            <a:r>
              <a:rPr lang="en-US" sz="1600" b="1" dirty="0">
                <a:solidFill>
                  <a:srgbClr val="025353"/>
                </a:solidFill>
                <a:latin typeface="+mn-lt"/>
              </a:rPr>
              <a:t>Use: </a:t>
            </a:r>
            <a:r>
              <a:rPr lang="en-US" sz="1600" dirty="0">
                <a:solidFill>
                  <a:srgbClr val="025353"/>
                </a:solidFill>
                <a:latin typeface="+mn-lt"/>
              </a:rPr>
              <a:t>Large-scale infrastructure and energy projects, decarbonization initiatives.</a:t>
            </a:r>
          </a:p>
        </p:txBody>
      </p:sp>
      <p:sp>
        <p:nvSpPr>
          <p:cNvPr id="26" name="TextBox 25">
            <a:extLst>
              <a:ext uri="{FF2B5EF4-FFF2-40B4-BE49-F238E27FC236}">
                <a16:creationId xmlns:a16="http://schemas.microsoft.com/office/drawing/2014/main" id="{7CD941BE-EDA7-0930-754C-5780B21D031D}"/>
              </a:ext>
            </a:extLst>
          </p:cNvPr>
          <p:cNvSpPr txBox="1"/>
          <p:nvPr/>
        </p:nvSpPr>
        <p:spPr>
          <a:xfrm>
            <a:off x="8928239" y="308637"/>
            <a:ext cx="2718652" cy="3000821"/>
          </a:xfrm>
          <a:prstGeom prst="rect">
            <a:avLst/>
          </a:prstGeom>
          <a:noFill/>
        </p:spPr>
        <p:txBody>
          <a:bodyPr wrap="square">
            <a:spAutoFit/>
          </a:bodyPr>
          <a:lstStyle/>
          <a:p>
            <a:pPr algn="ctr">
              <a:spcAft>
                <a:spcPts val="600"/>
              </a:spcAft>
              <a:buClrTx/>
            </a:pPr>
            <a:r>
              <a:rPr lang="en-US" sz="2000" b="1" dirty="0">
                <a:solidFill>
                  <a:srgbClr val="025353"/>
                </a:solidFill>
                <a:latin typeface="+mn-lt"/>
              </a:rPr>
              <a:t>Risk-Sharing Mechanisms </a:t>
            </a:r>
          </a:p>
          <a:p>
            <a:pPr algn="ctr">
              <a:buClrTx/>
            </a:pPr>
            <a:r>
              <a:rPr lang="en-US" sz="1600" b="1" dirty="0">
                <a:solidFill>
                  <a:srgbClr val="025353"/>
                </a:solidFill>
                <a:latin typeface="+mn-lt"/>
              </a:rPr>
              <a:t>Source: </a:t>
            </a:r>
            <a:r>
              <a:rPr lang="en-US" sz="1600" dirty="0">
                <a:solidFill>
                  <a:srgbClr val="025353"/>
                </a:solidFill>
                <a:latin typeface="+mn-lt"/>
              </a:rPr>
              <a:t>IFIs, including the World Bank and IMF.</a:t>
            </a:r>
          </a:p>
          <a:p>
            <a:pPr algn="ctr">
              <a:buClrTx/>
            </a:pPr>
            <a:r>
              <a:rPr lang="en-US" sz="1600" b="1" dirty="0">
                <a:solidFill>
                  <a:srgbClr val="025353"/>
                </a:solidFill>
                <a:latin typeface="+mn-lt"/>
              </a:rPr>
              <a:t>Mechanisms: </a:t>
            </a:r>
            <a:r>
              <a:rPr lang="en-US" sz="1600" dirty="0">
                <a:solidFill>
                  <a:srgbClr val="025353"/>
                </a:solidFill>
                <a:latin typeface="+mn-lt"/>
              </a:rPr>
              <a:t>Insurance-based tools and guarantees to protect investments against project risks.</a:t>
            </a:r>
          </a:p>
          <a:p>
            <a:pPr algn="ctr">
              <a:buClrTx/>
            </a:pPr>
            <a:r>
              <a:rPr lang="en-US" sz="1600" b="1" dirty="0">
                <a:solidFill>
                  <a:srgbClr val="025353"/>
                </a:solidFill>
                <a:latin typeface="+mn-lt"/>
              </a:rPr>
              <a:t>Use: </a:t>
            </a:r>
            <a:r>
              <a:rPr lang="en-US" sz="1600" dirty="0">
                <a:solidFill>
                  <a:srgbClr val="025353"/>
                </a:solidFill>
                <a:latin typeface="+mn-lt"/>
              </a:rPr>
              <a:t>Attract private sector participation by mitigating investment risks.</a:t>
            </a:r>
          </a:p>
        </p:txBody>
      </p:sp>
      <p:sp>
        <p:nvSpPr>
          <p:cNvPr id="28" name="TextBox 27">
            <a:extLst>
              <a:ext uri="{FF2B5EF4-FFF2-40B4-BE49-F238E27FC236}">
                <a16:creationId xmlns:a16="http://schemas.microsoft.com/office/drawing/2014/main" id="{00A0ED33-EDBF-EE1E-7FF3-084FF40345B5}"/>
              </a:ext>
            </a:extLst>
          </p:cNvPr>
          <p:cNvSpPr txBox="1"/>
          <p:nvPr/>
        </p:nvSpPr>
        <p:spPr>
          <a:xfrm>
            <a:off x="354756" y="2559858"/>
            <a:ext cx="3200049" cy="3308598"/>
          </a:xfrm>
          <a:prstGeom prst="rect">
            <a:avLst/>
          </a:prstGeom>
          <a:noFill/>
        </p:spPr>
        <p:txBody>
          <a:bodyPr wrap="square">
            <a:spAutoFit/>
          </a:bodyPr>
          <a:lstStyle/>
          <a:p>
            <a:pPr algn="ctr">
              <a:spcAft>
                <a:spcPts val="600"/>
              </a:spcAft>
              <a:buClrTx/>
            </a:pPr>
            <a:r>
              <a:rPr lang="en-US" sz="2000" b="1" dirty="0">
                <a:solidFill>
                  <a:srgbClr val="025353"/>
                </a:solidFill>
                <a:latin typeface="+mn-lt"/>
              </a:rPr>
              <a:t>Green Bonds &amp; Environmental Impact Bonds</a:t>
            </a:r>
          </a:p>
          <a:p>
            <a:pPr algn="ctr">
              <a:buClrTx/>
            </a:pPr>
            <a:r>
              <a:rPr lang="en-US" sz="1600" b="1" dirty="0">
                <a:solidFill>
                  <a:srgbClr val="025353"/>
                </a:solidFill>
                <a:latin typeface="+mn-lt"/>
              </a:rPr>
              <a:t>Source</a:t>
            </a:r>
            <a:r>
              <a:rPr lang="en-US" sz="1600" dirty="0">
                <a:solidFill>
                  <a:srgbClr val="025353"/>
                </a:solidFill>
                <a:latin typeface="+mn-lt"/>
              </a:rPr>
              <a:t>: IFIs, government bodies, and private sector investors.</a:t>
            </a:r>
          </a:p>
          <a:p>
            <a:pPr algn="ctr">
              <a:buClrTx/>
            </a:pPr>
            <a:r>
              <a:rPr lang="en-US" sz="1600" b="1" dirty="0">
                <a:solidFill>
                  <a:srgbClr val="025353"/>
                </a:solidFill>
                <a:latin typeface="+mn-lt"/>
              </a:rPr>
              <a:t>Mechanism: </a:t>
            </a:r>
            <a:r>
              <a:rPr lang="en-US" sz="1600" dirty="0">
                <a:solidFill>
                  <a:srgbClr val="025353"/>
                </a:solidFill>
                <a:latin typeface="+mn-lt"/>
              </a:rPr>
              <a:t>Bonds issued to raise capital for environmentally sustainable projects, with returns linked to project outcomes.</a:t>
            </a:r>
          </a:p>
          <a:p>
            <a:pPr algn="ctr">
              <a:buClrTx/>
            </a:pPr>
            <a:r>
              <a:rPr lang="en-US" sz="1600" b="1" dirty="0">
                <a:solidFill>
                  <a:srgbClr val="025353"/>
                </a:solidFill>
                <a:latin typeface="+mn-lt"/>
              </a:rPr>
              <a:t>Use: </a:t>
            </a:r>
            <a:r>
              <a:rPr lang="en-US" sz="1600" dirty="0">
                <a:solidFill>
                  <a:srgbClr val="025353"/>
                </a:solidFill>
                <a:latin typeface="+mn-lt"/>
              </a:rPr>
              <a:t>Financing renewable energy, energy efficiency, and sustainable infrastructure.</a:t>
            </a:r>
          </a:p>
        </p:txBody>
      </p:sp>
      <p:sp>
        <p:nvSpPr>
          <p:cNvPr id="30" name="TextBox 29">
            <a:extLst>
              <a:ext uri="{FF2B5EF4-FFF2-40B4-BE49-F238E27FC236}">
                <a16:creationId xmlns:a16="http://schemas.microsoft.com/office/drawing/2014/main" id="{E83D9ECA-3567-4623-289D-FE86E3E571DF}"/>
              </a:ext>
            </a:extLst>
          </p:cNvPr>
          <p:cNvSpPr txBox="1"/>
          <p:nvPr/>
        </p:nvSpPr>
        <p:spPr>
          <a:xfrm>
            <a:off x="7914220" y="4060172"/>
            <a:ext cx="3844694" cy="2431435"/>
          </a:xfrm>
          <a:prstGeom prst="rect">
            <a:avLst/>
          </a:prstGeom>
          <a:noFill/>
        </p:spPr>
        <p:txBody>
          <a:bodyPr wrap="square">
            <a:spAutoFit/>
          </a:bodyPr>
          <a:lstStyle/>
          <a:p>
            <a:pPr algn="ctr">
              <a:buClrTx/>
            </a:pPr>
            <a:r>
              <a:rPr lang="en-US" sz="2000" b="1" dirty="0">
                <a:solidFill>
                  <a:srgbClr val="025353"/>
                </a:solidFill>
                <a:latin typeface="+mn-lt"/>
              </a:rPr>
              <a:t>Sustainable Development Funds </a:t>
            </a:r>
          </a:p>
          <a:p>
            <a:pPr algn="ctr">
              <a:buClrTx/>
            </a:pPr>
            <a:r>
              <a:rPr lang="en-US" sz="1600" b="1" dirty="0">
                <a:solidFill>
                  <a:srgbClr val="025353"/>
                </a:solidFill>
                <a:latin typeface="+mn-lt"/>
              </a:rPr>
              <a:t>Source: </a:t>
            </a:r>
            <a:r>
              <a:rPr lang="en-US" sz="1600" dirty="0">
                <a:solidFill>
                  <a:srgbClr val="025353"/>
                </a:solidFill>
                <a:latin typeface="+mn-lt"/>
              </a:rPr>
              <a:t>Contributions from international and domestic stakeholders.</a:t>
            </a:r>
          </a:p>
          <a:p>
            <a:pPr algn="ctr">
              <a:buClrTx/>
            </a:pPr>
            <a:r>
              <a:rPr lang="en-US" sz="1600" b="1" dirty="0">
                <a:solidFill>
                  <a:srgbClr val="025353"/>
                </a:solidFill>
                <a:latin typeface="+mn-lt"/>
              </a:rPr>
              <a:t>Mechanism: </a:t>
            </a:r>
            <a:r>
              <a:rPr lang="en-US" sz="1600" dirty="0">
                <a:solidFill>
                  <a:srgbClr val="025353"/>
                </a:solidFill>
                <a:latin typeface="+mn-lt"/>
              </a:rPr>
              <a:t>Pooled investment funds supporting public and private sector decarbonization efforts</a:t>
            </a:r>
          </a:p>
          <a:p>
            <a:pPr algn="ctr">
              <a:buClrTx/>
            </a:pPr>
            <a:r>
              <a:rPr lang="en-US" sz="1600" b="1" dirty="0">
                <a:solidFill>
                  <a:srgbClr val="025353"/>
                </a:solidFill>
                <a:latin typeface="+mn-lt"/>
              </a:rPr>
              <a:t>Use</a:t>
            </a:r>
            <a:r>
              <a:rPr lang="en-US" sz="1600" dirty="0">
                <a:solidFill>
                  <a:srgbClr val="025353"/>
                </a:solidFill>
                <a:latin typeface="+mn-lt"/>
              </a:rPr>
              <a:t>: Projects aligned with Ukraine’s green recovery strategy.</a:t>
            </a:r>
          </a:p>
        </p:txBody>
      </p:sp>
    </p:spTree>
    <p:extLst>
      <p:ext uri="{BB962C8B-B14F-4D97-AF65-F5344CB8AC3E}">
        <p14:creationId xmlns:p14="http://schemas.microsoft.com/office/powerpoint/2010/main" val="3198727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B6CCE-7FA2-2089-60B9-2A2B904002C3}"/>
              </a:ext>
            </a:extLst>
          </p:cNvPr>
          <p:cNvSpPr>
            <a:spLocks noGrp="1"/>
          </p:cNvSpPr>
          <p:nvPr>
            <p:ph type="ctrTitle"/>
          </p:nvPr>
        </p:nvSpPr>
        <p:spPr/>
        <p:txBody>
          <a:bodyPr/>
          <a:lstStyle/>
          <a:p>
            <a:r>
              <a:rPr lang="en-AU" dirty="0"/>
              <a:t>End of Module D</a:t>
            </a:r>
          </a:p>
        </p:txBody>
      </p:sp>
      <p:sp>
        <p:nvSpPr>
          <p:cNvPr id="3" name="Subtitle 2">
            <a:extLst>
              <a:ext uri="{FF2B5EF4-FFF2-40B4-BE49-F238E27FC236}">
                <a16:creationId xmlns:a16="http://schemas.microsoft.com/office/drawing/2014/main" id="{1A30FE62-FA17-2E63-17FB-EB40EA74A0F4}"/>
              </a:ext>
            </a:extLst>
          </p:cNvPr>
          <p:cNvSpPr>
            <a:spLocks noGrp="1"/>
          </p:cNvSpPr>
          <p:nvPr>
            <p:ph type="subTitle" idx="1"/>
          </p:nvPr>
        </p:nvSpPr>
        <p:spPr/>
        <p:txBody>
          <a:bodyPr/>
          <a:lstStyle/>
          <a:p>
            <a:endParaRPr lang="en-AU" dirty="0"/>
          </a:p>
        </p:txBody>
      </p:sp>
      <p:sp>
        <p:nvSpPr>
          <p:cNvPr id="4" name="Text Placeholder 3">
            <a:extLst>
              <a:ext uri="{FF2B5EF4-FFF2-40B4-BE49-F238E27FC236}">
                <a16:creationId xmlns:a16="http://schemas.microsoft.com/office/drawing/2014/main" id="{CB1D1CD6-8A2F-C6A2-28E9-5DB32514C4F3}"/>
              </a:ext>
            </a:extLst>
          </p:cNvPr>
          <p:cNvSpPr>
            <a:spLocks noGrp="1"/>
          </p:cNvSpPr>
          <p:nvPr>
            <p:ph type="body" sz="quarter" idx="10"/>
          </p:nvPr>
        </p:nvSpPr>
        <p:spPr/>
        <p:txBody>
          <a:bodyPr/>
          <a:lstStyle/>
          <a:p>
            <a:endParaRPr lang="en-AU"/>
          </a:p>
        </p:txBody>
      </p:sp>
    </p:spTree>
    <p:extLst>
      <p:ext uri="{BB962C8B-B14F-4D97-AF65-F5344CB8AC3E}">
        <p14:creationId xmlns:p14="http://schemas.microsoft.com/office/powerpoint/2010/main" val="1436485794"/>
      </p:ext>
    </p:extLst>
  </p:cSld>
  <p:clrMapOvr>
    <a:masterClrMapping/>
  </p:clrMapOvr>
</p:sld>
</file>

<file path=ppt/theme/theme1.xml><?xml version="1.0" encoding="utf-8"?>
<a:theme xmlns:a="http://schemas.openxmlformats.org/drawingml/2006/main" name="Theme1">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0AC83C3-44F1-354B-A406-D13BE5088D18}" vid="{0CBD1C04-D24F-2B40-A831-D8EA9EDDF6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4716</TotalTime>
  <Words>1954</Words>
  <Application>Microsoft Office PowerPoint</Application>
  <PresentationFormat>Widescreen</PresentationFormat>
  <Paragraphs>133</Paragraphs>
  <Slides>29</Slides>
  <Notes>17</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Theme1</vt:lpstr>
      <vt:lpstr>A Short Course on Robust Climate Policy</vt:lpstr>
      <vt:lpstr>PowerPoint Presentation</vt:lpstr>
      <vt:lpstr>PowerPoint Presentation</vt:lpstr>
      <vt:lpstr>PowerPoint Presentation</vt:lpstr>
      <vt:lpstr>Transitioning to Net Zero</vt:lpstr>
      <vt:lpstr>Global Efforts to Net Zero Emissions</vt:lpstr>
      <vt:lpstr>Transition Requirements</vt:lpstr>
      <vt:lpstr>Key Uncertainties around IEA Roadmap</vt:lpstr>
      <vt:lpstr>PowerPoint Presentation</vt:lpstr>
      <vt:lpstr>PowerPoint Presentation</vt:lpstr>
      <vt:lpstr>PowerPoint Presentation</vt:lpstr>
      <vt:lpstr>Financing Gap</vt:lpstr>
      <vt:lpstr>Challenges for Developing Countries</vt:lpstr>
      <vt:lpstr>PowerPoint Presentation</vt:lpstr>
      <vt:lpstr>PowerPoint Presentation</vt:lpstr>
      <vt:lpstr>Mitigation Investment</vt:lpstr>
      <vt:lpstr>Mitigation Investment</vt:lpstr>
      <vt:lpstr>National Financing</vt:lpstr>
      <vt:lpstr>National Financing</vt:lpstr>
      <vt:lpstr>Innovative Financing Options</vt:lpstr>
      <vt:lpstr>Innovative Financing Options</vt:lpstr>
      <vt:lpstr>PowerPoint Presentation</vt:lpstr>
      <vt:lpstr>PowerPoint Presentation</vt:lpstr>
      <vt:lpstr>Flexibility and Risk Management</vt:lpstr>
      <vt:lpstr>Derisking Investment: Contracts</vt:lpstr>
      <vt:lpstr>Derisking Investment: Contracts</vt:lpstr>
      <vt:lpstr>Derisking Investment: Contracts</vt:lpstr>
      <vt:lpstr>PowerPoint Presentation</vt:lpstr>
      <vt:lpstr>End of Module 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Short Course on Macro-Fiscal Climate Economics</dc:title>
  <dc:creator>Evie Davey</dc:creator>
  <cp:lastModifiedBy>Oliver Hart</cp:lastModifiedBy>
  <cp:revision>50</cp:revision>
  <dcterms:created xsi:type="dcterms:W3CDTF">2024-01-31T10:57:03Z</dcterms:created>
  <dcterms:modified xsi:type="dcterms:W3CDTF">2024-09-13T02:30:46Z</dcterms:modified>
</cp:coreProperties>
</file>